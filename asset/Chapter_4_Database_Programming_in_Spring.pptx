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6.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7.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8.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9.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notesSlides/notesSlide10.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notesSlides/notesSlide11.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12.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13.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notesSlides/notesSlide14.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15.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notesSlides/notesSlide16.xml" ContentType="application/vnd.openxmlformats-officedocument.presentationml.notesSlide+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notesSlides/notesSlide17.xml" ContentType="application/vnd.openxmlformats-officedocument.presentationml.notesSlid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notesSlides/notesSlide18.xml" ContentType="application/vnd.openxmlformats-officedocument.presentationml.notesSlide+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notesSlides/notesSlide19.xml" ContentType="application/vnd.openxmlformats-officedocument.presentationml.notesSlide+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notesSlides/notesSlide20.xml" ContentType="application/vnd.openxmlformats-officedocument.presentationml.notesSlide+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notesSlides/notesSlide21.xml" ContentType="application/vnd.openxmlformats-officedocument.presentationml.notesSlide+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notesSlides/notesSlide22.xml" ContentType="application/vnd.openxmlformats-officedocument.presentationml.notesSlide+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notesSlides/notesSlide23.xml" ContentType="application/vnd.openxmlformats-officedocument.presentationml.notesSlide+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notesSlides/notesSlide24.xml" ContentType="application/vnd.openxmlformats-officedocument.presentationml.notesSlide+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notesSlides/notesSlide25.xml" ContentType="application/vnd.openxmlformats-officedocument.presentationml.notesSlide+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notesSlides/notesSlide26.xml" ContentType="application/vnd.openxmlformats-officedocument.presentationml.notesSlide+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notesSlides/notesSlide27.xml" ContentType="application/vnd.openxmlformats-officedocument.presentationml.notesSlide+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notesSlides/notesSlide28.xml" ContentType="application/vnd.openxmlformats-officedocument.presentationml.notesSlide+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notesSlides/notesSlide29.xml" ContentType="application/vnd.openxmlformats-officedocument.presentationml.notesSlide+xml"/>
  <Override PartName="/ppt/tags/tag199.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notesSlides/notesSlide32.xml" ContentType="application/vnd.openxmlformats-officedocument.presentationml.notesSlide+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notesSlides/notesSlide33.xml" ContentType="application/vnd.openxmlformats-officedocument.presentationml.notesSlide+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notesSlides/notesSlide34.xml" ContentType="application/vnd.openxmlformats-officedocument.presentationml.notesSlide+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notesSlides/notesSlide35.xml" ContentType="application/vnd.openxmlformats-officedocument.presentationml.notesSlide+xml"/>
  <Override PartName="/ppt/tags/tag216.xml" ContentType="application/vnd.openxmlformats-officedocument.presentationml.tags+xml"/>
  <Override PartName="/ppt/notesSlides/notesSlide36.xml" ContentType="application/vnd.openxmlformats-officedocument.presentationml.notesSlide+xml"/>
  <Override PartName="/ppt/tags/tag217.xml" ContentType="application/vnd.openxmlformats-officedocument.presentationml.tags+xml"/>
  <Override PartName="/ppt/notesSlides/notesSlide37.xml" ContentType="application/vnd.openxmlformats-officedocument.presentationml.notesSlide+xml"/>
  <Override PartName="/ppt/tags/tag218.xml" ContentType="application/vnd.openxmlformats-officedocument.presentationml.tags+xml"/>
  <Override PartName="/ppt/notesSlides/notesSlide38.xml" ContentType="application/vnd.openxmlformats-officedocument.presentationml.notesSlide+xml"/>
  <Override PartName="/ppt/tags/tag219.xml" ContentType="application/vnd.openxmlformats-officedocument.presentationml.tags+xml"/>
  <Override PartName="/ppt/notesSlides/notesSlide39.xml" ContentType="application/vnd.openxmlformats-officedocument.presentationml.notesSlide+xml"/>
  <Override PartName="/ppt/tags/tag220.xml" ContentType="application/vnd.openxmlformats-officedocument.presentationml.tags+xml"/>
  <Override PartName="/ppt/notesSlides/notesSlide40.xml" ContentType="application/vnd.openxmlformats-officedocument.presentationml.notesSlide+xml"/>
  <Override PartName="/ppt/tags/tag221.xml" ContentType="application/vnd.openxmlformats-officedocument.presentationml.tags+xml"/>
  <Override PartName="/ppt/tags/tag222.xml" ContentType="application/vnd.openxmlformats-officedocument.presentationml.tags+xml"/>
  <Override PartName="/ppt/notesSlides/notesSlide41.xml" ContentType="application/vnd.openxmlformats-officedocument.presentationml.notesSlide+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notesSlides/notesSlide42.xml" ContentType="application/vnd.openxmlformats-officedocument.presentationml.notesSlide+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notesSlides/notesSlide45.xml" ContentType="application/vnd.openxmlformats-officedocument.presentationml.notesSlide+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notesSlides/notesSlide46.xml" ContentType="application/vnd.openxmlformats-officedocument.presentationml.notesSlide+xml"/>
  <Override PartName="/ppt/tags/tag250.xml" ContentType="application/vnd.openxmlformats-officedocument.presentationml.tags+xml"/>
  <Override PartName="/ppt/tags/tag251.xml" ContentType="application/vnd.openxmlformats-officedocument.presentationml.tags+xml"/>
  <Override PartName="/ppt/notesSlides/notesSlide47.xml" ContentType="application/vnd.openxmlformats-officedocument.presentationml.notesSlide+xml"/>
  <Override PartName="/ppt/tags/tag252.xml" ContentType="application/vnd.openxmlformats-officedocument.presentationml.tags+xml"/>
  <Override PartName="/ppt/tags/tag253.xml" ContentType="application/vnd.openxmlformats-officedocument.presentationml.tags+xml"/>
  <Override PartName="/ppt/notesSlides/notesSlide48.xml" ContentType="application/vnd.openxmlformats-officedocument.presentationml.notesSlide+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notesSlides/notesSlide49.xml" ContentType="application/vnd.openxmlformats-officedocument.presentationml.notesSlide+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notesSlides/notesSlide50.xml" ContentType="application/vnd.openxmlformats-officedocument.presentationml.notesSlide+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notesSlides/notesSlide51.xml" ContentType="application/vnd.openxmlformats-officedocument.presentationml.notesSlide+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notesSlides/notesSlide52.xml" ContentType="application/vnd.openxmlformats-officedocument.presentationml.notesSlide+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notesSlides/notesSlide53.xml" ContentType="application/vnd.openxmlformats-officedocument.presentationml.notesSlide+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notesSlides/notesSlide54.xml" ContentType="application/vnd.openxmlformats-officedocument.presentationml.notesSlide+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notesSlides/notesSlide55.xml" ContentType="application/vnd.openxmlformats-officedocument.presentationml.notesSlide+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notesSlides/notesSlide56.xml" ContentType="application/vnd.openxmlformats-officedocument.presentationml.notesSlide+xml"/>
  <Override PartName="/ppt/tags/tag312.xml" ContentType="application/vnd.openxmlformats-officedocument.presentationml.tags+xml"/>
  <Override PartName="/ppt/tags/tag313.xml" ContentType="application/vnd.openxmlformats-officedocument.presentationml.tags+xml"/>
  <Override PartName="/ppt/notesSlides/notesSlide57.xml" ContentType="application/vnd.openxmlformats-officedocument.presentationml.notesSlide+xml"/>
  <Override PartName="/ppt/tags/tag314.xml" ContentType="application/vnd.openxmlformats-officedocument.presentationml.tags+xml"/>
  <Override PartName="/ppt/tags/tag315.xml" ContentType="application/vnd.openxmlformats-officedocument.presentationml.tags+xml"/>
  <Override PartName="/ppt/notesSlides/notesSlide58.xml" ContentType="application/vnd.openxmlformats-officedocument.presentationml.notesSlide+xml"/>
  <Override PartName="/ppt/tags/tag316.xml" ContentType="application/vnd.openxmlformats-officedocument.presentationml.tags+xml"/>
  <Override PartName="/ppt/tags/tag317.xml" ContentType="application/vnd.openxmlformats-officedocument.presentationml.tags+xml"/>
  <Override PartName="/ppt/notesSlides/notesSlide59.xml" ContentType="application/vnd.openxmlformats-officedocument.presentationml.notesSlide+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notesSlides/notesSlide60.xml" ContentType="application/vnd.openxmlformats-officedocument.presentationml.notesSlide+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notesSlides/notesSlide61.xml" ContentType="application/vnd.openxmlformats-officedocument.presentationml.notesSlide+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notesSlides/notesSlide62.xml" ContentType="application/vnd.openxmlformats-officedocument.presentationml.notesSlide+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Lst>
  <p:notesMasterIdLst>
    <p:notesMasterId r:id="rId67"/>
  </p:notesMasterIdLst>
  <p:handoutMasterIdLst>
    <p:handoutMasterId r:id="rId68"/>
  </p:handoutMasterIdLst>
  <p:sldIdLst>
    <p:sldId id="583" r:id="rId3"/>
    <p:sldId id="1124" r:id="rId4"/>
    <p:sldId id="586" r:id="rId5"/>
    <p:sldId id="587" r:id="rId6"/>
    <p:sldId id="309" r:id="rId7"/>
    <p:sldId id="899" r:id="rId8"/>
    <p:sldId id="1323" r:id="rId9"/>
    <p:sldId id="776" r:id="rId10"/>
    <p:sldId id="1324" r:id="rId11"/>
    <p:sldId id="1371" r:id="rId12"/>
    <p:sldId id="1372" r:id="rId13"/>
    <p:sldId id="1373" r:id="rId14"/>
    <p:sldId id="1374" r:id="rId15"/>
    <p:sldId id="1375" r:id="rId16"/>
    <p:sldId id="1376" r:id="rId17"/>
    <p:sldId id="1377" r:id="rId18"/>
    <p:sldId id="1378" r:id="rId19"/>
    <p:sldId id="1379" r:id="rId20"/>
    <p:sldId id="1380" r:id="rId21"/>
    <p:sldId id="1381" r:id="rId22"/>
    <p:sldId id="1382" r:id="rId23"/>
    <p:sldId id="1383" r:id="rId24"/>
    <p:sldId id="1384" r:id="rId25"/>
    <p:sldId id="1385" r:id="rId26"/>
    <p:sldId id="1386" r:id="rId27"/>
    <p:sldId id="1387" r:id="rId28"/>
    <p:sldId id="1388" r:id="rId29"/>
    <p:sldId id="1389" r:id="rId30"/>
    <p:sldId id="1418" r:id="rId31"/>
    <p:sldId id="1419" r:id="rId32"/>
    <p:sldId id="1390" r:id="rId33"/>
    <p:sldId id="1392" r:id="rId34"/>
    <p:sldId id="1391" r:id="rId35"/>
    <p:sldId id="1393" r:id="rId36"/>
    <p:sldId id="1394" r:id="rId37"/>
    <p:sldId id="1395" r:id="rId38"/>
    <p:sldId id="1396" r:id="rId39"/>
    <p:sldId id="1397" r:id="rId40"/>
    <p:sldId id="1398" r:id="rId41"/>
    <p:sldId id="1399" r:id="rId42"/>
    <p:sldId id="1400" r:id="rId43"/>
    <p:sldId id="1401" r:id="rId44"/>
    <p:sldId id="1402" r:id="rId45"/>
    <p:sldId id="1277" r:id="rId46"/>
    <p:sldId id="1278" r:id="rId47"/>
    <p:sldId id="1280" r:id="rId48"/>
    <p:sldId id="1279" r:id="rId49"/>
    <p:sldId id="1403" r:id="rId50"/>
    <p:sldId id="1404" r:id="rId51"/>
    <p:sldId id="1283" r:id="rId52"/>
    <p:sldId id="1405" r:id="rId53"/>
    <p:sldId id="1406" r:id="rId54"/>
    <p:sldId id="1408" r:id="rId55"/>
    <p:sldId id="1409" r:id="rId56"/>
    <p:sldId id="1410" r:id="rId57"/>
    <p:sldId id="1411" r:id="rId58"/>
    <p:sldId id="1412" r:id="rId59"/>
    <p:sldId id="1413" r:id="rId60"/>
    <p:sldId id="1414" r:id="rId61"/>
    <p:sldId id="1284" r:id="rId62"/>
    <p:sldId id="1415" r:id="rId63"/>
    <p:sldId id="1416" r:id="rId64"/>
    <p:sldId id="1417" r:id="rId65"/>
    <p:sldId id="889" r:id="rId66"/>
  </p:sldIdLst>
  <p:sldSz cx="12190413" cy="6859588"/>
  <p:notesSz cx="6858000" cy="9144000"/>
  <p:custDataLst>
    <p:tags r:id="rId69"/>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04" userDrawn="1">
          <p15:clr>
            <a:srgbClr val="A4A3A4"/>
          </p15:clr>
        </p15:guide>
        <p15:guide id="2" pos="626" userDrawn="1">
          <p15:clr>
            <a:srgbClr val="A4A3A4"/>
          </p15:clr>
        </p15:guide>
        <p15:guide id="3" pos="6993" userDrawn="1">
          <p15:clr>
            <a:srgbClr val="A4A3A4"/>
          </p15:clr>
        </p15:guide>
      </p15:sldGuideLst>
    </p:ext>
    <p:ext uri="{2D200454-40CA-4A62-9FC3-DE9A4176ACB9}">
      <p15:notesGuideLst xmlns:p15="http://schemas.microsoft.com/office/powerpoint/2012/main">
        <p15:guide id="1" orient="horz" pos="2695">
          <p15:clr>
            <a:srgbClr val="A4A3A4"/>
          </p15:clr>
        </p15:guide>
        <p15:guide id="2" pos="217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薛蒙蒙" initials="xmm" lastIdx="10" clrIdx="0"/>
  <p:cmAuthor id="2" name="LD" initials="L" lastIdx="2" clrIdx="1"/>
  <p:cmAuthor id="3" name="Lv0593" initials="L" lastIdx="15" clrIdx="2"/>
  <p:cmAuthor id="4" name="tk" initials="tk"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DA2"/>
    <a:srgbClr val="595959"/>
    <a:srgbClr val="FAFAFA"/>
    <a:srgbClr val="FF0000"/>
    <a:srgbClr val="11D023"/>
    <a:srgbClr val="F2F2F2"/>
    <a:srgbClr val="1369B2"/>
    <a:srgbClr val="006BBC"/>
    <a:srgbClr val="0075CC"/>
    <a:srgbClr val="008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72" autoAdjust="0"/>
    <p:restoredTop sz="91484" autoAdjust="0"/>
  </p:normalViewPr>
  <p:slideViewPr>
    <p:cSldViewPr showGuides="1">
      <p:cViewPr varScale="1">
        <p:scale>
          <a:sx n="68" d="100"/>
          <a:sy n="68" d="100"/>
        </p:scale>
        <p:origin x="351" y="51"/>
      </p:cViewPr>
      <p:guideLst>
        <p:guide orient="horz" pos="1004"/>
        <p:guide pos="626"/>
        <p:guide pos="6993"/>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2695"/>
        <p:guide pos="217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ags" Target="tags/tag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2026/4/13</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2026/4/13</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9F88F-6A07-C892-9143-849FD81E0F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1099B85-909C-81F9-E843-9CC1486CE5CA}"/>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06777DF7-E2C9-9B81-5CAD-DE90049F899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51912F8-2AE9-E77A-49E9-9D03130BA82D}"/>
              </a:ext>
            </a:extLst>
          </p:cNvPr>
          <p:cNvSpPr>
            <a:spLocks noGrp="1"/>
          </p:cNvSpPr>
          <p:nvPr>
            <p:ph type="sldNum" sz="quarter" idx="10"/>
          </p:nvPr>
        </p:nvSpPr>
        <p:spPr/>
        <p:txBody>
          <a:bodyPr/>
          <a:lstStyle/>
          <a:p>
            <a:fld id="{7392B679-AE23-4750-8FB0-6513430B8953}" type="slidenum">
              <a:rPr lang="zh-CN" altLang="en-US" smtClean="0"/>
              <a:t>29</a:t>
            </a:fld>
            <a:endParaRPr lang="zh-CN" altLang="en-US"/>
          </a:p>
        </p:txBody>
      </p:sp>
    </p:spTree>
    <p:extLst>
      <p:ext uri="{BB962C8B-B14F-4D97-AF65-F5344CB8AC3E}">
        <p14:creationId xmlns:p14="http://schemas.microsoft.com/office/powerpoint/2010/main" val="10410560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A8334-489C-924D-F363-3457D739E58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3AD3E96-6E9C-C82C-194A-0D128DFF73D5}"/>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072C5AEE-E707-F332-6A38-BFB117AAEC9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216EBE8-95D5-CEFF-126F-1D9C07C2FCD6}"/>
              </a:ext>
            </a:extLst>
          </p:cNvPr>
          <p:cNvSpPr>
            <a:spLocks noGrp="1"/>
          </p:cNvSpPr>
          <p:nvPr>
            <p:ph type="sldNum" sz="quarter" idx="10"/>
          </p:nvPr>
        </p:nvSpPr>
        <p:spPr/>
        <p:txBody>
          <a:bodyPr/>
          <a:lstStyle/>
          <a:p>
            <a:fld id="{7392B679-AE23-4750-8FB0-6513430B8953}" type="slidenum">
              <a:rPr lang="zh-CN" altLang="en-US" smtClean="0"/>
              <a:t>30</a:t>
            </a:fld>
            <a:endParaRPr lang="zh-CN" altLang="en-US"/>
          </a:p>
        </p:txBody>
      </p:sp>
    </p:spTree>
    <p:extLst>
      <p:ext uri="{BB962C8B-B14F-4D97-AF65-F5344CB8AC3E}">
        <p14:creationId xmlns:p14="http://schemas.microsoft.com/office/powerpoint/2010/main" val="17422835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64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3131" y="2202951"/>
            <a:ext cx="12193544" cy="2327529"/>
            <a:chOff x="169683" y="177982"/>
            <a:chExt cx="3937015" cy="751234"/>
          </a:xfrm>
        </p:grpSpPr>
        <p:sp>
          <p:nvSpPr>
            <p:cNvPr id="44" name="等腰三角形 43"/>
            <p:cNvSpPr/>
            <p:nvPr/>
          </p:nvSpPr>
          <p:spPr>
            <a:xfrm>
              <a:off x="1587695"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169683" y="57270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48467" y="177982"/>
              <a:ext cx="1418233" cy="751234"/>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10631710"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8903743"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9767727"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7175776"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039760"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a:solidFill>
                  <a:srgbClr val="595959"/>
                </a:solidFill>
                <a:latin typeface="微软雅黑" panose="020B0503020204020204" pitchFamily="34" charset="-122"/>
                <a:ea typeface="微软雅黑" panose="020B0503020204020204" pitchFamily="34" charset="-122"/>
              </a:rPr>
              <a:t>yx.ityxb.com</a:t>
            </a:r>
            <a:endParaRPr lang="zh-CN" altLang="en-US" sz="1200" b="0" dirty="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2026/4/13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2026/4/13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2026/4/13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2026/4/13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2026/4/13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t>2026/4/13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2"/>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2026/4/13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2026/4/13</a:t>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latin typeface="微软雅黑" panose="020B0503020204020204" pitchFamily="34" charset="-122"/>
                <a:ea typeface="微软雅黑" panose="020B0503020204020204" pitchFamily="34" charset="-122"/>
              </a:defRPr>
            </a:lvl1pPr>
          </a:lstStyle>
          <a:p>
            <a:fld id="{530820CF-B880-4189-942D-D702A7CBA730}" type="datetimeFigureOut">
              <a:rPr lang="zh-CN" altLang="en-US" smtClean="0"/>
              <a:t>2026/4/13</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latin typeface="微软雅黑" panose="020B0503020204020204" pitchFamily="34" charset="-122"/>
                <a:ea typeface="微软雅黑" panose="020B0503020204020204" pitchFamily="34" charset="-122"/>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微软雅黑" panose="020B0503020204020204" pitchFamily="34" charset="-122"/>
          <a:ea typeface="微软雅黑" panose="020B0503020204020204" pitchFamily="34" charset="-122"/>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微软雅黑" panose="020B0503020204020204" pitchFamily="34" charset="-122"/>
          <a:ea typeface="微软雅黑" panose="020B0503020204020204" pitchFamily="34" charset="-122"/>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微软雅黑" panose="020B0503020204020204" pitchFamily="34" charset="-122"/>
          <a:ea typeface="微软雅黑" panose="020B0503020204020204" pitchFamily="34" charset="-122"/>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微软雅黑" panose="020B0503020204020204" pitchFamily="34" charset="-122"/>
          <a:ea typeface="微软雅黑" panose="020B0503020204020204" pitchFamily="34" charset="-122"/>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微软雅黑" panose="020B0503020204020204" pitchFamily="34" charset="-122"/>
          <a:ea typeface="微软雅黑" panose="020B0503020204020204" pitchFamily="34" charset="-122"/>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notesSlide" Target="../notesSlides/notesSlide2.xml"/><Relationship Id="rId5" Type="http://schemas.openxmlformats.org/officeDocument/2006/relationships/slideLayout" Target="../slideLayouts/slideLayout19.xml"/><Relationship Id="rId4" Type="http://schemas.openxmlformats.org/officeDocument/2006/relationships/tags" Target="../tags/tag5.xml"/></Relationships>
</file>

<file path=ppt/slides/_rels/slide3.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notesSlide" Target="../notesSlides/notesSlide3.xml"/><Relationship Id="rId4"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slideLayout" Target="../slideLayouts/slideLayout19.xml"/><Relationship Id="rId3" Type="http://schemas.openxmlformats.org/officeDocument/2006/relationships/tags" Target="../tags/tag11.xml"/><Relationship Id="rId7" Type="http://schemas.openxmlformats.org/officeDocument/2006/relationships/tags" Target="../tags/tag15.xml"/><Relationship Id="rId12" Type="http://schemas.openxmlformats.org/officeDocument/2006/relationships/tags" Target="../tags/tag20.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tags" Target="../tags/tag19.xml"/><Relationship Id="rId5" Type="http://schemas.openxmlformats.org/officeDocument/2006/relationships/tags" Target="../tags/tag13.xml"/><Relationship Id="rId10" Type="http://schemas.openxmlformats.org/officeDocument/2006/relationships/tags" Target="../tags/tag18.xml"/><Relationship Id="rId4" Type="http://schemas.openxmlformats.org/officeDocument/2006/relationships/tags" Target="../tags/tag12.xml"/><Relationship Id="rId9" Type="http://schemas.openxmlformats.org/officeDocument/2006/relationships/tags" Target="../tags/tag17.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notesSlide" Target="../notesSlides/notesSlide6.xml"/><Relationship Id="rId5" Type="http://schemas.openxmlformats.org/officeDocument/2006/relationships/slideLayout" Target="../slideLayouts/slideLayout10.xml"/><Relationship Id="rId4" Type="http://schemas.openxmlformats.org/officeDocument/2006/relationships/tags" Target="../tags/tag24.xml"/></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27.xml"/><Relationship Id="rId7" Type="http://schemas.openxmlformats.org/officeDocument/2006/relationships/notesSlide" Target="../notesSlides/notesSlide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slideLayout" Target="../slideLayouts/slideLayout10.xml"/><Relationship Id="rId5" Type="http://schemas.openxmlformats.org/officeDocument/2006/relationships/tags" Target="../tags/tag29.xml"/><Relationship Id="rId4" Type="http://schemas.openxmlformats.org/officeDocument/2006/relationships/tags" Target="../tags/tag28.xml"/></Relationships>
</file>

<file path=ppt/slides/_rels/slide8.xml.rels><?xml version="1.0" encoding="UTF-8" standalone="yes"?>
<Relationships xmlns="http://schemas.openxmlformats.org/package/2006/relationships"><Relationship Id="rId8" Type="http://schemas.openxmlformats.org/officeDocument/2006/relationships/tags" Target="../tags/tag37.xml"/><Relationship Id="rId13" Type="http://schemas.openxmlformats.org/officeDocument/2006/relationships/tags" Target="../tags/tag42.xml"/><Relationship Id="rId18" Type="http://schemas.openxmlformats.org/officeDocument/2006/relationships/tags" Target="../tags/tag47.xml"/><Relationship Id="rId3" Type="http://schemas.openxmlformats.org/officeDocument/2006/relationships/tags" Target="../tags/tag32.xml"/><Relationship Id="rId7" Type="http://schemas.openxmlformats.org/officeDocument/2006/relationships/tags" Target="../tags/tag36.xml"/><Relationship Id="rId12" Type="http://schemas.openxmlformats.org/officeDocument/2006/relationships/tags" Target="../tags/tag41.xml"/><Relationship Id="rId17" Type="http://schemas.openxmlformats.org/officeDocument/2006/relationships/tags" Target="../tags/tag46.xml"/><Relationship Id="rId2" Type="http://schemas.openxmlformats.org/officeDocument/2006/relationships/tags" Target="../tags/tag31.xml"/><Relationship Id="rId16" Type="http://schemas.openxmlformats.org/officeDocument/2006/relationships/tags" Target="../tags/tag45.xml"/><Relationship Id="rId20" Type="http://schemas.openxmlformats.org/officeDocument/2006/relationships/notesSlide" Target="../notesSlides/notesSlide8.xml"/><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tags" Target="../tags/tag40.xml"/><Relationship Id="rId5" Type="http://schemas.openxmlformats.org/officeDocument/2006/relationships/tags" Target="../tags/tag34.xml"/><Relationship Id="rId15" Type="http://schemas.openxmlformats.org/officeDocument/2006/relationships/tags" Target="../tags/tag44.xml"/><Relationship Id="rId10" Type="http://schemas.openxmlformats.org/officeDocument/2006/relationships/tags" Target="../tags/tag39.xml"/><Relationship Id="rId19" Type="http://schemas.openxmlformats.org/officeDocument/2006/relationships/slideLayout" Target="../slideLayouts/slideLayout10.xml"/><Relationship Id="rId4" Type="http://schemas.openxmlformats.org/officeDocument/2006/relationships/tags" Target="../tags/tag33.xml"/><Relationship Id="rId9" Type="http://schemas.openxmlformats.org/officeDocument/2006/relationships/tags" Target="../tags/tag38.xml"/><Relationship Id="rId14" Type="http://schemas.openxmlformats.org/officeDocument/2006/relationships/tags" Target="../tags/tag43.xml"/></Relationships>
</file>

<file path=ppt/slides/_rels/slide9.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5" Type="http://schemas.openxmlformats.org/officeDocument/2006/relationships/notesSlide" Target="../notesSlides/notesSlide9.xml"/><Relationship Id="rId4"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52.xml"/><Relationship Id="rId1" Type="http://schemas.openxmlformats.org/officeDocument/2006/relationships/tags" Target="../tags/tag5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54.xml"/><Relationship Id="rId1" Type="http://schemas.openxmlformats.org/officeDocument/2006/relationships/tags" Target="../tags/tag5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57.xml"/><Relationship Id="rId7" Type="http://schemas.openxmlformats.org/officeDocument/2006/relationships/notesSlide" Target="../notesSlides/notesSlide12.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slideLayout" Target="../slideLayouts/slideLayout10.xml"/><Relationship Id="rId5" Type="http://schemas.openxmlformats.org/officeDocument/2006/relationships/tags" Target="../tags/tag59.xml"/><Relationship Id="rId4" Type="http://schemas.openxmlformats.org/officeDocument/2006/relationships/tags" Target="../tags/tag58.xml"/></Relationships>
</file>

<file path=ppt/slides/_rels/slide13.xml.rels><?xml version="1.0" encoding="UTF-8" standalone="yes"?>
<Relationships xmlns="http://schemas.openxmlformats.org/package/2006/relationships"><Relationship Id="rId8" Type="http://schemas.openxmlformats.org/officeDocument/2006/relationships/tags" Target="../tags/tag67.xml"/><Relationship Id="rId13" Type="http://schemas.openxmlformats.org/officeDocument/2006/relationships/tags" Target="../tags/tag72.xml"/><Relationship Id="rId18" Type="http://schemas.openxmlformats.org/officeDocument/2006/relationships/tags" Target="../tags/tag77.xml"/><Relationship Id="rId3" Type="http://schemas.openxmlformats.org/officeDocument/2006/relationships/tags" Target="../tags/tag62.xml"/><Relationship Id="rId21" Type="http://schemas.openxmlformats.org/officeDocument/2006/relationships/slideLayout" Target="../slideLayouts/slideLayout10.xml"/><Relationship Id="rId7" Type="http://schemas.openxmlformats.org/officeDocument/2006/relationships/tags" Target="../tags/tag66.xml"/><Relationship Id="rId12" Type="http://schemas.openxmlformats.org/officeDocument/2006/relationships/tags" Target="../tags/tag71.xml"/><Relationship Id="rId17" Type="http://schemas.openxmlformats.org/officeDocument/2006/relationships/tags" Target="../tags/tag76.xml"/><Relationship Id="rId2" Type="http://schemas.openxmlformats.org/officeDocument/2006/relationships/tags" Target="../tags/tag61.xml"/><Relationship Id="rId16" Type="http://schemas.openxmlformats.org/officeDocument/2006/relationships/tags" Target="../tags/tag75.xml"/><Relationship Id="rId20" Type="http://schemas.openxmlformats.org/officeDocument/2006/relationships/tags" Target="../tags/tag79.xml"/><Relationship Id="rId1" Type="http://schemas.openxmlformats.org/officeDocument/2006/relationships/tags" Target="../tags/tag60.xml"/><Relationship Id="rId6" Type="http://schemas.openxmlformats.org/officeDocument/2006/relationships/tags" Target="../tags/tag65.xml"/><Relationship Id="rId11" Type="http://schemas.openxmlformats.org/officeDocument/2006/relationships/tags" Target="../tags/tag70.xml"/><Relationship Id="rId5" Type="http://schemas.openxmlformats.org/officeDocument/2006/relationships/tags" Target="../tags/tag64.xml"/><Relationship Id="rId15" Type="http://schemas.openxmlformats.org/officeDocument/2006/relationships/tags" Target="../tags/tag74.xml"/><Relationship Id="rId10" Type="http://schemas.openxmlformats.org/officeDocument/2006/relationships/tags" Target="../tags/tag69.xml"/><Relationship Id="rId19" Type="http://schemas.openxmlformats.org/officeDocument/2006/relationships/tags" Target="../tags/tag78.xml"/><Relationship Id="rId4" Type="http://schemas.openxmlformats.org/officeDocument/2006/relationships/tags" Target="../tags/tag63.xml"/><Relationship Id="rId9" Type="http://schemas.openxmlformats.org/officeDocument/2006/relationships/tags" Target="../tags/tag68.xml"/><Relationship Id="rId14" Type="http://schemas.openxmlformats.org/officeDocument/2006/relationships/tags" Target="../tags/tag73.xml"/><Relationship Id="rId2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8" Type="http://schemas.openxmlformats.org/officeDocument/2006/relationships/tags" Target="../tags/tag87.xml"/><Relationship Id="rId13" Type="http://schemas.openxmlformats.org/officeDocument/2006/relationships/image" Target="../media/image3.png"/><Relationship Id="rId3" Type="http://schemas.openxmlformats.org/officeDocument/2006/relationships/tags" Target="../tags/tag82.xml"/><Relationship Id="rId7" Type="http://schemas.openxmlformats.org/officeDocument/2006/relationships/tags" Target="../tags/tag86.xml"/><Relationship Id="rId12" Type="http://schemas.openxmlformats.org/officeDocument/2006/relationships/notesSlide" Target="../notesSlides/notesSlide14.xml"/><Relationship Id="rId2" Type="http://schemas.openxmlformats.org/officeDocument/2006/relationships/tags" Target="../tags/tag81.xml"/><Relationship Id="rId16" Type="http://schemas.openxmlformats.org/officeDocument/2006/relationships/image" Target="../media/image5.svg"/><Relationship Id="rId1" Type="http://schemas.openxmlformats.org/officeDocument/2006/relationships/tags" Target="../tags/tag80.xml"/><Relationship Id="rId6" Type="http://schemas.openxmlformats.org/officeDocument/2006/relationships/tags" Target="../tags/tag85.xml"/><Relationship Id="rId11" Type="http://schemas.openxmlformats.org/officeDocument/2006/relationships/slideLayout" Target="../slideLayouts/slideLayout10.xml"/><Relationship Id="rId5" Type="http://schemas.openxmlformats.org/officeDocument/2006/relationships/tags" Target="../tags/tag84.xml"/><Relationship Id="rId15" Type="http://schemas.openxmlformats.org/officeDocument/2006/relationships/image" Target="../media/image4.png"/><Relationship Id="rId10" Type="http://schemas.openxmlformats.org/officeDocument/2006/relationships/tags" Target="../tags/tag89.xml"/><Relationship Id="rId4" Type="http://schemas.openxmlformats.org/officeDocument/2006/relationships/tags" Target="../tags/tag83.xml"/><Relationship Id="rId9" Type="http://schemas.openxmlformats.org/officeDocument/2006/relationships/tags" Target="../tags/tag88.xml"/><Relationship Id="rId14" Type="http://schemas.openxmlformats.org/officeDocument/2006/relationships/hyperlink" Target="http://stu.ityxb.com/ebookview/5bea92a6e1a8224a0405880f49bbae90" TargetMode="External"/></Relationships>
</file>

<file path=ppt/slides/_rels/slide15.xml.rels><?xml version="1.0" encoding="UTF-8" standalone="yes"?>
<Relationships xmlns="http://schemas.openxmlformats.org/package/2006/relationships"><Relationship Id="rId8" Type="http://schemas.openxmlformats.org/officeDocument/2006/relationships/tags" Target="../tags/tag97.xml"/><Relationship Id="rId13" Type="http://schemas.openxmlformats.org/officeDocument/2006/relationships/hyperlink" Target="http://stu.ityxb.com/ebookview/81663a2dc142f6f38ed09e9149d406ac" TargetMode="External"/><Relationship Id="rId3" Type="http://schemas.openxmlformats.org/officeDocument/2006/relationships/tags" Target="../tags/tag92.xml"/><Relationship Id="rId7" Type="http://schemas.openxmlformats.org/officeDocument/2006/relationships/tags" Target="../tags/tag96.xml"/><Relationship Id="rId12" Type="http://schemas.openxmlformats.org/officeDocument/2006/relationships/image" Target="../media/image3.png"/><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tags" Target="../tags/tag95.xml"/><Relationship Id="rId11" Type="http://schemas.openxmlformats.org/officeDocument/2006/relationships/notesSlide" Target="../notesSlides/notesSlide15.xml"/><Relationship Id="rId5" Type="http://schemas.openxmlformats.org/officeDocument/2006/relationships/tags" Target="../tags/tag94.xml"/><Relationship Id="rId15" Type="http://schemas.openxmlformats.org/officeDocument/2006/relationships/image" Target="../media/image5.svg"/><Relationship Id="rId10" Type="http://schemas.openxmlformats.org/officeDocument/2006/relationships/slideLayout" Target="../slideLayouts/slideLayout10.xml"/><Relationship Id="rId4" Type="http://schemas.openxmlformats.org/officeDocument/2006/relationships/tags" Target="../tags/tag93.xml"/><Relationship Id="rId9" Type="http://schemas.openxmlformats.org/officeDocument/2006/relationships/tags" Target="../tags/tag98.xml"/><Relationship Id="rId14" Type="http://schemas.openxmlformats.org/officeDocument/2006/relationships/image" Target="../media/image4.png"/></Relationships>
</file>

<file path=ppt/slides/_rels/slide16.xml.rels><?xml version="1.0" encoding="UTF-8" standalone="yes"?>
<Relationships xmlns="http://schemas.openxmlformats.org/package/2006/relationships"><Relationship Id="rId8" Type="http://schemas.openxmlformats.org/officeDocument/2006/relationships/tags" Target="../tags/tag106.xml"/><Relationship Id="rId13" Type="http://schemas.openxmlformats.org/officeDocument/2006/relationships/hyperlink" Target="http://stu.ityxb.com/ebookview/71725a0407d6b22fff8d9ee1ea6f7004" TargetMode="External"/><Relationship Id="rId3" Type="http://schemas.openxmlformats.org/officeDocument/2006/relationships/tags" Target="../tags/tag101.xml"/><Relationship Id="rId7" Type="http://schemas.openxmlformats.org/officeDocument/2006/relationships/tags" Target="../tags/tag105.xml"/><Relationship Id="rId12" Type="http://schemas.openxmlformats.org/officeDocument/2006/relationships/image" Target="../media/image3.png"/><Relationship Id="rId2" Type="http://schemas.openxmlformats.org/officeDocument/2006/relationships/tags" Target="../tags/tag100.xml"/><Relationship Id="rId1" Type="http://schemas.openxmlformats.org/officeDocument/2006/relationships/tags" Target="../tags/tag99.xml"/><Relationship Id="rId6" Type="http://schemas.openxmlformats.org/officeDocument/2006/relationships/tags" Target="../tags/tag104.xml"/><Relationship Id="rId11" Type="http://schemas.openxmlformats.org/officeDocument/2006/relationships/notesSlide" Target="../notesSlides/notesSlide16.xml"/><Relationship Id="rId5" Type="http://schemas.openxmlformats.org/officeDocument/2006/relationships/tags" Target="../tags/tag103.xml"/><Relationship Id="rId15" Type="http://schemas.openxmlformats.org/officeDocument/2006/relationships/image" Target="../media/image5.svg"/><Relationship Id="rId10" Type="http://schemas.openxmlformats.org/officeDocument/2006/relationships/slideLayout" Target="../slideLayouts/slideLayout10.xml"/><Relationship Id="rId4" Type="http://schemas.openxmlformats.org/officeDocument/2006/relationships/tags" Target="../tags/tag102.xml"/><Relationship Id="rId9" Type="http://schemas.openxmlformats.org/officeDocument/2006/relationships/tags" Target="../tags/tag107.xml"/><Relationship Id="rId14" Type="http://schemas.openxmlformats.org/officeDocument/2006/relationships/image" Target="../media/image4.png"/></Relationships>
</file>

<file path=ppt/slides/_rels/slide17.xml.rels><?xml version="1.0" encoding="UTF-8" standalone="yes"?>
<Relationships xmlns="http://schemas.openxmlformats.org/package/2006/relationships"><Relationship Id="rId8" Type="http://schemas.openxmlformats.org/officeDocument/2006/relationships/tags" Target="../tags/tag115.xml"/><Relationship Id="rId13" Type="http://schemas.openxmlformats.org/officeDocument/2006/relationships/hyperlink" Target="http://stu.ityxb.com/ebookview/3ce6b3be96c5981c6aedcd687ca612a5" TargetMode="External"/><Relationship Id="rId3" Type="http://schemas.openxmlformats.org/officeDocument/2006/relationships/tags" Target="../tags/tag110.xml"/><Relationship Id="rId7" Type="http://schemas.openxmlformats.org/officeDocument/2006/relationships/tags" Target="../tags/tag114.xml"/><Relationship Id="rId12" Type="http://schemas.openxmlformats.org/officeDocument/2006/relationships/image" Target="../media/image3.png"/><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tags" Target="../tags/tag113.xml"/><Relationship Id="rId11" Type="http://schemas.openxmlformats.org/officeDocument/2006/relationships/notesSlide" Target="../notesSlides/notesSlide17.xml"/><Relationship Id="rId5" Type="http://schemas.openxmlformats.org/officeDocument/2006/relationships/tags" Target="../tags/tag112.xml"/><Relationship Id="rId15" Type="http://schemas.openxmlformats.org/officeDocument/2006/relationships/image" Target="../media/image5.svg"/><Relationship Id="rId10" Type="http://schemas.openxmlformats.org/officeDocument/2006/relationships/slideLayout" Target="../slideLayouts/slideLayout10.xml"/><Relationship Id="rId4" Type="http://schemas.openxmlformats.org/officeDocument/2006/relationships/tags" Target="../tags/tag111.xml"/><Relationship Id="rId9" Type="http://schemas.openxmlformats.org/officeDocument/2006/relationships/tags" Target="../tags/tag116.xml"/><Relationship Id="rId14" Type="http://schemas.openxmlformats.org/officeDocument/2006/relationships/image" Target="../media/image4.png"/></Relationships>
</file>

<file path=ppt/slides/_rels/slide18.xml.rels><?xml version="1.0" encoding="UTF-8" standalone="yes"?>
<Relationships xmlns="http://schemas.openxmlformats.org/package/2006/relationships"><Relationship Id="rId8" Type="http://schemas.openxmlformats.org/officeDocument/2006/relationships/tags" Target="../tags/tag124.xml"/><Relationship Id="rId13" Type="http://schemas.openxmlformats.org/officeDocument/2006/relationships/hyperlink" Target="https://stu.ityxb.com/ebookview/f6d05be6f2b9a8f7890a812af4c78476" TargetMode="External"/><Relationship Id="rId3" Type="http://schemas.openxmlformats.org/officeDocument/2006/relationships/tags" Target="../tags/tag119.xml"/><Relationship Id="rId7" Type="http://schemas.openxmlformats.org/officeDocument/2006/relationships/tags" Target="../tags/tag123.xml"/><Relationship Id="rId12" Type="http://schemas.openxmlformats.org/officeDocument/2006/relationships/image" Target="../media/image3.png"/><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tags" Target="../tags/tag122.xml"/><Relationship Id="rId11" Type="http://schemas.openxmlformats.org/officeDocument/2006/relationships/notesSlide" Target="../notesSlides/notesSlide18.xml"/><Relationship Id="rId5" Type="http://schemas.openxmlformats.org/officeDocument/2006/relationships/tags" Target="../tags/tag121.xml"/><Relationship Id="rId15" Type="http://schemas.openxmlformats.org/officeDocument/2006/relationships/image" Target="../media/image5.svg"/><Relationship Id="rId10" Type="http://schemas.openxmlformats.org/officeDocument/2006/relationships/slideLayout" Target="../slideLayouts/slideLayout10.xml"/><Relationship Id="rId4" Type="http://schemas.openxmlformats.org/officeDocument/2006/relationships/tags" Target="../tags/tag120.xml"/><Relationship Id="rId9" Type="http://schemas.openxmlformats.org/officeDocument/2006/relationships/tags" Target="../tags/tag125.xml"/><Relationship Id="rId14" Type="http://schemas.openxmlformats.org/officeDocument/2006/relationships/image" Target="../media/image4.png"/></Relationships>
</file>

<file path=ppt/slides/_rels/slide19.xml.rels><?xml version="1.0" encoding="UTF-8" standalone="yes"?>
<Relationships xmlns="http://schemas.openxmlformats.org/package/2006/relationships"><Relationship Id="rId8" Type="http://schemas.openxmlformats.org/officeDocument/2006/relationships/tags" Target="../tags/tag133.xml"/><Relationship Id="rId13" Type="http://schemas.openxmlformats.org/officeDocument/2006/relationships/image" Target="../media/image4.png"/><Relationship Id="rId3" Type="http://schemas.openxmlformats.org/officeDocument/2006/relationships/tags" Target="../tags/tag128.xml"/><Relationship Id="rId7" Type="http://schemas.openxmlformats.org/officeDocument/2006/relationships/tags" Target="../tags/tag132.xml"/><Relationship Id="rId12" Type="http://schemas.openxmlformats.org/officeDocument/2006/relationships/image" Target="../media/image3.png"/><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tags" Target="../tags/tag131.xml"/><Relationship Id="rId11" Type="http://schemas.openxmlformats.org/officeDocument/2006/relationships/notesSlide" Target="../notesSlides/notesSlide19.xml"/><Relationship Id="rId5" Type="http://schemas.openxmlformats.org/officeDocument/2006/relationships/tags" Target="../tags/tag130.xml"/><Relationship Id="rId10" Type="http://schemas.openxmlformats.org/officeDocument/2006/relationships/slideLayout" Target="../slideLayouts/slideLayout10.xml"/><Relationship Id="rId4" Type="http://schemas.openxmlformats.org/officeDocument/2006/relationships/tags" Target="../tags/tag129.xml"/><Relationship Id="rId9" Type="http://schemas.openxmlformats.org/officeDocument/2006/relationships/tags" Target="../tags/tag134.xml"/><Relationship Id="rId14" Type="http://schemas.openxmlformats.org/officeDocument/2006/relationships/image" Target="../media/image5.svg"/></Relationships>
</file>

<file path=ppt/slides/_rels/slide20.xml.rels><?xml version="1.0" encoding="UTF-8" standalone="yes"?>
<Relationships xmlns="http://schemas.openxmlformats.org/package/2006/relationships"><Relationship Id="rId8" Type="http://schemas.openxmlformats.org/officeDocument/2006/relationships/tags" Target="../tags/tag142.xml"/><Relationship Id="rId13" Type="http://schemas.openxmlformats.org/officeDocument/2006/relationships/hyperlink" Target="http://stu.ityxb.com/ebookview/be0499b04a7c04c1f5113ab9ebc6e34b" TargetMode="External"/><Relationship Id="rId3" Type="http://schemas.openxmlformats.org/officeDocument/2006/relationships/tags" Target="../tags/tag137.xml"/><Relationship Id="rId7" Type="http://schemas.openxmlformats.org/officeDocument/2006/relationships/tags" Target="../tags/tag141.xml"/><Relationship Id="rId12" Type="http://schemas.openxmlformats.org/officeDocument/2006/relationships/image" Target="../media/image3.png"/><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tags" Target="../tags/tag140.xml"/><Relationship Id="rId11" Type="http://schemas.openxmlformats.org/officeDocument/2006/relationships/notesSlide" Target="../notesSlides/notesSlide20.xml"/><Relationship Id="rId5" Type="http://schemas.openxmlformats.org/officeDocument/2006/relationships/tags" Target="../tags/tag139.xml"/><Relationship Id="rId15" Type="http://schemas.openxmlformats.org/officeDocument/2006/relationships/image" Target="../media/image5.svg"/><Relationship Id="rId10" Type="http://schemas.openxmlformats.org/officeDocument/2006/relationships/slideLayout" Target="../slideLayouts/slideLayout10.xml"/><Relationship Id="rId4" Type="http://schemas.openxmlformats.org/officeDocument/2006/relationships/tags" Target="../tags/tag138.xml"/><Relationship Id="rId9" Type="http://schemas.openxmlformats.org/officeDocument/2006/relationships/tags" Target="../tags/tag143.xml"/><Relationship Id="rId14" Type="http://schemas.openxmlformats.org/officeDocument/2006/relationships/image" Target="../media/image4.png"/></Relationships>
</file>

<file path=ppt/slides/_rels/slide21.xml.rels><?xml version="1.0" encoding="UTF-8" standalone="yes"?>
<Relationships xmlns="http://schemas.openxmlformats.org/package/2006/relationships"><Relationship Id="rId8" Type="http://schemas.openxmlformats.org/officeDocument/2006/relationships/tags" Target="../tags/tag151.xml"/><Relationship Id="rId13" Type="http://schemas.openxmlformats.org/officeDocument/2006/relationships/hyperlink" Target="http://stu.ityxb.com/ebookview/a4d0a1f015d09e16554bdd3682e699f0" TargetMode="External"/><Relationship Id="rId3" Type="http://schemas.openxmlformats.org/officeDocument/2006/relationships/tags" Target="../tags/tag146.xml"/><Relationship Id="rId7" Type="http://schemas.openxmlformats.org/officeDocument/2006/relationships/tags" Target="../tags/tag150.xml"/><Relationship Id="rId12" Type="http://schemas.openxmlformats.org/officeDocument/2006/relationships/image" Target="../media/image3.png"/><Relationship Id="rId2" Type="http://schemas.openxmlformats.org/officeDocument/2006/relationships/tags" Target="../tags/tag145.xml"/><Relationship Id="rId1" Type="http://schemas.openxmlformats.org/officeDocument/2006/relationships/tags" Target="../tags/tag144.xml"/><Relationship Id="rId6" Type="http://schemas.openxmlformats.org/officeDocument/2006/relationships/tags" Target="../tags/tag149.xml"/><Relationship Id="rId11" Type="http://schemas.openxmlformats.org/officeDocument/2006/relationships/notesSlide" Target="../notesSlides/notesSlide21.xml"/><Relationship Id="rId5" Type="http://schemas.openxmlformats.org/officeDocument/2006/relationships/tags" Target="../tags/tag148.xml"/><Relationship Id="rId15" Type="http://schemas.openxmlformats.org/officeDocument/2006/relationships/image" Target="../media/image5.svg"/><Relationship Id="rId10" Type="http://schemas.openxmlformats.org/officeDocument/2006/relationships/slideLayout" Target="../slideLayouts/slideLayout10.xml"/><Relationship Id="rId4" Type="http://schemas.openxmlformats.org/officeDocument/2006/relationships/tags" Target="../tags/tag147.xml"/><Relationship Id="rId9" Type="http://schemas.openxmlformats.org/officeDocument/2006/relationships/tags" Target="../tags/tag152.xml"/><Relationship Id="rId14" Type="http://schemas.openxmlformats.org/officeDocument/2006/relationships/image" Target="../media/image4.png"/></Relationships>
</file>

<file path=ppt/slides/_rels/slide2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55.xml"/><Relationship Id="rId7" Type="http://schemas.openxmlformats.org/officeDocument/2006/relationships/notesSlide" Target="../notesSlides/notesSlide22.xml"/><Relationship Id="rId2" Type="http://schemas.openxmlformats.org/officeDocument/2006/relationships/tags" Target="../tags/tag154.xml"/><Relationship Id="rId1" Type="http://schemas.openxmlformats.org/officeDocument/2006/relationships/tags" Target="../tags/tag153.xml"/><Relationship Id="rId6" Type="http://schemas.openxmlformats.org/officeDocument/2006/relationships/slideLayout" Target="../slideLayouts/slideLayout10.xml"/><Relationship Id="rId5" Type="http://schemas.openxmlformats.org/officeDocument/2006/relationships/tags" Target="../tags/tag157.xml"/><Relationship Id="rId4" Type="http://schemas.openxmlformats.org/officeDocument/2006/relationships/tags" Target="../tags/tag156.xml"/></Relationships>
</file>

<file path=ppt/slides/_rels/slide23.xml.rels><?xml version="1.0" encoding="UTF-8" standalone="yes"?>
<Relationships xmlns="http://schemas.openxmlformats.org/package/2006/relationships"><Relationship Id="rId8" Type="http://schemas.openxmlformats.org/officeDocument/2006/relationships/tags" Target="../tags/tag165.xml"/><Relationship Id="rId13" Type="http://schemas.openxmlformats.org/officeDocument/2006/relationships/hyperlink" Target="http://stu.ityxb.com/ebookview/0e64b40e25103f9eaee1e3e3b784ea4c" TargetMode="External"/><Relationship Id="rId3" Type="http://schemas.openxmlformats.org/officeDocument/2006/relationships/tags" Target="../tags/tag160.xml"/><Relationship Id="rId7" Type="http://schemas.openxmlformats.org/officeDocument/2006/relationships/tags" Target="../tags/tag164.xml"/><Relationship Id="rId12" Type="http://schemas.openxmlformats.org/officeDocument/2006/relationships/image" Target="../media/image3.png"/><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tags" Target="../tags/tag163.xml"/><Relationship Id="rId11" Type="http://schemas.openxmlformats.org/officeDocument/2006/relationships/notesSlide" Target="../notesSlides/notesSlide23.xml"/><Relationship Id="rId5" Type="http://schemas.openxmlformats.org/officeDocument/2006/relationships/tags" Target="../tags/tag162.xml"/><Relationship Id="rId15" Type="http://schemas.openxmlformats.org/officeDocument/2006/relationships/image" Target="../media/image5.svg"/><Relationship Id="rId10" Type="http://schemas.openxmlformats.org/officeDocument/2006/relationships/slideLayout" Target="../slideLayouts/slideLayout10.xml"/><Relationship Id="rId4" Type="http://schemas.openxmlformats.org/officeDocument/2006/relationships/tags" Target="../tags/tag161.xml"/><Relationship Id="rId9" Type="http://schemas.openxmlformats.org/officeDocument/2006/relationships/tags" Target="../tags/tag166.xml"/><Relationship Id="rId14" Type="http://schemas.openxmlformats.org/officeDocument/2006/relationships/image" Target="../media/image4.png"/></Relationships>
</file>

<file path=ppt/slides/_rels/slide2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69.xml"/><Relationship Id="rId7" Type="http://schemas.openxmlformats.org/officeDocument/2006/relationships/notesSlide" Target="../notesSlides/notesSlide24.xml"/><Relationship Id="rId2" Type="http://schemas.openxmlformats.org/officeDocument/2006/relationships/tags" Target="../tags/tag168.xml"/><Relationship Id="rId1" Type="http://schemas.openxmlformats.org/officeDocument/2006/relationships/tags" Target="../tags/tag167.xml"/><Relationship Id="rId6" Type="http://schemas.openxmlformats.org/officeDocument/2006/relationships/slideLayout" Target="../slideLayouts/slideLayout10.xml"/><Relationship Id="rId5" Type="http://schemas.openxmlformats.org/officeDocument/2006/relationships/tags" Target="../tags/tag171.xml"/><Relationship Id="rId4" Type="http://schemas.openxmlformats.org/officeDocument/2006/relationships/tags" Target="../tags/tag170.xml"/></Relationships>
</file>

<file path=ppt/slides/_rels/slide2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174.xml"/><Relationship Id="rId7" Type="http://schemas.openxmlformats.org/officeDocument/2006/relationships/notesSlide" Target="../notesSlides/notesSlide25.xml"/><Relationship Id="rId2" Type="http://schemas.openxmlformats.org/officeDocument/2006/relationships/tags" Target="../tags/tag173.xml"/><Relationship Id="rId1" Type="http://schemas.openxmlformats.org/officeDocument/2006/relationships/tags" Target="../tags/tag172.xml"/><Relationship Id="rId6" Type="http://schemas.openxmlformats.org/officeDocument/2006/relationships/slideLayout" Target="../slideLayouts/slideLayout10.xml"/><Relationship Id="rId5" Type="http://schemas.openxmlformats.org/officeDocument/2006/relationships/tags" Target="../tags/tag176.xml"/><Relationship Id="rId4" Type="http://schemas.openxmlformats.org/officeDocument/2006/relationships/tags" Target="../tags/tag175.xml"/></Relationships>
</file>

<file path=ppt/slides/_rels/slide26.xml.rels><?xml version="1.0" encoding="UTF-8" standalone="yes"?>
<Relationships xmlns="http://schemas.openxmlformats.org/package/2006/relationships"><Relationship Id="rId8" Type="http://schemas.openxmlformats.org/officeDocument/2006/relationships/tags" Target="../tags/tag184.xml"/><Relationship Id="rId13" Type="http://schemas.openxmlformats.org/officeDocument/2006/relationships/hyperlink" Target="http://stu.ityxb.com/ebookview/68953dc432b65fd621690977a40419f9" TargetMode="External"/><Relationship Id="rId3" Type="http://schemas.openxmlformats.org/officeDocument/2006/relationships/tags" Target="../tags/tag179.xml"/><Relationship Id="rId7" Type="http://schemas.openxmlformats.org/officeDocument/2006/relationships/tags" Target="../tags/tag183.xml"/><Relationship Id="rId12" Type="http://schemas.openxmlformats.org/officeDocument/2006/relationships/image" Target="../media/image3.png"/><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tags" Target="../tags/tag182.xml"/><Relationship Id="rId11" Type="http://schemas.openxmlformats.org/officeDocument/2006/relationships/notesSlide" Target="../notesSlides/notesSlide26.xml"/><Relationship Id="rId5" Type="http://schemas.openxmlformats.org/officeDocument/2006/relationships/tags" Target="../tags/tag181.xml"/><Relationship Id="rId15" Type="http://schemas.openxmlformats.org/officeDocument/2006/relationships/image" Target="../media/image5.svg"/><Relationship Id="rId10" Type="http://schemas.openxmlformats.org/officeDocument/2006/relationships/slideLayout" Target="../slideLayouts/slideLayout10.xml"/><Relationship Id="rId4" Type="http://schemas.openxmlformats.org/officeDocument/2006/relationships/tags" Target="../tags/tag180.xml"/><Relationship Id="rId9" Type="http://schemas.openxmlformats.org/officeDocument/2006/relationships/tags" Target="../tags/tag185.xml"/><Relationship Id="rId14" Type="http://schemas.openxmlformats.org/officeDocument/2006/relationships/image" Target="../media/image4.png"/></Relationships>
</file>

<file path=ppt/slides/_rels/slide2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188.xml"/><Relationship Id="rId7" Type="http://schemas.openxmlformats.org/officeDocument/2006/relationships/notesSlide" Target="../notesSlides/notesSlide27.xml"/><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slideLayout" Target="../slideLayouts/slideLayout10.xml"/><Relationship Id="rId5" Type="http://schemas.openxmlformats.org/officeDocument/2006/relationships/tags" Target="../tags/tag190.xml"/><Relationship Id="rId4" Type="http://schemas.openxmlformats.org/officeDocument/2006/relationships/tags" Target="../tags/tag189.xml"/></Relationships>
</file>

<file path=ppt/slides/_rels/slide2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193.xml"/><Relationship Id="rId7" Type="http://schemas.openxmlformats.org/officeDocument/2006/relationships/notesSlide" Target="../notesSlides/notesSlide28.xml"/><Relationship Id="rId2" Type="http://schemas.openxmlformats.org/officeDocument/2006/relationships/tags" Target="../tags/tag192.xml"/><Relationship Id="rId1" Type="http://schemas.openxmlformats.org/officeDocument/2006/relationships/tags" Target="../tags/tag191.xml"/><Relationship Id="rId6" Type="http://schemas.openxmlformats.org/officeDocument/2006/relationships/slideLayout" Target="../slideLayouts/slideLayout10.xml"/><Relationship Id="rId5" Type="http://schemas.openxmlformats.org/officeDocument/2006/relationships/tags" Target="../tags/tag195.xml"/><Relationship Id="rId4" Type="http://schemas.openxmlformats.org/officeDocument/2006/relationships/tags" Target="../tags/tag194.xml"/></Relationships>
</file>

<file path=ppt/slides/_rels/slide29.xml.rels><?xml version="1.0" encoding="UTF-8" standalone="yes"?>
<Relationships xmlns="http://schemas.openxmlformats.org/package/2006/relationships"><Relationship Id="rId3" Type="http://schemas.openxmlformats.org/officeDocument/2006/relationships/tags" Target="../tags/tag198.xml"/><Relationship Id="rId2" Type="http://schemas.openxmlformats.org/officeDocument/2006/relationships/tags" Target="../tags/tag197.xml"/><Relationship Id="rId1" Type="http://schemas.openxmlformats.org/officeDocument/2006/relationships/tags" Target="../tags/tag196.xml"/><Relationship Id="rId5" Type="http://schemas.openxmlformats.org/officeDocument/2006/relationships/notesSlide" Target="../notesSlides/notesSlide29.xml"/><Relationship Id="rId4"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0.xml"/><Relationship Id="rId1" Type="http://schemas.openxmlformats.org/officeDocument/2006/relationships/tags" Target="../tags/tag19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202.xml"/><Relationship Id="rId7" Type="http://schemas.openxmlformats.org/officeDocument/2006/relationships/notesSlide" Target="../notesSlides/notesSlide32.xml"/><Relationship Id="rId2" Type="http://schemas.openxmlformats.org/officeDocument/2006/relationships/tags" Target="../tags/tag201.xml"/><Relationship Id="rId1" Type="http://schemas.openxmlformats.org/officeDocument/2006/relationships/tags" Target="../tags/tag200.xml"/><Relationship Id="rId6" Type="http://schemas.openxmlformats.org/officeDocument/2006/relationships/slideLayout" Target="../slideLayouts/slideLayout10.xml"/><Relationship Id="rId5" Type="http://schemas.openxmlformats.org/officeDocument/2006/relationships/tags" Target="../tags/tag204.xml"/><Relationship Id="rId4" Type="http://schemas.openxmlformats.org/officeDocument/2006/relationships/tags" Target="../tags/tag203.xml"/></Relationships>
</file>

<file path=ppt/slides/_rels/slide33.xml.rels><?xml version="1.0" encoding="UTF-8" standalone="yes"?>
<Relationships xmlns="http://schemas.openxmlformats.org/package/2006/relationships"><Relationship Id="rId3" Type="http://schemas.openxmlformats.org/officeDocument/2006/relationships/tags" Target="../tags/tag207.xml"/><Relationship Id="rId2" Type="http://schemas.openxmlformats.org/officeDocument/2006/relationships/tags" Target="../tags/tag206.xml"/><Relationship Id="rId1" Type="http://schemas.openxmlformats.org/officeDocument/2006/relationships/tags" Target="../tags/tag205.xml"/><Relationship Id="rId6" Type="http://schemas.openxmlformats.org/officeDocument/2006/relationships/notesSlide" Target="../notesSlides/notesSlide33.xml"/><Relationship Id="rId5" Type="http://schemas.openxmlformats.org/officeDocument/2006/relationships/slideLayout" Target="../slideLayouts/slideLayout10.xml"/><Relationship Id="rId4" Type="http://schemas.openxmlformats.org/officeDocument/2006/relationships/tags" Target="../tags/tag208.xml"/></Relationships>
</file>

<file path=ppt/slides/_rels/slide34.xml.rels><?xml version="1.0" encoding="UTF-8" standalone="yes"?>
<Relationships xmlns="http://schemas.openxmlformats.org/package/2006/relationships"><Relationship Id="rId3" Type="http://schemas.openxmlformats.org/officeDocument/2006/relationships/tags" Target="../tags/tag211.xml"/><Relationship Id="rId2" Type="http://schemas.openxmlformats.org/officeDocument/2006/relationships/tags" Target="../tags/tag210.xml"/><Relationship Id="rId1" Type="http://schemas.openxmlformats.org/officeDocument/2006/relationships/tags" Target="../tags/tag209.xml"/><Relationship Id="rId6" Type="http://schemas.openxmlformats.org/officeDocument/2006/relationships/notesSlide" Target="../notesSlides/notesSlide34.xml"/><Relationship Id="rId5" Type="http://schemas.openxmlformats.org/officeDocument/2006/relationships/slideLayout" Target="../slideLayouts/slideLayout10.xml"/><Relationship Id="rId4" Type="http://schemas.openxmlformats.org/officeDocument/2006/relationships/tags" Target="../tags/tag212.xml"/></Relationships>
</file>

<file path=ppt/slides/_rels/slide35.xml.rels><?xml version="1.0" encoding="UTF-8" standalone="yes"?>
<Relationships xmlns="http://schemas.openxmlformats.org/package/2006/relationships"><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 Id="rId5" Type="http://schemas.openxmlformats.org/officeDocument/2006/relationships/notesSlide" Target="../notesSlides/notesSlide35.xml"/><Relationship Id="rId4"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0.xml"/><Relationship Id="rId1" Type="http://schemas.openxmlformats.org/officeDocument/2006/relationships/tags" Target="../tags/tag216.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21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0.xml"/><Relationship Id="rId1" Type="http://schemas.openxmlformats.org/officeDocument/2006/relationships/tags" Target="../tags/tag218.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0.xml"/><Relationship Id="rId1" Type="http://schemas.openxmlformats.org/officeDocument/2006/relationships/tags" Target="../tags/tag219.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0.xml"/><Relationship Id="rId1" Type="http://schemas.openxmlformats.org/officeDocument/2006/relationships/tags" Target="../tags/tag220.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22.xml"/><Relationship Id="rId1" Type="http://schemas.openxmlformats.org/officeDocument/2006/relationships/tags" Target="../tags/tag22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3" Type="http://schemas.openxmlformats.org/officeDocument/2006/relationships/tags" Target="../tags/tag225.xml"/><Relationship Id="rId2" Type="http://schemas.openxmlformats.org/officeDocument/2006/relationships/tags" Target="../tags/tag224.xml"/><Relationship Id="rId1" Type="http://schemas.openxmlformats.org/officeDocument/2006/relationships/tags" Target="../tags/tag223.xml"/><Relationship Id="rId6" Type="http://schemas.openxmlformats.org/officeDocument/2006/relationships/notesSlide" Target="../notesSlides/notesSlide42.xml"/><Relationship Id="rId5" Type="http://schemas.openxmlformats.org/officeDocument/2006/relationships/slideLayout" Target="../slideLayouts/slideLayout10.xml"/><Relationship Id="rId4" Type="http://schemas.openxmlformats.org/officeDocument/2006/relationships/tags" Target="../tags/tag226.xml"/></Relationships>
</file>

<file path=ppt/slides/_rels/slide43.xml.rels><?xml version="1.0" encoding="UTF-8" standalone="yes"?>
<Relationships xmlns="http://schemas.openxmlformats.org/package/2006/relationships"><Relationship Id="rId8" Type="http://schemas.openxmlformats.org/officeDocument/2006/relationships/tags" Target="../tags/tag234.xml"/><Relationship Id="rId13" Type="http://schemas.openxmlformats.org/officeDocument/2006/relationships/tags" Target="../tags/tag239.xml"/><Relationship Id="rId3" Type="http://schemas.openxmlformats.org/officeDocument/2006/relationships/tags" Target="../tags/tag229.xml"/><Relationship Id="rId7" Type="http://schemas.openxmlformats.org/officeDocument/2006/relationships/tags" Target="../tags/tag233.xml"/><Relationship Id="rId12" Type="http://schemas.openxmlformats.org/officeDocument/2006/relationships/tags" Target="../tags/tag238.xml"/><Relationship Id="rId2" Type="http://schemas.openxmlformats.org/officeDocument/2006/relationships/tags" Target="../tags/tag228.xml"/><Relationship Id="rId16" Type="http://schemas.openxmlformats.org/officeDocument/2006/relationships/notesSlide" Target="../notesSlides/notesSlide43.xml"/><Relationship Id="rId1" Type="http://schemas.openxmlformats.org/officeDocument/2006/relationships/tags" Target="../tags/tag227.xml"/><Relationship Id="rId6" Type="http://schemas.openxmlformats.org/officeDocument/2006/relationships/tags" Target="../tags/tag232.xml"/><Relationship Id="rId11" Type="http://schemas.openxmlformats.org/officeDocument/2006/relationships/tags" Target="../tags/tag237.xml"/><Relationship Id="rId5" Type="http://schemas.openxmlformats.org/officeDocument/2006/relationships/tags" Target="../tags/tag231.xml"/><Relationship Id="rId15" Type="http://schemas.openxmlformats.org/officeDocument/2006/relationships/slideLayout" Target="../slideLayouts/slideLayout10.xml"/><Relationship Id="rId10" Type="http://schemas.openxmlformats.org/officeDocument/2006/relationships/tags" Target="../tags/tag236.xml"/><Relationship Id="rId4" Type="http://schemas.openxmlformats.org/officeDocument/2006/relationships/tags" Target="../tags/tag230.xml"/><Relationship Id="rId9" Type="http://schemas.openxmlformats.org/officeDocument/2006/relationships/tags" Target="../tags/tag235.xml"/><Relationship Id="rId14" Type="http://schemas.openxmlformats.org/officeDocument/2006/relationships/tags" Target="../tags/tag24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tags" Target="../tags/tag243.xml"/><Relationship Id="rId2" Type="http://schemas.openxmlformats.org/officeDocument/2006/relationships/tags" Target="../tags/tag242.xml"/><Relationship Id="rId1" Type="http://schemas.openxmlformats.org/officeDocument/2006/relationships/tags" Target="../tags/tag241.xml"/><Relationship Id="rId6" Type="http://schemas.openxmlformats.org/officeDocument/2006/relationships/notesSlide" Target="../notesSlides/notesSlide45.xml"/><Relationship Id="rId5" Type="http://schemas.openxmlformats.org/officeDocument/2006/relationships/slideLayout" Target="../slideLayouts/slideLayout10.xml"/><Relationship Id="rId4" Type="http://schemas.openxmlformats.org/officeDocument/2006/relationships/tags" Target="../tags/tag244.xml"/></Relationships>
</file>

<file path=ppt/slides/_rels/slide4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247.xml"/><Relationship Id="rId7" Type="http://schemas.openxmlformats.org/officeDocument/2006/relationships/notesSlide" Target="../notesSlides/notesSlide46.xml"/><Relationship Id="rId2" Type="http://schemas.openxmlformats.org/officeDocument/2006/relationships/tags" Target="../tags/tag246.xml"/><Relationship Id="rId1" Type="http://schemas.openxmlformats.org/officeDocument/2006/relationships/tags" Target="../tags/tag245.xml"/><Relationship Id="rId6" Type="http://schemas.openxmlformats.org/officeDocument/2006/relationships/slideLayout" Target="../slideLayouts/slideLayout10.xml"/><Relationship Id="rId5" Type="http://schemas.openxmlformats.org/officeDocument/2006/relationships/tags" Target="../tags/tag249.xml"/><Relationship Id="rId4" Type="http://schemas.openxmlformats.org/officeDocument/2006/relationships/tags" Target="../tags/tag248.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51.xml"/><Relationship Id="rId1" Type="http://schemas.openxmlformats.org/officeDocument/2006/relationships/tags" Target="../tags/tag250.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53.xml"/><Relationship Id="rId1" Type="http://schemas.openxmlformats.org/officeDocument/2006/relationships/tags" Target="../tags/tag252.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8" Type="http://schemas.openxmlformats.org/officeDocument/2006/relationships/tags" Target="../tags/tag261.xml"/><Relationship Id="rId13" Type="http://schemas.openxmlformats.org/officeDocument/2006/relationships/image" Target="../media/image3.png"/><Relationship Id="rId3" Type="http://schemas.openxmlformats.org/officeDocument/2006/relationships/tags" Target="../tags/tag256.xml"/><Relationship Id="rId7" Type="http://schemas.openxmlformats.org/officeDocument/2006/relationships/tags" Target="../tags/tag260.xml"/><Relationship Id="rId12" Type="http://schemas.openxmlformats.org/officeDocument/2006/relationships/notesSlide" Target="../notesSlides/notesSlide49.xml"/><Relationship Id="rId2" Type="http://schemas.openxmlformats.org/officeDocument/2006/relationships/tags" Target="../tags/tag255.xml"/><Relationship Id="rId16" Type="http://schemas.openxmlformats.org/officeDocument/2006/relationships/image" Target="../media/image5.svg"/><Relationship Id="rId1" Type="http://schemas.openxmlformats.org/officeDocument/2006/relationships/tags" Target="../tags/tag254.xml"/><Relationship Id="rId6" Type="http://schemas.openxmlformats.org/officeDocument/2006/relationships/tags" Target="../tags/tag259.xml"/><Relationship Id="rId11" Type="http://schemas.openxmlformats.org/officeDocument/2006/relationships/slideLayout" Target="../slideLayouts/slideLayout10.xml"/><Relationship Id="rId5" Type="http://schemas.openxmlformats.org/officeDocument/2006/relationships/tags" Target="../tags/tag258.xml"/><Relationship Id="rId15" Type="http://schemas.openxmlformats.org/officeDocument/2006/relationships/image" Target="../media/image4.png"/><Relationship Id="rId10" Type="http://schemas.openxmlformats.org/officeDocument/2006/relationships/tags" Target="../tags/tag263.xml"/><Relationship Id="rId4" Type="http://schemas.openxmlformats.org/officeDocument/2006/relationships/tags" Target="../tags/tag257.xml"/><Relationship Id="rId9" Type="http://schemas.openxmlformats.org/officeDocument/2006/relationships/tags" Target="../tags/tag262.xml"/><Relationship Id="rId14" Type="http://schemas.openxmlformats.org/officeDocument/2006/relationships/hyperlink" Target="http://stu.ityxb.com/ebookview/f827409be057ccc4360ebb1eaa15fe0c%0D%0A" TargetMode="External"/></Relationships>
</file>

<file path=ppt/slides/_rels/slide50.xml.rels><?xml version="1.0" encoding="UTF-8" standalone="yes"?>
<Relationships xmlns="http://schemas.openxmlformats.org/package/2006/relationships"><Relationship Id="rId8" Type="http://schemas.openxmlformats.org/officeDocument/2006/relationships/notesSlide" Target="../notesSlides/notesSlide50.xml"/><Relationship Id="rId3" Type="http://schemas.openxmlformats.org/officeDocument/2006/relationships/tags" Target="../tags/tag266.xml"/><Relationship Id="rId7" Type="http://schemas.openxmlformats.org/officeDocument/2006/relationships/slideLayout" Target="../slideLayouts/slideLayout10.xml"/><Relationship Id="rId2" Type="http://schemas.openxmlformats.org/officeDocument/2006/relationships/tags" Target="../tags/tag265.xml"/><Relationship Id="rId1" Type="http://schemas.openxmlformats.org/officeDocument/2006/relationships/tags" Target="../tags/tag264.xml"/><Relationship Id="rId6" Type="http://schemas.openxmlformats.org/officeDocument/2006/relationships/tags" Target="../tags/tag269.xml"/><Relationship Id="rId5" Type="http://schemas.openxmlformats.org/officeDocument/2006/relationships/tags" Target="../tags/tag268.xml"/><Relationship Id="rId4" Type="http://schemas.openxmlformats.org/officeDocument/2006/relationships/tags" Target="../tags/tag267.xml"/></Relationships>
</file>

<file path=ppt/slides/_rels/slide51.xml.rels><?xml version="1.0" encoding="UTF-8" standalone="yes"?>
<Relationships xmlns="http://schemas.openxmlformats.org/package/2006/relationships"><Relationship Id="rId8" Type="http://schemas.openxmlformats.org/officeDocument/2006/relationships/tags" Target="../tags/tag277.xml"/><Relationship Id="rId13" Type="http://schemas.openxmlformats.org/officeDocument/2006/relationships/hyperlink" Target="http://stu.ityxb.com/ebookview/791575cfb4052df89fbe43c94828a018" TargetMode="External"/><Relationship Id="rId3" Type="http://schemas.openxmlformats.org/officeDocument/2006/relationships/tags" Target="../tags/tag272.xml"/><Relationship Id="rId7" Type="http://schemas.openxmlformats.org/officeDocument/2006/relationships/tags" Target="../tags/tag276.xml"/><Relationship Id="rId12" Type="http://schemas.openxmlformats.org/officeDocument/2006/relationships/image" Target="../media/image3.png"/><Relationship Id="rId2" Type="http://schemas.openxmlformats.org/officeDocument/2006/relationships/tags" Target="../tags/tag271.xml"/><Relationship Id="rId1" Type="http://schemas.openxmlformats.org/officeDocument/2006/relationships/tags" Target="../tags/tag270.xml"/><Relationship Id="rId6" Type="http://schemas.openxmlformats.org/officeDocument/2006/relationships/tags" Target="../tags/tag275.xml"/><Relationship Id="rId11" Type="http://schemas.openxmlformats.org/officeDocument/2006/relationships/notesSlide" Target="../notesSlides/notesSlide51.xml"/><Relationship Id="rId5" Type="http://schemas.openxmlformats.org/officeDocument/2006/relationships/tags" Target="../tags/tag274.xml"/><Relationship Id="rId15" Type="http://schemas.openxmlformats.org/officeDocument/2006/relationships/image" Target="../media/image5.svg"/><Relationship Id="rId10" Type="http://schemas.openxmlformats.org/officeDocument/2006/relationships/slideLayout" Target="../slideLayouts/slideLayout10.xml"/><Relationship Id="rId4" Type="http://schemas.openxmlformats.org/officeDocument/2006/relationships/tags" Target="../tags/tag273.xml"/><Relationship Id="rId9" Type="http://schemas.openxmlformats.org/officeDocument/2006/relationships/tags" Target="../tags/tag278.xml"/><Relationship Id="rId14" Type="http://schemas.openxmlformats.org/officeDocument/2006/relationships/image" Target="../media/image4.png"/></Relationships>
</file>

<file path=ppt/slides/_rels/slide52.xml.rels><?xml version="1.0" encoding="UTF-8" standalone="yes"?>
<Relationships xmlns="http://schemas.openxmlformats.org/package/2006/relationships"><Relationship Id="rId8" Type="http://schemas.openxmlformats.org/officeDocument/2006/relationships/tags" Target="../tags/tag286.xml"/><Relationship Id="rId13" Type="http://schemas.openxmlformats.org/officeDocument/2006/relationships/hyperlink" Target="http://stu.ityxb.com/ebookview/0701f8a780e93ff7157be2944d6d038a" TargetMode="External"/><Relationship Id="rId3" Type="http://schemas.openxmlformats.org/officeDocument/2006/relationships/tags" Target="../tags/tag281.xml"/><Relationship Id="rId7" Type="http://schemas.openxmlformats.org/officeDocument/2006/relationships/tags" Target="../tags/tag285.xml"/><Relationship Id="rId12" Type="http://schemas.openxmlformats.org/officeDocument/2006/relationships/image" Target="../media/image3.png"/><Relationship Id="rId2" Type="http://schemas.openxmlformats.org/officeDocument/2006/relationships/tags" Target="../tags/tag280.xml"/><Relationship Id="rId1" Type="http://schemas.openxmlformats.org/officeDocument/2006/relationships/tags" Target="../tags/tag279.xml"/><Relationship Id="rId6" Type="http://schemas.openxmlformats.org/officeDocument/2006/relationships/tags" Target="../tags/tag284.xml"/><Relationship Id="rId11" Type="http://schemas.openxmlformats.org/officeDocument/2006/relationships/notesSlide" Target="../notesSlides/notesSlide52.xml"/><Relationship Id="rId5" Type="http://schemas.openxmlformats.org/officeDocument/2006/relationships/tags" Target="../tags/tag283.xml"/><Relationship Id="rId15" Type="http://schemas.openxmlformats.org/officeDocument/2006/relationships/image" Target="../media/image5.svg"/><Relationship Id="rId10" Type="http://schemas.openxmlformats.org/officeDocument/2006/relationships/slideLayout" Target="../slideLayouts/slideLayout10.xml"/><Relationship Id="rId4" Type="http://schemas.openxmlformats.org/officeDocument/2006/relationships/tags" Target="../tags/tag282.xml"/><Relationship Id="rId9" Type="http://schemas.openxmlformats.org/officeDocument/2006/relationships/tags" Target="../tags/tag287.xml"/><Relationship Id="rId14" Type="http://schemas.openxmlformats.org/officeDocument/2006/relationships/image" Target="../media/image4.png"/></Relationships>
</file>

<file path=ppt/slides/_rels/slide53.xml.rels><?xml version="1.0" encoding="UTF-8" standalone="yes"?>
<Relationships xmlns="http://schemas.openxmlformats.org/package/2006/relationships"><Relationship Id="rId8" Type="http://schemas.openxmlformats.org/officeDocument/2006/relationships/tags" Target="../tags/tag295.xml"/><Relationship Id="rId13" Type="http://schemas.openxmlformats.org/officeDocument/2006/relationships/hyperlink" Target="http://stu.ityxb.com/ebookview/eb0c377c51cc80515a27479791bc13f6" TargetMode="External"/><Relationship Id="rId3" Type="http://schemas.openxmlformats.org/officeDocument/2006/relationships/tags" Target="../tags/tag290.xml"/><Relationship Id="rId7" Type="http://schemas.openxmlformats.org/officeDocument/2006/relationships/tags" Target="../tags/tag294.xml"/><Relationship Id="rId12" Type="http://schemas.openxmlformats.org/officeDocument/2006/relationships/image" Target="../media/image3.png"/><Relationship Id="rId2" Type="http://schemas.openxmlformats.org/officeDocument/2006/relationships/tags" Target="../tags/tag289.xml"/><Relationship Id="rId1" Type="http://schemas.openxmlformats.org/officeDocument/2006/relationships/tags" Target="../tags/tag288.xml"/><Relationship Id="rId6" Type="http://schemas.openxmlformats.org/officeDocument/2006/relationships/tags" Target="../tags/tag293.xml"/><Relationship Id="rId11" Type="http://schemas.openxmlformats.org/officeDocument/2006/relationships/notesSlide" Target="../notesSlides/notesSlide53.xml"/><Relationship Id="rId5" Type="http://schemas.openxmlformats.org/officeDocument/2006/relationships/tags" Target="../tags/tag292.xml"/><Relationship Id="rId15" Type="http://schemas.openxmlformats.org/officeDocument/2006/relationships/image" Target="../media/image5.svg"/><Relationship Id="rId10" Type="http://schemas.openxmlformats.org/officeDocument/2006/relationships/slideLayout" Target="../slideLayouts/slideLayout10.xml"/><Relationship Id="rId4" Type="http://schemas.openxmlformats.org/officeDocument/2006/relationships/tags" Target="../tags/tag291.xml"/><Relationship Id="rId9" Type="http://schemas.openxmlformats.org/officeDocument/2006/relationships/tags" Target="../tags/tag296.xml"/><Relationship Id="rId14" Type="http://schemas.openxmlformats.org/officeDocument/2006/relationships/image" Target="../media/image4.png"/></Relationships>
</file>

<file path=ppt/slides/_rels/slide5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299.xml"/><Relationship Id="rId7" Type="http://schemas.openxmlformats.org/officeDocument/2006/relationships/notesSlide" Target="../notesSlides/notesSlide54.xml"/><Relationship Id="rId2" Type="http://schemas.openxmlformats.org/officeDocument/2006/relationships/tags" Target="../tags/tag298.xml"/><Relationship Id="rId1" Type="http://schemas.openxmlformats.org/officeDocument/2006/relationships/tags" Target="../tags/tag297.xml"/><Relationship Id="rId6" Type="http://schemas.openxmlformats.org/officeDocument/2006/relationships/slideLayout" Target="../slideLayouts/slideLayout10.xml"/><Relationship Id="rId5" Type="http://schemas.openxmlformats.org/officeDocument/2006/relationships/tags" Target="../tags/tag301.xml"/><Relationship Id="rId4" Type="http://schemas.openxmlformats.org/officeDocument/2006/relationships/tags" Target="../tags/tag300.xml"/></Relationships>
</file>

<file path=ppt/slides/_rels/slide5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304.xml"/><Relationship Id="rId7" Type="http://schemas.openxmlformats.org/officeDocument/2006/relationships/notesSlide" Target="../notesSlides/notesSlide55.xml"/><Relationship Id="rId2" Type="http://schemas.openxmlformats.org/officeDocument/2006/relationships/tags" Target="../tags/tag303.xml"/><Relationship Id="rId1" Type="http://schemas.openxmlformats.org/officeDocument/2006/relationships/tags" Target="../tags/tag302.xml"/><Relationship Id="rId6" Type="http://schemas.openxmlformats.org/officeDocument/2006/relationships/slideLayout" Target="../slideLayouts/slideLayout10.xml"/><Relationship Id="rId5" Type="http://schemas.openxmlformats.org/officeDocument/2006/relationships/tags" Target="../tags/tag306.xml"/><Relationship Id="rId4" Type="http://schemas.openxmlformats.org/officeDocument/2006/relationships/tags" Target="../tags/tag305.xml"/></Relationships>
</file>

<file path=ppt/slides/_rels/slide5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09.xml"/><Relationship Id="rId7" Type="http://schemas.openxmlformats.org/officeDocument/2006/relationships/notesSlide" Target="../notesSlides/notesSlide56.xml"/><Relationship Id="rId2" Type="http://schemas.openxmlformats.org/officeDocument/2006/relationships/tags" Target="../tags/tag308.xml"/><Relationship Id="rId1" Type="http://schemas.openxmlformats.org/officeDocument/2006/relationships/tags" Target="../tags/tag307.xml"/><Relationship Id="rId6" Type="http://schemas.openxmlformats.org/officeDocument/2006/relationships/slideLayout" Target="../slideLayouts/slideLayout10.xml"/><Relationship Id="rId5" Type="http://schemas.openxmlformats.org/officeDocument/2006/relationships/tags" Target="../tags/tag311.xml"/><Relationship Id="rId4" Type="http://schemas.openxmlformats.org/officeDocument/2006/relationships/tags" Target="../tags/tag310.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13.xml"/><Relationship Id="rId1" Type="http://schemas.openxmlformats.org/officeDocument/2006/relationships/tags" Target="../tags/tag312.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15.xml"/><Relationship Id="rId1" Type="http://schemas.openxmlformats.org/officeDocument/2006/relationships/tags" Target="../tags/tag314.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17.xml"/><Relationship Id="rId1" Type="http://schemas.openxmlformats.org/officeDocument/2006/relationships/tags" Target="../tags/tag316.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8" Type="http://schemas.openxmlformats.org/officeDocument/2006/relationships/tags" Target="../tags/tag325.xml"/><Relationship Id="rId13" Type="http://schemas.openxmlformats.org/officeDocument/2006/relationships/image" Target="../media/image3.png"/><Relationship Id="rId3" Type="http://schemas.openxmlformats.org/officeDocument/2006/relationships/tags" Target="../tags/tag320.xml"/><Relationship Id="rId7" Type="http://schemas.openxmlformats.org/officeDocument/2006/relationships/tags" Target="../tags/tag324.xml"/><Relationship Id="rId12" Type="http://schemas.openxmlformats.org/officeDocument/2006/relationships/notesSlide" Target="../notesSlides/notesSlide60.xml"/><Relationship Id="rId2" Type="http://schemas.openxmlformats.org/officeDocument/2006/relationships/tags" Target="../tags/tag319.xml"/><Relationship Id="rId16" Type="http://schemas.openxmlformats.org/officeDocument/2006/relationships/image" Target="../media/image5.svg"/><Relationship Id="rId1" Type="http://schemas.openxmlformats.org/officeDocument/2006/relationships/tags" Target="../tags/tag318.xml"/><Relationship Id="rId6" Type="http://schemas.openxmlformats.org/officeDocument/2006/relationships/tags" Target="../tags/tag323.xml"/><Relationship Id="rId11" Type="http://schemas.openxmlformats.org/officeDocument/2006/relationships/slideLayout" Target="../slideLayouts/slideLayout10.xml"/><Relationship Id="rId5" Type="http://schemas.openxmlformats.org/officeDocument/2006/relationships/tags" Target="../tags/tag322.xml"/><Relationship Id="rId15" Type="http://schemas.openxmlformats.org/officeDocument/2006/relationships/image" Target="../media/image4.png"/><Relationship Id="rId10" Type="http://schemas.openxmlformats.org/officeDocument/2006/relationships/tags" Target="../tags/tag327.xml"/><Relationship Id="rId4" Type="http://schemas.openxmlformats.org/officeDocument/2006/relationships/tags" Target="../tags/tag321.xml"/><Relationship Id="rId9" Type="http://schemas.openxmlformats.org/officeDocument/2006/relationships/tags" Target="../tags/tag326.xml"/><Relationship Id="rId14" Type="http://schemas.openxmlformats.org/officeDocument/2006/relationships/hyperlink" Target="http://stu.ityxb.com/ebookview/c6ecc7e7bbb812ab1b2a79e6530f608a" TargetMode="External"/></Relationships>
</file>

<file path=ppt/slides/_rels/slide61.xml.rels><?xml version="1.0" encoding="UTF-8" standalone="yes"?>
<Relationships xmlns="http://schemas.openxmlformats.org/package/2006/relationships"><Relationship Id="rId8" Type="http://schemas.openxmlformats.org/officeDocument/2006/relationships/tags" Target="../tags/tag335.xml"/><Relationship Id="rId13" Type="http://schemas.openxmlformats.org/officeDocument/2006/relationships/hyperlink" Target="http://stu.ityxb.com/ebookview/af28ee55f9e39325f1d8673243b8720d" TargetMode="External"/><Relationship Id="rId3" Type="http://schemas.openxmlformats.org/officeDocument/2006/relationships/tags" Target="../tags/tag330.xml"/><Relationship Id="rId7" Type="http://schemas.openxmlformats.org/officeDocument/2006/relationships/tags" Target="../tags/tag334.xml"/><Relationship Id="rId12" Type="http://schemas.openxmlformats.org/officeDocument/2006/relationships/image" Target="../media/image3.png"/><Relationship Id="rId2" Type="http://schemas.openxmlformats.org/officeDocument/2006/relationships/tags" Target="../tags/tag329.xml"/><Relationship Id="rId1" Type="http://schemas.openxmlformats.org/officeDocument/2006/relationships/tags" Target="../tags/tag328.xml"/><Relationship Id="rId6" Type="http://schemas.openxmlformats.org/officeDocument/2006/relationships/tags" Target="../tags/tag333.xml"/><Relationship Id="rId11" Type="http://schemas.openxmlformats.org/officeDocument/2006/relationships/notesSlide" Target="../notesSlides/notesSlide61.xml"/><Relationship Id="rId5" Type="http://schemas.openxmlformats.org/officeDocument/2006/relationships/tags" Target="../tags/tag332.xml"/><Relationship Id="rId15" Type="http://schemas.openxmlformats.org/officeDocument/2006/relationships/image" Target="../media/image5.svg"/><Relationship Id="rId10" Type="http://schemas.openxmlformats.org/officeDocument/2006/relationships/slideLayout" Target="../slideLayouts/slideLayout10.xml"/><Relationship Id="rId4" Type="http://schemas.openxmlformats.org/officeDocument/2006/relationships/tags" Target="../tags/tag331.xml"/><Relationship Id="rId9" Type="http://schemas.openxmlformats.org/officeDocument/2006/relationships/tags" Target="../tags/tag336.xml"/><Relationship Id="rId14" Type="http://schemas.openxmlformats.org/officeDocument/2006/relationships/image" Target="../media/image4.png"/></Relationships>
</file>

<file path=ppt/slides/_rels/slide62.xml.rels><?xml version="1.0" encoding="UTF-8" standalone="yes"?>
<Relationships xmlns="http://schemas.openxmlformats.org/package/2006/relationships"><Relationship Id="rId8" Type="http://schemas.openxmlformats.org/officeDocument/2006/relationships/tags" Target="../tags/tag344.xml"/><Relationship Id="rId13" Type="http://schemas.openxmlformats.org/officeDocument/2006/relationships/hyperlink" Target="http://stu.ityxb.com/ebookview/6548703b784175d53cac44ccb55fc7ef" TargetMode="External"/><Relationship Id="rId3" Type="http://schemas.openxmlformats.org/officeDocument/2006/relationships/tags" Target="../tags/tag339.xml"/><Relationship Id="rId7" Type="http://schemas.openxmlformats.org/officeDocument/2006/relationships/tags" Target="../tags/tag343.xml"/><Relationship Id="rId12" Type="http://schemas.openxmlformats.org/officeDocument/2006/relationships/image" Target="../media/image3.png"/><Relationship Id="rId2" Type="http://schemas.openxmlformats.org/officeDocument/2006/relationships/tags" Target="../tags/tag338.xml"/><Relationship Id="rId1" Type="http://schemas.openxmlformats.org/officeDocument/2006/relationships/tags" Target="../tags/tag337.xml"/><Relationship Id="rId6" Type="http://schemas.openxmlformats.org/officeDocument/2006/relationships/tags" Target="../tags/tag342.xml"/><Relationship Id="rId11" Type="http://schemas.openxmlformats.org/officeDocument/2006/relationships/notesSlide" Target="../notesSlides/notesSlide62.xml"/><Relationship Id="rId5" Type="http://schemas.openxmlformats.org/officeDocument/2006/relationships/tags" Target="../tags/tag341.xml"/><Relationship Id="rId15" Type="http://schemas.openxmlformats.org/officeDocument/2006/relationships/image" Target="../media/image5.svg"/><Relationship Id="rId10" Type="http://schemas.openxmlformats.org/officeDocument/2006/relationships/slideLayout" Target="../slideLayouts/slideLayout10.xml"/><Relationship Id="rId4" Type="http://schemas.openxmlformats.org/officeDocument/2006/relationships/tags" Target="../tags/tag340.xml"/><Relationship Id="rId9" Type="http://schemas.openxmlformats.org/officeDocument/2006/relationships/tags" Target="../tags/tag345.xml"/><Relationship Id="rId14" Type="http://schemas.openxmlformats.org/officeDocument/2006/relationships/image" Target="../media/image4.png"/></Relationships>
</file>

<file path=ppt/slides/_rels/slide6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348.xml"/><Relationship Id="rId7" Type="http://schemas.openxmlformats.org/officeDocument/2006/relationships/notesSlide" Target="../notesSlides/notesSlide63.xml"/><Relationship Id="rId2" Type="http://schemas.openxmlformats.org/officeDocument/2006/relationships/tags" Target="../tags/tag347.xml"/><Relationship Id="rId1" Type="http://schemas.openxmlformats.org/officeDocument/2006/relationships/tags" Target="../tags/tag346.xml"/><Relationship Id="rId6" Type="http://schemas.openxmlformats.org/officeDocument/2006/relationships/slideLayout" Target="../slideLayouts/slideLayout10.xml"/><Relationship Id="rId5" Type="http://schemas.openxmlformats.org/officeDocument/2006/relationships/tags" Target="../tags/tag350.xml"/><Relationship Id="rId4" Type="http://schemas.openxmlformats.org/officeDocument/2006/relationships/tags" Target="../tags/tag349.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1167798" y="2532698"/>
            <a:ext cx="9854816" cy="783590"/>
          </a:xfrm>
          <a:prstGeom prst="rect">
            <a:avLst/>
          </a:prstGeom>
          <a:noFill/>
        </p:spPr>
        <p:txBody>
          <a:bodyPr wrap="square" rtlCol="0">
            <a:noAutofit/>
          </a:bodyPr>
          <a:lstStyle/>
          <a:p>
            <a:pPr algn="ctr"/>
            <a:r>
              <a:rPr sz="36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Chapter 4 Database Programming in Spring</a:t>
            </a:r>
          </a:p>
        </p:txBody>
      </p:sp>
      <p:sp>
        <p:nvSpPr>
          <p:cNvPr id="4" name="Rectangle 4"/>
          <p:cNvSpPr txBox="1">
            <a:spLocks noChangeArrowheads="1"/>
          </p:cNvSpPr>
          <p:nvPr/>
        </p:nvSpPr>
        <p:spPr>
          <a:xfrm>
            <a:off x="1003300" y="3935095"/>
            <a:ext cx="1051941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sz="2300" dirty="0">
                <a:solidFill>
                  <a:srgbClr val="595959"/>
                </a:solidFill>
                <a:latin typeface="微软雅黑" panose="020B0503020204020204" pitchFamily="34" charset="-122"/>
                <a:ea typeface="微软雅黑" panose="020B0503020204020204" pitchFamily="34" charset="-122"/>
                <a:cs typeface="+mn-ea"/>
                <a:sym typeface="+mn-lt"/>
              </a:rPr>
              <a:t>Java EE Enterprise Application Development Tutorial (Spring+Spring MVC+MyBatis) (3rd Edition)</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rmAutofit fontScale="76986"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Learning objectives/Target</a:t>
            </a:r>
            <a:endParaRPr lang="en-GB" altLang="zh-CN" b="1"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557655" y="1704340"/>
            <a:ext cx="9014460" cy="688340"/>
            <a:chOff x="978872" y="1800500"/>
            <a:chExt cx="6427354" cy="516136"/>
          </a:xfrm>
        </p:grpSpPr>
        <p:sp>
          <p:nvSpPr>
            <p:cNvPr id="81"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9592" lnSpcReduction="1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Understand the relevant concepts of JdbcTemplate and be able to briefly describe the function of JdbcTemplate</a:t>
              </a: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1557655" y="2677795"/>
            <a:ext cx="9006205" cy="689610"/>
            <a:chOff x="978872" y="2570437"/>
            <a:chExt cx="5437064" cy="517208"/>
          </a:xfrm>
        </p:grpSpPr>
        <p:sp>
          <p:nvSpPr>
            <p:cNvPr id="84" name="Pentagon 5"/>
            <p:cNvSpPr/>
            <p:nvPr/>
          </p:nvSpPr>
          <p:spPr bwMode="auto">
            <a:xfrm>
              <a:off x="978872" y="257329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6354" lnSpcReduction="1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Understand the concept of Spring transaction management and be able to describe the role of Spring transaction management</a:t>
              </a:r>
              <a:endPar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9" name="组合 8"/>
          <p:cNvGrpSpPr/>
          <p:nvPr/>
        </p:nvGrpSpPr>
        <p:grpSpPr>
          <a:xfrm>
            <a:off x="1557655" y="3652520"/>
            <a:ext cx="9006205" cy="685800"/>
            <a:chOff x="978872" y="2570437"/>
            <a:chExt cx="5437064" cy="514351"/>
          </a:xfrm>
        </p:grpSpPr>
        <p:sp>
          <p:nvSpPr>
            <p:cNvPr id="10" name="Pentagon 5"/>
            <p:cNvSpPr/>
            <p:nvPr/>
          </p:nvSpPr>
          <p:spPr bwMode="auto">
            <a:xfrm>
              <a:off x="978872" y="2570438"/>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4174"/>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the add, delete, modify and query operations of JdbcTemplate</a:t>
              </a:r>
            </a:p>
          </p:txBody>
        </p:sp>
        <p:sp>
          <p:nvSpPr>
            <p:cNvPr id="11"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 name="组合 1"/>
          <p:cNvGrpSpPr/>
          <p:nvPr/>
        </p:nvGrpSpPr>
        <p:grpSpPr>
          <a:xfrm>
            <a:off x="1557655" y="4598670"/>
            <a:ext cx="9006205" cy="689610"/>
            <a:chOff x="978872" y="2570437"/>
            <a:chExt cx="5437064" cy="517208"/>
          </a:xfrm>
        </p:grpSpPr>
        <p:sp>
          <p:nvSpPr>
            <p:cNvPr id="3" name="Pentagon 5"/>
            <p:cNvSpPr/>
            <p:nvPr>
              <p:custDataLst>
                <p:tags r:id="rId3"/>
              </p:custDataLst>
            </p:nvPr>
          </p:nvSpPr>
          <p:spPr bwMode="auto">
            <a:xfrm>
              <a:off x="978872" y="257329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8092"/>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Be familiar with XML-based transaction management</a:t>
              </a:r>
              <a:endPar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4" name="MH_Others_1"/>
            <p:cNvSpPr/>
            <p:nvPr>
              <p:custDataLst>
                <p:tags r:id="rId4"/>
              </p:custDataLst>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5" name="组合 4"/>
          <p:cNvGrpSpPr/>
          <p:nvPr/>
        </p:nvGrpSpPr>
        <p:grpSpPr>
          <a:xfrm>
            <a:off x="1557655" y="5573395"/>
            <a:ext cx="9006205" cy="685800"/>
            <a:chOff x="978872" y="2570437"/>
            <a:chExt cx="5437064" cy="514351"/>
          </a:xfrm>
        </p:grpSpPr>
        <p:sp>
          <p:nvSpPr>
            <p:cNvPr id="6" name="Pentagon 5"/>
            <p:cNvSpPr/>
            <p:nvPr>
              <p:custDataLst>
                <p:tags r:id="rId1"/>
              </p:custDataLst>
            </p:nvPr>
          </p:nvSpPr>
          <p:spPr bwMode="auto">
            <a:xfrm>
              <a:off x="978872" y="2570438"/>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9156"/>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annotation-based transaction management</a:t>
              </a:r>
            </a:p>
          </p:txBody>
        </p:sp>
        <p:sp>
          <p:nvSpPr>
            <p:cNvPr id="7" name="MH_Others_1"/>
            <p:cNvSpPr/>
            <p:nvPr>
              <p:custDataLst>
                <p:tags r:id="rId2"/>
              </p:custDataLst>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6504034"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Chapter Overview/Summary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570212" y="1942314"/>
            <a:ext cx="11017224" cy="4585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In Java enterprise-level development, the operation of the database by the application is an indispensable part. However, the traditional JDBC operation method is relatively cumbersome and error-prone, especially when dealing with resource management and transaction control. </a:t>
            </a:r>
            <a:r>
              <a:rPr lang="zh-CN" altLang="zh-CN" sz="2000" dirty="0">
                <a:solidFill>
                  <a:srgbClr val="0070C0"/>
                </a:solidFill>
                <a:latin typeface="微软雅黑" panose="020B0503020204020204" pitchFamily="34" charset="-122"/>
                <a:ea typeface="微软雅黑" panose="020B0503020204020204" pitchFamily="34" charset="-122"/>
              </a:rPr>
              <a:t>As a one-stop service framework, the Spring JDBC module of the Spring framework provides strong database programming support. </a:t>
            </a:r>
            <a:r>
              <a:rPr lang="zh-CN" altLang="zh-CN" sz="2000" dirty="0">
                <a:solidFill>
                  <a:srgbClr val="595959"/>
                </a:solidFill>
                <a:latin typeface="微软雅黑" panose="020B0503020204020204" pitchFamily="34" charset="-122"/>
                <a:ea typeface="微软雅黑" panose="020B0503020204020204" pitchFamily="34" charset="-122"/>
              </a:rPr>
              <a:t>Also, to address the issue of transactions when operating the database, the Spring framework provides transaction management capabilities. </a:t>
            </a:r>
            <a:r>
              <a:rPr lang="zh-CN" altLang="zh-CN" sz="2000" dirty="0">
                <a:solidFill>
                  <a:srgbClr val="0070C0"/>
                </a:solidFill>
                <a:latin typeface="微软雅黑" panose="020B0503020204020204" pitchFamily="34" charset="-122"/>
                <a:ea typeface="微软雅黑" panose="020B0503020204020204" pitchFamily="34" charset="-122"/>
              </a:rPr>
              <a:t>In Spring's database programming, JdbcTemplate in the Spring JDBC module and Spring's transaction management are the most common. </a:t>
            </a:r>
            <a:r>
              <a:rPr lang="zh-CN" altLang="zh-CN" sz="2000" dirty="0">
                <a:solidFill>
                  <a:srgbClr val="595959"/>
                </a:solidFill>
                <a:latin typeface="微软雅黑" panose="020B0503020204020204" pitchFamily="34" charset="-122"/>
                <a:ea typeface="微软雅黑" panose="020B0503020204020204" pitchFamily="34" charset="-122"/>
              </a:rPr>
              <a:t>This chapter will cover both parts of Spring's database programming.</a:t>
            </a:r>
          </a:p>
        </p:txBody>
      </p:sp>
      <p:sp>
        <p:nvSpPr>
          <p:cNvPr id="9" name="圆角矩形 8"/>
          <p:cNvSpPr/>
          <p:nvPr>
            <p:custDataLst>
              <p:tags r:id="rId1"/>
            </p:custDataLst>
          </p:nvPr>
        </p:nvSpPr>
        <p:spPr>
          <a:xfrm>
            <a:off x="429457" y="1705555"/>
            <a:ext cx="11449272" cy="4585227"/>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0" name="矩形 93"/>
          <p:cNvSpPr/>
          <p:nvPr>
            <p:custDataLst>
              <p:tags r:id="rId2"/>
            </p:custDataLst>
          </p:nvPr>
        </p:nvSpPr>
        <p:spPr>
          <a:xfrm>
            <a:off x="356728" y="1591377"/>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1" name="矩形 93"/>
          <p:cNvSpPr/>
          <p:nvPr>
            <p:custDataLst>
              <p:tags r:id="rId3"/>
            </p:custDataLst>
          </p:nvPr>
        </p:nvSpPr>
        <p:spPr>
          <a:xfrm rot="10800000">
            <a:off x="11543153" y="5850276"/>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2" y="572758"/>
            <a:ext cx="4609271"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105" name="组合 104"/>
          <p:cNvGrpSpPr/>
          <p:nvPr/>
        </p:nvGrpSpPr>
        <p:grpSpPr>
          <a:xfrm>
            <a:off x="2109820" y="2342611"/>
            <a:ext cx="1192190" cy="612775"/>
            <a:chOff x="2215144" y="982844"/>
            <a:chExt cx="1244730" cy="842780"/>
          </a:xfrm>
        </p:grpSpPr>
        <p:sp>
          <p:nvSpPr>
            <p:cNvPr id="106" name="平行四边形 105"/>
            <p:cNvSpPr/>
            <p:nvPr>
              <p:custDataLst>
                <p:tags r:id="rId11"/>
              </p:custDataLst>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07" name="文本框 9"/>
            <p:cNvSpPr txBox="1"/>
            <p:nvPr>
              <p:custDataLst>
                <p:tags r:id="rId12"/>
              </p:custDataLst>
            </p:nvPr>
          </p:nvSpPr>
          <p:spPr>
            <a:xfrm>
              <a:off x="2393075" y="1005670"/>
              <a:ext cx="1066799" cy="80260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4.1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08" name="组合 107"/>
          <p:cNvGrpSpPr/>
          <p:nvPr/>
        </p:nvGrpSpPr>
        <p:grpSpPr>
          <a:xfrm>
            <a:off x="2109820" y="3611700"/>
            <a:ext cx="1192190" cy="612775"/>
            <a:chOff x="2215144" y="2026500"/>
            <a:chExt cx="1244730" cy="850129"/>
          </a:xfrm>
        </p:grpSpPr>
        <p:sp>
          <p:nvSpPr>
            <p:cNvPr id="109" name="平行四边形 108"/>
            <p:cNvSpPr/>
            <p:nvPr>
              <p:custDataLst>
                <p:tags r:id="rId9"/>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10" name="文本框 10"/>
            <p:cNvSpPr txBox="1"/>
            <p:nvPr>
              <p:custDataLst>
                <p:tags r:id="rId10"/>
              </p:custDataLst>
            </p:nvPr>
          </p:nvSpPr>
          <p:spPr>
            <a:xfrm>
              <a:off x="2393075" y="2026500"/>
              <a:ext cx="1066799" cy="80960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4.2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11" name="组合 110"/>
          <p:cNvGrpSpPr/>
          <p:nvPr/>
        </p:nvGrpSpPr>
        <p:grpSpPr>
          <a:xfrm>
            <a:off x="3015372" y="2333732"/>
            <a:ext cx="5496560" cy="612775"/>
            <a:chOff x="4315150" y="953426"/>
            <a:chExt cx="4122956" cy="539804"/>
          </a:xfrm>
        </p:grpSpPr>
        <p:sp>
          <p:nvSpPr>
            <p:cNvPr id="112" name="矩形 111"/>
            <p:cNvSpPr/>
            <p:nvPr>
              <p:custDataLst>
                <p:tags r:id="rId7"/>
              </p:custDataLst>
            </p:nvPr>
          </p:nvSpPr>
          <p:spPr>
            <a:xfrm>
              <a:off x="4715901" y="1037972"/>
              <a:ext cx="3655616" cy="386354"/>
            </a:xfrm>
            <a:prstGeom prst="rect">
              <a:avLst/>
            </a:prstGeom>
            <a:ln w="15875">
              <a:noFill/>
            </a:ln>
          </p:spPr>
          <p:txBody>
            <a:bodyPr wrap="square" lIns="68580" tIns="34290" rIns="68580" bIns="34290">
              <a:spAutoFit/>
            </a:bodyPr>
            <a:lstStyle/>
            <a:p>
              <a:r>
                <a:rPr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Jdbc</a:t>
              </a:r>
              <a:r>
                <a:rPr lang="en-US"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 </a:t>
              </a:r>
              <a:r>
                <a:rPr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Template</a:t>
              </a:r>
            </a:p>
          </p:txBody>
        </p:sp>
        <p:sp>
          <p:nvSpPr>
            <p:cNvPr id="113" name="平行四边形 112"/>
            <p:cNvSpPr/>
            <p:nvPr>
              <p:custDataLst>
                <p:tags r:id="rId8"/>
              </p:custDataLst>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4" name="组合 113"/>
          <p:cNvGrpSpPr/>
          <p:nvPr/>
        </p:nvGrpSpPr>
        <p:grpSpPr>
          <a:xfrm>
            <a:off x="3015372" y="3594874"/>
            <a:ext cx="7735064" cy="612775"/>
            <a:chOff x="4315150" y="1647579"/>
            <a:chExt cx="5802052" cy="539804"/>
          </a:xfrm>
        </p:grpSpPr>
        <p:sp>
          <p:nvSpPr>
            <p:cNvPr id="115" name="矩形 114"/>
            <p:cNvSpPr/>
            <p:nvPr>
              <p:custDataLst>
                <p:tags r:id="rId5"/>
              </p:custDataLst>
            </p:nvPr>
          </p:nvSpPr>
          <p:spPr>
            <a:xfrm>
              <a:off x="4517772" y="1730368"/>
              <a:ext cx="5599430" cy="331154"/>
            </a:xfrm>
            <a:prstGeom prst="rect">
              <a:avLst/>
            </a:prstGeom>
            <a:ln w="15875">
              <a:noFill/>
            </a:ln>
          </p:spPr>
          <p:txBody>
            <a:bodyPr wrap="square" lIns="68580" tIns="34290" rIns="68580" bIns="34290">
              <a:noAutofit/>
            </a:bodyPr>
            <a:lstStyle/>
            <a:p>
              <a:r>
                <a:rPr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An Overview of Spring Transaction Management</a:t>
              </a:r>
            </a:p>
          </p:txBody>
        </p:sp>
        <p:sp>
          <p:nvSpPr>
            <p:cNvPr id="116" name="平行四边形 115"/>
            <p:cNvSpPr/>
            <p:nvPr>
              <p:custDataLst>
                <p:tags r:id="rId6"/>
              </p:custDataLst>
            </p:nvPr>
          </p:nvSpPr>
          <p:spPr>
            <a:xfrm>
              <a:off x="4315150" y="1647579"/>
              <a:ext cx="5748039"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7" name="组合 116"/>
          <p:cNvGrpSpPr/>
          <p:nvPr/>
        </p:nvGrpSpPr>
        <p:grpSpPr>
          <a:xfrm>
            <a:off x="2093310" y="4886780"/>
            <a:ext cx="1192190" cy="612775"/>
            <a:chOff x="2215144" y="2026500"/>
            <a:chExt cx="1244730" cy="850129"/>
          </a:xfrm>
        </p:grpSpPr>
        <p:sp>
          <p:nvSpPr>
            <p:cNvPr id="118" name="平行四边形 117"/>
            <p:cNvSpPr/>
            <p:nvPr>
              <p:custDataLst>
                <p:tags r:id="rId3"/>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19" name="文本框 10"/>
            <p:cNvSpPr txBox="1"/>
            <p:nvPr>
              <p:custDataLst>
                <p:tags r:id="rId4"/>
              </p:custDataLst>
            </p:nvPr>
          </p:nvSpPr>
          <p:spPr>
            <a:xfrm>
              <a:off x="2393075" y="2026500"/>
              <a:ext cx="1066799" cy="80960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4.3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20" name="组合 119"/>
          <p:cNvGrpSpPr/>
          <p:nvPr/>
        </p:nvGrpSpPr>
        <p:grpSpPr>
          <a:xfrm>
            <a:off x="2998862" y="4869954"/>
            <a:ext cx="6823285" cy="612775"/>
            <a:chOff x="4315150" y="1647579"/>
            <a:chExt cx="5118129" cy="539804"/>
          </a:xfrm>
        </p:grpSpPr>
        <p:sp>
          <p:nvSpPr>
            <p:cNvPr id="121" name="矩形 120"/>
            <p:cNvSpPr/>
            <p:nvPr>
              <p:custDataLst>
                <p:tags r:id="rId1"/>
              </p:custDataLst>
            </p:nvPr>
          </p:nvSpPr>
          <p:spPr>
            <a:xfrm>
              <a:off x="4576795" y="1751903"/>
              <a:ext cx="4856484" cy="331154"/>
            </a:xfrm>
            <a:prstGeom prst="rect">
              <a:avLst/>
            </a:prstGeom>
            <a:ln w="15875">
              <a:noFill/>
            </a:ln>
          </p:spPr>
          <p:txBody>
            <a:bodyPr wrap="square" lIns="68580" tIns="34290" rIns="68580" bIns="34290">
              <a:noAutofit/>
            </a:bodyPr>
            <a:lstStyle/>
            <a:p>
              <a:r>
                <a:rPr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Declarative transaction management</a:t>
              </a:r>
            </a:p>
          </p:txBody>
        </p:sp>
        <p:sp>
          <p:nvSpPr>
            <p:cNvPr id="122" name="平行四边形 121"/>
            <p:cNvSpPr/>
            <p:nvPr>
              <p:custDataLst>
                <p:tags r:id="rId2"/>
              </p:custDataLst>
            </p:nvPr>
          </p:nvSpPr>
          <p:spPr>
            <a:xfrm>
              <a:off x="4315150" y="1647579"/>
              <a:ext cx="4626150"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667" y="3014256"/>
            <a:ext cx="6013520" cy="768350"/>
          </a:xfrm>
          <a:prstGeom prst="rect">
            <a:avLst/>
          </a:prstGeom>
          <a:noFill/>
        </p:spPr>
        <p:txBody>
          <a:bodyPr wrap="square" lIns="91443" tIns="45720" rIns="91443" bIns="45720" rtlCol="0">
            <a:spAutoFit/>
          </a:bodyPr>
          <a:lstStyle/>
          <a:p>
            <a:r>
              <a:rPr sz="4400"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Jdbc</a:t>
            </a:r>
            <a:r>
              <a:rPr lang="en-US"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 </a:t>
            </a:r>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Template</a:t>
            </a: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4.1</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 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678148" y="1243777"/>
            <a:ext cx="11089232" cy="3813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The Spring JDBC module in the Spring framework encapsulates the JDBC API mainly with the aim of reducing the difficulty of using the JDBC API and using it in a more direct and concise way. With Spring JDBC, developers can easily program JDBC simply by defining the necessary parameters and specifying the SQL statements to be executed.</a:t>
            </a: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Meanwhile, </a:t>
            </a:r>
            <a:r>
              <a:rPr lang="zh-CN" altLang="zh-CN" sz="2000" dirty="0">
                <a:solidFill>
                  <a:srgbClr val="0070C0"/>
                </a:solidFill>
                <a:latin typeface="微软雅黑" panose="020B0503020204020204" pitchFamily="34" charset="-122"/>
                <a:ea typeface="微软雅黑" panose="020B0503020204020204" pitchFamily="34" charset="-122"/>
              </a:rPr>
              <a:t>Spring JDBC can handle the cumbersome tasks such as driver loading, database connection opening and closing, SQL statement creation and execution, exception handling, and transaction processing, thus freeing developers from the cumbersome JDBC API.</a:t>
            </a:r>
            <a:r>
              <a:rPr lang="zh-CN" altLang="zh-CN" sz="2000" dirty="0">
                <a:solidFill>
                  <a:srgbClr val="595959"/>
                </a:solidFill>
                <a:latin typeface="微软雅黑" panose="020B0503020204020204" pitchFamily="34" charset="-122"/>
                <a:ea typeface="微软雅黑" panose="020B0503020204020204" pitchFamily="34" charset="-122"/>
              </a:rPr>
              <a:t> There is more energy to focus on business development. </a:t>
            </a:r>
            <a:r>
              <a:rPr lang="zh-CN" altLang="zh-CN" sz="2000" dirty="0">
                <a:solidFill>
                  <a:srgbClr val="0070C0"/>
                </a:solidFill>
                <a:latin typeface="微软雅黑" panose="020B0503020204020204" pitchFamily="34" charset="-122"/>
                <a:ea typeface="微软雅黑" panose="020B0503020204020204" pitchFamily="34" charset="-122"/>
              </a:rPr>
              <a:t>To simplify JDBC development, Spring JDBC offers several practical database access tools, the most commonly used of which is JdbcTemplate. </a:t>
            </a:r>
            <a:r>
              <a:rPr lang="zh-CN" altLang="zh-CN" sz="2000" dirty="0">
                <a:solidFill>
                  <a:srgbClr val="595959"/>
                </a:solidFill>
                <a:latin typeface="微软雅黑" panose="020B0503020204020204" pitchFamily="34" charset="-122"/>
                <a:ea typeface="微软雅黑" panose="020B0503020204020204" pitchFamily="34" charset="-122"/>
              </a:rPr>
              <a:t>The following is an explanation of JdbcTemplate.</a:t>
            </a:r>
          </a:p>
        </p:txBody>
      </p:sp>
      <p:sp>
        <p:nvSpPr>
          <p:cNvPr id="2" name="圆角矩形 1"/>
          <p:cNvSpPr/>
          <p:nvPr>
            <p:custDataLst>
              <p:tags r:id="rId2"/>
            </p:custDataLst>
          </p:nvPr>
        </p:nvSpPr>
        <p:spPr>
          <a:xfrm>
            <a:off x="550590" y="1081724"/>
            <a:ext cx="11377264" cy="5300398"/>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0" name="矩形 93"/>
          <p:cNvSpPr/>
          <p:nvPr>
            <p:custDataLst>
              <p:tags r:id="rId3"/>
            </p:custDataLst>
          </p:nvPr>
        </p:nvSpPr>
        <p:spPr>
          <a:xfrm>
            <a:off x="521917" y="981522"/>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1" name="矩形 93"/>
          <p:cNvSpPr/>
          <p:nvPr>
            <p:custDataLst>
              <p:tags r:id="rId4"/>
            </p:custDataLst>
          </p:nvPr>
        </p:nvSpPr>
        <p:spPr>
          <a:xfrm rot="10800000">
            <a:off x="11563228" y="5977148"/>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4.1.1 Overview of JdbcTemplate</a:t>
            </a:r>
          </a:p>
        </p:txBody>
      </p:sp>
      <p:pic>
        <p:nvPicPr>
          <p:cNvPr id="6" name="图片 5"/>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4853814" y="2963929"/>
            <a:ext cx="6102623" cy="165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Understand the concepts related to </a:t>
            </a:r>
            <a:r>
              <a:rPr lang="zh-CN" altLang="en-US"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JdbcTemplate</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and be able to briefly describe the function of JdbcTemplate</a:t>
            </a:r>
            <a:endPar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4.1.1 Overview of 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3" name="组合 2"/>
          <p:cNvGrpSpPr/>
          <p:nvPr/>
        </p:nvGrpSpPr>
        <p:grpSpPr>
          <a:xfrm>
            <a:off x="762453" y="627534"/>
            <a:ext cx="10921026" cy="5682580"/>
            <a:chOff x="638884" y="1795058"/>
            <a:chExt cx="10965251" cy="4316211"/>
          </a:xfrm>
        </p:grpSpPr>
        <p:sp>
          <p:nvSpPr>
            <p:cNvPr id="4" name="MH_Other_1"/>
            <p:cNvSpPr/>
            <p:nvPr>
              <p:custDataLst>
                <p:tags r:id="rId3"/>
              </p:custDataLst>
            </p:nvPr>
          </p:nvSpPr>
          <p:spPr>
            <a:xfrm>
              <a:off x="7183722" y="2970901"/>
              <a:ext cx="1128476"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5" name="MH_SubTitle_4"/>
            <p:cNvSpPr txBox="1">
              <a:spLocks noChangeArrowheads="1"/>
            </p:cNvSpPr>
            <p:nvPr>
              <p:custDataLst>
                <p:tags r:id="rId4"/>
              </p:custDataLst>
            </p:nvPr>
          </p:nvSpPr>
          <p:spPr bwMode="auto">
            <a:xfrm>
              <a:off x="8500631" y="2116601"/>
              <a:ext cx="3103504"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normAutofit fontScale="97801"/>
            </a:bodyPr>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object (Object package)</a:t>
              </a:r>
            </a:p>
          </p:txBody>
        </p:sp>
        <p:sp>
          <p:nvSpPr>
            <p:cNvPr id="6" name="MH_Text_4"/>
            <p:cNvSpPr txBox="1"/>
            <p:nvPr>
              <p:custDataLst>
                <p:tags r:id="rId5"/>
              </p:custDataLst>
            </p:nvPr>
          </p:nvSpPr>
          <p:spPr>
            <a:xfrm>
              <a:off x="8500631" y="2956368"/>
              <a:ext cx="2883231" cy="1005120"/>
            </a:xfrm>
            <a:prstGeom prst="rect">
              <a:avLst/>
            </a:prstGeom>
            <a:noFill/>
          </p:spPr>
          <p:txBody>
            <a:bodyPr lIns="0" tIns="0" rIns="0" bIns="0">
              <a:normAutofit fontScale="99560"/>
            </a:bodyPr>
            <a:lstStyle/>
            <a:p>
              <a:pPr lvl="0" algn="l">
                <a:lnSpc>
                  <a:spcPct val="130000"/>
                </a:lnSpc>
                <a:spcBef>
                  <a:spcPts val="0"/>
                </a:spcBef>
                <a:spcAft>
                  <a:spcPts val="0"/>
                </a:spcAft>
                <a:buClrTx/>
                <a:buSzTx/>
                <a:buFontTx/>
                <a:defRPr/>
              </a:pPr>
              <a:r>
                <a:rPr lang="zh-CN" altLang="zh-CN" sz="1800" dirty="0">
                  <a:solidFill>
                    <a:srgbClr val="595959"/>
                  </a:solidFill>
                  <a:latin typeface="微软雅黑" panose="020B0503020204020204" pitchFamily="34" charset="-122"/>
                  <a:ea typeface="微软雅黑" panose="020B0503020204020204" pitchFamily="34" charset="-122"/>
                  <a:sym typeface="+mn-ea"/>
                </a:rPr>
                <a:t>Contains classes and interfaces associated with object mapping</a:t>
              </a:r>
            </a:p>
          </p:txBody>
        </p:sp>
        <p:sp>
          <p:nvSpPr>
            <p:cNvPr id="7" name="MH_Other_2"/>
            <p:cNvSpPr/>
            <p:nvPr>
              <p:custDataLst>
                <p:tags r:id="rId6"/>
              </p:custDataLst>
            </p:nvPr>
          </p:nvSpPr>
          <p:spPr>
            <a:xfrm flipH="1">
              <a:off x="3914736" y="2970901"/>
              <a:ext cx="1126360"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8" name="MH_SubTitle_1"/>
            <p:cNvSpPr txBox="1">
              <a:spLocks noChangeArrowheads="1"/>
            </p:cNvSpPr>
            <p:nvPr>
              <p:custDataLst>
                <p:tags r:id="rId7"/>
              </p:custDataLst>
            </p:nvPr>
          </p:nvSpPr>
          <p:spPr bwMode="auto">
            <a:xfrm flipH="1">
              <a:off x="1048551" y="1795058"/>
              <a:ext cx="2671929"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normAutofit fontScale="97332"/>
            </a:bodyPr>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gn="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core (Core package)</a:t>
              </a:r>
            </a:p>
          </p:txBody>
        </p:sp>
        <p:sp>
          <p:nvSpPr>
            <p:cNvPr id="9" name="MH_Text_1"/>
            <p:cNvSpPr txBox="1"/>
            <p:nvPr>
              <p:custDataLst>
                <p:tags r:id="rId8"/>
              </p:custDataLst>
            </p:nvPr>
          </p:nvSpPr>
          <p:spPr>
            <a:xfrm flipH="1">
              <a:off x="727163" y="2528375"/>
              <a:ext cx="3093356" cy="1005120"/>
            </a:xfrm>
            <a:prstGeom prst="rect">
              <a:avLst/>
            </a:prstGeom>
            <a:noFill/>
          </p:spPr>
          <p:txBody>
            <a:bodyPr lIns="0" tIns="0" rIns="0" bIns="0">
              <a:normAutofit fontScale="99921" lnSpcReduction="10000"/>
            </a:bodyPr>
            <a:lstStyle/>
            <a:p>
              <a:pPr marL="0" marR="0" lvl="0" algn="l" defTabSz="1219200" rtl="0" fontAlgn="auto">
                <a:lnSpc>
                  <a:spcPct val="130000"/>
                </a:lnSpc>
                <a:spcBef>
                  <a:spcPts val="0"/>
                </a:spcBef>
                <a:spcAft>
                  <a:spcPts val="0"/>
                </a:spcAft>
                <a:buClrTx/>
                <a:buSzTx/>
                <a:buFontTx/>
                <a:buNone/>
                <a:defRPr/>
              </a:pPr>
              <a:r>
                <a:rPr lang="zh-CN" altLang="zh-CN" sz="1800" dirty="0">
                  <a:solidFill>
                    <a:srgbClr val="595959"/>
                  </a:solidFill>
                  <a:latin typeface="微软雅黑" panose="020B0503020204020204" pitchFamily="34" charset="-122"/>
                  <a:ea typeface="微软雅黑" panose="020B0503020204020204" pitchFamily="34" charset="-122"/>
                  <a:sym typeface="+mn-ea"/>
                </a:rPr>
                <a:t>Contains the core classes and interfaces of Spring JDBC, most importantly the JdbcTemplate class</a:t>
              </a:r>
            </a:p>
          </p:txBody>
        </p:sp>
        <p:sp>
          <p:nvSpPr>
            <p:cNvPr id="10" name="MH_Other_3"/>
            <p:cNvSpPr/>
            <p:nvPr>
              <p:custDataLst>
                <p:tags r:id="rId9"/>
              </p:custDataLst>
            </p:nvPr>
          </p:nvSpPr>
          <p:spPr>
            <a:xfrm flipV="1">
              <a:off x="7183722" y="4450794"/>
              <a:ext cx="1128476"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1" name="MH_Other_4"/>
            <p:cNvSpPr/>
            <p:nvPr>
              <p:custDataLst>
                <p:tags r:id="rId10"/>
              </p:custDataLst>
            </p:nvPr>
          </p:nvSpPr>
          <p:spPr>
            <a:xfrm flipH="1" flipV="1">
              <a:off x="3914736" y="4450794"/>
              <a:ext cx="1126360"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2" name="MH_Other_5"/>
            <p:cNvSpPr/>
            <p:nvPr>
              <p:custDataLst>
                <p:tags r:id="rId11"/>
              </p:custDataLst>
            </p:nvPr>
          </p:nvSpPr>
          <p:spPr>
            <a:xfrm>
              <a:off x="4763017" y="2801907"/>
              <a:ext cx="1162607" cy="871929"/>
            </a:xfrm>
            <a:custGeom>
              <a:avLst/>
              <a:gdLst>
                <a:gd name="connsiteX0" fmla="*/ 1090749 w 1090749"/>
                <a:gd name="connsiteY0" fmla="*/ 0 h 1090749"/>
                <a:gd name="connsiteX1" fmla="*/ 1090749 w 1090749"/>
                <a:gd name="connsiteY1" fmla="*/ 520353 h 1090749"/>
                <a:gd name="connsiteX2" fmla="*/ 1054097 w 1090749"/>
                <a:gd name="connsiteY2" fmla="*/ 529777 h 1090749"/>
                <a:gd name="connsiteX3" fmla="*/ 529777 w 1090749"/>
                <a:gd name="connsiteY3" fmla="*/ 1054097 h 1090749"/>
                <a:gd name="connsiteX4" fmla="*/ 520353 w 1090749"/>
                <a:gd name="connsiteY4" fmla="*/ 1090749 h 1090749"/>
                <a:gd name="connsiteX5" fmla="*/ 0 w 1090749"/>
                <a:gd name="connsiteY5" fmla="*/ 1090749 h 1090749"/>
                <a:gd name="connsiteX6" fmla="*/ 9646 w 1090749"/>
                <a:gd name="connsiteY6" fmla="*/ 1027542 h 1090749"/>
                <a:gd name="connsiteX7" fmla="*/ 1027542 w 1090749"/>
                <a:gd name="connsiteY7" fmla="*/ 9646 h 1090749"/>
                <a:gd name="connsiteX8" fmla="*/ 1090749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1090749" y="0"/>
                  </a:moveTo>
                  <a:lnTo>
                    <a:pt x="1090749" y="520353"/>
                  </a:lnTo>
                  <a:lnTo>
                    <a:pt x="1054097" y="529777"/>
                  </a:lnTo>
                  <a:cubicBezTo>
                    <a:pt x="804459" y="607423"/>
                    <a:pt x="607423" y="804459"/>
                    <a:pt x="529777" y="1054097"/>
                  </a:cubicBezTo>
                  <a:lnTo>
                    <a:pt x="520353" y="1090749"/>
                  </a:lnTo>
                  <a:lnTo>
                    <a:pt x="0" y="1090749"/>
                  </a:lnTo>
                  <a:lnTo>
                    <a:pt x="9646" y="1027542"/>
                  </a:lnTo>
                  <a:cubicBezTo>
                    <a:pt x="114196" y="516617"/>
                    <a:pt x="516617" y="114196"/>
                    <a:pt x="1027542" y="9646"/>
                  </a:cubicBezTo>
                  <a:lnTo>
                    <a:pt x="1090749"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3" name="MH_Other_6"/>
            <p:cNvSpPr/>
            <p:nvPr>
              <p:custDataLst>
                <p:tags r:id="rId12"/>
              </p:custDataLst>
            </p:nvPr>
          </p:nvSpPr>
          <p:spPr>
            <a:xfrm>
              <a:off x="6324182" y="2801907"/>
              <a:ext cx="1162607" cy="871929"/>
            </a:xfrm>
            <a:custGeom>
              <a:avLst/>
              <a:gdLst>
                <a:gd name="connsiteX0" fmla="*/ 0 w 1090749"/>
                <a:gd name="connsiteY0" fmla="*/ 0 h 1090749"/>
                <a:gd name="connsiteX1" fmla="*/ 63206 w 1090749"/>
                <a:gd name="connsiteY1" fmla="*/ 9646 h 1090749"/>
                <a:gd name="connsiteX2" fmla="*/ 1081102 w 1090749"/>
                <a:gd name="connsiteY2" fmla="*/ 1027542 h 1090749"/>
                <a:gd name="connsiteX3" fmla="*/ 1090749 w 1090749"/>
                <a:gd name="connsiteY3" fmla="*/ 1090749 h 1090749"/>
                <a:gd name="connsiteX4" fmla="*/ 570395 w 1090749"/>
                <a:gd name="connsiteY4" fmla="*/ 1090749 h 1090749"/>
                <a:gd name="connsiteX5" fmla="*/ 560971 w 1090749"/>
                <a:gd name="connsiteY5" fmla="*/ 1054097 h 1090749"/>
                <a:gd name="connsiteX6" fmla="*/ 36651 w 1090749"/>
                <a:gd name="connsiteY6" fmla="*/ 529777 h 1090749"/>
                <a:gd name="connsiteX7" fmla="*/ 0 w 1090749"/>
                <a:gd name="connsiteY7" fmla="*/ 520353 h 1090749"/>
                <a:gd name="connsiteX8" fmla="*/ 0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0" y="0"/>
                  </a:moveTo>
                  <a:lnTo>
                    <a:pt x="63206" y="9646"/>
                  </a:lnTo>
                  <a:cubicBezTo>
                    <a:pt x="574131" y="114196"/>
                    <a:pt x="976552" y="516617"/>
                    <a:pt x="1081102" y="1027542"/>
                  </a:cubicBezTo>
                  <a:lnTo>
                    <a:pt x="1090749" y="1090749"/>
                  </a:lnTo>
                  <a:lnTo>
                    <a:pt x="570395" y="1090749"/>
                  </a:lnTo>
                  <a:lnTo>
                    <a:pt x="560971" y="1054097"/>
                  </a:lnTo>
                  <a:cubicBezTo>
                    <a:pt x="483326" y="804459"/>
                    <a:pt x="286290" y="607423"/>
                    <a:pt x="36651" y="529777"/>
                  </a:cubicBezTo>
                  <a:lnTo>
                    <a:pt x="0" y="520353"/>
                  </a:lnTo>
                  <a:lnTo>
                    <a:pt x="0"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4" name="MH_Other_7"/>
            <p:cNvSpPr/>
            <p:nvPr>
              <p:custDataLst>
                <p:tags r:id="rId13"/>
              </p:custDataLst>
            </p:nvPr>
          </p:nvSpPr>
          <p:spPr>
            <a:xfrm>
              <a:off x="4734326" y="3994264"/>
              <a:ext cx="1162607" cy="871929"/>
            </a:xfrm>
            <a:custGeom>
              <a:avLst/>
              <a:gdLst>
                <a:gd name="connsiteX0" fmla="*/ 0 w 1090749"/>
                <a:gd name="connsiteY0" fmla="*/ 0 h 1090749"/>
                <a:gd name="connsiteX1" fmla="*/ 520353 w 1090749"/>
                <a:gd name="connsiteY1" fmla="*/ 0 h 1090749"/>
                <a:gd name="connsiteX2" fmla="*/ 529777 w 1090749"/>
                <a:gd name="connsiteY2" fmla="*/ 36651 h 1090749"/>
                <a:gd name="connsiteX3" fmla="*/ 1054097 w 1090749"/>
                <a:gd name="connsiteY3" fmla="*/ 560971 h 1090749"/>
                <a:gd name="connsiteX4" fmla="*/ 1090749 w 1090749"/>
                <a:gd name="connsiteY4" fmla="*/ 570395 h 1090749"/>
                <a:gd name="connsiteX5" fmla="*/ 1090749 w 1090749"/>
                <a:gd name="connsiteY5" fmla="*/ 1090749 h 1090749"/>
                <a:gd name="connsiteX6" fmla="*/ 1027542 w 1090749"/>
                <a:gd name="connsiteY6" fmla="*/ 1081102 h 1090749"/>
                <a:gd name="connsiteX7" fmla="*/ 9646 w 1090749"/>
                <a:gd name="connsiteY7" fmla="*/ 63206 h 1090749"/>
                <a:gd name="connsiteX8" fmla="*/ 0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0" y="0"/>
                  </a:moveTo>
                  <a:lnTo>
                    <a:pt x="520353" y="0"/>
                  </a:lnTo>
                  <a:lnTo>
                    <a:pt x="529777" y="36651"/>
                  </a:lnTo>
                  <a:cubicBezTo>
                    <a:pt x="607423" y="286290"/>
                    <a:pt x="804459" y="483326"/>
                    <a:pt x="1054097" y="560971"/>
                  </a:cubicBezTo>
                  <a:lnTo>
                    <a:pt x="1090749" y="570395"/>
                  </a:lnTo>
                  <a:lnTo>
                    <a:pt x="1090749" y="1090749"/>
                  </a:lnTo>
                  <a:lnTo>
                    <a:pt x="1027542" y="1081102"/>
                  </a:lnTo>
                  <a:cubicBezTo>
                    <a:pt x="516617" y="976552"/>
                    <a:pt x="114196" y="574131"/>
                    <a:pt x="9646" y="63206"/>
                  </a:cubicBezTo>
                  <a:lnTo>
                    <a:pt x="0"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5" name="MH_Other_8"/>
            <p:cNvSpPr/>
            <p:nvPr>
              <p:custDataLst>
                <p:tags r:id="rId14"/>
              </p:custDataLst>
            </p:nvPr>
          </p:nvSpPr>
          <p:spPr>
            <a:xfrm>
              <a:off x="6324182" y="3994263"/>
              <a:ext cx="1162605" cy="871928"/>
            </a:xfrm>
            <a:custGeom>
              <a:avLst/>
              <a:gdLst>
                <a:gd name="connsiteX0" fmla="*/ 570395 w 1090748"/>
                <a:gd name="connsiteY0" fmla="*/ 0 h 1090748"/>
                <a:gd name="connsiteX1" fmla="*/ 1090748 w 1090748"/>
                <a:gd name="connsiteY1" fmla="*/ 0 h 1090748"/>
                <a:gd name="connsiteX2" fmla="*/ 1081102 w 1090748"/>
                <a:gd name="connsiteY2" fmla="*/ 63206 h 1090748"/>
                <a:gd name="connsiteX3" fmla="*/ 63206 w 1090748"/>
                <a:gd name="connsiteY3" fmla="*/ 1081102 h 1090748"/>
                <a:gd name="connsiteX4" fmla="*/ 0 w 1090748"/>
                <a:gd name="connsiteY4" fmla="*/ 1090748 h 1090748"/>
                <a:gd name="connsiteX5" fmla="*/ 0 w 1090748"/>
                <a:gd name="connsiteY5" fmla="*/ 570395 h 1090748"/>
                <a:gd name="connsiteX6" fmla="*/ 36651 w 1090748"/>
                <a:gd name="connsiteY6" fmla="*/ 560971 h 1090748"/>
                <a:gd name="connsiteX7" fmla="*/ 560971 w 1090748"/>
                <a:gd name="connsiteY7" fmla="*/ 36651 h 1090748"/>
                <a:gd name="connsiteX8" fmla="*/ 570395 w 1090748"/>
                <a:gd name="connsiteY8" fmla="*/ 0 h 1090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8" h="1090748">
                  <a:moveTo>
                    <a:pt x="570395" y="0"/>
                  </a:moveTo>
                  <a:lnTo>
                    <a:pt x="1090748" y="0"/>
                  </a:lnTo>
                  <a:lnTo>
                    <a:pt x="1081102" y="63206"/>
                  </a:lnTo>
                  <a:cubicBezTo>
                    <a:pt x="976552" y="574131"/>
                    <a:pt x="574131" y="976552"/>
                    <a:pt x="63206" y="1081102"/>
                  </a:cubicBezTo>
                  <a:lnTo>
                    <a:pt x="0" y="1090748"/>
                  </a:lnTo>
                  <a:lnTo>
                    <a:pt x="0" y="570395"/>
                  </a:lnTo>
                  <a:lnTo>
                    <a:pt x="36651" y="560971"/>
                  </a:lnTo>
                  <a:cubicBezTo>
                    <a:pt x="286290" y="483326"/>
                    <a:pt x="483326" y="286290"/>
                    <a:pt x="560971" y="36651"/>
                  </a:cubicBezTo>
                  <a:lnTo>
                    <a:pt x="570395" y="0"/>
                  </a:lnTo>
                  <a:close/>
                </a:path>
              </a:pathLst>
            </a:custGeom>
            <a:solidFill>
              <a:srgbClr val="0070C0"/>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6" name="MH_SubTitle_3"/>
            <p:cNvSpPr txBox="1">
              <a:spLocks noChangeArrowheads="1"/>
            </p:cNvSpPr>
            <p:nvPr>
              <p:custDataLst>
                <p:tags r:id="rId15"/>
              </p:custDataLst>
            </p:nvPr>
          </p:nvSpPr>
          <p:spPr bwMode="auto">
            <a:xfrm>
              <a:off x="8500631" y="3994263"/>
              <a:ext cx="2671929"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(support package)</a:t>
              </a:r>
            </a:p>
          </p:txBody>
        </p:sp>
        <p:sp>
          <p:nvSpPr>
            <p:cNvPr id="17" name="MH_Text_3"/>
            <p:cNvSpPr txBox="1"/>
            <p:nvPr>
              <p:custDataLst>
                <p:tags r:id="rId16"/>
              </p:custDataLst>
            </p:nvPr>
          </p:nvSpPr>
          <p:spPr>
            <a:xfrm>
              <a:off x="8312198" y="4900160"/>
              <a:ext cx="3103504" cy="1006708"/>
            </a:xfrm>
            <a:prstGeom prst="rect">
              <a:avLst/>
            </a:prstGeom>
            <a:noFill/>
          </p:spPr>
          <p:txBody>
            <a:bodyPr lIns="0" tIns="0" rIns="0" bIns="0">
              <a:noAutofit/>
            </a:bodyPr>
            <a:lstStyle/>
            <a:p>
              <a:pPr lvl="0" algn="l">
                <a:lnSpc>
                  <a:spcPct val="130000"/>
                </a:lnSpc>
                <a:spcBef>
                  <a:spcPts val="0"/>
                </a:spcBef>
                <a:spcAft>
                  <a:spcPts val="0"/>
                </a:spcAft>
                <a:buClrTx/>
                <a:buSzTx/>
                <a:buFontTx/>
                <a:defRPr/>
              </a:pPr>
              <a:r>
                <a:rPr lang="zh-CN" altLang="zh-CN" sz="1800" dirty="0">
                  <a:solidFill>
                    <a:srgbClr val="595959"/>
                  </a:solidFill>
                  <a:latin typeface="微软雅黑" panose="020B0503020204020204" pitchFamily="34" charset="-122"/>
                  <a:ea typeface="微软雅黑" panose="020B0503020204020204" pitchFamily="34" charset="-122"/>
                  <a:sym typeface="+mn-ea"/>
                </a:rPr>
                <a:t>It includes some additional support classes and utility classes that provide more convenient database operations</a:t>
              </a:r>
            </a:p>
          </p:txBody>
        </p:sp>
        <p:sp>
          <p:nvSpPr>
            <p:cNvPr id="18" name="MH_SubTitle_2"/>
            <p:cNvSpPr txBox="1">
              <a:spLocks noChangeArrowheads="1"/>
            </p:cNvSpPr>
            <p:nvPr>
              <p:custDataLst>
                <p:tags r:id="rId17"/>
              </p:custDataLst>
            </p:nvPr>
          </p:nvSpPr>
          <p:spPr bwMode="auto">
            <a:xfrm flipH="1">
              <a:off x="827834" y="3895364"/>
              <a:ext cx="2872897" cy="642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gn="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dataSource (Source package)</a:t>
              </a:r>
            </a:p>
          </p:txBody>
        </p:sp>
        <p:sp>
          <p:nvSpPr>
            <p:cNvPr id="19" name="MH_Text_2"/>
            <p:cNvSpPr txBox="1"/>
            <p:nvPr>
              <p:custDataLst>
                <p:tags r:id="rId18"/>
              </p:custDataLst>
            </p:nvPr>
          </p:nvSpPr>
          <p:spPr>
            <a:xfrm flipH="1">
              <a:off x="638884" y="4634536"/>
              <a:ext cx="3402257" cy="1476733"/>
            </a:xfrm>
            <a:prstGeom prst="rect">
              <a:avLst/>
            </a:prstGeom>
            <a:noFill/>
          </p:spPr>
          <p:txBody>
            <a:bodyPr lIns="0" tIns="0" rIns="0" bIns="0">
              <a:noAutofit/>
            </a:bodyPr>
            <a:lstStyle/>
            <a:p>
              <a:pPr lvl="0" algn="l">
                <a:lnSpc>
                  <a:spcPct val="130000"/>
                </a:lnSpc>
                <a:spcBef>
                  <a:spcPts val="0"/>
                </a:spcBef>
                <a:spcAft>
                  <a:spcPts val="0"/>
                </a:spcAft>
                <a:buClrTx/>
                <a:buSzTx/>
                <a:buFontTx/>
                <a:defRPr/>
              </a:pPr>
              <a:r>
                <a:rPr lang="zh-CN" altLang="zh-CN" sz="1800" dirty="0">
                  <a:solidFill>
                    <a:srgbClr val="595959"/>
                  </a:solidFill>
                  <a:latin typeface="微软雅黑" panose="020B0503020204020204" pitchFamily="34" charset="-122"/>
                  <a:ea typeface="微软雅黑" panose="020B0503020204020204" pitchFamily="34" charset="-122"/>
                  <a:sym typeface="+mn-ea"/>
                </a:rPr>
                <a:t>Contains classes and interfaces associated with the data source for configuring and managing database connections</a:t>
              </a:r>
            </a:p>
          </p:txBody>
        </p:sp>
      </p:grpSp>
      <p:sp>
        <p:nvSpPr>
          <p:cNvPr id="2" name="MH_SubTitle_1"/>
          <p:cNvSpPr txBox="1">
            <a:spLocks noChangeArrowheads="1"/>
          </p:cNvSpPr>
          <p:nvPr>
            <p:custDataLst>
              <p:tags r:id="rId2"/>
            </p:custDataLst>
          </p:nvPr>
        </p:nvSpPr>
        <p:spPr bwMode="auto">
          <a:xfrm flipH="1">
            <a:off x="5074790" y="3208305"/>
            <a:ext cx="1906161" cy="846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noAutofit/>
          </a:bodyPr>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gn="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The main package of the Spring JDBC module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4.1.1 Overview of 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9" name="TextBox 38"/>
          <p:cNvSpPr txBox="1"/>
          <p:nvPr>
            <p:custDataLst>
              <p:tags r:id="rId2"/>
            </p:custDataLst>
          </p:nvPr>
        </p:nvSpPr>
        <p:spPr>
          <a:xfrm>
            <a:off x="118542" y="908848"/>
            <a:ext cx="11881320" cy="1102360"/>
          </a:xfrm>
          <a:prstGeom prst="rect">
            <a:avLst/>
          </a:prstGeom>
          <a:noFill/>
        </p:spPr>
        <p:txBody>
          <a:bodyPr wrap="square" lIns="0" tIns="0" rIns="0" bIns="0" rtlCol="0">
            <a:noAutofit/>
          </a:bodyPr>
          <a:lstStyle/>
          <a:p>
            <a:pPr algn="just">
              <a:lnSpc>
                <a:spcPct val="150000"/>
              </a:lnSpc>
              <a:buClrTx/>
              <a:buSzTx/>
              <a:buFontTx/>
            </a:pPr>
            <a:r>
              <a:rPr sz="18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JdbcTemplate provides a wealth of methods to support database operations, </a:t>
            </a:r>
            <a:r>
              <a:rPr sz="1800" dirty="0">
                <a:solidFill>
                  <a:schemeClr val="accent1">
                    <a:lumMod val="75000"/>
                  </a:schemeClr>
                </a:solidFill>
                <a:latin typeface="微软雅黑" panose="020B0503020204020204" pitchFamily="34" charset="-122"/>
                <a:ea typeface="微软雅黑" panose="020B0503020204020204" pitchFamily="34" charset="-122"/>
                <a:cs typeface="+mn-ea"/>
                <a:sym typeface="+mn-lt"/>
              </a:rPr>
              <a:t>including insertions, queries, updates, and deletions, and placeholders in SQL statements </a:t>
            </a:r>
            <a:r>
              <a:rPr sz="18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can be set through parameter passing. The common database manipulation methods of JdbcTemplate are as follows.</a:t>
            </a:r>
            <a:endParaRPr lang="zh-CN" altLang="en-US" sz="1800" dirty="0" err="1">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graphicFrame>
        <p:nvGraphicFramePr>
          <p:cNvPr id="2" name="表格 1"/>
          <p:cNvGraphicFramePr/>
          <p:nvPr>
            <p:custDataLst>
              <p:tags r:id="rId3"/>
            </p:custDataLst>
            <p:extLst>
              <p:ext uri="{D42A27DB-BD31-4B8C-83A1-F6EECF244321}">
                <p14:modId xmlns:p14="http://schemas.microsoft.com/office/powerpoint/2010/main" val="1182097411"/>
              </p:ext>
            </p:extLst>
          </p:nvPr>
        </p:nvGraphicFramePr>
        <p:xfrm>
          <a:off x="118542" y="2147261"/>
          <a:ext cx="11953328" cy="4663759"/>
        </p:xfrm>
        <a:graphic>
          <a:graphicData uri="http://schemas.openxmlformats.org/drawingml/2006/table">
            <a:tbl>
              <a:tblPr/>
              <a:tblGrid>
                <a:gridCol w="3344200">
                  <a:extLst>
                    <a:ext uri="{9D8B030D-6E8A-4147-A177-3AD203B41FA5}">
                      <a16:colId xmlns:a16="http://schemas.microsoft.com/office/drawing/2014/main" val="20000"/>
                    </a:ext>
                  </a:extLst>
                </a:gridCol>
                <a:gridCol w="8609128">
                  <a:extLst>
                    <a:ext uri="{9D8B030D-6E8A-4147-A177-3AD203B41FA5}">
                      <a16:colId xmlns:a16="http://schemas.microsoft.com/office/drawing/2014/main" val="20001"/>
                    </a:ext>
                  </a:extLst>
                </a:gridCol>
              </a:tblGrid>
              <a:tr h="473710">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Methods</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Instructions</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868680">
                <a:tc>
                  <a:txBody>
                    <a:bodyPr/>
                    <a:lstStyle/>
                    <a:p>
                      <a:pPr algn="just">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int update(String sql)</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Used to execute the given SQL statement and return the number of affected lines. </a:t>
                      </a:r>
                      <a:r>
                        <a:rPr lang="en-US" altLang="zh-CN" sz="1900" b="0" kern="1200" dirty="0" err="1">
                          <a:solidFill>
                            <a:srgbClr val="0070C0"/>
                          </a:solidFill>
                          <a:latin typeface="微软雅黑" panose="020B0503020204020204" pitchFamily="34" charset="-122"/>
                          <a:ea typeface="微软雅黑" panose="020B0503020204020204" pitchFamily="34" charset="-122"/>
                          <a:cs typeface="+mn-cs"/>
                        </a:rPr>
                        <a:t>Typically used to perform operations such as INSERT, UPDATE, and DELETE</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0">
                <a:tc>
                  <a:txBody>
                    <a:bodyPr/>
                    <a:lstStyle/>
                    <a:p>
                      <a:pPr algn="just">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int update(String sql, Object... args)</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Used to execute the given SQL statement and return the number of affected lines. The args parameter is a </a:t>
                      </a:r>
                      <a:r>
                        <a:rPr lang="en-US" altLang="zh-CN" sz="1900" b="0" dirty="0" err="1">
                          <a:solidFill>
                            <a:srgbClr val="0070C0"/>
                          </a:solidFill>
                          <a:latin typeface="微软雅黑" panose="020B0503020204020204" pitchFamily="34" charset="-122"/>
                          <a:ea typeface="微软雅黑" panose="020B0503020204020204" pitchFamily="34" charset="-122"/>
                        </a:rPr>
                        <a:t>variable-length array used to pass the values of the parameters in the SQL statement</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0">
                <a:tc>
                  <a:txBody>
                    <a:bodyPr/>
                    <a:lstStyle/>
                    <a:p>
                      <a:pPr algn="just">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int[] batchUpdate(String sql,</a:t>
                      </a:r>
                    </a:p>
                    <a:p>
                      <a:pPr algn="just">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     List&lt;Object[]&gt; batchArgs)</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Used to execute the given SQL and return the number of lines affected by each SQL statement execution. </a:t>
                      </a:r>
                      <a:r>
                        <a:rPr lang="en-US" altLang="zh-CN" sz="1900" b="0" kern="1200" dirty="0" err="1">
                          <a:solidFill>
                            <a:srgbClr val="0070C0"/>
                          </a:solidFill>
                          <a:latin typeface="微软雅黑" panose="020B0503020204020204" pitchFamily="34" charset="-122"/>
                          <a:ea typeface="微软雅黑" panose="020B0503020204020204" pitchFamily="34" charset="-122"/>
                          <a:cs typeface="+mn-cs"/>
                        </a:rPr>
                        <a:t>batchArgs is a list of arrays of parameters, with each array in the list corresponding to the parameter value of one SQL statement</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4.1.1 Overview of 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3" name="表格 2"/>
          <p:cNvGraphicFramePr/>
          <p:nvPr>
            <p:custDataLst>
              <p:tags r:id="rId2"/>
            </p:custDataLst>
            <p:extLst>
              <p:ext uri="{D42A27DB-BD31-4B8C-83A1-F6EECF244321}">
                <p14:modId xmlns:p14="http://schemas.microsoft.com/office/powerpoint/2010/main" val="3421509483"/>
              </p:ext>
            </p:extLst>
          </p:nvPr>
        </p:nvGraphicFramePr>
        <p:xfrm>
          <a:off x="118542" y="1053530"/>
          <a:ext cx="11953328" cy="5328031"/>
        </p:xfrm>
        <a:graphic>
          <a:graphicData uri="http://schemas.openxmlformats.org/drawingml/2006/table">
            <a:tbl>
              <a:tblPr/>
              <a:tblGrid>
                <a:gridCol w="4464496">
                  <a:extLst>
                    <a:ext uri="{9D8B030D-6E8A-4147-A177-3AD203B41FA5}">
                      <a16:colId xmlns:a16="http://schemas.microsoft.com/office/drawing/2014/main" val="20000"/>
                    </a:ext>
                  </a:extLst>
                </a:gridCol>
                <a:gridCol w="7488832">
                  <a:extLst>
                    <a:ext uri="{9D8B030D-6E8A-4147-A177-3AD203B41FA5}">
                      <a16:colId xmlns:a16="http://schemas.microsoft.com/office/drawing/2014/main" val="20001"/>
                    </a:ext>
                  </a:extLst>
                </a:gridCol>
              </a:tblGrid>
              <a:tr h="460375">
                <a:tc>
                  <a:txBody>
                    <a:bodyPr/>
                    <a:lstStyle/>
                    <a:p>
                      <a:pPr indent="0" algn="ctr">
                        <a:buNone/>
                      </a:pPr>
                      <a:r>
                        <a:rPr lang="en-US" sz="2000" b="1" dirty="0">
                          <a:latin typeface="微软雅黑" panose="020B0503020204020204" pitchFamily="34" charset="-122"/>
                          <a:ea typeface="微软雅黑" panose="020B0503020204020204" pitchFamily="34" charset="-122"/>
                          <a:cs typeface="宋体" panose="02010600030101010101" pitchFamily="2" charset="-122"/>
                        </a:rPr>
                        <a:t>Methods</a:t>
                      </a:r>
                      <a:endParaRPr lang="en-US" altLang="en-US" sz="20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a:buNone/>
                      </a:pPr>
                      <a:r>
                        <a:rPr lang="en-US" sz="2000" b="1">
                          <a:latin typeface="微软雅黑" panose="020B0503020204020204" pitchFamily="34" charset="-122"/>
                          <a:ea typeface="微软雅黑" panose="020B0503020204020204" pitchFamily="34" charset="-122"/>
                          <a:cs typeface="宋体" panose="02010600030101010101" pitchFamily="2" charset="-122"/>
                        </a:rPr>
                        <a:t>Instructions</a:t>
                      </a:r>
                      <a:endParaRPr lang="en-US" altLang="en-US" sz="20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0">
                <a:tc>
                  <a:txBody>
                    <a:bodyPr/>
                    <a:lstStyle/>
                    <a:p>
                      <a:pPr algn="l">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List&lt;T&gt; query(String sql, RowMapper&lt;T&gt; rowMapper)</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2000" b="0" dirty="0" err="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Used to execute the given SQL statement and map the result of each row to an object using the provided RowMapper</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0">
                <a:tc>
                  <a:txBody>
                    <a:bodyPr/>
                    <a:lstStyle/>
                    <a:p>
                      <a:pPr algn="l">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List&lt;T&gt; query(String sql, Object[] args, RowMapper&lt;T&gt; rowMapper)</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2000" b="0" dirty="0" err="1">
                          <a:solidFill>
                            <a:srgbClr val="0070C0"/>
                          </a:solidFill>
                          <a:latin typeface="微软雅黑" panose="020B0503020204020204" pitchFamily="34" charset="-122"/>
                          <a:ea typeface="微软雅黑" panose="020B0503020204020204" pitchFamily="34" charset="-122"/>
                        </a:rPr>
                        <a:t>Used to execute query SQL statements with parameters and map the result of each row to an object using the provided RowMapper.</a:t>
                      </a:r>
                      <a:r>
                        <a:rPr lang="en-US" altLang="zh-CN" sz="2000" b="0" dirty="0" err="1">
                          <a:solidFill>
                            <a:srgbClr val="595959"/>
                          </a:solidFill>
                          <a:latin typeface="微软雅黑" panose="020B0503020204020204" pitchFamily="34" charset="-122"/>
                          <a:ea typeface="微软雅黑" panose="020B0503020204020204" pitchFamily="34" charset="-122"/>
                        </a:rPr>
                        <a:t> An args parameter is a variable-length array used to pass the values of the parameters in an SQL statement</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868680">
                <a:tc>
                  <a:txBody>
                    <a:bodyPr/>
                    <a:lstStyle/>
                    <a:p>
                      <a:pPr algn="l">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T queryForObject(String sql,       RowMapper&lt;T&gt; rowMapper,Object... args)</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Used to execute query SQL statements with parameters and </a:t>
                      </a:r>
                      <a:r>
                        <a:rPr lang="en-US" altLang="zh-CN" sz="2000" b="0" dirty="0" err="1">
                          <a:solidFill>
                            <a:srgbClr val="0070C0"/>
                          </a:solidFill>
                          <a:latin typeface="微软雅黑" panose="020B0503020204020204" pitchFamily="34" charset="-122"/>
                          <a:ea typeface="微软雅黑" panose="020B0503020204020204" pitchFamily="34" charset="-122"/>
                        </a:rPr>
                        <a:t>return a single-row record of Object type through RowMapper</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4.1.1 Overview of 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2" name="表格 1"/>
          <p:cNvGraphicFramePr/>
          <p:nvPr>
            <p:custDataLst>
              <p:tags r:id="rId2"/>
            </p:custDataLst>
            <p:extLst>
              <p:ext uri="{D42A27DB-BD31-4B8C-83A1-F6EECF244321}">
                <p14:modId xmlns:p14="http://schemas.microsoft.com/office/powerpoint/2010/main" val="1912605709"/>
              </p:ext>
            </p:extLst>
          </p:nvPr>
        </p:nvGraphicFramePr>
        <p:xfrm>
          <a:off x="190550" y="1089659"/>
          <a:ext cx="11881320" cy="5503229"/>
        </p:xfrm>
        <a:graphic>
          <a:graphicData uri="http://schemas.openxmlformats.org/drawingml/2006/table">
            <a:tbl>
              <a:tblPr/>
              <a:tblGrid>
                <a:gridCol w="3960440">
                  <a:extLst>
                    <a:ext uri="{9D8B030D-6E8A-4147-A177-3AD203B41FA5}">
                      <a16:colId xmlns:a16="http://schemas.microsoft.com/office/drawing/2014/main" val="20000"/>
                    </a:ext>
                  </a:extLst>
                </a:gridCol>
                <a:gridCol w="7920880">
                  <a:extLst>
                    <a:ext uri="{9D8B030D-6E8A-4147-A177-3AD203B41FA5}">
                      <a16:colId xmlns:a16="http://schemas.microsoft.com/office/drawing/2014/main" val="20001"/>
                    </a:ext>
                  </a:extLst>
                </a:gridCol>
              </a:tblGrid>
              <a:tr h="444500">
                <a:tc>
                  <a:txBody>
                    <a:bodyPr/>
                    <a:lstStyle/>
                    <a:p>
                      <a:pPr indent="0" algn="ctr">
                        <a:buNone/>
                      </a:pPr>
                      <a:r>
                        <a:rPr lang="en-US" sz="1900" b="1">
                          <a:latin typeface="微软雅黑" panose="020B0503020204020204" pitchFamily="34" charset="-122"/>
                          <a:ea typeface="微软雅黑" panose="020B0503020204020204" pitchFamily="34" charset="-122"/>
                          <a:cs typeface="宋体" panose="02010600030101010101" pitchFamily="2" charset="-122"/>
                        </a:rPr>
                        <a:t>Methods</a:t>
                      </a:r>
                      <a:endParaRPr lang="en-US" altLang="en-US" sz="19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a:buNone/>
                      </a:pPr>
                      <a:r>
                        <a:rPr lang="en-US" sz="1900" b="1">
                          <a:latin typeface="微软雅黑" panose="020B0503020204020204" pitchFamily="34" charset="-122"/>
                          <a:ea typeface="微软雅黑" panose="020B0503020204020204" pitchFamily="34" charset="-122"/>
                          <a:cs typeface="宋体" panose="02010600030101010101" pitchFamily="2" charset="-122"/>
                        </a:rPr>
                        <a:t>Instructions</a:t>
                      </a:r>
                      <a:endParaRPr lang="en-US" altLang="en-US" sz="19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0">
                <a:tc>
                  <a:txBody>
                    <a:bodyPr/>
                    <a:lstStyle/>
                    <a:p>
                      <a:pPr algn="l">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Map&lt;String, Object&gt; queryForMap(String sql, Object... args)</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Used to execute query SQL statements with parameters and Map single-line results to a map object. An args parameter is a variable-length array used to pass the values of the parameters in an SQL statement</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0">
                <a:tc>
                  <a:txBody>
                    <a:bodyPr/>
                    <a:lstStyle/>
                    <a:p>
                      <a:pPr algn="l">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List&lt;T&gt; queryForList(String sql, Class&lt;T&gt; elementType, Object... args)</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Used to execute query SQL statements with parameters and map multi-line results to a List object. The elementType parameter is used to specify the type to which the query result is mapped, and the args parameter is a variable-length array used to pass the parameter values in the SQL statement</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0">
                <a:tc>
                  <a:txBody>
                    <a:bodyPr/>
                    <a:lstStyle/>
                    <a:p>
                      <a:pPr algn="l">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 void execute(String sql)</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Used to execute arbitrary SQL statements without returning any result. Typically used to execute DDL statements or SQL operations that do not require a result to be returned</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Using </a:t>
            </a:r>
            <a:r>
              <a:rPr lang="en-US" sz="2400" b="1" dirty="0" err="1">
                <a:solidFill>
                  <a:srgbClr val="595959"/>
                </a:solidFill>
                <a:latin typeface="微软雅黑" panose="020B0503020204020204" pitchFamily="34" charset="-122"/>
                <a:ea typeface="微软雅黑" panose="020B0503020204020204" pitchFamily="34" charset="-122"/>
                <a:cs typeface="+mn-ea"/>
                <a:sym typeface="+mn-lt"/>
              </a:rPr>
              <a:t>JdbcTemplate</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5081937" y="2911432"/>
            <a:ext cx="5814591" cy="1077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4174"/>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the add, delete, modify and query operations of JdbcTemplate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Using </a:t>
            </a:r>
            <a:r>
              <a:rPr sz="2400" b="1" dirty="0" err="1">
                <a:solidFill>
                  <a:srgbClr val="595959"/>
                </a:solidFill>
                <a:latin typeface="微软雅黑" panose="020B0503020204020204" pitchFamily="34" charset="-122"/>
                <a:ea typeface="微软雅黑" panose="020B0503020204020204" pitchFamily="34" charset="-122"/>
                <a:cs typeface="+mn-ea"/>
                <a:sym typeface="+mn-lt"/>
              </a:rPr>
              <a:t>JdbcTemplate</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3" name="直接连接符 41"/>
          <p:cNvCxnSpPr/>
          <p:nvPr>
            <p:custDataLst>
              <p:tags r:id="rId1"/>
            </p:custDataLst>
          </p:nvPr>
        </p:nvCxnSpPr>
        <p:spPr>
          <a:xfrm flipH="1">
            <a:off x="2917818" y="1817972"/>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4" name="直接连接符 42"/>
          <p:cNvCxnSpPr/>
          <p:nvPr>
            <p:custDataLst>
              <p:tags r:id="rId2"/>
            </p:custDataLst>
          </p:nvPr>
        </p:nvCxnSpPr>
        <p:spPr>
          <a:xfrm flipH="1">
            <a:off x="2917818" y="3558750"/>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5" name="直接连接符 43"/>
          <p:cNvCxnSpPr/>
          <p:nvPr>
            <p:custDataLst>
              <p:tags r:id="rId3"/>
            </p:custDataLst>
          </p:nvPr>
        </p:nvCxnSpPr>
        <p:spPr>
          <a:xfrm flipH="1">
            <a:off x="2917818" y="5271826"/>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2" name="直接连接符 44"/>
          <p:cNvCxnSpPr/>
          <p:nvPr>
            <p:custDataLst>
              <p:tags r:id="rId4"/>
            </p:custDataLst>
          </p:nvPr>
        </p:nvCxnSpPr>
        <p:spPr>
          <a:xfrm>
            <a:off x="2917818" y="1817971"/>
            <a:ext cx="0" cy="3434193"/>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11" name="椭圆 10"/>
          <p:cNvSpPr/>
          <p:nvPr>
            <p:custDataLst>
              <p:tags r:id="rId5"/>
            </p:custDataLst>
          </p:nvPr>
        </p:nvSpPr>
        <p:spPr>
          <a:xfrm>
            <a:off x="4111351" y="1286289"/>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2" name="椭圆 11"/>
          <p:cNvSpPr/>
          <p:nvPr>
            <p:custDataLst>
              <p:tags r:id="rId6"/>
            </p:custDataLst>
          </p:nvPr>
        </p:nvSpPr>
        <p:spPr>
          <a:xfrm>
            <a:off x="4111351" y="3004877"/>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3" name="椭圆 12"/>
          <p:cNvSpPr/>
          <p:nvPr>
            <p:custDataLst>
              <p:tags r:id="rId7"/>
            </p:custDataLst>
          </p:nvPr>
        </p:nvSpPr>
        <p:spPr>
          <a:xfrm>
            <a:off x="4111351" y="4698292"/>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4" name="椭圆 13"/>
          <p:cNvSpPr/>
          <p:nvPr>
            <p:custDataLst>
              <p:tags r:id="rId8"/>
            </p:custDataLst>
          </p:nvPr>
        </p:nvSpPr>
        <p:spPr>
          <a:xfrm>
            <a:off x="4193964" y="3096851"/>
            <a:ext cx="923799" cy="92379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5" name="Freeform 176"/>
          <p:cNvSpPr>
            <a:spLocks noEditPoints="1"/>
          </p:cNvSpPr>
          <p:nvPr>
            <p:custDataLst>
              <p:tags r:id="rId9"/>
            </p:custDataLst>
          </p:nvPr>
        </p:nvSpPr>
        <p:spPr bwMode="auto">
          <a:xfrm>
            <a:off x="4389000" y="3311724"/>
            <a:ext cx="605367" cy="575733"/>
          </a:xfrm>
          <a:custGeom>
            <a:avLst/>
            <a:gdLst>
              <a:gd name="T0" fmla="*/ 93 w 121"/>
              <a:gd name="T1" fmla="*/ 56 h 115"/>
              <a:gd name="T2" fmla="*/ 90 w 121"/>
              <a:gd name="T3" fmla="*/ 60 h 115"/>
              <a:gd name="T4" fmla="*/ 86 w 121"/>
              <a:gd name="T5" fmla="*/ 40 h 115"/>
              <a:gd name="T6" fmla="*/ 82 w 121"/>
              <a:gd name="T7" fmla="*/ 82 h 115"/>
              <a:gd name="T8" fmla="*/ 75 w 121"/>
              <a:gd name="T9" fmla="*/ 89 h 115"/>
              <a:gd name="T10" fmla="*/ 69 w 121"/>
              <a:gd name="T11" fmla="*/ 44 h 115"/>
              <a:gd name="T12" fmla="*/ 59 w 121"/>
              <a:gd name="T13" fmla="*/ 28 h 115"/>
              <a:gd name="T14" fmla="*/ 82 w 121"/>
              <a:gd name="T15" fmla="*/ 13 h 115"/>
              <a:gd name="T16" fmla="*/ 59 w 121"/>
              <a:gd name="T17" fmla="*/ 10 h 115"/>
              <a:gd name="T18" fmla="*/ 116 w 121"/>
              <a:gd name="T19" fmla="*/ 0 h 115"/>
              <a:gd name="T20" fmla="*/ 113 w 121"/>
              <a:gd name="T21" fmla="*/ 21 h 115"/>
              <a:gd name="T22" fmla="*/ 121 w 121"/>
              <a:gd name="T23" fmla="*/ 23 h 115"/>
              <a:gd name="T24" fmla="*/ 121 w 121"/>
              <a:gd name="T25" fmla="*/ 28 h 115"/>
              <a:gd name="T26" fmla="*/ 110 w 121"/>
              <a:gd name="T27" fmla="*/ 39 h 115"/>
              <a:gd name="T28" fmla="*/ 93 w 121"/>
              <a:gd name="T29" fmla="*/ 42 h 115"/>
              <a:gd name="T30" fmla="*/ 5 w 121"/>
              <a:gd name="T31" fmla="*/ 40 h 115"/>
              <a:gd name="T32" fmla="*/ 56 w 121"/>
              <a:gd name="T33" fmla="*/ 37 h 115"/>
              <a:gd name="T34" fmla="*/ 5 w 121"/>
              <a:gd name="T35" fmla="*/ 40 h 115"/>
              <a:gd name="T36" fmla="*/ 7 w 121"/>
              <a:gd name="T37" fmla="*/ 49 h 115"/>
              <a:gd name="T38" fmla="*/ 29 w 121"/>
              <a:gd name="T39" fmla="*/ 64 h 115"/>
              <a:gd name="T40" fmla="*/ 52 w 121"/>
              <a:gd name="T41" fmla="*/ 108 h 115"/>
              <a:gd name="T42" fmla="*/ 58 w 121"/>
              <a:gd name="T43" fmla="*/ 46 h 115"/>
              <a:gd name="T44" fmla="*/ 42 w 121"/>
              <a:gd name="T45" fmla="*/ 98 h 115"/>
              <a:gd name="T46" fmla="*/ 44 w 121"/>
              <a:gd name="T47" fmla="*/ 107 h 115"/>
              <a:gd name="T48" fmla="*/ 42 w 121"/>
              <a:gd name="T49" fmla="*/ 98 h 115"/>
              <a:gd name="T50" fmla="*/ 51 w 121"/>
              <a:gd name="T51" fmla="*/ 11 h 115"/>
              <a:gd name="T52" fmla="*/ 39 w 121"/>
              <a:gd name="T53" fmla="*/ 7 h 115"/>
              <a:gd name="T54" fmla="*/ 36 w 121"/>
              <a:gd name="T55" fmla="*/ 8 h 115"/>
              <a:gd name="T56" fmla="*/ 16 w 121"/>
              <a:gd name="T57" fmla="*/ 25 h 115"/>
              <a:gd name="T58" fmla="*/ 12 w 121"/>
              <a:gd name="T59" fmla="*/ 12 h 115"/>
              <a:gd name="T60" fmla="*/ 12 w 121"/>
              <a:gd name="T61" fmla="*/ 26 h 115"/>
              <a:gd name="T62" fmla="*/ 7 w 121"/>
              <a:gd name="T63" fmla="*/ 13 h 115"/>
              <a:gd name="T64" fmla="*/ 4 w 121"/>
              <a:gd name="T65" fmla="*/ 3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15">
                <a:moveTo>
                  <a:pt x="93" y="42"/>
                </a:moveTo>
                <a:cubicBezTo>
                  <a:pt x="93" y="56"/>
                  <a:pt x="93" y="56"/>
                  <a:pt x="93" y="56"/>
                </a:cubicBezTo>
                <a:cubicBezTo>
                  <a:pt x="93" y="58"/>
                  <a:pt x="92" y="60"/>
                  <a:pt x="90" y="60"/>
                </a:cubicBezTo>
                <a:cubicBezTo>
                  <a:pt x="90" y="60"/>
                  <a:pt x="90" y="60"/>
                  <a:pt x="90" y="60"/>
                </a:cubicBezTo>
                <a:cubicBezTo>
                  <a:pt x="88" y="60"/>
                  <a:pt x="86" y="58"/>
                  <a:pt x="86" y="56"/>
                </a:cubicBezTo>
                <a:cubicBezTo>
                  <a:pt x="86" y="40"/>
                  <a:pt x="86" y="40"/>
                  <a:pt x="86" y="40"/>
                </a:cubicBezTo>
                <a:cubicBezTo>
                  <a:pt x="85" y="42"/>
                  <a:pt x="84" y="43"/>
                  <a:pt x="82" y="44"/>
                </a:cubicBezTo>
                <a:cubicBezTo>
                  <a:pt x="82" y="82"/>
                  <a:pt x="82" y="82"/>
                  <a:pt x="82" y="82"/>
                </a:cubicBezTo>
                <a:cubicBezTo>
                  <a:pt x="82" y="86"/>
                  <a:pt x="79" y="89"/>
                  <a:pt x="75" y="89"/>
                </a:cubicBezTo>
                <a:cubicBezTo>
                  <a:pt x="75" y="89"/>
                  <a:pt x="75" y="89"/>
                  <a:pt x="75" y="89"/>
                </a:cubicBezTo>
                <a:cubicBezTo>
                  <a:pt x="72" y="89"/>
                  <a:pt x="69" y="86"/>
                  <a:pt x="69" y="82"/>
                </a:cubicBezTo>
                <a:cubicBezTo>
                  <a:pt x="69" y="44"/>
                  <a:pt x="69" y="44"/>
                  <a:pt x="69" y="44"/>
                </a:cubicBezTo>
                <a:cubicBezTo>
                  <a:pt x="63" y="42"/>
                  <a:pt x="59" y="36"/>
                  <a:pt x="59" y="29"/>
                </a:cubicBezTo>
                <a:cubicBezTo>
                  <a:pt x="59" y="29"/>
                  <a:pt x="59" y="28"/>
                  <a:pt x="59" y="28"/>
                </a:cubicBezTo>
                <a:cubicBezTo>
                  <a:pt x="59" y="16"/>
                  <a:pt x="59" y="16"/>
                  <a:pt x="59" y="16"/>
                </a:cubicBezTo>
                <a:cubicBezTo>
                  <a:pt x="82" y="13"/>
                  <a:pt x="82" y="13"/>
                  <a:pt x="82" y="13"/>
                </a:cubicBezTo>
                <a:cubicBezTo>
                  <a:pt x="84" y="10"/>
                  <a:pt x="84" y="10"/>
                  <a:pt x="84" y="10"/>
                </a:cubicBezTo>
                <a:cubicBezTo>
                  <a:pt x="59" y="10"/>
                  <a:pt x="59" y="10"/>
                  <a:pt x="59" y="10"/>
                </a:cubicBezTo>
                <a:cubicBezTo>
                  <a:pt x="59" y="6"/>
                  <a:pt x="59" y="6"/>
                  <a:pt x="59" y="6"/>
                </a:cubicBezTo>
                <a:cubicBezTo>
                  <a:pt x="116" y="0"/>
                  <a:pt x="116" y="0"/>
                  <a:pt x="116" y="0"/>
                </a:cubicBezTo>
                <a:cubicBezTo>
                  <a:pt x="121" y="16"/>
                  <a:pt x="121" y="16"/>
                  <a:pt x="121" y="16"/>
                </a:cubicBezTo>
                <a:cubicBezTo>
                  <a:pt x="113" y="21"/>
                  <a:pt x="113" y="21"/>
                  <a:pt x="113" y="21"/>
                </a:cubicBezTo>
                <a:cubicBezTo>
                  <a:pt x="112" y="24"/>
                  <a:pt x="112" y="24"/>
                  <a:pt x="112" y="24"/>
                </a:cubicBezTo>
                <a:cubicBezTo>
                  <a:pt x="121" y="23"/>
                  <a:pt x="121" y="23"/>
                  <a:pt x="121" y="23"/>
                </a:cubicBezTo>
                <a:cubicBezTo>
                  <a:pt x="121" y="28"/>
                  <a:pt x="121" y="28"/>
                  <a:pt x="121" y="28"/>
                </a:cubicBezTo>
                <a:cubicBezTo>
                  <a:pt x="121" y="28"/>
                  <a:pt x="121" y="28"/>
                  <a:pt x="121" y="28"/>
                </a:cubicBezTo>
                <a:cubicBezTo>
                  <a:pt x="121" y="28"/>
                  <a:pt x="121" y="28"/>
                  <a:pt x="121" y="28"/>
                </a:cubicBezTo>
                <a:cubicBezTo>
                  <a:pt x="121" y="34"/>
                  <a:pt x="116" y="39"/>
                  <a:pt x="110" y="39"/>
                </a:cubicBezTo>
                <a:cubicBezTo>
                  <a:pt x="107" y="39"/>
                  <a:pt x="105" y="38"/>
                  <a:pt x="103" y="37"/>
                </a:cubicBezTo>
                <a:cubicBezTo>
                  <a:pt x="101" y="40"/>
                  <a:pt x="97" y="42"/>
                  <a:pt x="93" y="42"/>
                </a:cubicBezTo>
                <a:cubicBezTo>
                  <a:pt x="93" y="42"/>
                  <a:pt x="93" y="42"/>
                  <a:pt x="93" y="42"/>
                </a:cubicBezTo>
                <a:close/>
                <a:moveTo>
                  <a:pt x="5" y="40"/>
                </a:moveTo>
                <a:cubicBezTo>
                  <a:pt x="54" y="30"/>
                  <a:pt x="54" y="30"/>
                  <a:pt x="54" y="30"/>
                </a:cubicBezTo>
                <a:cubicBezTo>
                  <a:pt x="56" y="37"/>
                  <a:pt x="56" y="37"/>
                  <a:pt x="56" y="37"/>
                </a:cubicBezTo>
                <a:cubicBezTo>
                  <a:pt x="6" y="47"/>
                  <a:pt x="6" y="47"/>
                  <a:pt x="6" y="47"/>
                </a:cubicBezTo>
                <a:cubicBezTo>
                  <a:pt x="5" y="40"/>
                  <a:pt x="5" y="40"/>
                  <a:pt x="5" y="40"/>
                </a:cubicBezTo>
                <a:close/>
                <a:moveTo>
                  <a:pt x="56" y="40"/>
                </a:moveTo>
                <a:cubicBezTo>
                  <a:pt x="7" y="49"/>
                  <a:pt x="7" y="49"/>
                  <a:pt x="7" y="49"/>
                </a:cubicBezTo>
                <a:cubicBezTo>
                  <a:pt x="7" y="52"/>
                  <a:pt x="7" y="54"/>
                  <a:pt x="8" y="56"/>
                </a:cubicBezTo>
                <a:cubicBezTo>
                  <a:pt x="16" y="56"/>
                  <a:pt x="23" y="59"/>
                  <a:pt x="29" y="64"/>
                </a:cubicBezTo>
                <a:cubicBezTo>
                  <a:pt x="32" y="79"/>
                  <a:pt x="28" y="104"/>
                  <a:pt x="37" y="111"/>
                </a:cubicBezTo>
                <a:cubicBezTo>
                  <a:pt x="42" y="115"/>
                  <a:pt x="49" y="114"/>
                  <a:pt x="52" y="108"/>
                </a:cubicBezTo>
                <a:cubicBezTo>
                  <a:pt x="57" y="97"/>
                  <a:pt x="44" y="76"/>
                  <a:pt x="42" y="62"/>
                </a:cubicBezTo>
                <a:cubicBezTo>
                  <a:pt x="45" y="54"/>
                  <a:pt x="51" y="49"/>
                  <a:pt x="58" y="46"/>
                </a:cubicBezTo>
                <a:cubicBezTo>
                  <a:pt x="57" y="44"/>
                  <a:pt x="57" y="42"/>
                  <a:pt x="56" y="40"/>
                </a:cubicBezTo>
                <a:close/>
                <a:moveTo>
                  <a:pt x="42" y="98"/>
                </a:moveTo>
                <a:cubicBezTo>
                  <a:pt x="45" y="98"/>
                  <a:pt x="47" y="99"/>
                  <a:pt x="48" y="102"/>
                </a:cubicBezTo>
                <a:cubicBezTo>
                  <a:pt x="48" y="104"/>
                  <a:pt x="47" y="107"/>
                  <a:pt x="44" y="107"/>
                </a:cubicBezTo>
                <a:cubicBezTo>
                  <a:pt x="42" y="108"/>
                  <a:pt x="39" y="106"/>
                  <a:pt x="39" y="104"/>
                </a:cubicBezTo>
                <a:cubicBezTo>
                  <a:pt x="38" y="101"/>
                  <a:pt x="40" y="99"/>
                  <a:pt x="42" y="98"/>
                </a:cubicBezTo>
                <a:close/>
                <a:moveTo>
                  <a:pt x="54" y="26"/>
                </a:moveTo>
                <a:cubicBezTo>
                  <a:pt x="51" y="11"/>
                  <a:pt x="51" y="11"/>
                  <a:pt x="51" y="11"/>
                </a:cubicBezTo>
                <a:cubicBezTo>
                  <a:pt x="50" y="8"/>
                  <a:pt x="46" y="6"/>
                  <a:pt x="42" y="6"/>
                </a:cubicBezTo>
                <a:cubicBezTo>
                  <a:pt x="39" y="7"/>
                  <a:pt x="39" y="7"/>
                  <a:pt x="39" y="7"/>
                </a:cubicBezTo>
                <a:cubicBezTo>
                  <a:pt x="39" y="13"/>
                  <a:pt x="39" y="13"/>
                  <a:pt x="39" y="13"/>
                </a:cubicBezTo>
                <a:cubicBezTo>
                  <a:pt x="36" y="8"/>
                  <a:pt x="36" y="8"/>
                  <a:pt x="36" y="8"/>
                </a:cubicBezTo>
                <a:cubicBezTo>
                  <a:pt x="14" y="12"/>
                  <a:pt x="14" y="12"/>
                  <a:pt x="14" y="12"/>
                </a:cubicBezTo>
                <a:cubicBezTo>
                  <a:pt x="16" y="25"/>
                  <a:pt x="16" y="25"/>
                  <a:pt x="16" y="25"/>
                </a:cubicBezTo>
                <a:cubicBezTo>
                  <a:pt x="16" y="26"/>
                  <a:pt x="16" y="26"/>
                  <a:pt x="16" y="26"/>
                </a:cubicBezTo>
                <a:cubicBezTo>
                  <a:pt x="12" y="12"/>
                  <a:pt x="12" y="12"/>
                  <a:pt x="12" y="12"/>
                </a:cubicBezTo>
                <a:cubicBezTo>
                  <a:pt x="10" y="13"/>
                  <a:pt x="10" y="13"/>
                  <a:pt x="10" y="13"/>
                </a:cubicBezTo>
                <a:cubicBezTo>
                  <a:pt x="12" y="26"/>
                  <a:pt x="12" y="26"/>
                  <a:pt x="12" y="26"/>
                </a:cubicBezTo>
                <a:cubicBezTo>
                  <a:pt x="11" y="26"/>
                  <a:pt x="11" y="26"/>
                  <a:pt x="11" y="26"/>
                </a:cubicBezTo>
                <a:cubicBezTo>
                  <a:pt x="7" y="13"/>
                  <a:pt x="7" y="13"/>
                  <a:pt x="7" y="13"/>
                </a:cubicBezTo>
                <a:cubicBezTo>
                  <a:pt x="3" y="14"/>
                  <a:pt x="0" y="18"/>
                  <a:pt x="1" y="21"/>
                </a:cubicBezTo>
                <a:cubicBezTo>
                  <a:pt x="4" y="36"/>
                  <a:pt x="4" y="36"/>
                  <a:pt x="4" y="36"/>
                </a:cubicBezTo>
                <a:lnTo>
                  <a:pt x="54" y="26"/>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16" name="椭圆 15"/>
          <p:cNvSpPr/>
          <p:nvPr>
            <p:custDataLst>
              <p:tags r:id="rId10"/>
            </p:custDataLst>
          </p:nvPr>
        </p:nvSpPr>
        <p:spPr>
          <a:xfrm>
            <a:off x="4203325" y="1378263"/>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7" name="椭圆 16"/>
          <p:cNvSpPr/>
          <p:nvPr>
            <p:custDataLst>
              <p:tags r:id="rId11"/>
            </p:custDataLst>
          </p:nvPr>
        </p:nvSpPr>
        <p:spPr>
          <a:xfrm>
            <a:off x="4193963" y="4809927"/>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8" name="Freeform 175"/>
          <p:cNvSpPr>
            <a:spLocks noEditPoints="1"/>
          </p:cNvSpPr>
          <p:nvPr>
            <p:custDataLst>
              <p:tags r:id="rId12"/>
            </p:custDataLst>
          </p:nvPr>
        </p:nvSpPr>
        <p:spPr bwMode="auto">
          <a:xfrm>
            <a:off x="4418633" y="4936782"/>
            <a:ext cx="575733" cy="630767"/>
          </a:xfrm>
          <a:custGeom>
            <a:avLst/>
            <a:gdLst>
              <a:gd name="T0" fmla="*/ 165 w 272"/>
              <a:gd name="T1" fmla="*/ 0 h 298"/>
              <a:gd name="T2" fmla="*/ 246 w 272"/>
              <a:gd name="T3" fmla="*/ 47 h 298"/>
              <a:gd name="T4" fmla="*/ 153 w 272"/>
              <a:gd name="T5" fmla="*/ 201 h 298"/>
              <a:gd name="T6" fmla="*/ 108 w 272"/>
              <a:gd name="T7" fmla="*/ 229 h 298"/>
              <a:gd name="T8" fmla="*/ 66 w 272"/>
              <a:gd name="T9" fmla="*/ 232 h 298"/>
              <a:gd name="T10" fmla="*/ 71 w 272"/>
              <a:gd name="T11" fmla="*/ 153 h 298"/>
              <a:gd name="T12" fmla="*/ 165 w 272"/>
              <a:gd name="T13" fmla="*/ 0 h 298"/>
              <a:gd name="T14" fmla="*/ 165 w 272"/>
              <a:gd name="T15" fmla="*/ 0 h 298"/>
              <a:gd name="T16" fmla="*/ 243 w 272"/>
              <a:gd name="T17" fmla="*/ 293 h 298"/>
              <a:gd name="T18" fmla="*/ 248 w 272"/>
              <a:gd name="T19" fmla="*/ 262 h 298"/>
              <a:gd name="T20" fmla="*/ 158 w 272"/>
              <a:gd name="T21" fmla="*/ 260 h 298"/>
              <a:gd name="T22" fmla="*/ 272 w 272"/>
              <a:gd name="T23" fmla="*/ 253 h 298"/>
              <a:gd name="T24" fmla="*/ 272 w 272"/>
              <a:gd name="T25" fmla="*/ 241 h 298"/>
              <a:gd name="T26" fmla="*/ 239 w 272"/>
              <a:gd name="T27" fmla="*/ 239 h 298"/>
              <a:gd name="T28" fmla="*/ 269 w 272"/>
              <a:gd name="T29" fmla="*/ 234 h 298"/>
              <a:gd name="T30" fmla="*/ 257 w 272"/>
              <a:gd name="T31" fmla="*/ 210 h 298"/>
              <a:gd name="T32" fmla="*/ 175 w 272"/>
              <a:gd name="T33" fmla="*/ 201 h 298"/>
              <a:gd name="T34" fmla="*/ 172 w 272"/>
              <a:gd name="T35" fmla="*/ 224 h 298"/>
              <a:gd name="T36" fmla="*/ 208 w 272"/>
              <a:gd name="T37" fmla="*/ 232 h 298"/>
              <a:gd name="T38" fmla="*/ 0 w 272"/>
              <a:gd name="T39" fmla="*/ 243 h 298"/>
              <a:gd name="T40" fmla="*/ 2 w 272"/>
              <a:gd name="T41" fmla="*/ 265 h 298"/>
              <a:gd name="T42" fmla="*/ 137 w 272"/>
              <a:gd name="T43" fmla="*/ 279 h 298"/>
              <a:gd name="T44" fmla="*/ 85 w 272"/>
              <a:gd name="T45" fmla="*/ 281 h 298"/>
              <a:gd name="T46" fmla="*/ 87 w 272"/>
              <a:gd name="T47" fmla="*/ 298 h 298"/>
              <a:gd name="T48" fmla="*/ 243 w 272"/>
              <a:gd name="T49" fmla="*/ 293 h 298"/>
              <a:gd name="T50" fmla="*/ 243 w 272"/>
              <a:gd name="T51" fmla="*/ 293 h 298"/>
              <a:gd name="T52" fmla="*/ 106 w 272"/>
              <a:gd name="T53" fmla="*/ 213 h 298"/>
              <a:gd name="T54" fmla="*/ 137 w 272"/>
              <a:gd name="T55" fmla="*/ 191 h 298"/>
              <a:gd name="T56" fmla="*/ 87 w 272"/>
              <a:gd name="T57" fmla="*/ 163 h 298"/>
              <a:gd name="T58" fmla="*/ 85 w 272"/>
              <a:gd name="T59" fmla="*/ 198 h 298"/>
              <a:gd name="T60" fmla="*/ 106 w 272"/>
              <a:gd name="T61" fmla="*/ 213 h 298"/>
              <a:gd name="T62" fmla="*/ 106 w 272"/>
              <a:gd name="T63" fmla="*/ 213 h 298"/>
              <a:gd name="T64" fmla="*/ 217 w 272"/>
              <a:gd name="T65" fmla="*/ 47 h 298"/>
              <a:gd name="T66" fmla="*/ 142 w 272"/>
              <a:gd name="T67" fmla="*/ 172 h 298"/>
              <a:gd name="T68" fmla="*/ 151 w 272"/>
              <a:gd name="T69" fmla="*/ 177 h 298"/>
              <a:gd name="T70" fmla="*/ 224 w 272"/>
              <a:gd name="T71" fmla="*/ 52 h 298"/>
              <a:gd name="T72" fmla="*/ 217 w 272"/>
              <a:gd name="T73" fmla="*/ 47 h 298"/>
              <a:gd name="T74" fmla="*/ 217 w 272"/>
              <a:gd name="T75" fmla="*/ 47 h 298"/>
              <a:gd name="T76" fmla="*/ 170 w 272"/>
              <a:gd name="T77" fmla="*/ 19 h 298"/>
              <a:gd name="T78" fmla="*/ 97 w 272"/>
              <a:gd name="T79" fmla="*/ 144 h 298"/>
              <a:gd name="T80" fmla="*/ 111 w 272"/>
              <a:gd name="T81" fmla="*/ 153 h 298"/>
              <a:gd name="T82" fmla="*/ 186 w 272"/>
              <a:gd name="T83" fmla="*/ 28 h 298"/>
              <a:gd name="T84" fmla="*/ 170 w 272"/>
              <a:gd name="T85" fmla="*/ 1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2" h="298">
                <a:moveTo>
                  <a:pt x="165" y="0"/>
                </a:moveTo>
                <a:lnTo>
                  <a:pt x="246" y="47"/>
                </a:lnTo>
                <a:lnTo>
                  <a:pt x="153" y="201"/>
                </a:lnTo>
                <a:lnTo>
                  <a:pt x="108" y="229"/>
                </a:lnTo>
                <a:lnTo>
                  <a:pt x="66" y="232"/>
                </a:lnTo>
                <a:lnTo>
                  <a:pt x="71" y="153"/>
                </a:lnTo>
                <a:lnTo>
                  <a:pt x="165" y="0"/>
                </a:lnTo>
                <a:lnTo>
                  <a:pt x="165" y="0"/>
                </a:lnTo>
                <a:close/>
                <a:moveTo>
                  <a:pt x="243" y="293"/>
                </a:moveTo>
                <a:lnTo>
                  <a:pt x="248" y="262"/>
                </a:lnTo>
                <a:lnTo>
                  <a:pt x="158" y="260"/>
                </a:lnTo>
                <a:lnTo>
                  <a:pt x="272" y="253"/>
                </a:lnTo>
                <a:lnTo>
                  <a:pt x="272" y="241"/>
                </a:lnTo>
                <a:lnTo>
                  <a:pt x="239" y="239"/>
                </a:lnTo>
                <a:lnTo>
                  <a:pt x="269" y="234"/>
                </a:lnTo>
                <a:lnTo>
                  <a:pt x="257" y="210"/>
                </a:lnTo>
                <a:lnTo>
                  <a:pt x="175" y="201"/>
                </a:lnTo>
                <a:lnTo>
                  <a:pt x="172" y="224"/>
                </a:lnTo>
                <a:lnTo>
                  <a:pt x="208" y="232"/>
                </a:lnTo>
                <a:lnTo>
                  <a:pt x="0" y="243"/>
                </a:lnTo>
                <a:lnTo>
                  <a:pt x="2" y="265"/>
                </a:lnTo>
                <a:lnTo>
                  <a:pt x="137" y="279"/>
                </a:lnTo>
                <a:lnTo>
                  <a:pt x="85" y="281"/>
                </a:lnTo>
                <a:lnTo>
                  <a:pt x="87" y="298"/>
                </a:lnTo>
                <a:lnTo>
                  <a:pt x="243" y="293"/>
                </a:lnTo>
                <a:lnTo>
                  <a:pt x="243" y="293"/>
                </a:lnTo>
                <a:close/>
                <a:moveTo>
                  <a:pt x="106" y="213"/>
                </a:moveTo>
                <a:lnTo>
                  <a:pt x="137" y="191"/>
                </a:lnTo>
                <a:lnTo>
                  <a:pt x="87" y="163"/>
                </a:lnTo>
                <a:lnTo>
                  <a:pt x="85" y="198"/>
                </a:lnTo>
                <a:lnTo>
                  <a:pt x="106" y="213"/>
                </a:lnTo>
                <a:lnTo>
                  <a:pt x="106" y="213"/>
                </a:lnTo>
                <a:close/>
                <a:moveTo>
                  <a:pt x="217" y="47"/>
                </a:moveTo>
                <a:lnTo>
                  <a:pt x="142" y="172"/>
                </a:lnTo>
                <a:lnTo>
                  <a:pt x="151" y="177"/>
                </a:lnTo>
                <a:lnTo>
                  <a:pt x="224" y="52"/>
                </a:lnTo>
                <a:lnTo>
                  <a:pt x="217" y="47"/>
                </a:lnTo>
                <a:lnTo>
                  <a:pt x="217" y="47"/>
                </a:lnTo>
                <a:close/>
                <a:moveTo>
                  <a:pt x="170" y="19"/>
                </a:moveTo>
                <a:lnTo>
                  <a:pt x="97" y="144"/>
                </a:lnTo>
                <a:lnTo>
                  <a:pt x="111" y="153"/>
                </a:lnTo>
                <a:lnTo>
                  <a:pt x="186" y="28"/>
                </a:lnTo>
                <a:lnTo>
                  <a:pt x="170" y="1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19" name="Freeform 168"/>
          <p:cNvSpPr>
            <a:spLocks noEditPoints="1"/>
          </p:cNvSpPr>
          <p:nvPr>
            <p:custDataLst>
              <p:tags r:id="rId13"/>
            </p:custDataLst>
          </p:nvPr>
        </p:nvSpPr>
        <p:spPr bwMode="auto">
          <a:xfrm>
            <a:off x="4388999" y="1509996"/>
            <a:ext cx="552451" cy="615951"/>
          </a:xfrm>
          <a:custGeom>
            <a:avLst/>
            <a:gdLst>
              <a:gd name="T0" fmla="*/ 55 w 110"/>
              <a:gd name="T1" fmla="*/ 41 h 123"/>
              <a:gd name="T2" fmla="*/ 75 w 110"/>
              <a:gd name="T3" fmla="*/ 31 h 123"/>
              <a:gd name="T4" fmla="*/ 99 w 110"/>
              <a:gd name="T5" fmla="*/ 86 h 123"/>
              <a:gd name="T6" fmla="*/ 97 w 110"/>
              <a:gd name="T7" fmla="*/ 88 h 123"/>
              <a:gd name="T8" fmla="*/ 101 w 110"/>
              <a:gd name="T9" fmla="*/ 96 h 123"/>
              <a:gd name="T10" fmla="*/ 94 w 110"/>
              <a:gd name="T11" fmla="*/ 99 h 123"/>
              <a:gd name="T12" fmla="*/ 90 w 110"/>
              <a:gd name="T13" fmla="*/ 91 h 123"/>
              <a:gd name="T14" fmla="*/ 87 w 110"/>
              <a:gd name="T15" fmla="*/ 93 h 123"/>
              <a:gd name="T16" fmla="*/ 55 w 110"/>
              <a:gd name="T17" fmla="*/ 41 h 123"/>
              <a:gd name="T18" fmla="*/ 0 w 110"/>
              <a:gd name="T19" fmla="*/ 108 h 123"/>
              <a:gd name="T20" fmla="*/ 3 w 110"/>
              <a:gd name="T21" fmla="*/ 115 h 123"/>
              <a:gd name="T22" fmla="*/ 31 w 110"/>
              <a:gd name="T23" fmla="*/ 105 h 123"/>
              <a:gd name="T24" fmla="*/ 30 w 110"/>
              <a:gd name="T25" fmla="*/ 121 h 123"/>
              <a:gd name="T26" fmla="*/ 110 w 110"/>
              <a:gd name="T27" fmla="*/ 105 h 123"/>
              <a:gd name="T28" fmla="*/ 108 w 110"/>
              <a:gd name="T29" fmla="*/ 98 h 123"/>
              <a:gd name="T30" fmla="*/ 36 w 110"/>
              <a:gd name="T31" fmla="*/ 113 h 123"/>
              <a:gd name="T32" fmla="*/ 55 w 110"/>
              <a:gd name="T33" fmla="*/ 96 h 123"/>
              <a:gd name="T34" fmla="*/ 52 w 110"/>
              <a:gd name="T35" fmla="*/ 89 h 123"/>
              <a:gd name="T36" fmla="*/ 0 w 110"/>
              <a:gd name="T37" fmla="*/ 108 h 123"/>
              <a:gd name="T38" fmla="*/ 60 w 110"/>
              <a:gd name="T39" fmla="*/ 9 h 123"/>
              <a:gd name="T40" fmla="*/ 53 w 110"/>
              <a:gd name="T41" fmla="*/ 36 h 123"/>
              <a:gd name="T42" fmla="*/ 72 w 110"/>
              <a:gd name="T43" fmla="*/ 26 h 123"/>
              <a:gd name="T44" fmla="*/ 66 w 110"/>
              <a:gd name="T45" fmla="*/ 15 h 123"/>
              <a:gd name="T46" fmla="*/ 71 w 110"/>
              <a:gd name="T47" fmla="*/ 12 h 123"/>
              <a:gd name="T48" fmla="*/ 86 w 110"/>
              <a:gd name="T49" fmla="*/ 51 h 123"/>
              <a:gd name="T50" fmla="*/ 93 w 110"/>
              <a:gd name="T51" fmla="*/ 48 h 123"/>
              <a:gd name="T52" fmla="*/ 77 w 110"/>
              <a:gd name="T53" fmla="*/ 5 h 123"/>
              <a:gd name="T54" fmla="*/ 75 w 110"/>
              <a:gd name="T55" fmla="*/ 2 h 123"/>
              <a:gd name="T56" fmla="*/ 72 w 110"/>
              <a:gd name="T57" fmla="*/ 3 h 123"/>
              <a:gd name="T58" fmla="*/ 60 w 110"/>
              <a:gd name="T59" fmla="*/ 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0" h="123">
                <a:moveTo>
                  <a:pt x="55" y="41"/>
                </a:moveTo>
                <a:cubicBezTo>
                  <a:pt x="75" y="31"/>
                  <a:pt x="75" y="31"/>
                  <a:pt x="75" y="31"/>
                </a:cubicBezTo>
                <a:cubicBezTo>
                  <a:pt x="99" y="86"/>
                  <a:pt x="99" y="86"/>
                  <a:pt x="99" y="86"/>
                </a:cubicBezTo>
                <a:cubicBezTo>
                  <a:pt x="97" y="88"/>
                  <a:pt x="97" y="88"/>
                  <a:pt x="97" y="88"/>
                </a:cubicBezTo>
                <a:cubicBezTo>
                  <a:pt x="101" y="96"/>
                  <a:pt x="101" y="96"/>
                  <a:pt x="101" y="96"/>
                </a:cubicBezTo>
                <a:cubicBezTo>
                  <a:pt x="94" y="99"/>
                  <a:pt x="94" y="99"/>
                  <a:pt x="94" y="99"/>
                </a:cubicBezTo>
                <a:cubicBezTo>
                  <a:pt x="90" y="91"/>
                  <a:pt x="90" y="91"/>
                  <a:pt x="90" y="91"/>
                </a:cubicBezTo>
                <a:cubicBezTo>
                  <a:pt x="87" y="93"/>
                  <a:pt x="87" y="93"/>
                  <a:pt x="87" y="93"/>
                </a:cubicBezTo>
                <a:cubicBezTo>
                  <a:pt x="55" y="41"/>
                  <a:pt x="55" y="41"/>
                  <a:pt x="55" y="41"/>
                </a:cubicBezTo>
                <a:close/>
                <a:moveTo>
                  <a:pt x="0" y="108"/>
                </a:moveTo>
                <a:cubicBezTo>
                  <a:pt x="3" y="115"/>
                  <a:pt x="3" y="115"/>
                  <a:pt x="3" y="115"/>
                </a:cubicBezTo>
                <a:cubicBezTo>
                  <a:pt x="31" y="105"/>
                  <a:pt x="31" y="105"/>
                  <a:pt x="31" y="105"/>
                </a:cubicBezTo>
                <a:cubicBezTo>
                  <a:pt x="23" y="112"/>
                  <a:pt x="19" y="119"/>
                  <a:pt x="30" y="121"/>
                </a:cubicBezTo>
                <a:cubicBezTo>
                  <a:pt x="44" y="123"/>
                  <a:pt x="110" y="105"/>
                  <a:pt x="110" y="105"/>
                </a:cubicBezTo>
                <a:cubicBezTo>
                  <a:pt x="108" y="98"/>
                  <a:pt x="108" y="98"/>
                  <a:pt x="108" y="98"/>
                </a:cubicBezTo>
                <a:cubicBezTo>
                  <a:pt x="108" y="98"/>
                  <a:pt x="49" y="115"/>
                  <a:pt x="36" y="113"/>
                </a:cubicBezTo>
                <a:cubicBezTo>
                  <a:pt x="33" y="112"/>
                  <a:pt x="55" y="96"/>
                  <a:pt x="55" y="96"/>
                </a:cubicBezTo>
                <a:cubicBezTo>
                  <a:pt x="52" y="89"/>
                  <a:pt x="52" y="89"/>
                  <a:pt x="52" y="89"/>
                </a:cubicBezTo>
                <a:cubicBezTo>
                  <a:pt x="0" y="108"/>
                  <a:pt x="0" y="108"/>
                  <a:pt x="0" y="108"/>
                </a:cubicBezTo>
                <a:close/>
                <a:moveTo>
                  <a:pt x="60" y="9"/>
                </a:moveTo>
                <a:cubicBezTo>
                  <a:pt x="48" y="0"/>
                  <a:pt x="40" y="12"/>
                  <a:pt x="53" y="36"/>
                </a:cubicBezTo>
                <a:cubicBezTo>
                  <a:pt x="72" y="26"/>
                  <a:pt x="72" y="26"/>
                  <a:pt x="72" y="26"/>
                </a:cubicBezTo>
                <a:cubicBezTo>
                  <a:pt x="70" y="21"/>
                  <a:pt x="68" y="18"/>
                  <a:pt x="66" y="15"/>
                </a:cubicBezTo>
                <a:cubicBezTo>
                  <a:pt x="71" y="12"/>
                  <a:pt x="71" y="12"/>
                  <a:pt x="71" y="12"/>
                </a:cubicBezTo>
                <a:cubicBezTo>
                  <a:pt x="86" y="51"/>
                  <a:pt x="86" y="51"/>
                  <a:pt x="86" y="51"/>
                </a:cubicBezTo>
                <a:cubicBezTo>
                  <a:pt x="93" y="48"/>
                  <a:pt x="93" y="48"/>
                  <a:pt x="93" y="48"/>
                </a:cubicBezTo>
                <a:cubicBezTo>
                  <a:pt x="77" y="5"/>
                  <a:pt x="77" y="5"/>
                  <a:pt x="77" y="5"/>
                </a:cubicBezTo>
                <a:cubicBezTo>
                  <a:pt x="75" y="2"/>
                  <a:pt x="75" y="2"/>
                  <a:pt x="75" y="2"/>
                </a:cubicBezTo>
                <a:cubicBezTo>
                  <a:pt x="72" y="3"/>
                  <a:pt x="72" y="3"/>
                  <a:pt x="72" y="3"/>
                </a:cubicBezTo>
                <a:lnTo>
                  <a:pt x="60" y="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39" name="TextBox 33"/>
          <p:cNvSpPr txBox="1"/>
          <p:nvPr>
            <p:custDataLst>
              <p:tags r:id="rId14"/>
            </p:custDataLst>
          </p:nvPr>
        </p:nvSpPr>
        <p:spPr>
          <a:xfrm>
            <a:off x="5519142" y="1568465"/>
            <a:ext cx="5927461" cy="1263125"/>
          </a:xfrm>
          <a:prstGeom prst="rect">
            <a:avLst/>
          </a:prstGeom>
          <a:noFill/>
        </p:spPr>
        <p:txBody>
          <a:bodyPr wrap="square" lIns="0" tIns="0" rIns="0" bIns="0" rtlCol="0">
            <a:no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algn="l">
              <a:lnSpc>
                <a:spcPct val="12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The data source is the bridge that connects JdbcTemplate to the database. Developers need to configure a data source object and inject it into JdbcTemplate</a:t>
            </a:r>
          </a:p>
        </p:txBody>
      </p:sp>
      <p:sp>
        <p:nvSpPr>
          <p:cNvPr id="40" name="文本框 9"/>
          <p:cNvSpPr txBox="1"/>
          <p:nvPr>
            <p:custDataLst>
              <p:tags r:id="rId15"/>
            </p:custDataLst>
          </p:nvPr>
        </p:nvSpPr>
        <p:spPr>
          <a:xfrm>
            <a:off x="5519143" y="1143718"/>
            <a:ext cx="4259832" cy="18614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1 Configure the data source</a:t>
            </a:r>
          </a:p>
        </p:txBody>
      </p:sp>
      <p:sp>
        <p:nvSpPr>
          <p:cNvPr id="41" name="TextBox 33"/>
          <p:cNvSpPr txBox="1"/>
          <p:nvPr>
            <p:custDataLst>
              <p:tags r:id="rId16"/>
            </p:custDataLst>
          </p:nvPr>
        </p:nvSpPr>
        <p:spPr>
          <a:xfrm>
            <a:off x="5519142" y="3501802"/>
            <a:ext cx="5771997" cy="800064"/>
          </a:xfrm>
          <a:prstGeom prst="rect">
            <a:avLst/>
          </a:prstGeom>
          <a:noFill/>
        </p:spPr>
        <p:txBody>
          <a:bodyPr wrap="square" lIns="0" tIns="0" rIns="0" bIns="0" rtlCol="0">
            <a:no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0" algn="l">
              <a:lnSpc>
                <a:spcPct val="13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sym typeface="+mn-ea"/>
              </a:rPr>
              <a:t>Inject the data source object into JdbcTemplate via Spring's configuration file or annotations to create a JdbcTemplate object</a:t>
            </a:r>
          </a:p>
        </p:txBody>
      </p:sp>
      <p:sp>
        <p:nvSpPr>
          <p:cNvPr id="42" name="文本框 9"/>
          <p:cNvSpPr txBox="1"/>
          <p:nvPr>
            <p:custDataLst>
              <p:tags r:id="rId17"/>
            </p:custDataLst>
          </p:nvPr>
        </p:nvSpPr>
        <p:spPr>
          <a:xfrm>
            <a:off x="5541952" y="3119623"/>
            <a:ext cx="4896544" cy="2880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chemeClr val="tx1">
                    <a:lumMod val="75000"/>
                    <a:lumOff val="25000"/>
                  </a:schemeClr>
                </a:solidFill>
              </a:rPr>
              <a:t>2 Create a JdbcTemplate object</a:t>
            </a:r>
          </a:p>
        </p:txBody>
      </p:sp>
      <p:sp>
        <p:nvSpPr>
          <p:cNvPr id="43" name="TextBox 33"/>
          <p:cNvSpPr txBox="1"/>
          <p:nvPr>
            <p:custDataLst>
              <p:tags r:id="rId18"/>
            </p:custDataLst>
          </p:nvPr>
        </p:nvSpPr>
        <p:spPr>
          <a:xfrm>
            <a:off x="5542041" y="5240689"/>
            <a:ext cx="5904562" cy="903269"/>
          </a:xfrm>
          <a:prstGeom prst="rect">
            <a:avLst/>
          </a:prstGeom>
          <a:noFill/>
        </p:spPr>
        <p:txBody>
          <a:bodyPr wrap="square" lIns="0" tIns="0" rIns="0" bIns="0" rtlCol="0">
            <a:no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algn="l">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sym typeface="+mn-ea"/>
              </a:rPr>
              <a:t>Use the various methods provided by JdbcTemplate, such as update, query, etc., to perform database operations like add, delete, modify, and query</a:t>
            </a:r>
          </a:p>
        </p:txBody>
      </p:sp>
      <p:sp>
        <p:nvSpPr>
          <p:cNvPr id="44" name="文本框 9"/>
          <p:cNvSpPr txBox="1"/>
          <p:nvPr>
            <p:custDataLst>
              <p:tags r:id="rId19"/>
            </p:custDataLst>
          </p:nvPr>
        </p:nvSpPr>
        <p:spPr>
          <a:xfrm>
            <a:off x="5553382" y="4818247"/>
            <a:ext cx="5533186" cy="31759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chemeClr val="tx1">
                    <a:lumMod val="75000"/>
                    <a:lumOff val="25000"/>
                  </a:schemeClr>
                </a:solidFill>
              </a:rPr>
              <a:t>3 Perform database operations</a:t>
            </a:r>
          </a:p>
        </p:txBody>
      </p:sp>
      <p:sp>
        <p:nvSpPr>
          <p:cNvPr id="45" name="文本框 9"/>
          <p:cNvSpPr txBox="1"/>
          <p:nvPr>
            <p:custDataLst>
              <p:tags r:id="rId20"/>
            </p:custDataLst>
          </p:nvPr>
        </p:nvSpPr>
        <p:spPr>
          <a:xfrm>
            <a:off x="377936" y="2797197"/>
            <a:ext cx="2664207" cy="156738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rPr>
              <a:t>Steps for using JdbcTemplate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Using 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custDataLst>
              <p:tags r:id="rId2"/>
            </p:custDataLst>
          </p:nvPr>
        </p:nvSpPr>
        <p:spPr>
          <a:xfrm>
            <a:off x="947260" y="856251"/>
            <a:ext cx="10764569" cy="882279"/>
          </a:xfrm>
          <a:prstGeom prst="rect">
            <a:avLst/>
          </a:prstGeom>
          <a:noFill/>
          <a:ln w="9525">
            <a:noFill/>
          </a:ln>
        </p:spPr>
        <p:txBody>
          <a:bodyPr wrap="square">
            <a:noAutofit/>
          </a:bodyPr>
          <a:lstStyle/>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The following demonstrates the operation of the common add, delete, modify and query methods of JdbcTemplate through cases.</a:t>
            </a:r>
          </a:p>
        </p:txBody>
      </p:sp>
      <p:grpSp>
        <p:nvGrpSpPr>
          <p:cNvPr id="2" name="组合 1"/>
          <p:cNvGrpSpPr/>
          <p:nvPr/>
        </p:nvGrpSpPr>
        <p:grpSpPr>
          <a:xfrm>
            <a:off x="694606" y="1779533"/>
            <a:ext cx="6308412" cy="476905"/>
            <a:chOff x="852276" y="1797999"/>
            <a:chExt cx="2780020" cy="476905"/>
          </a:xfrm>
        </p:grpSpPr>
        <p:sp>
          <p:nvSpPr>
            <p:cNvPr id="3" name="矩形: 圆角 6"/>
            <p:cNvSpPr/>
            <p:nvPr>
              <p:custDataLst>
                <p:tags r:id="rId9"/>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10"/>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 Create the project and import the dependencies</a:t>
              </a:r>
            </a:p>
          </p:txBody>
        </p:sp>
      </p:grpSp>
      <p:pic>
        <p:nvPicPr>
          <p:cNvPr id="12" name="图片 11" descr="图片包含 形状  描述已自动生成"/>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4-1</a:t>
                </a:r>
              </a:p>
              <a:p>
                <a:pPr algn="ctr"/>
                <a:r>
                  <a:rPr sz="1800">
                    <a:sym typeface="+mn-ea"/>
                    <a:hlinkClick r:id="rId14"/>
                  </a:rPr>
                  <a:t>pom.xml</a:t>
                </a:r>
                <a:endParaRPr sz="1800">
                  <a:sym typeface="+mn-ea"/>
                </a:endParaRPr>
              </a:p>
            </p:txBody>
          </p:sp>
          <p:sp>
            <p:nvSpPr>
              <p:cNvPr id="17" name="圆角矩形 16"/>
              <p:cNvSpPr/>
              <p:nvPr>
                <p:custDataLst>
                  <p:tags r:id="rId7"/>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8"/>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5"/>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662438" y="5126050"/>
              <a:ext cx="914400" cy="914400"/>
            </a:xfrm>
            <a:prstGeom prst="rect">
              <a:avLst/>
            </a:prstGeom>
          </p:spPr>
        </p:pic>
      </p:grpSp>
      <p:sp>
        <p:nvSpPr>
          <p:cNvPr id="11" name="文本框 10"/>
          <p:cNvSpPr txBox="1"/>
          <p:nvPr>
            <p:custDataLst>
              <p:tags r:id="rId4"/>
            </p:custDataLst>
          </p:nvPr>
        </p:nvSpPr>
        <p:spPr>
          <a:xfrm>
            <a:off x="947260" y="2313940"/>
            <a:ext cx="10476538" cy="922020"/>
          </a:xfrm>
          <a:prstGeom prst="rect">
            <a:avLst/>
          </a:prstGeom>
          <a:noFill/>
          <a:ln w="9525">
            <a:noFill/>
          </a:ln>
        </p:spPr>
        <p:txBody>
          <a:bodyPr wrap="square">
            <a:noAutofit/>
          </a:bodyPr>
          <a:lstStyle/>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a Maven project named chapter04 in IDEA and </a:t>
            </a:r>
            <a:r>
              <a:rPr lang="zh-CN" altLang="en-US" sz="18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introduce Spring's core dependencies, database, and unit test-related dependencies in the project's pom.xml file</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as shown in file 4-1.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Use of 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694606" y="980847"/>
            <a:ext cx="10701292" cy="546735"/>
            <a:chOff x="901662" y="1797999"/>
            <a:chExt cx="2730634" cy="546735"/>
          </a:xfrm>
        </p:grpSpPr>
        <p:sp>
          <p:nvSpPr>
            <p:cNvPr id="3" name="矩形: 圆角 6"/>
            <p:cNvSpPr/>
            <p:nvPr>
              <p:custDataLst>
                <p:tags r:id="rId8"/>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901662" y="1797999"/>
              <a:ext cx="2687361"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2 Create data tables and configure the information for connecting to the database</a:t>
              </a:r>
            </a:p>
          </p:txBody>
        </p:sp>
      </p:grpSp>
      <p:pic>
        <p:nvPicPr>
          <p:cNvPr id="12" name="图片 11"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dirty="0">
                    <a:sym typeface="+mn-ea"/>
                  </a:rPr>
                  <a:t>File 4-2</a:t>
                </a:r>
              </a:p>
              <a:p>
                <a:pPr algn="ctr"/>
                <a:r>
                  <a:rPr sz="1800" dirty="0" err="1">
                    <a:sym typeface="+mn-ea"/>
                    <a:hlinkClick r:id="rId13"/>
                  </a:rPr>
                  <a:t>account.sql</a:t>
                </a:r>
                <a:endParaRPr sz="1800" dirty="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62438" y="5126050"/>
              <a:ext cx="914400" cy="914400"/>
            </a:xfrm>
            <a:prstGeom prst="rect">
              <a:avLst/>
            </a:prstGeom>
          </p:spPr>
        </p:pic>
      </p:grpSp>
      <p:sp>
        <p:nvSpPr>
          <p:cNvPr id="11" name="文本框 10"/>
          <p:cNvSpPr txBox="1"/>
          <p:nvPr>
            <p:custDataLst>
              <p:tags r:id="rId3"/>
            </p:custDataLst>
          </p:nvPr>
        </p:nvSpPr>
        <p:spPr>
          <a:xfrm>
            <a:off x="917318" y="1510117"/>
            <a:ext cx="11010536" cy="92202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When performing add, delete, modify, and query operations using JdbcTemplate, you need to specify the data table to be operated on in the corresponding SQL statement. First, create the database required for this case. The statements for creating the database and data table are shown in File 4-2.</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Use of 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589648" y="980847"/>
            <a:ext cx="10295890" cy="546735"/>
            <a:chOff x="901662" y="1797999"/>
            <a:chExt cx="2767813" cy="546735"/>
          </a:xfrm>
        </p:grpSpPr>
        <p:sp>
          <p:nvSpPr>
            <p:cNvPr id="3" name="矩形: 圆角 6"/>
            <p:cNvSpPr/>
            <p:nvPr>
              <p:custDataLst>
                <p:tags r:id="rId8"/>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901662" y="1797999"/>
              <a:ext cx="2767813"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2 Create the data table and configure the information for the connection database</a:t>
              </a:r>
            </a:p>
          </p:txBody>
        </p:sp>
      </p:grpSp>
      <p:pic>
        <p:nvPicPr>
          <p:cNvPr id="12" name="图片 11"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4-3</a:t>
                </a:r>
              </a:p>
              <a:p>
                <a:pPr algn="ctr"/>
                <a:r>
                  <a:rPr sz="1800">
                    <a:sym typeface="+mn-ea"/>
                    <a:hlinkClick r:id="rId13"/>
                  </a:rPr>
                  <a:t>application.properties</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62438" y="5126050"/>
              <a:ext cx="914400" cy="914400"/>
            </a:xfrm>
            <a:prstGeom prst="rect">
              <a:avLst/>
            </a:prstGeom>
          </p:spPr>
        </p:pic>
      </p:grpSp>
      <p:sp>
        <p:nvSpPr>
          <p:cNvPr id="11" name="文本框 10"/>
          <p:cNvSpPr txBox="1"/>
          <p:nvPr>
            <p:custDataLst>
              <p:tags r:id="rId3"/>
            </p:custDataLst>
          </p:nvPr>
        </p:nvSpPr>
        <p:spPr>
          <a:xfrm>
            <a:off x="888848" y="1486792"/>
            <a:ext cx="10462942" cy="1580131"/>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configuration file application.properties under the resources directory in chapter04, and configure the information for connecting to the database in this configuration file as shown in File 4-3.</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Use of 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262558" y="1016959"/>
            <a:ext cx="11089232" cy="546735"/>
            <a:chOff x="901662" y="1797999"/>
            <a:chExt cx="2891247" cy="546735"/>
          </a:xfrm>
        </p:grpSpPr>
        <p:sp>
          <p:nvSpPr>
            <p:cNvPr id="3" name="矩形: 圆角 6"/>
            <p:cNvSpPr/>
            <p:nvPr>
              <p:custDataLst>
                <p:tags r:id="rId8"/>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901662" y="1797999"/>
              <a:ext cx="2891247"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3 Create the Spring configuration class and configure the data source and JdbcTemplate</a:t>
              </a:r>
            </a:p>
          </p:txBody>
        </p:sp>
      </p:grpSp>
      <p:pic>
        <p:nvPicPr>
          <p:cNvPr id="12" name="图片 11"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2630091" y="3527201"/>
            <a:ext cx="2232248" cy="2232248"/>
          </a:xfrm>
          <a:prstGeom prst="rect">
            <a:avLst/>
          </a:prstGeom>
        </p:spPr>
      </p:pic>
      <p:grpSp>
        <p:nvGrpSpPr>
          <p:cNvPr id="10" name="组合 9"/>
          <p:cNvGrpSpPr/>
          <p:nvPr/>
        </p:nvGrpSpPr>
        <p:grpSpPr>
          <a:xfrm>
            <a:off x="5375126" y="3709851"/>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4-4</a:t>
                </a:r>
              </a:p>
              <a:p>
                <a:pPr algn="ctr"/>
                <a:r>
                  <a:rPr sz="1800">
                    <a:sym typeface="+mn-ea"/>
                    <a:hlinkClick r:id="rId13"/>
                  </a:rPr>
                  <a:t>DataSourceConfig.java</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62438" y="5126050"/>
              <a:ext cx="914400" cy="914400"/>
            </a:xfrm>
            <a:prstGeom prst="rect">
              <a:avLst/>
            </a:prstGeom>
          </p:spPr>
        </p:pic>
      </p:grpSp>
      <p:sp>
        <p:nvSpPr>
          <p:cNvPr id="11" name="文本框 10"/>
          <p:cNvSpPr txBox="1"/>
          <p:nvPr>
            <p:custDataLst>
              <p:tags r:id="rId3"/>
            </p:custDataLst>
          </p:nvPr>
        </p:nvSpPr>
        <p:spPr>
          <a:xfrm>
            <a:off x="478582" y="1616562"/>
            <a:ext cx="11124609" cy="1804903"/>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com.itheima.config package in the project, create the Spring configuration class in that package, and load the information in the application.properties file to configure the data source Create a JdbcTemplate object based on the data source and hand it over to Spring for management, as shown in File 4-4.</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Use of 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38622" y="1036281"/>
            <a:ext cx="4076556" cy="546735"/>
            <a:chOff x="901662" y="1797999"/>
            <a:chExt cx="1588796" cy="546735"/>
          </a:xfrm>
        </p:grpSpPr>
        <p:sp>
          <p:nvSpPr>
            <p:cNvPr id="3" name="矩形: 圆角 6"/>
            <p:cNvSpPr/>
            <p:nvPr>
              <p:custDataLst>
                <p:tags r:id="rId8"/>
              </p:custDataLst>
            </p:nvPr>
          </p:nvSpPr>
          <p:spPr>
            <a:xfrm>
              <a:off x="979212" y="1813239"/>
              <a:ext cx="1380791"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901662" y="1797999"/>
              <a:ext cx="1588796" cy="546735"/>
            </a:xfrm>
            <a:prstGeom prst="rect">
              <a:avLst/>
            </a:prstGeom>
            <a:noFill/>
          </p:spPr>
          <p:txBody>
            <a:bodyPr wrap="square" rtlCol="0">
              <a:normAutofit fontScale="97333"/>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20204" pitchFamily="34" charset="0"/>
                  <a:ea typeface="思源黑体 CN Normal" panose="020B0400000000000000" pitchFamily="34" charset="-122"/>
                  <a:sym typeface="Arial" panose="020B0604020202020204" pitchFamily="34" charset="0"/>
                </a:rPr>
                <a:t>4 Create the entity class</a:t>
              </a:r>
            </a:p>
          </p:txBody>
        </p:sp>
      </p:grpSp>
      <p:pic>
        <p:nvPicPr>
          <p:cNvPr id="12" name="图片 11"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4-5</a:t>
                </a:r>
              </a:p>
              <a:p>
                <a:pPr algn="ctr"/>
                <a:r>
                  <a:rPr sz="1800">
                    <a:sym typeface="+mn-ea"/>
                    <a:hlinkClick r:id="rId13" action="ppaction://hlinkfile"/>
                  </a:rPr>
                  <a:t>Account.java</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62438" y="5126050"/>
              <a:ext cx="914400" cy="914400"/>
            </a:xfrm>
            <a:prstGeom prst="rect">
              <a:avLst/>
            </a:prstGeom>
          </p:spPr>
        </p:pic>
      </p:grpSp>
      <p:sp>
        <p:nvSpPr>
          <p:cNvPr id="11" name="文本框 10"/>
          <p:cNvSpPr txBox="1"/>
          <p:nvPr>
            <p:custDataLst>
              <p:tags r:id="rId3"/>
            </p:custDataLst>
          </p:nvPr>
        </p:nvSpPr>
        <p:spPr>
          <a:xfrm>
            <a:off x="947261" y="1560822"/>
            <a:ext cx="10295890" cy="1434001"/>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com.itheima.pojo package in the project, create the entity class Account in that package, and define the id, username, and balance attributes in the Account class, as well as their corresponding getter/setter methods, as shown in File 4-5.</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Use of 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406573" y="877747"/>
            <a:ext cx="10168644" cy="546735"/>
            <a:chOff x="918790" y="1786877"/>
            <a:chExt cx="1883470" cy="546735"/>
          </a:xfrm>
        </p:grpSpPr>
        <p:sp>
          <p:nvSpPr>
            <p:cNvPr id="3" name="矩形: 圆角 6"/>
            <p:cNvSpPr/>
            <p:nvPr>
              <p:custDataLst>
                <p:tags r:id="rId8"/>
              </p:custDataLst>
            </p:nvPr>
          </p:nvSpPr>
          <p:spPr>
            <a:xfrm>
              <a:off x="979212" y="1813239"/>
              <a:ext cx="1793267"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918790" y="1786877"/>
              <a:ext cx="1883470"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5 Create the Dao interface and the corresponding implementation classes</a:t>
              </a:r>
            </a:p>
          </p:txBody>
        </p:sp>
      </p:grpSp>
      <p:pic>
        <p:nvPicPr>
          <p:cNvPr id="12" name="图片 11"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677343" y="4173967"/>
                <a:ext cx="370713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dirty="0">
                    <a:sym typeface="+mn-ea"/>
                  </a:rPr>
                  <a:t>File 4-6 AccountDao.java</a:t>
                </a:r>
              </a:p>
              <a:p>
                <a:pPr algn="ctr"/>
                <a:r>
                  <a:rPr sz="1800" dirty="0">
                    <a:sym typeface="+mn-ea"/>
                  </a:rPr>
                  <a:t>File 4-7 AccountDaoImpl.java</a:t>
                </a: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662438" y="5126050"/>
              <a:ext cx="914400" cy="914400"/>
            </a:xfrm>
            <a:prstGeom prst="rect">
              <a:avLst/>
            </a:prstGeom>
          </p:spPr>
        </p:pic>
      </p:grpSp>
      <p:sp>
        <p:nvSpPr>
          <p:cNvPr id="11" name="文本框 10"/>
          <p:cNvSpPr txBox="1"/>
          <p:nvPr>
            <p:custDataLst>
              <p:tags r:id="rId3"/>
            </p:custDataLst>
          </p:nvPr>
        </p:nvSpPr>
        <p:spPr>
          <a:xfrm>
            <a:off x="622598" y="1361007"/>
            <a:ext cx="10873208" cy="1982162"/>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com.itheima.dao package in the project. In this package, create the Dao interface for operating account information and the corresponding implementation classes for the interface. </a:t>
            </a:r>
            <a:r>
              <a:rPr lang="zh-CN" altLang="en-US" sz="2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The interface defines the methods for adding, deleting, modifying, and querying accounts,</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as shown in files 4-6 and 4-7.</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Use of 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10630" y="1036281"/>
            <a:ext cx="3788524" cy="546735"/>
            <a:chOff x="901662" y="1797999"/>
            <a:chExt cx="1458724" cy="546735"/>
          </a:xfrm>
        </p:grpSpPr>
        <p:sp>
          <p:nvSpPr>
            <p:cNvPr id="3" name="矩形: 圆角 6"/>
            <p:cNvSpPr/>
            <p:nvPr>
              <p:custDataLst>
                <p:tags r:id="rId8"/>
              </p:custDataLst>
            </p:nvPr>
          </p:nvSpPr>
          <p:spPr>
            <a:xfrm>
              <a:off x="979212" y="1813239"/>
              <a:ext cx="1380791"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901662" y="1797999"/>
              <a:ext cx="1458724" cy="546735"/>
            </a:xfrm>
            <a:prstGeom prst="rect">
              <a:avLst/>
            </a:prstGeom>
            <a:noFill/>
          </p:spPr>
          <p:txBody>
            <a:bodyPr wrap="square" rtlCol="0">
              <a:normAutofit fontScale="93018"/>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6 Create the test class</a:t>
              </a:r>
            </a:p>
          </p:txBody>
        </p:sp>
      </p:grpSp>
      <p:pic>
        <p:nvPicPr>
          <p:cNvPr id="12" name="图片 11"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2440433" y="3280709"/>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677343" y="4173967"/>
                <a:ext cx="370713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4-8</a:t>
                </a:r>
              </a:p>
              <a:p>
                <a:pPr algn="ctr"/>
                <a:r>
                  <a:rPr sz="1800">
                    <a:sym typeface="+mn-ea"/>
                    <a:hlinkClick r:id="rId13"/>
                  </a:rPr>
                  <a:t>JDBCTest.java</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62438" y="5126050"/>
              <a:ext cx="914400" cy="914400"/>
            </a:xfrm>
            <a:prstGeom prst="rect">
              <a:avLst/>
            </a:prstGeom>
          </p:spPr>
        </p:pic>
      </p:grpSp>
      <p:sp>
        <p:nvSpPr>
          <p:cNvPr id="11" name="文本框 10"/>
          <p:cNvSpPr txBox="1"/>
          <p:nvPr>
            <p:custDataLst>
              <p:tags r:id="rId3"/>
            </p:custDataLst>
          </p:nvPr>
        </p:nvSpPr>
        <p:spPr>
          <a:xfrm>
            <a:off x="1112039" y="1610345"/>
            <a:ext cx="10295890" cy="92202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test class JDBCTest in the test\java directory of the project, and inject the AccountDao object into the test class as shown in File 4-8.</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Use of 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735415" y="1057908"/>
            <a:ext cx="5359791" cy="546735"/>
            <a:chOff x="979212" y="1770693"/>
            <a:chExt cx="1863626" cy="546735"/>
          </a:xfrm>
        </p:grpSpPr>
        <p:sp>
          <p:nvSpPr>
            <p:cNvPr id="3" name="矩形: 圆角 6"/>
            <p:cNvSpPr/>
            <p:nvPr>
              <p:custDataLst>
                <p:tags r:id="rId8"/>
              </p:custDataLst>
            </p:nvPr>
          </p:nvSpPr>
          <p:spPr>
            <a:xfrm>
              <a:off x="979212" y="1813239"/>
              <a:ext cx="1863626"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979212" y="1770693"/>
              <a:ext cx="1694760"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7 Define the test method and test the effect</a:t>
              </a:r>
            </a:p>
          </p:txBody>
        </p:sp>
      </p:grpSp>
      <p:sp>
        <p:nvSpPr>
          <p:cNvPr id="11" name="文本框 10"/>
          <p:cNvSpPr txBox="1"/>
          <p:nvPr>
            <p:custDataLst>
              <p:tags r:id="rId2"/>
            </p:custDataLst>
          </p:nvPr>
        </p:nvSpPr>
        <p:spPr>
          <a:xfrm>
            <a:off x="622598" y="1640330"/>
            <a:ext cx="11233248" cy="1502814"/>
          </a:xfrm>
          <a:prstGeom prst="rect">
            <a:avLst/>
          </a:prstGeom>
          <a:noFill/>
          <a:ln w="9525">
            <a:noFill/>
          </a:ln>
        </p:spPr>
        <p:txBody>
          <a:bodyPr wrap="square">
            <a:noAutofit/>
          </a:bodyPr>
          <a:lstStyle/>
          <a:p>
            <a:pPr algn="l">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(1) Methods for adding individual information and querying</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Define test methods in the JdbcTemplate class to add individual account information and query account information based on account id as follows.</a:t>
            </a:r>
          </a:p>
        </p:txBody>
      </p:sp>
      <p:pic>
        <p:nvPicPr>
          <p:cNvPr id="6" name="图片 5" descr="图片包含 形状  描述已自动生成"/>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7" name="组合 6"/>
          <p:cNvGrpSpPr/>
          <p:nvPr/>
        </p:nvGrpSpPr>
        <p:grpSpPr>
          <a:xfrm>
            <a:off x="5388978" y="3373232"/>
            <a:ext cx="4098250" cy="2542123"/>
            <a:chOff x="5478588" y="3498327"/>
            <a:chExt cx="4098250" cy="2542123"/>
          </a:xfrm>
        </p:grpSpPr>
        <p:grpSp>
          <p:nvGrpSpPr>
            <p:cNvPr id="9" name="组合 8"/>
            <p:cNvGrpSpPr/>
            <p:nvPr/>
          </p:nvGrpSpPr>
          <p:grpSpPr>
            <a:xfrm>
              <a:off x="5478588" y="3498327"/>
              <a:ext cx="4073003" cy="2163715"/>
              <a:chOff x="5478588" y="3498327"/>
              <a:chExt cx="4073003" cy="2163715"/>
            </a:xfrm>
          </p:grpSpPr>
          <p:sp>
            <p:nvSpPr>
              <p:cNvPr id="13" name="文本框 12"/>
              <p:cNvSpPr txBox="1"/>
              <p:nvPr>
                <p:custDataLst>
                  <p:tags r:id="rId5"/>
                </p:custDataLst>
              </p:nvPr>
            </p:nvSpPr>
            <p:spPr>
              <a:xfrm>
                <a:off x="5677343" y="4389232"/>
                <a:ext cx="370713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hlinkClick r:id="rId13"/>
                  </a:rPr>
                  <a:t>testAddAccount()</a:t>
                </a:r>
                <a:endParaRPr sz="1800">
                  <a:sym typeface="+mn-ea"/>
                </a:endParaRPr>
              </a:p>
            </p:txBody>
          </p:sp>
          <p:sp>
            <p:nvSpPr>
              <p:cNvPr id="19" name="圆角矩形 18"/>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21" name="图形 14" descr="触控屏 纯色填充"/>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Use of 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6164788" cy="546735"/>
            <a:chOff x="901662" y="1797999"/>
            <a:chExt cx="1458724" cy="546735"/>
          </a:xfrm>
        </p:grpSpPr>
        <p:sp>
          <p:nvSpPr>
            <p:cNvPr id="3" name="矩形: 圆角 6"/>
            <p:cNvSpPr/>
            <p:nvPr>
              <p:custDataLst>
                <p:tags r:id="rId4"/>
              </p:custDataLst>
            </p:nvPr>
          </p:nvSpPr>
          <p:spPr>
            <a:xfrm>
              <a:off x="979212" y="1813239"/>
              <a:ext cx="1380791"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5"/>
              </p:custDataLst>
            </p:nvPr>
          </p:nvSpPr>
          <p:spPr>
            <a:xfrm>
              <a:off x="901662" y="1797999"/>
              <a:ext cx="1458724"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7. Define the test method and test the results</a:t>
              </a:r>
            </a:p>
          </p:txBody>
        </p:sp>
      </p:grpSp>
      <p:sp>
        <p:nvSpPr>
          <p:cNvPr id="11" name="文本框 10"/>
          <p:cNvSpPr txBox="1"/>
          <p:nvPr>
            <p:custDataLst>
              <p:tags r:id="rId2"/>
            </p:custDataLst>
          </p:nvPr>
        </p:nvSpPr>
        <p:spPr>
          <a:xfrm>
            <a:off x="993775" y="1955165"/>
            <a:ext cx="10295890" cy="506730"/>
          </a:xfrm>
          <a:prstGeom prst="rect">
            <a:avLst/>
          </a:prstGeom>
          <a:noFill/>
          <a:ln w="9525">
            <a:noFill/>
          </a:ln>
        </p:spPr>
        <p:txBody>
          <a:bodyPr wrap="square">
            <a:normAutofit fontScale="97665"/>
          </a:bodyPr>
          <a:lstStyle/>
          <a:p>
            <a:pPr>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rPr>
              <a:t>Run the testAddAccount() method as shown in the following figure.</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18"/>
          <p:cNvPicPr>
            <a:picLocks noChangeAspect="1"/>
          </p:cNvPicPr>
          <p:nvPr>
            <p:custDataLst>
              <p:tags r:id="rId3"/>
            </p:custDataLst>
          </p:nvPr>
        </p:nvPicPr>
        <p:blipFill>
          <a:blip r:embed="rId8"/>
          <a:stretch>
            <a:fillRect/>
          </a:stretch>
        </p:blipFill>
        <p:spPr>
          <a:xfrm>
            <a:off x="1126173" y="2895918"/>
            <a:ext cx="10437876" cy="21492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Use of 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38622" y="1294368"/>
            <a:ext cx="7634298" cy="546735"/>
            <a:chOff x="901662" y="1797999"/>
            <a:chExt cx="1458724" cy="546735"/>
          </a:xfrm>
        </p:grpSpPr>
        <p:sp>
          <p:nvSpPr>
            <p:cNvPr id="3" name="矩形: 圆角 6"/>
            <p:cNvSpPr/>
            <p:nvPr>
              <p:custDataLst>
                <p:tags r:id="rId8"/>
              </p:custDataLst>
            </p:nvPr>
          </p:nvSpPr>
          <p:spPr>
            <a:xfrm>
              <a:off x="979212" y="1813239"/>
              <a:ext cx="1380791"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901662" y="1797999"/>
              <a:ext cx="1458724"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2400" dirty="0">
                  <a:latin typeface="Arial" panose="020B0604020202020204" pitchFamily="34" charset="0"/>
                  <a:ea typeface="思源黑体 CN Normal" panose="020B0400000000000000" pitchFamily="34" charset="-122"/>
                  <a:sym typeface="Arial" panose="020B0604020202020204" pitchFamily="34" charset="0"/>
                </a:rPr>
                <a:t>7 Define the test method and test the results</a:t>
              </a:r>
            </a:p>
          </p:txBody>
        </p:sp>
      </p:grpSp>
      <p:sp>
        <p:nvSpPr>
          <p:cNvPr id="11" name="文本框 10"/>
          <p:cNvSpPr txBox="1"/>
          <p:nvPr>
            <p:custDataLst>
              <p:tags r:id="rId2"/>
            </p:custDataLst>
          </p:nvPr>
        </p:nvSpPr>
        <p:spPr>
          <a:xfrm>
            <a:off x="1020312" y="1856343"/>
            <a:ext cx="10295890" cy="1887086"/>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 Batch Add and Query methods</a:t>
            </a: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Define in the JdbcTemplate class test methods for encapsulating query results into maps and lists, as well as test methods for batch adding account information, as shown below.</a:t>
            </a:r>
          </a:p>
        </p:txBody>
      </p:sp>
      <p:pic>
        <p:nvPicPr>
          <p:cNvPr id="6" name="图片 5" descr="图片包含 形状  描述已自动生成"/>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2623337" y="3743429"/>
            <a:ext cx="2232248" cy="2232248"/>
          </a:xfrm>
          <a:prstGeom prst="rect">
            <a:avLst/>
          </a:prstGeom>
        </p:spPr>
      </p:pic>
      <p:grpSp>
        <p:nvGrpSpPr>
          <p:cNvPr id="7" name="组合 6"/>
          <p:cNvGrpSpPr/>
          <p:nvPr/>
        </p:nvGrpSpPr>
        <p:grpSpPr>
          <a:xfrm>
            <a:off x="5879182" y="3861842"/>
            <a:ext cx="4098250" cy="2542123"/>
            <a:chOff x="5478588" y="3498327"/>
            <a:chExt cx="4098250" cy="2542123"/>
          </a:xfrm>
        </p:grpSpPr>
        <p:grpSp>
          <p:nvGrpSpPr>
            <p:cNvPr id="9" name="组合 8"/>
            <p:cNvGrpSpPr/>
            <p:nvPr/>
          </p:nvGrpSpPr>
          <p:grpSpPr>
            <a:xfrm>
              <a:off x="5478588" y="3498327"/>
              <a:ext cx="4073003" cy="2163715"/>
              <a:chOff x="5478588" y="3498327"/>
              <a:chExt cx="4073003" cy="2163715"/>
            </a:xfrm>
          </p:grpSpPr>
          <p:sp>
            <p:nvSpPr>
              <p:cNvPr id="13" name="文本框 12"/>
              <p:cNvSpPr txBox="1"/>
              <p:nvPr>
                <p:custDataLst>
                  <p:tags r:id="rId5"/>
                </p:custDataLst>
              </p:nvPr>
            </p:nvSpPr>
            <p:spPr>
              <a:xfrm>
                <a:off x="5677343" y="4389232"/>
                <a:ext cx="3707130" cy="506730"/>
              </a:xfrm>
              <a:prstGeom prst="rect">
                <a:avLst/>
              </a:prstGeom>
              <a:noFill/>
            </p:spPr>
            <p:txBody>
              <a:bodyPr wrap="square" rtlCol="0">
                <a:normAutofit fontScale="96649"/>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hlinkClick r:id="rId13"/>
                  </a:rPr>
                  <a:t>Batch add and query methods</a:t>
                </a:r>
                <a:endParaRPr sz="1800">
                  <a:sym typeface="+mn-ea"/>
                </a:endParaRPr>
              </a:p>
            </p:txBody>
          </p:sp>
          <p:sp>
            <p:nvSpPr>
              <p:cNvPr id="19" name="圆角矩形 18"/>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21" name="图形 14" descr="触控屏 纯色填充"/>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Use of 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87660" y="1227345"/>
            <a:ext cx="7244908" cy="557958"/>
            <a:chOff x="937528" y="1716926"/>
            <a:chExt cx="1458724" cy="557958"/>
          </a:xfrm>
        </p:grpSpPr>
        <p:sp>
          <p:nvSpPr>
            <p:cNvPr id="3" name="矩形: 圆角 6"/>
            <p:cNvSpPr/>
            <p:nvPr>
              <p:custDataLst>
                <p:tags r:id="rId4"/>
              </p:custDataLst>
            </p:nvPr>
          </p:nvSpPr>
          <p:spPr>
            <a:xfrm>
              <a:off x="979212" y="1813239"/>
              <a:ext cx="1380791"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5"/>
              </p:custDataLst>
            </p:nvPr>
          </p:nvSpPr>
          <p:spPr>
            <a:xfrm>
              <a:off x="937528" y="1716926"/>
              <a:ext cx="1458724"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pPr>
                <a:lnSpc>
                  <a:spcPct val="155000"/>
                </a:lnSpc>
              </a:pPr>
              <a:r>
                <a:rPr sz="2400" dirty="0">
                  <a:latin typeface="Arial" panose="020B0604020202020204" pitchFamily="34" charset="0"/>
                  <a:ea typeface="思源黑体 CN Normal" panose="020B0400000000000000" pitchFamily="34" charset="-122"/>
                  <a:sym typeface="Arial" panose="020B0604020202020204" pitchFamily="34" charset="0"/>
                </a:rPr>
                <a:t>7. Define the test method and test the results</a:t>
              </a:r>
            </a:p>
          </p:txBody>
        </p:sp>
      </p:grpSp>
      <p:sp>
        <p:nvSpPr>
          <p:cNvPr id="11" name="文本框 10"/>
          <p:cNvSpPr txBox="1"/>
          <p:nvPr>
            <p:custDataLst>
              <p:tags r:id="rId2"/>
            </p:custDataLst>
          </p:nvPr>
        </p:nvSpPr>
        <p:spPr>
          <a:xfrm>
            <a:off x="993775" y="1955165"/>
            <a:ext cx="10295890" cy="506730"/>
          </a:xfrm>
          <a:prstGeom prst="rect">
            <a:avLst/>
          </a:prstGeom>
          <a:noFill/>
          <a:ln w="9525">
            <a:noFill/>
          </a:ln>
        </p:spPr>
        <p:txBody>
          <a:bodyPr wrap="square">
            <a:spAutoFit/>
          </a:bodyPr>
          <a:lstStyle/>
          <a:p>
            <a:pPr>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rPr>
              <a:t>Run the testQueryAccountForMap() method as shown in the following figure.</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2147482604"/>
          <p:cNvPicPr>
            <a:picLocks noChangeAspect="1"/>
          </p:cNvPicPr>
          <p:nvPr>
            <p:custDataLst>
              <p:tags r:id="rId3"/>
            </p:custDataLst>
          </p:nvPr>
        </p:nvPicPr>
        <p:blipFill>
          <a:blip r:embed="rId8"/>
          <a:stretch>
            <a:fillRect/>
          </a:stretch>
        </p:blipFill>
        <p:spPr>
          <a:xfrm>
            <a:off x="1103313" y="2997518"/>
            <a:ext cx="10528360" cy="21312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Use of 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6576695" cy="546735"/>
            <a:chOff x="901662" y="1797999"/>
            <a:chExt cx="1458724" cy="546735"/>
          </a:xfrm>
        </p:grpSpPr>
        <p:sp>
          <p:nvSpPr>
            <p:cNvPr id="3" name="矩形: 圆角 6"/>
            <p:cNvSpPr/>
            <p:nvPr>
              <p:custDataLst>
                <p:tags r:id="rId4"/>
              </p:custDataLst>
            </p:nvPr>
          </p:nvSpPr>
          <p:spPr>
            <a:xfrm>
              <a:off x="979212" y="1813239"/>
              <a:ext cx="1380791"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5"/>
              </p:custDataLst>
            </p:nvPr>
          </p:nvSpPr>
          <p:spPr>
            <a:xfrm>
              <a:off x="901662" y="1797999"/>
              <a:ext cx="1458724" cy="546735"/>
            </a:xfrm>
            <a:prstGeom prst="rect">
              <a:avLst/>
            </a:prstGeom>
            <a:noFill/>
          </p:spPr>
          <p:txBody>
            <a:bodyPr wrap="square" rtlCol="0">
              <a:normAutofit fontScale="97680"/>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7. Define the test method and test the results</a:t>
              </a:r>
            </a:p>
          </p:txBody>
        </p:sp>
      </p:grpSp>
      <p:sp>
        <p:nvSpPr>
          <p:cNvPr id="11" name="文本框 10"/>
          <p:cNvSpPr txBox="1"/>
          <p:nvPr>
            <p:custDataLst>
              <p:tags r:id="rId2"/>
            </p:custDataLst>
          </p:nvPr>
        </p:nvSpPr>
        <p:spPr>
          <a:xfrm>
            <a:off x="993775" y="1955165"/>
            <a:ext cx="10295890" cy="506730"/>
          </a:xfrm>
          <a:prstGeom prst="rect">
            <a:avLst/>
          </a:prstGeom>
          <a:noFill/>
          <a:ln w="9525">
            <a:noFill/>
          </a:ln>
        </p:spPr>
        <p:txBody>
          <a:bodyPr wrap="square">
            <a:spAutoFit/>
          </a:bodyPr>
          <a:lstStyle/>
          <a:p>
            <a:pPr>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rPr>
              <a:t>Run the testAddAccountList() method as shown in the following figure.</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2147482600"/>
          <p:cNvPicPr>
            <a:picLocks noChangeAspect="1"/>
          </p:cNvPicPr>
          <p:nvPr>
            <p:custDataLst>
              <p:tags r:id="rId3"/>
            </p:custDataLst>
          </p:nvPr>
        </p:nvPicPr>
        <p:blipFill>
          <a:blip r:embed="rId8"/>
          <a:stretch>
            <a:fillRect/>
          </a:stretch>
        </p:blipFill>
        <p:spPr>
          <a:xfrm>
            <a:off x="1103630" y="2853373"/>
            <a:ext cx="9299642" cy="24408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Use of 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8036996" cy="546735"/>
            <a:chOff x="901662" y="1797999"/>
            <a:chExt cx="1574992" cy="546735"/>
          </a:xfrm>
        </p:grpSpPr>
        <p:sp>
          <p:nvSpPr>
            <p:cNvPr id="3" name="矩形: 圆角 6"/>
            <p:cNvSpPr/>
            <p:nvPr>
              <p:custDataLst>
                <p:tags r:id="rId8"/>
              </p:custDataLst>
            </p:nvPr>
          </p:nvSpPr>
          <p:spPr>
            <a:xfrm>
              <a:off x="979212" y="1813239"/>
              <a:ext cx="1380791"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901662" y="1797999"/>
              <a:ext cx="1574992" cy="546735"/>
            </a:xfrm>
            <a:prstGeom prst="rect">
              <a:avLst/>
            </a:prstGeom>
            <a:noFill/>
          </p:spPr>
          <p:txBody>
            <a:bodyPr wrap="square" rtlCol="0">
              <a:normAutofit fontScale="99370"/>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2400" dirty="0">
                  <a:latin typeface="Arial" panose="020B0604020202020204" pitchFamily="34" charset="0"/>
                  <a:ea typeface="思源黑体 CN Normal" panose="020B0400000000000000" pitchFamily="34" charset="-122"/>
                  <a:sym typeface="Arial" panose="020B0604020202020204" pitchFamily="34" charset="0"/>
                </a:rPr>
                <a:t>7 Define the test method and test the effect</a:t>
              </a:r>
            </a:p>
          </p:txBody>
        </p:sp>
      </p:grpSp>
      <p:sp>
        <p:nvSpPr>
          <p:cNvPr id="11" name="文本框 10"/>
          <p:cNvSpPr txBox="1"/>
          <p:nvPr>
            <p:custDataLst>
              <p:tags r:id="rId2"/>
            </p:custDataLst>
          </p:nvPr>
        </p:nvSpPr>
        <p:spPr>
          <a:xfrm>
            <a:off x="694606" y="1955165"/>
            <a:ext cx="11017223" cy="922020"/>
          </a:xfrm>
          <a:prstGeom prst="rect">
            <a:avLst/>
          </a:prstGeom>
          <a:noFill/>
          <a:ln w="9525">
            <a:noFill/>
          </a:ln>
        </p:spPr>
        <p:txBody>
          <a:bodyPr wrap="square">
            <a:noAutofit/>
          </a:bodyPr>
          <a:lstStyle/>
          <a:p>
            <a:pPr>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(3) Modify and delete methods</a:t>
            </a:r>
          </a:p>
          <a:p>
            <a:pPr>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 the JdbcTemplate class, define the test methods for modifying and deleting account information as follows.</a:t>
            </a:r>
          </a:p>
        </p:txBody>
      </p:sp>
      <p:pic>
        <p:nvPicPr>
          <p:cNvPr id="6" name="图片 5" descr="图片包含 形状  描述已自动生成"/>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7" name="组合 6"/>
          <p:cNvGrpSpPr/>
          <p:nvPr/>
        </p:nvGrpSpPr>
        <p:grpSpPr>
          <a:xfrm>
            <a:off x="5388978" y="3373232"/>
            <a:ext cx="4098250" cy="2542123"/>
            <a:chOff x="5478588" y="3498327"/>
            <a:chExt cx="4098250" cy="2542123"/>
          </a:xfrm>
        </p:grpSpPr>
        <p:grpSp>
          <p:nvGrpSpPr>
            <p:cNvPr id="9" name="组合 8"/>
            <p:cNvGrpSpPr/>
            <p:nvPr/>
          </p:nvGrpSpPr>
          <p:grpSpPr>
            <a:xfrm>
              <a:off x="5478588" y="3498327"/>
              <a:ext cx="4073003" cy="2163715"/>
              <a:chOff x="5478588" y="3498327"/>
              <a:chExt cx="4073003" cy="2163715"/>
            </a:xfrm>
          </p:grpSpPr>
          <p:sp>
            <p:nvSpPr>
              <p:cNvPr id="13" name="文本框 12"/>
              <p:cNvSpPr txBox="1"/>
              <p:nvPr>
                <p:custDataLst>
                  <p:tags r:id="rId5"/>
                </p:custDataLst>
              </p:nvPr>
            </p:nvSpPr>
            <p:spPr>
              <a:xfrm>
                <a:off x="5677343" y="4389232"/>
                <a:ext cx="3707130" cy="506730"/>
              </a:xfrm>
              <a:prstGeom prst="rect">
                <a:avLst/>
              </a:prstGeom>
              <a:noFill/>
            </p:spPr>
            <p:txBody>
              <a:bodyPr wrap="square" rtlCol="0">
                <a:normAutofit fontScale="97333"/>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hlinkClick r:id="rId13"/>
                  </a:rPr>
                  <a:t>Modify and remove methods</a:t>
                </a:r>
                <a:endParaRPr sz="1800">
                  <a:sym typeface="+mn-ea"/>
                </a:endParaRPr>
              </a:p>
            </p:txBody>
          </p:sp>
          <p:sp>
            <p:nvSpPr>
              <p:cNvPr id="19" name="圆角矩形 18"/>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21" name="图形 14" descr="触控屏 纯色填充"/>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Use of 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7460932" cy="546735"/>
            <a:chOff x="901662" y="1797999"/>
            <a:chExt cx="1458724" cy="546735"/>
          </a:xfrm>
        </p:grpSpPr>
        <p:sp>
          <p:nvSpPr>
            <p:cNvPr id="3" name="矩形: 圆角 6"/>
            <p:cNvSpPr/>
            <p:nvPr>
              <p:custDataLst>
                <p:tags r:id="rId4"/>
              </p:custDataLst>
            </p:nvPr>
          </p:nvSpPr>
          <p:spPr>
            <a:xfrm>
              <a:off x="979212" y="1813239"/>
              <a:ext cx="1380791"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5"/>
              </p:custDataLst>
            </p:nvPr>
          </p:nvSpPr>
          <p:spPr>
            <a:xfrm>
              <a:off x="901662" y="1797999"/>
              <a:ext cx="1458724" cy="546735"/>
            </a:xfrm>
            <a:prstGeom prst="rect">
              <a:avLst/>
            </a:prstGeom>
            <a:noFill/>
          </p:spPr>
          <p:txBody>
            <a:bodyPr wrap="square" rtlCol="0">
              <a:normAutofit fontScale="97680" lnSpcReduction="10000"/>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pPr>
                <a:lnSpc>
                  <a:spcPct val="155000"/>
                </a:lnSpc>
              </a:pPr>
              <a:r>
                <a:rPr sz="2400" dirty="0">
                  <a:latin typeface="Arial" panose="020B0604020202020204" pitchFamily="34" charset="0"/>
                  <a:ea typeface="思源黑体 CN Normal" panose="020B0400000000000000" pitchFamily="34" charset="-122"/>
                  <a:sym typeface="Arial" panose="020B0604020202020204" pitchFamily="34" charset="0"/>
                </a:rPr>
                <a:t>7. Define the test method and test the result</a:t>
              </a:r>
            </a:p>
          </p:txBody>
        </p:sp>
      </p:grpSp>
      <p:sp>
        <p:nvSpPr>
          <p:cNvPr id="11" name="文本框 10"/>
          <p:cNvSpPr txBox="1"/>
          <p:nvPr>
            <p:custDataLst>
              <p:tags r:id="rId2"/>
            </p:custDataLst>
          </p:nvPr>
        </p:nvSpPr>
        <p:spPr>
          <a:xfrm>
            <a:off x="993775" y="1955165"/>
            <a:ext cx="10295890" cy="506730"/>
          </a:xfrm>
          <a:prstGeom prst="rect">
            <a:avLst/>
          </a:prstGeom>
          <a:noFill/>
          <a:ln w="9525">
            <a:noFill/>
          </a:ln>
        </p:spPr>
        <p:txBody>
          <a:bodyPr wrap="square">
            <a:normAutofit fontScale="98473"/>
          </a:bodyPr>
          <a:lstStyle/>
          <a:p>
            <a:pPr>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rPr>
              <a:t>Run the testEditAccount() method as shown in the following figure.</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2147482598"/>
          <p:cNvPicPr>
            <a:picLocks noChangeAspect="1"/>
          </p:cNvPicPr>
          <p:nvPr>
            <p:custDataLst>
              <p:tags r:id="rId3"/>
            </p:custDataLst>
          </p:nvPr>
        </p:nvPicPr>
        <p:blipFill>
          <a:blip r:embed="rId8"/>
          <a:stretch>
            <a:fillRect/>
          </a:stretch>
        </p:blipFill>
        <p:spPr>
          <a:xfrm>
            <a:off x="1126173" y="2781300"/>
            <a:ext cx="9318044" cy="24300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Use of 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93773" y="1212361"/>
            <a:ext cx="8613060" cy="585959"/>
            <a:chOff x="911018" y="1688925"/>
            <a:chExt cx="1458724" cy="585959"/>
          </a:xfrm>
        </p:grpSpPr>
        <p:sp>
          <p:nvSpPr>
            <p:cNvPr id="3" name="矩形: 圆角 6"/>
            <p:cNvSpPr/>
            <p:nvPr>
              <p:custDataLst>
                <p:tags r:id="rId4"/>
              </p:custDataLst>
            </p:nvPr>
          </p:nvSpPr>
          <p:spPr>
            <a:xfrm>
              <a:off x="979212" y="1813239"/>
              <a:ext cx="1380791"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5"/>
              </p:custDataLst>
            </p:nvPr>
          </p:nvSpPr>
          <p:spPr>
            <a:xfrm>
              <a:off x="911018" y="1688925"/>
              <a:ext cx="1458724"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pPr>
                <a:lnSpc>
                  <a:spcPct val="165000"/>
                </a:lnSpc>
              </a:pPr>
              <a:r>
                <a:rPr sz="2300" dirty="0">
                  <a:latin typeface="Arial" panose="020B0604020202020204" pitchFamily="34" charset="0"/>
                  <a:ea typeface="思源黑体 CN Normal" panose="020B0400000000000000" pitchFamily="34" charset="-122"/>
                  <a:sym typeface="Arial" panose="020B0604020202020204" pitchFamily="34" charset="0"/>
                </a:rPr>
                <a:t>7. Define the test method and test the results</a:t>
              </a:r>
            </a:p>
          </p:txBody>
        </p:sp>
      </p:grpSp>
      <p:sp>
        <p:nvSpPr>
          <p:cNvPr id="11" name="文本框 10"/>
          <p:cNvSpPr txBox="1"/>
          <p:nvPr>
            <p:custDataLst>
              <p:tags r:id="rId2"/>
            </p:custDataLst>
          </p:nvPr>
        </p:nvSpPr>
        <p:spPr>
          <a:xfrm>
            <a:off x="993775" y="1955165"/>
            <a:ext cx="10295890" cy="506730"/>
          </a:xfrm>
          <a:prstGeom prst="rect">
            <a:avLst/>
          </a:prstGeom>
          <a:noFill/>
          <a:ln w="9525">
            <a:noFill/>
          </a:ln>
        </p:spPr>
        <p:txBody>
          <a:bodyPr wrap="square">
            <a:normAutofit fontScale="97665"/>
          </a:bodyPr>
          <a:lstStyle/>
          <a:p>
            <a:pPr>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rPr>
              <a:t>Run the testDelAccount() method as shown in the following figure.</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2147482596"/>
          <p:cNvPicPr>
            <a:picLocks noChangeAspect="1"/>
          </p:cNvPicPr>
          <p:nvPr>
            <p:custDataLst>
              <p:tags r:id="rId3"/>
            </p:custDataLst>
          </p:nvPr>
        </p:nvPicPr>
        <p:blipFill>
          <a:blip r:embed="rId8"/>
          <a:stretch>
            <a:fillRect/>
          </a:stretch>
        </p:blipFill>
        <p:spPr>
          <a:xfrm>
            <a:off x="1103313" y="2819400"/>
            <a:ext cx="9766527" cy="23004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11CDC-21D7-FE76-0B8D-CA58CB86616B}"/>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434FAB1A-B67E-8302-7383-FEAEFF01B885}"/>
              </a:ext>
            </a:extLst>
          </p:cNvPr>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3</a:t>
            </a:r>
            <a:r>
              <a:rPr sz="2400" b="1" dirty="0">
                <a:solidFill>
                  <a:srgbClr val="595959"/>
                </a:solidFill>
                <a:latin typeface="微软雅黑" panose="020B0503020204020204" pitchFamily="34" charset="-122"/>
                <a:ea typeface="微软雅黑" panose="020B0503020204020204" pitchFamily="34" charset="-122"/>
                <a:cs typeface="+mn-ea"/>
                <a:sym typeface="+mn-lt"/>
              </a:rPr>
              <a:t> </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Basic Usage of JUnit</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a:extLst>
              <a:ext uri="{FF2B5EF4-FFF2-40B4-BE49-F238E27FC236}">
                <a16:creationId xmlns:a16="http://schemas.microsoft.com/office/drawing/2014/main" id="{BF9DB7CB-06F5-9A8C-FB75-6E819C7345F9}"/>
              </a:ext>
            </a:extLst>
          </p:cNvPr>
          <p:cNvGrpSpPr/>
          <p:nvPr/>
        </p:nvGrpSpPr>
        <p:grpSpPr>
          <a:xfrm>
            <a:off x="406574" y="909514"/>
            <a:ext cx="3096344" cy="585959"/>
            <a:chOff x="911018" y="1688925"/>
            <a:chExt cx="1458724" cy="585959"/>
          </a:xfrm>
        </p:grpSpPr>
        <p:sp>
          <p:nvSpPr>
            <p:cNvPr id="3" name="矩形: 圆角 6">
              <a:extLst>
                <a:ext uri="{FF2B5EF4-FFF2-40B4-BE49-F238E27FC236}">
                  <a16:creationId xmlns:a16="http://schemas.microsoft.com/office/drawing/2014/main" id="{FEAFC097-1F90-9EB7-62DD-18EFE8FF65DA}"/>
                </a:ext>
              </a:extLst>
            </p:cNvPr>
            <p:cNvSpPr/>
            <p:nvPr>
              <p:custDataLst>
                <p:tags r:id="rId2"/>
              </p:custDataLst>
            </p:nvPr>
          </p:nvSpPr>
          <p:spPr>
            <a:xfrm>
              <a:off x="979212" y="1813239"/>
              <a:ext cx="1380791"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a:extLst>
                <a:ext uri="{FF2B5EF4-FFF2-40B4-BE49-F238E27FC236}">
                  <a16:creationId xmlns:a16="http://schemas.microsoft.com/office/drawing/2014/main" id="{32DB9853-6200-8DF7-56B2-8DD3E073C471}"/>
                </a:ext>
              </a:extLst>
            </p:cNvPr>
            <p:cNvSpPr txBox="1"/>
            <p:nvPr>
              <p:custDataLst>
                <p:tags r:id="rId3"/>
              </p:custDataLst>
            </p:nvPr>
          </p:nvSpPr>
          <p:spPr>
            <a:xfrm>
              <a:off x="911018" y="1688925"/>
              <a:ext cx="1458724"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pPr>
                <a:lnSpc>
                  <a:spcPct val="165000"/>
                </a:lnSpc>
              </a:pPr>
              <a:r>
                <a:rPr lang="en-US" sz="2300" dirty="0">
                  <a:latin typeface="Arial" panose="020B0604020202020204" pitchFamily="34" charset="0"/>
                  <a:ea typeface="思源黑体 CN Normal" panose="020B0400000000000000" pitchFamily="34" charset="-122"/>
                  <a:sym typeface="Arial" panose="020B0604020202020204" pitchFamily="34" charset="0"/>
                </a:rPr>
                <a:t>JUNIT</a:t>
              </a:r>
              <a:endParaRPr sz="23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6" name="文本框 5">
            <a:extLst>
              <a:ext uri="{FF2B5EF4-FFF2-40B4-BE49-F238E27FC236}">
                <a16:creationId xmlns:a16="http://schemas.microsoft.com/office/drawing/2014/main" id="{ACF67BDB-3637-3276-52A3-2C47F27D46E6}"/>
              </a:ext>
            </a:extLst>
          </p:cNvPr>
          <p:cNvSpPr txBox="1"/>
          <p:nvPr/>
        </p:nvSpPr>
        <p:spPr>
          <a:xfrm>
            <a:off x="622598" y="1606926"/>
            <a:ext cx="10657184" cy="4708981"/>
          </a:xfrm>
          <a:prstGeom prst="rect">
            <a:avLst/>
          </a:prstGeom>
          <a:noFill/>
        </p:spPr>
        <p:txBody>
          <a:bodyPr wrap="square" rtlCol="0">
            <a:spAutoFit/>
          </a:bodyPr>
          <a:lstStyle/>
          <a:p>
            <a:pPr>
              <a:lnSpc>
                <a:spcPct val="200000"/>
              </a:lnSpc>
            </a:pPr>
            <a:r>
              <a:rPr lang="en-US" altLang="zh-CN" sz="1800" b="1" dirty="0"/>
              <a:t>What is JUnit</a:t>
            </a:r>
          </a:p>
          <a:p>
            <a:pPr>
              <a:lnSpc>
                <a:spcPct val="200000"/>
              </a:lnSpc>
            </a:pPr>
            <a:r>
              <a:rPr lang="en-US" altLang="zh-CN" sz="1800" dirty="0"/>
              <a:t>JUnit is a commonly used Java unit testing framework.</a:t>
            </a:r>
            <a:br>
              <a:rPr lang="en-US" altLang="zh-CN" sz="1800" dirty="0"/>
            </a:br>
            <a:r>
              <a:rPr lang="en-US" altLang="zh-CN" sz="1800" dirty="0"/>
              <a:t>It helps developers verify whether a method works correctly by writing and running test cases.</a:t>
            </a:r>
          </a:p>
          <a:p>
            <a:pPr>
              <a:lnSpc>
                <a:spcPct val="200000"/>
              </a:lnSpc>
            </a:pPr>
            <a:r>
              <a:rPr lang="en-US" altLang="zh-CN" sz="1800" b="1" dirty="0"/>
              <a:t>Why use JUnit</a:t>
            </a:r>
          </a:p>
          <a:p>
            <a:pPr>
              <a:lnSpc>
                <a:spcPct val="200000"/>
              </a:lnSpc>
            </a:pPr>
            <a:r>
              <a:rPr lang="en-US" altLang="zh-CN" sz="1800" dirty="0"/>
              <a:t>It can automatically test program functions </a:t>
            </a:r>
          </a:p>
          <a:p>
            <a:pPr>
              <a:lnSpc>
                <a:spcPct val="200000"/>
              </a:lnSpc>
            </a:pPr>
            <a:r>
              <a:rPr lang="en-US" altLang="zh-CN" sz="1800" dirty="0"/>
              <a:t>It helps find errors early </a:t>
            </a:r>
          </a:p>
          <a:p>
            <a:pPr>
              <a:lnSpc>
                <a:spcPct val="200000"/>
              </a:lnSpc>
            </a:pPr>
            <a:r>
              <a:rPr lang="en-US" altLang="zh-CN" sz="1800" dirty="0"/>
              <a:t>It makes code easier to maintain </a:t>
            </a:r>
          </a:p>
          <a:p>
            <a:pPr>
              <a:lnSpc>
                <a:spcPct val="200000"/>
              </a:lnSpc>
            </a:pPr>
            <a:r>
              <a:rPr lang="en-US" altLang="zh-CN" sz="1800" dirty="0"/>
              <a:t>It is very useful when testing DAO methods, service methods, and transaction logic</a:t>
            </a:r>
          </a:p>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494508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21072-AC5A-4981-E709-A664230463D7}"/>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6FFF73DB-2AE7-03EC-58C4-06C64EDB1BF6}"/>
              </a:ext>
            </a:extLst>
          </p:cNvPr>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4.1.2 Use of JdbcTemplate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a:extLst>
              <a:ext uri="{FF2B5EF4-FFF2-40B4-BE49-F238E27FC236}">
                <a16:creationId xmlns:a16="http://schemas.microsoft.com/office/drawing/2014/main" id="{F7526653-98AA-02F4-F113-D1A365728000}"/>
              </a:ext>
            </a:extLst>
          </p:cNvPr>
          <p:cNvSpPr txBox="1"/>
          <p:nvPr/>
        </p:nvSpPr>
        <p:spPr>
          <a:xfrm>
            <a:off x="1342678" y="1341562"/>
            <a:ext cx="4248472" cy="4847481"/>
          </a:xfrm>
          <a:prstGeom prst="rect">
            <a:avLst/>
          </a:prstGeom>
          <a:noFill/>
        </p:spPr>
        <p:txBody>
          <a:bodyPr wrap="square" rtlCol="0">
            <a:spAutoFit/>
          </a:bodyPr>
          <a:lstStyle/>
          <a:p>
            <a:pPr>
              <a:lnSpc>
                <a:spcPct val="150000"/>
              </a:lnSpc>
            </a:pPr>
            <a:r>
              <a:rPr lang="en-US" altLang="zh-CN" sz="1800" b="1" dirty="0"/>
              <a:t>Common Annotations in JUnit 5</a:t>
            </a:r>
          </a:p>
          <a:p>
            <a:pPr>
              <a:lnSpc>
                <a:spcPct val="150000"/>
              </a:lnSpc>
            </a:pPr>
            <a:r>
              <a:rPr lang="en-US" altLang="zh-CN" sz="1800" dirty="0"/>
              <a:t>@Test</a:t>
            </a:r>
            <a:br>
              <a:rPr lang="en-US" altLang="zh-CN" sz="1800" dirty="0"/>
            </a:br>
            <a:r>
              <a:rPr lang="en-US" altLang="zh-CN" sz="1800" dirty="0"/>
              <a:t>Marks a method as a test method </a:t>
            </a:r>
          </a:p>
          <a:p>
            <a:pPr>
              <a:lnSpc>
                <a:spcPct val="150000"/>
              </a:lnSpc>
            </a:pPr>
            <a:r>
              <a:rPr lang="en-US" altLang="zh-CN" sz="1800" dirty="0"/>
              <a:t>@BeforeEach</a:t>
            </a:r>
            <a:br>
              <a:rPr lang="en-US" altLang="zh-CN" sz="1800" dirty="0"/>
            </a:br>
            <a:r>
              <a:rPr lang="en-US" altLang="zh-CN" sz="1800" dirty="0"/>
              <a:t>Runs before each test method </a:t>
            </a:r>
          </a:p>
          <a:p>
            <a:pPr>
              <a:lnSpc>
                <a:spcPct val="150000"/>
              </a:lnSpc>
            </a:pPr>
            <a:r>
              <a:rPr lang="en-US" altLang="zh-CN" sz="1800" dirty="0"/>
              <a:t>@AfterEach</a:t>
            </a:r>
            <a:br>
              <a:rPr lang="en-US" altLang="zh-CN" sz="1800" dirty="0"/>
            </a:br>
            <a:r>
              <a:rPr lang="en-US" altLang="zh-CN" sz="1800" dirty="0"/>
              <a:t>Runs after each test method </a:t>
            </a:r>
          </a:p>
          <a:p>
            <a:pPr>
              <a:lnSpc>
                <a:spcPct val="150000"/>
              </a:lnSpc>
            </a:pPr>
            <a:r>
              <a:rPr lang="en-US" altLang="zh-CN" sz="1800" dirty="0"/>
              <a:t>@BeforeAll</a:t>
            </a:r>
            <a:br>
              <a:rPr lang="en-US" altLang="zh-CN" sz="1800" dirty="0"/>
            </a:br>
            <a:r>
              <a:rPr lang="en-US" altLang="zh-CN" sz="1800" dirty="0"/>
              <a:t>Runs once before all test methods </a:t>
            </a:r>
          </a:p>
          <a:p>
            <a:pPr>
              <a:lnSpc>
                <a:spcPct val="150000"/>
              </a:lnSpc>
            </a:pPr>
            <a:r>
              <a:rPr lang="en-US" altLang="zh-CN" sz="1800" dirty="0"/>
              <a:t>@AfterAll</a:t>
            </a:r>
            <a:br>
              <a:rPr lang="en-US" altLang="zh-CN" sz="1800" dirty="0"/>
            </a:br>
            <a:r>
              <a:rPr lang="en-US" altLang="zh-CN" sz="1800" dirty="0"/>
              <a:t>Runs once after all test methods</a:t>
            </a:r>
          </a:p>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9533A80C-EBD5-8712-0677-E336F0743469}"/>
              </a:ext>
            </a:extLst>
          </p:cNvPr>
          <p:cNvSpPr txBox="1"/>
          <p:nvPr/>
        </p:nvSpPr>
        <p:spPr>
          <a:xfrm>
            <a:off x="6311230" y="1341562"/>
            <a:ext cx="4392488" cy="3782895"/>
          </a:xfrm>
          <a:prstGeom prst="rect">
            <a:avLst/>
          </a:prstGeom>
          <a:noFill/>
        </p:spPr>
        <p:txBody>
          <a:bodyPr wrap="square">
            <a:spAutoFit/>
          </a:bodyPr>
          <a:lstStyle/>
          <a:p>
            <a:pPr>
              <a:lnSpc>
                <a:spcPct val="150000"/>
              </a:lnSpc>
              <a:buNone/>
            </a:pPr>
            <a:r>
              <a:rPr lang="en-US" altLang="zh-CN" sz="1800" b="1" dirty="0"/>
              <a:t>Common Assertion Methods</a:t>
            </a:r>
          </a:p>
          <a:p>
            <a:pPr>
              <a:lnSpc>
                <a:spcPct val="150000"/>
              </a:lnSpc>
              <a:buFont typeface="Arial" panose="020B0604020202020204" pitchFamily="34" charset="0"/>
              <a:buChar char="•"/>
            </a:pPr>
            <a:r>
              <a:rPr lang="en-US" altLang="zh-CN" sz="1800" dirty="0" err="1"/>
              <a:t>assertEquals</a:t>
            </a:r>
            <a:r>
              <a:rPr lang="en-US" altLang="zh-CN" sz="1800" dirty="0"/>
              <a:t>(expected, actual)</a:t>
            </a:r>
            <a:br>
              <a:rPr lang="en-US" altLang="zh-CN" sz="1800" dirty="0"/>
            </a:br>
            <a:r>
              <a:rPr lang="en-US" altLang="zh-CN" sz="1800" dirty="0"/>
              <a:t>Checks whether two values are equal </a:t>
            </a:r>
          </a:p>
          <a:p>
            <a:pPr>
              <a:lnSpc>
                <a:spcPct val="150000"/>
              </a:lnSpc>
              <a:buFont typeface="Arial" panose="020B0604020202020204" pitchFamily="34" charset="0"/>
              <a:buChar char="•"/>
            </a:pPr>
            <a:r>
              <a:rPr lang="en-US" altLang="zh-CN" sz="1800" dirty="0" err="1"/>
              <a:t>assertNotNull</a:t>
            </a:r>
            <a:r>
              <a:rPr lang="en-US" altLang="zh-CN" sz="1800" dirty="0"/>
              <a:t>(object)</a:t>
            </a:r>
            <a:br>
              <a:rPr lang="en-US" altLang="zh-CN" sz="1800" dirty="0"/>
            </a:br>
            <a:r>
              <a:rPr lang="en-US" altLang="zh-CN" sz="1800" dirty="0"/>
              <a:t>Checks whether an object is not null </a:t>
            </a:r>
          </a:p>
          <a:p>
            <a:pPr>
              <a:lnSpc>
                <a:spcPct val="150000"/>
              </a:lnSpc>
              <a:buFont typeface="Arial" panose="020B0604020202020204" pitchFamily="34" charset="0"/>
              <a:buChar char="•"/>
            </a:pPr>
            <a:r>
              <a:rPr lang="en-US" altLang="zh-CN" sz="1800" dirty="0" err="1"/>
              <a:t>assertTrue</a:t>
            </a:r>
            <a:r>
              <a:rPr lang="en-US" altLang="zh-CN" sz="1800" dirty="0"/>
              <a:t>(condition)</a:t>
            </a:r>
            <a:br>
              <a:rPr lang="en-US" altLang="zh-CN" sz="1800" dirty="0"/>
            </a:br>
            <a:r>
              <a:rPr lang="en-US" altLang="zh-CN" sz="1800" dirty="0"/>
              <a:t>Checks whether a condition is true </a:t>
            </a:r>
          </a:p>
          <a:p>
            <a:pPr>
              <a:lnSpc>
                <a:spcPct val="150000"/>
              </a:lnSpc>
              <a:buFont typeface="Arial" panose="020B0604020202020204" pitchFamily="34" charset="0"/>
              <a:buChar char="•"/>
            </a:pPr>
            <a:r>
              <a:rPr lang="en-US" altLang="zh-CN" sz="1800" dirty="0" err="1"/>
              <a:t>assertFalse</a:t>
            </a:r>
            <a:r>
              <a:rPr lang="en-US" altLang="zh-CN" sz="1800" dirty="0"/>
              <a:t>(condition)</a:t>
            </a:r>
            <a:br>
              <a:rPr lang="en-US" altLang="zh-CN" sz="1800" dirty="0"/>
            </a:br>
            <a:r>
              <a:rPr lang="en-US" altLang="zh-CN" sz="1800" dirty="0"/>
              <a:t>Checks whether a condition is false</a:t>
            </a:r>
          </a:p>
        </p:txBody>
      </p:sp>
    </p:spTree>
    <p:extLst>
      <p:ext uri="{BB962C8B-B14F-4D97-AF65-F5344CB8AC3E}">
        <p14:creationId xmlns:p14="http://schemas.microsoft.com/office/powerpoint/2010/main" val="14393818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4655046" y="3014256"/>
            <a:ext cx="6984775" cy="768350"/>
          </a:xfrm>
          <a:prstGeom prst="rect">
            <a:avLst/>
          </a:prstGeom>
          <a:noFill/>
        </p:spPr>
        <p:txBody>
          <a:bodyPr wrap="square" lIns="91443" tIns="45720" rIns="91443" bIns="45720" rtlCol="0">
            <a:noAutofit/>
          </a:bodyPr>
          <a:lstStyle/>
          <a:p>
            <a:r>
              <a:rPr sz="32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Overview of Spring Transaction Management</a:t>
            </a: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4.2</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84327"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 Overview of Spring Transaction Management</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5286118" y="2637706"/>
            <a:ext cx="5777639" cy="2016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Understand the concept of Spring transaction management and be able to briefly describe the role of Spring transaction management</a:t>
            </a:r>
            <a:endPar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84327"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 Overview of Spring Transaction Management</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76959" y="1802764"/>
            <a:ext cx="10335895" cy="4075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In actual development, to ensure the integrity and consistency of data, it is often necessary to perform transaction management when manipulating data, so that </a:t>
            </a:r>
            <a:r>
              <a:rPr lang="zh-CN" altLang="zh-CN" sz="2000" dirty="0">
                <a:solidFill>
                  <a:srgbClr val="0070C0"/>
                </a:solidFill>
                <a:latin typeface="微软雅黑" panose="020B0503020204020204" pitchFamily="34" charset="-122"/>
                <a:ea typeface="微软雅黑" panose="020B0503020204020204" pitchFamily="34" charset="-122"/>
              </a:rPr>
              <a:t>a series of operations to add, modify, and delete data either all succeed or all fail. </a:t>
            </a:r>
            <a:r>
              <a:rPr lang="zh-CN" altLang="zh-CN" sz="2000" dirty="0">
                <a:solidFill>
                  <a:srgbClr val="595959"/>
                </a:solidFill>
                <a:latin typeface="微软雅黑" panose="020B0503020204020204" pitchFamily="34" charset="-122"/>
                <a:ea typeface="微软雅黑" panose="020B0503020204020204" pitchFamily="34" charset="-122"/>
              </a:rPr>
              <a:t>Spring, as a framework that provides a one-stop solution, also offers powerful transaction management capabilities. </a:t>
            </a:r>
            <a:r>
              <a:rPr lang="zh-CN" altLang="zh-CN" sz="2000" dirty="0">
                <a:solidFill>
                  <a:srgbClr val="0070C0"/>
                </a:solidFill>
                <a:latin typeface="微软雅黑" panose="020B0503020204020204" pitchFamily="34" charset="-122"/>
                <a:ea typeface="微软雅黑" panose="020B0503020204020204" pitchFamily="34" charset="-122"/>
              </a:rPr>
              <a:t>Spring's transaction management Based mainly on PlatformTransactionManager interface, TransactionDefinition interface, TransactionStatus interface implementation, the following respectively to explain the three interfaces.</a:t>
            </a:r>
          </a:p>
        </p:txBody>
      </p:sp>
      <p:sp>
        <p:nvSpPr>
          <p:cNvPr id="2" name="圆角矩形 1"/>
          <p:cNvSpPr/>
          <p:nvPr>
            <p:custDataLst>
              <p:tags r:id="rId2"/>
            </p:custDataLst>
          </p:nvPr>
        </p:nvSpPr>
        <p:spPr>
          <a:xfrm>
            <a:off x="1031240" y="1736090"/>
            <a:ext cx="10427335" cy="399796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0" name="矩形 93"/>
          <p:cNvSpPr/>
          <p:nvPr>
            <p:custDataLst>
              <p:tags r:id="rId3"/>
            </p:custDataLst>
          </p:nvPr>
        </p:nvSpPr>
        <p:spPr>
          <a:xfrm>
            <a:off x="998855" y="1676400"/>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1" name="矩形 93"/>
          <p:cNvSpPr/>
          <p:nvPr>
            <p:custDataLst>
              <p:tags r:id="rId4"/>
            </p:custDataLst>
          </p:nvPr>
        </p:nvSpPr>
        <p:spPr>
          <a:xfrm rot="10800000">
            <a:off x="11088500" y="5293631"/>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84327"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 Overview of Spring Transaction Management</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866774" y="1177925"/>
            <a:ext cx="7100639" cy="476905"/>
            <a:chOff x="852276" y="1797999"/>
            <a:chExt cx="2780020" cy="476905"/>
          </a:xfrm>
        </p:grpSpPr>
        <p:sp>
          <p:nvSpPr>
            <p:cNvPr id="8" name="矩形: 圆角 6"/>
            <p:cNvSpPr/>
            <p:nvPr>
              <p:custDataLst>
                <p:tags r:id="rId3"/>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4"/>
              </p:custDataLst>
            </p:nvPr>
          </p:nvSpPr>
          <p:spPr>
            <a:xfrm>
              <a:off x="852276" y="1797999"/>
              <a:ext cx="2767965" cy="462371"/>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The PlatformTransactionManager interface</a:t>
              </a:r>
            </a:p>
          </p:txBody>
        </p:sp>
      </p:grpSp>
      <p:sp>
        <p:nvSpPr>
          <p:cNvPr id="5" name="文本框 4"/>
          <p:cNvSpPr txBox="1"/>
          <p:nvPr>
            <p:custDataLst>
              <p:tags r:id="rId1"/>
            </p:custDataLst>
          </p:nvPr>
        </p:nvSpPr>
        <p:spPr>
          <a:xfrm>
            <a:off x="586412" y="1734372"/>
            <a:ext cx="11086980" cy="1476375"/>
          </a:xfrm>
          <a:prstGeom prst="rect">
            <a:avLst/>
          </a:prstGeom>
          <a:noFill/>
          <a:ln w="9525">
            <a:noFill/>
          </a:ln>
        </p:spPr>
        <p:txBody>
          <a:bodyPr wrap="square">
            <a:noAutofit/>
          </a:bodyPr>
          <a:lstStyle/>
          <a:p>
            <a:pPr>
              <a:lnSpc>
                <a:spcPct val="150000"/>
              </a:lnSpc>
              <a:buClrTx/>
              <a:buSzTx/>
              <a:buFontTx/>
            </a:pPr>
            <a:r>
              <a:rPr lang="zh-CN" altLang="en-US" sz="2000" dirty="0">
                <a:solidFill>
                  <a:srgbClr val="0070C0"/>
                </a:solidFill>
                <a:latin typeface="微软雅黑" panose="020B0503020204020204" pitchFamily="34" charset="-122"/>
                <a:ea typeface="微软雅黑" panose="020B0503020204020204" pitchFamily="34" charset="-122"/>
              </a:rPr>
              <a:t>PlatformTransactionManager interface</a:t>
            </a:r>
            <a:r>
              <a:rPr lang="zh-CN" altLang="en-US" sz="2000" dirty="0">
                <a:solidFill>
                  <a:srgbClr val="595959"/>
                </a:solidFill>
                <a:latin typeface="微软雅黑" panose="020B0503020204020204" pitchFamily="34" charset="-122"/>
                <a:ea typeface="微软雅黑" panose="020B0503020204020204" pitchFamily="34" charset="-122"/>
              </a:rPr>
              <a:t> is the core of the Spring transaction management, it provides management methods, such as </a:t>
            </a:r>
            <a:r>
              <a:rPr lang="zh-CN" altLang="en-US" sz="2000" dirty="0">
                <a:solidFill>
                  <a:srgbClr val="0070C0"/>
                </a:solidFill>
                <a:latin typeface="微软雅黑" panose="020B0503020204020204" pitchFamily="34" charset="-122"/>
                <a:ea typeface="微软雅黑" panose="020B0503020204020204" pitchFamily="34" charset="-122"/>
              </a:rPr>
              <a:t>start, commit the transaction, and roll back the transaction</a:t>
            </a:r>
            <a:r>
              <a:rPr lang="zh-CN" altLang="en-US" sz="2000" dirty="0">
                <a:solidFill>
                  <a:srgbClr val="595959"/>
                </a:solidFill>
                <a:latin typeface="微软雅黑" panose="020B0503020204020204" pitchFamily="34" charset="-122"/>
                <a:ea typeface="微软雅黑" panose="020B0503020204020204" pitchFamily="34" charset="-122"/>
              </a:rPr>
              <a:t>, the interface provides three management methods, specific as follows.</a:t>
            </a:r>
          </a:p>
        </p:txBody>
      </p:sp>
      <p:graphicFrame>
        <p:nvGraphicFramePr>
          <p:cNvPr id="3" name="表格 2"/>
          <p:cNvGraphicFramePr/>
          <p:nvPr>
            <p:custDataLst>
              <p:tags r:id="rId2"/>
            </p:custDataLst>
            <p:extLst>
              <p:ext uri="{D42A27DB-BD31-4B8C-83A1-F6EECF244321}">
                <p14:modId xmlns:p14="http://schemas.microsoft.com/office/powerpoint/2010/main" val="334546073"/>
              </p:ext>
            </p:extLst>
          </p:nvPr>
        </p:nvGraphicFramePr>
        <p:xfrm>
          <a:off x="552842" y="3429794"/>
          <a:ext cx="11086980" cy="2995746"/>
        </p:xfrm>
        <a:graphic>
          <a:graphicData uri="http://schemas.openxmlformats.org/drawingml/2006/table">
            <a:tbl>
              <a:tblPr/>
              <a:tblGrid>
                <a:gridCol w="5182324">
                  <a:extLst>
                    <a:ext uri="{9D8B030D-6E8A-4147-A177-3AD203B41FA5}">
                      <a16:colId xmlns:a16="http://schemas.microsoft.com/office/drawing/2014/main" val="20000"/>
                    </a:ext>
                  </a:extLst>
                </a:gridCol>
                <a:gridCol w="5904656">
                  <a:extLst>
                    <a:ext uri="{9D8B030D-6E8A-4147-A177-3AD203B41FA5}">
                      <a16:colId xmlns:a16="http://schemas.microsoft.com/office/drawing/2014/main" val="20001"/>
                    </a:ext>
                  </a:extLst>
                </a:gridCol>
              </a:tblGrid>
              <a:tr h="468801">
                <a:tc>
                  <a:txBody>
                    <a:bodyPr/>
                    <a:lstStyle/>
                    <a:p>
                      <a:pPr indent="0" algn="ctr">
                        <a:buNone/>
                      </a:pPr>
                      <a:r>
                        <a:rPr lang="en-US" sz="2000" b="1" dirty="0">
                          <a:latin typeface="微软雅黑" panose="020B0503020204020204" pitchFamily="34" charset="-122"/>
                          <a:ea typeface="微软雅黑" panose="020B0503020204020204" pitchFamily="34" charset="-122"/>
                          <a:cs typeface="宋体" panose="02010600030101010101" pitchFamily="2" charset="-122"/>
                        </a:rPr>
                        <a:t>Methods</a:t>
                      </a:r>
                      <a:endParaRPr lang="en-US" altLang="en-US" sz="20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a:buNone/>
                      </a:pPr>
                      <a:r>
                        <a:rPr lang="en-US" sz="2000" b="1">
                          <a:latin typeface="微软雅黑" panose="020B0503020204020204" pitchFamily="34" charset="-122"/>
                          <a:ea typeface="微软雅黑" panose="020B0503020204020204" pitchFamily="34" charset="-122"/>
                          <a:cs typeface="宋体" panose="02010600030101010101" pitchFamily="2" charset="-122"/>
                        </a:rPr>
                        <a:t>Instructions</a:t>
                      </a:r>
                      <a:endParaRPr lang="en-US" altLang="en-US" sz="20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1691439">
                <a:tc>
                  <a:txBody>
                    <a:bodyPr/>
                    <a:lstStyle/>
                    <a:p>
                      <a:pPr algn="l">
                        <a:lnSpc>
                          <a:spcPct val="150000"/>
                        </a:lnSpc>
                        <a:buClrTx/>
                        <a:buSzTx/>
                        <a:buFontTx/>
                        <a:buNone/>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TransactionStatus getTransaction(</a:t>
                      </a:r>
                    </a:p>
                    <a:p>
                      <a:pPr algn="l">
                        <a:lnSpc>
                          <a:spcPct val="150000"/>
                        </a:lnSpc>
                        <a:buClrTx/>
                        <a:buSzTx/>
                        <a:buFontTx/>
                        <a:buNone/>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TransactionDefinition definition )</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Used to get a new transaction or participate in an existing transaction and return the status information of the transaction</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413586">
                <a:tc>
                  <a:txBody>
                    <a:bodyPr/>
                    <a:lstStyle/>
                    <a:p>
                      <a:pPr algn="l">
                        <a:lnSpc>
                          <a:spcPct val="150000"/>
                        </a:lnSpc>
                        <a:buClrTx/>
                        <a:buSzTx/>
                        <a:buFontTx/>
                        <a:buNone/>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void   commit(TransactionStatus status)</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Used for committing transactions</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421920">
                <a:tc>
                  <a:txBody>
                    <a:bodyPr/>
                    <a:lstStyle/>
                    <a:p>
                      <a:pPr algn="l">
                        <a:lnSpc>
                          <a:spcPct val="150000"/>
                        </a:lnSpc>
                        <a:buClrTx/>
                        <a:buSzTx/>
                        <a:buFontTx/>
                        <a:buNone/>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void rollback(TransactionStatus status)</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Used for rolling back transactions</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84327"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 Overview of Spring Transaction Management</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866774" y="1177925"/>
            <a:ext cx="5660479" cy="476905"/>
            <a:chOff x="852276" y="1797999"/>
            <a:chExt cx="2780020" cy="476905"/>
          </a:xfrm>
        </p:grpSpPr>
        <p:sp>
          <p:nvSpPr>
            <p:cNvPr id="8"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3"/>
              </p:custDataLst>
            </p:nvPr>
          </p:nvSpPr>
          <p:spPr>
            <a:xfrm>
              <a:off x="852276" y="1797999"/>
              <a:ext cx="2767965" cy="462371"/>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2.TransactionDefinition Interface</a:t>
              </a:r>
            </a:p>
          </p:txBody>
        </p:sp>
      </p:grpSp>
      <p:sp>
        <p:nvSpPr>
          <p:cNvPr id="5" name="文本框 4"/>
          <p:cNvSpPr txBox="1"/>
          <p:nvPr>
            <p:custDataLst>
              <p:tags r:id="rId1"/>
            </p:custDataLst>
          </p:nvPr>
        </p:nvSpPr>
        <p:spPr>
          <a:xfrm>
            <a:off x="495277" y="1845618"/>
            <a:ext cx="11449272" cy="4467023"/>
          </a:xfrm>
          <a:prstGeom prst="rect">
            <a:avLst/>
          </a:prstGeom>
          <a:noFill/>
          <a:ln w="9525">
            <a:noFill/>
          </a:ln>
        </p:spPr>
        <p:txBody>
          <a:bodyPr wrap="square">
            <a:noAutofit/>
          </a:bodyPr>
          <a:lstStyle/>
          <a:p>
            <a:pPr>
              <a:lnSpc>
                <a:spcPct val="150000"/>
              </a:lnSpc>
              <a:buClrTx/>
              <a:buSzTx/>
              <a:buFontTx/>
            </a:pPr>
            <a:r>
              <a:rPr lang="zh-CN" altLang="en-US" b="0" dirty="0">
                <a:solidFill>
                  <a:srgbClr val="1369B2"/>
                </a:solidFill>
                <a:latin typeface="微软雅黑" panose="020B0503020204020204" pitchFamily="34" charset="-122"/>
                <a:ea typeface="微软雅黑" panose="020B0503020204020204" pitchFamily="34" charset="-122"/>
                <a:cs typeface="+mn-ea"/>
              </a:rPr>
              <a:t>The TransactionDefinition interface defines constants related to the transaction description, including the isolation level of the transaction, the propagation behavior of the transaction, the timeout period of the transaction, and whether it is a read-only transaction.</a:t>
            </a:r>
            <a:endParaRPr lang="zh-CN" altLang="en-US"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ClrTx/>
              <a:buSzTx/>
              <a:buFontTx/>
            </a:pPr>
            <a:r>
              <a:rPr lang="zh-CN" altLang="en-US"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 The isolation level of the transaction</a:t>
            </a:r>
          </a:p>
          <a:p>
            <a:pPr>
              <a:lnSpc>
                <a:spcPct val="150000"/>
              </a:lnSpc>
              <a:buClrTx/>
              <a:buSzTx/>
              <a:buFontTx/>
            </a:pPr>
            <a:r>
              <a:rPr lang="zh-CN" altLang="en-US" b="0" dirty="0">
                <a:solidFill>
                  <a:srgbClr val="1369B2"/>
                </a:solidFill>
                <a:latin typeface="微软雅黑" panose="020B0503020204020204" pitchFamily="34" charset="-122"/>
                <a:ea typeface="微软雅黑" panose="020B0503020204020204" pitchFamily="34" charset="-122"/>
                <a:cs typeface="+mn-ea"/>
              </a:rPr>
              <a:t>The isolation level of a transaction refers to the degree of isolation between transactions. Five isolation levels are defined in the TransactionDefinition interface.</a:t>
            </a:r>
            <a:endParaRPr lang="zh-CN" altLang="en-US"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84327"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 Overview of Spring Transaction Management</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2" name="表格 1"/>
          <p:cNvGraphicFramePr/>
          <p:nvPr>
            <p:custDataLst>
              <p:tags r:id="rId1"/>
            </p:custDataLst>
            <p:extLst>
              <p:ext uri="{D42A27DB-BD31-4B8C-83A1-F6EECF244321}">
                <p14:modId xmlns:p14="http://schemas.microsoft.com/office/powerpoint/2010/main" val="2403080988"/>
              </p:ext>
            </p:extLst>
          </p:nvPr>
        </p:nvGraphicFramePr>
        <p:xfrm>
          <a:off x="334566" y="693490"/>
          <a:ext cx="11665296" cy="5878510"/>
        </p:xfrm>
        <a:graphic>
          <a:graphicData uri="http://schemas.openxmlformats.org/drawingml/2006/table">
            <a:tbl>
              <a:tblPr/>
              <a:tblGrid>
                <a:gridCol w="2592288">
                  <a:extLst>
                    <a:ext uri="{9D8B030D-6E8A-4147-A177-3AD203B41FA5}">
                      <a16:colId xmlns:a16="http://schemas.microsoft.com/office/drawing/2014/main" val="20000"/>
                    </a:ext>
                  </a:extLst>
                </a:gridCol>
                <a:gridCol w="9073008">
                  <a:extLst>
                    <a:ext uri="{9D8B030D-6E8A-4147-A177-3AD203B41FA5}">
                      <a16:colId xmlns:a16="http://schemas.microsoft.com/office/drawing/2014/main" val="20001"/>
                    </a:ext>
                  </a:extLst>
                </a:gridCol>
              </a:tblGrid>
              <a:tr h="360040">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Isolation levels</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Instructions</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0">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ISOLATION_DEFAULT</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Use the default transaction isolation level of the current database</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0">
                <a:tc>
                  <a:txBody>
                    <a:bodyPr/>
                    <a:lstStyle/>
                    <a:p>
                      <a:pPr algn="ctr">
                        <a:lnSpc>
                          <a:spcPct val="150000"/>
                        </a:lnSpc>
                        <a:buClrTx/>
                        <a:buSzTx/>
                        <a:buFontTx/>
                        <a:buNone/>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ISOLATION_READ_UNCOMMITTED</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Indicates read uncommitted. Allowing another transaction to read uncommitted data from the current transaction at the lowest isolation level may result in dirty reads, phantom reads, or non-repeatable reads</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0">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ISOLATION_READ_COMMITTED</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Indicates that the read has been committed. Data modified by one transaction can only be read by another transaction after being committed, which avoids dirty reads, cannot avoid phantom reads, and cannot be read repeatedly</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0">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ISOLATION_ REPEATABLE_READ</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Repeatable reads, this isolation level ensures that the results of reading the same data multiple times within the same transaction are consistent, avoiding dirty reads and increased resource consumption. This is the default isolation level for MySQL databases</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0">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REPEATABLE_SERIALIZABLE</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Transactions are executed serially, that is, multiple transactions are executed one by one in chronological order. There is no concurrency issue. It is the most reliable but has the lowest performance and efficiency</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7414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 An Overview of Spring Transaction Management</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custDataLst>
              <p:tags r:id="rId1"/>
            </p:custDataLst>
          </p:nvPr>
        </p:nvSpPr>
        <p:spPr>
          <a:xfrm>
            <a:off x="993775" y="1381125"/>
            <a:ext cx="10295890" cy="4712965"/>
          </a:xfrm>
          <a:prstGeom prst="rect">
            <a:avLst/>
          </a:prstGeom>
          <a:noFill/>
          <a:ln w="9525">
            <a:noFill/>
          </a:ln>
        </p:spPr>
        <p:txBody>
          <a:bodyPr wrap="square">
            <a:noAutofit/>
          </a:bodyPr>
          <a:lstStyle/>
          <a:p>
            <a:pPr>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 Propagation behavior of transactions</a:t>
            </a:r>
          </a:p>
          <a:p>
            <a:pPr>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The propagation behavior of a transaction refers to the maintenance of the transaction when methods in different transactions call each other, during the execution of the methods. For example, when method B of one transaction calls method A of another transaction, it can be stipulated that method A continues to run in the existing transaction to which method B belongs, or it can be stipulated that method A starts A new transaction, runs in the new transaction, and the existing transaction to which method B belongs is suspended until the new transaction of method A is completed and then resumed.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7414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 An Overview of Spring Transaction Management</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2" name="表格 1"/>
          <p:cNvGraphicFramePr/>
          <p:nvPr>
            <p:custDataLst>
              <p:tags r:id="rId1"/>
            </p:custDataLst>
            <p:extLst>
              <p:ext uri="{D42A27DB-BD31-4B8C-83A1-F6EECF244321}">
                <p14:modId xmlns:p14="http://schemas.microsoft.com/office/powerpoint/2010/main" val="199993936"/>
              </p:ext>
            </p:extLst>
          </p:nvPr>
        </p:nvGraphicFramePr>
        <p:xfrm>
          <a:off x="406574" y="981522"/>
          <a:ext cx="11521280" cy="5496500"/>
        </p:xfrm>
        <a:graphic>
          <a:graphicData uri="http://schemas.openxmlformats.org/drawingml/2006/table">
            <a:tbl>
              <a:tblPr/>
              <a:tblGrid>
                <a:gridCol w="3528392">
                  <a:extLst>
                    <a:ext uri="{9D8B030D-6E8A-4147-A177-3AD203B41FA5}">
                      <a16:colId xmlns:a16="http://schemas.microsoft.com/office/drawing/2014/main" val="20000"/>
                    </a:ext>
                  </a:extLst>
                </a:gridCol>
                <a:gridCol w="7992888">
                  <a:extLst>
                    <a:ext uri="{9D8B030D-6E8A-4147-A177-3AD203B41FA5}">
                      <a16:colId xmlns:a16="http://schemas.microsoft.com/office/drawing/2014/main" val="20001"/>
                    </a:ext>
                  </a:extLst>
                </a:gridCol>
              </a:tblGrid>
              <a:tr h="486410">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Propagation behavior</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Notes</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0">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PROPAGATION_REQUIRED</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Default transaction propagation behavior. If a transaction is currently present, join it; If there is no current transaction, create a new one</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0">
                <a:tc>
                  <a:txBody>
                    <a:bodyPr/>
                    <a:lstStyle/>
                    <a:p>
                      <a:pPr algn="ctr">
                        <a:lnSpc>
                          <a:spcPct val="150000"/>
                        </a:lnSpc>
                        <a:buClrTx/>
                        <a:buSzTx/>
                        <a:buFontTx/>
                        <a:buNone/>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PROPAGATION_SUPPORTS</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Join a transaction if it exists; If there is no transaction at the moment, execute it as a non-transaction</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0">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PROPAGATION_MANDATORY</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There must be a transaction currently; if not, an exception is thrown</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0">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PROPAGATION_REQUIRES_NEW</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a new transaction and suspend the existing transaction if it already exists</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0">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PROPAGATION_NOT_SUPPORTED</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Always execute in a non-transactional manner, suspending the current transaction if it exists</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0">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PROPAGATION_NEVER</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Never support the current transaction and throw an exception if a transaction already exists</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0">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PROPAGATION_NESTED</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If a transaction is currently present, it is executed in a sub-transaction of the current transaction</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84327"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 Overview of Spring Transaction Management</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custDataLst>
              <p:tags r:id="rId1"/>
            </p:custDataLst>
          </p:nvPr>
        </p:nvSpPr>
        <p:spPr>
          <a:xfrm>
            <a:off x="947261" y="1269554"/>
            <a:ext cx="10295890" cy="2861310"/>
          </a:xfrm>
          <a:prstGeom prst="rect">
            <a:avLst/>
          </a:prstGeom>
          <a:noFill/>
          <a:ln w="9525">
            <a:noFill/>
          </a:ln>
        </p:spPr>
        <p:txBody>
          <a:bodyPr wrap="square">
            <a:noAutofit/>
          </a:bodyPr>
          <a:lstStyle/>
          <a:p>
            <a:pPr>
              <a:lnSpc>
                <a:spcPct val="150000"/>
              </a:lnSpc>
              <a:buClrTx/>
              <a:buSzTx/>
              <a:buFontTx/>
            </a:pPr>
            <a:r>
              <a:rPr lang="zh-CN" altLang="en-US"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(3) Transaction timeouts</a:t>
            </a:r>
          </a:p>
          <a:p>
            <a:pPr>
              <a:lnSpc>
                <a:spcPct val="150000"/>
              </a:lnSpc>
              <a:buClrTx/>
              <a:buSzTx/>
              <a:buFontTx/>
            </a:pPr>
            <a:r>
              <a:rPr lang="zh-CN" altLang="en-US" b="0" dirty="0">
                <a:solidFill>
                  <a:srgbClr val="1369B2"/>
                </a:solidFill>
                <a:latin typeface="微软雅黑" panose="020B0503020204020204" pitchFamily="34" charset="-122"/>
                <a:ea typeface="微软雅黑" panose="020B0503020204020204" pitchFamily="34" charset="-122"/>
                <a:cs typeface="+mn-ea"/>
              </a:rPr>
              <a:t>The timeout of a transaction is the time limit for the execution of the transaction. Beyond this time limit, the transaction will be rolled back. The TransactionDefinition interface provides the TIMEOUT_DEFAULT constant to represent the default timeout of the Spring transaction manager.</a:t>
            </a:r>
            <a:endParaRPr lang="zh-CN" altLang="en-US"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ClrTx/>
              <a:buSzTx/>
              <a:buFontTx/>
            </a:pPr>
            <a:r>
              <a:rPr lang="zh-CN" altLang="en-US"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If developers want to specify the transaction timeout, you can use DefaultTransactionDefinition class setTimeout () method or @ the timeout attribute of Transactional annotation.</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84327"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 Overview of Spring Transaction Management</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custDataLst>
              <p:tags r:id="rId1"/>
            </p:custDataLst>
          </p:nvPr>
        </p:nvSpPr>
        <p:spPr>
          <a:xfrm>
            <a:off x="406574" y="1197546"/>
            <a:ext cx="11233248" cy="5211763"/>
          </a:xfrm>
          <a:prstGeom prst="rect">
            <a:avLst/>
          </a:prstGeom>
          <a:noFill/>
          <a:ln w="9525">
            <a:noFill/>
          </a:ln>
        </p:spPr>
        <p:txBody>
          <a:bodyPr wrap="square">
            <a:noAutofit/>
          </a:bodyPr>
          <a:lstStyle/>
          <a:p>
            <a:pPr>
              <a:lnSpc>
                <a:spcPct val="150000"/>
              </a:lnSpc>
              <a:buClrTx/>
              <a:buSzTx/>
              <a:buFontTx/>
            </a:pPr>
            <a:r>
              <a:rPr lang="zh-CN" altLang="en-US"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(4) Whether a transaction is read-only</a:t>
            </a:r>
          </a:p>
          <a:p>
            <a:pPr>
              <a:lnSpc>
                <a:spcPct val="150000"/>
              </a:lnSpc>
              <a:buClrTx/>
              <a:buSzTx/>
              <a:buFontTx/>
            </a:pPr>
            <a:r>
              <a:rPr lang="zh-CN" altLang="en-US"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When a transaction is marked as read-only, it means that the transaction reads data from the database without modifying it. </a:t>
            </a:r>
            <a:r>
              <a:rPr lang="zh-CN" altLang="en-US"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Attempting to modify data in a read-only transaction typically raises an exception because the vast majority of databases and transaction managers prohibit write operations in a read-only transaction. </a:t>
            </a:r>
            <a:r>
              <a:rPr lang="zh-CN" altLang="en-US"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This design ensures consistency and reliability of the data while also facilitating the optimization of read-only transactions by the database engine, thereby enhancing the overall performance of the system.</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84327"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 Overview of Spring Transaction Management</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custDataLst>
              <p:tags r:id="rId1"/>
            </p:custDataLst>
          </p:nvPr>
        </p:nvSpPr>
        <p:spPr>
          <a:xfrm>
            <a:off x="766614" y="909514"/>
            <a:ext cx="10503535" cy="2322951"/>
          </a:xfrm>
          <a:prstGeom prst="rect">
            <a:avLst/>
          </a:prstGeom>
          <a:noFill/>
          <a:ln w="9525">
            <a:noFill/>
          </a:ln>
        </p:spPr>
        <p:txBody>
          <a:bodyPr wrap="square">
            <a:noAutofit/>
          </a:bodyPr>
          <a:lstStyle/>
          <a:p>
            <a:pPr>
              <a:lnSpc>
                <a:spcPct val="150000"/>
              </a:lnSpc>
              <a:buClrTx/>
              <a:buSzTx/>
              <a:buFontTx/>
            </a:pPr>
            <a:r>
              <a:rPr lang="zh-CN" altLang="en-US" sz="2000" b="0" dirty="0">
                <a:solidFill>
                  <a:srgbClr val="1369B2"/>
                </a:solidFill>
                <a:latin typeface="微软雅黑" panose="020B0503020204020204" pitchFamily="34" charset="-122"/>
                <a:ea typeface="微软雅黑" panose="020B0503020204020204" pitchFamily="34" charset="-122"/>
                <a:cs typeface="+mn-ea"/>
              </a:rPr>
              <a:t>In addition to providing the isolation level of the transaction, the propagation behavior of the transaction, the timeout period of the transaction, and the constant for whether it is a read-only transaction, the TransactionDefinition interface provides a series of methods to obtain the properties of the transaction. The common methods of the TransactionDefinition interface are as follows.</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 name="表格 1"/>
          <p:cNvGraphicFramePr/>
          <p:nvPr>
            <p:custDataLst>
              <p:tags r:id="rId2"/>
            </p:custDataLst>
            <p:extLst>
              <p:ext uri="{D42A27DB-BD31-4B8C-83A1-F6EECF244321}">
                <p14:modId xmlns:p14="http://schemas.microsoft.com/office/powerpoint/2010/main" val="2265109934"/>
              </p:ext>
            </p:extLst>
          </p:nvPr>
        </p:nvGraphicFramePr>
        <p:xfrm>
          <a:off x="622597" y="3334025"/>
          <a:ext cx="10945215" cy="2778760"/>
        </p:xfrm>
        <a:graphic>
          <a:graphicData uri="http://schemas.openxmlformats.org/drawingml/2006/table">
            <a:tbl>
              <a:tblPr/>
              <a:tblGrid>
                <a:gridCol w="4448670">
                  <a:extLst>
                    <a:ext uri="{9D8B030D-6E8A-4147-A177-3AD203B41FA5}">
                      <a16:colId xmlns:a16="http://schemas.microsoft.com/office/drawing/2014/main" val="20000"/>
                    </a:ext>
                  </a:extLst>
                </a:gridCol>
                <a:gridCol w="6496545">
                  <a:extLst>
                    <a:ext uri="{9D8B030D-6E8A-4147-A177-3AD203B41FA5}">
                      <a16:colId xmlns:a16="http://schemas.microsoft.com/office/drawing/2014/main" val="20001"/>
                    </a:ext>
                  </a:extLst>
                </a:gridCol>
              </a:tblGrid>
              <a:tr h="327025">
                <a:tc>
                  <a:txBody>
                    <a:bodyPr/>
                    <a:lstStyle/>
                    <a:p>
                      <a:pPr indent="0" algn="ctr">
                        <a:buNone/>
                      </a:pPr>
                      <a:r>
                        <a:rPr lang="en-US" sz="2000" b="1" dirty="0">
                          <a:latin typeface="微软雅黑" panose="020B0503020204020204" pitchFamily="34" charset="-122"/>
                          <a:ea typeface="微软雅黑" panose="020B0503020204020204" pitchFamily="34" charset="-122"/>
                          <a:cs typeface="宋体" panose="02010600030101010101" pitchFamily="2" charset="-122"/>
                        </a:rPr>
                        <a:t>Methods</a:t>
                      </a:r>
                      <a:endParaRPr lang="en-US" altLang="en-US" sz="20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a:buNone/>
                      </a:pPr>
                      <a:r>
                        <a:rPr lang="en-US" sz="2000" b="1">
                          <a:latin typeface="微软雅黑" panose="020B0503020204020204" pitchFamily="34" charset="-122"/>
                          <a:ea typeface="微软雅黑" panose="020B0503020204020204" pitchFamily="34" charset="-122"/>
                          <a:cs typeface="宋体" panose="02010600030101010101" pitchFamily="2" charset="-122"/>
                        </a:rPr>
                        <a:t>Instructions</a:t>
                      </a:r>
                      <a:endParaRPr lang="en-US" altLang="en-US" sz="20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490855">
                <a:tc>
                  <a:txBody>
                    <a:bodyPr/>
                    <a:lstStyle/>
                    <a:p>
                      <a:pPr algn="ctr">
                        <a:lnSpc>
                          <a:spcPct val="150000"/>
                        </a:lnSpc>
                        <a:buClrTx/>
                        <a:buSzTx/>
                        <a:buFontTx/>
                        <a:buNone/>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getPropagationBehavior()</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ctr">
                        <a:lnSpc>
                          <a:spcPct val="150000"/>
                        </a:lnSpc>
                        <a:buClrTx/>
                        <a:buSzTx/>
                        <a:buFontTx/>
                        <a:buNone/>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Returns the propagation behavior of the transaction</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489585">
                <a:tc>
                  <a:txBody>
                    <a:bodyPr/>
                    <a:lstStyle/>
                    <a:p>
                      <a:pPr algn="ctr">
                        <a:lnSpc>
                          <a:spcPct val="150000"/>
                        </a:lnSpc>
                        <a:buClrTx/>
                        <a:buSzTx/>
                        <a:buFontTx/>
                        <a:buNone/>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getIsolationLevel()</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ctr">
                        <a:lnSpc>
                          <a:spcPct val="150000"/>
                        </a:lnSpc>
                        <a:buClrTx/>
                        <a:buSzTx/>
                        <a:buFontTx/>
                        <a:buNone/>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Return the isolation level of the transaction</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490220">
                <a:tc>
                  <a:txBody>
                    <a:bodyPr/>
                    <a:lstStyle/>
                    <a:p>
                      <a:pPr algn="ctr">
                        <a:lnSpc>
                          <a:spcPct val="150000"/>
                        </a:lnSpc>
                        <a:buClrTx/>
                        <a:buSzTx/>
                        <a:buFontTx/>
                        <a:buNone/>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getTimeout()</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ctr">
                        <a:lnSpc>
                          <a:spcPct val="150000"/>
                        </a:lnSpc>
                        <a:buClrTx/>
                        <a:buSzTx/>
                        <a:buFontTx/>
                        <a:buNone/>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Returns the timeout of the transaction</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490855">
                <a:tc>
                  <a:txBody>
                    <a:bodyPr/>
                    <a:lstStyle/>
                    <a:p>
                      <a:pPr algn="ctr">
                        <a:lnSpc>
                          <a:spcPct val="150000"/>
                        </a:lnSpc>
                        <a:buClrTx/>
                        <a:buSzTx/>
                        <a:buFontTx/>
                        <a:buNone/>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boolean isReadOnly()</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ctr">
                        <a:lnSpc>
                          <a:spcPct val="150000"/>
                        </a:lnSpc>
                        <a:buClrTx/>
                        <a:buSzTx/>
                        <a:buFontTx/>
                        <a:buNone/>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Determine if a transaction is read-only</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490220">
                <a:tc>
                  <a:txBody>
                    <a:bodyPr/>
                    <a:lstStyle/>
                    <a:p>
                      <a:pPr algn="ctr">
                        <a:lnSpc>
                          <a:spcPct val="150000"/>
                        </a:lnSpc>
                        <a:buClrTx/>
                        <a:buSzTx/>
                        <a:buFontTx/>
                        <a:buNone/>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 getName()</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ctr">
                        <a:lnSpc>
                          <a:spcPct val="150000"/>
                        </a:lnSpc>
                        <a:buClrTx/>
                        <a:buSzTx/>
                        <a:buFontTx/>
                        <a:buNone/>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Returns the defined transaction name</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84327"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 Overview of Spring Transaction Management</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custDataLst>
              <p:tags r:id="rId1"/>
            </p:custDataLst>
          </p:nvPr>
        </p:nvSpPr>
        <p:spPr>
          <a:xfrm>
            <a:off x="176062" y="1331635"/>
            <a:ext cx="11838288" cy="1014730"/>
          </a:xfrm>
          <a:prstGeom prst="rect">
            <a:avLst/>
          </a:prstGeom>
          <a:noFill/>
          <a:ln w="9525">
            <a:noFill/>
          </a:ln>
        </p:spPr>
        <p:txBody>
          <a:bodyPr wrap="square">
            <a:noAutofit/>
          </a:bodyPr>
          <a:lstStyle/>
          <a:p>
            <a:pPr>
              <a:lnSpc>
                <a:spcPct val="150000"/>
              </a:lnSpc>
              <a:buClrTx/>
              <a:buSzTx/>
              <a:buFontTx/>
            </a:pPr>
            <a:r>
              <a:rPr lang="zh-CN" altLang="en-US" sz="2000" b="0" dirty="0">
                <a:solidFill>
                  <a:srgbClr val="1369B2"/>
                </a:solidFill>
                <a:latin typeface="微软雅黑" panose="020B0503020204020204" pitchFamily="34" charset="-122"/>
                <a:ea typeface="微软雅黑" panose="020B0503020204020204" pitchFamily="34" charset="-122"/>
                <a:cs typeface="+mn-ea"/>
              </a:rPr>
              <a:t>The TransactionStatus interface, which is primarily used to define the status of a transaction, provides a series of methods for returning information about the transaction's status as follows.</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6" name="组合 5"/>
          <p:cNvGrpSpPr/>
          <p:nvPr/>
        </p:nvGrpSpPr>
        <p:grpSpPr>
          <a:xfrm>
            <a:off x="622598" y="854730"/>
            <a:ext cx="5184576" cy="476905"/>
            <a:chOff x="852276" y="1797999"/>
            <a:chExt cx="2780020" cy="476905"/>
          </a:xfrm>
        </p:grpSpPr>
        <p:sp>
          <p:nvSpPr>
            <p:cNvPr id="8" name="矩形: 圆角 6"/>
            <p:cNvSpPr/>
            <p:nvPr>
              <p:custDataLst>
                <p:tags r:id="rId3"/>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4"/>
              </p:custDataLst>
            </p:nvPr>
          </p:nvSpPr>
          <p:spPr>
            <a:xfrm>
              <a:off x="852276" y="1797999"/>
              <a:ext cx="2767965" cy="462371"/>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3.TransactionStatus Interface</a:t>
              </a:r>
            </a:p>
          </p:txBody>
        </p:sp>
      </p:grpSp>
      <p:graphicFrame>
        <p:nvGraphicFramePr>
          <p:cNvPr id="3" name="表格 2"/>
          <p:cNvGraphicFramePr/>
          <p:nvPr>
            <p:custDataLst>
              <p:tags r:id="rId2"/>
            </p:custDataLst>
            <p:extLst>
              <p:ext uri="{D42A27DB-BD31-4B8C-83A1-F6EECF244321}">
                <p14:modId xmlns:p14="http://schemas.microsoft.com/office/powerpoint/2010/main" val="2482411078"/>
              </p:ext>
            </p:extLst>
          </p:nvPr>
        </p:nvGraphicFramePr>
        <p:xfrm>
          <a:off x="176062" y="2346365"/>
          <a:ext cx="11924784" cy="4298757"/>
        </p:xfrm>
        <a:graphic>
          <a:graphicData uri="http://schemas.openxmlformats.org/drawingml/2006/table">
            <a:tbl>
              <a:tblPr/>
              <a:tblGrid>
                <a:gridCol w="2822800">
                  <a:extLst>
                    <a:ext uri="{9D8B030D-6E8A-4147-A177-3AD203B41FA5}">
                      <a16:colId xmlns:a16="http://schemas.microsoft.com/office/drawing/2014/main" val="20000"/>
                    </a:ext>
                  </a:extLst>
                </a:gridCol>
                <a:gridCol w="9101984">
                  <a:extLst>
                    <a:ext uri="{9D8B030D-6E8A-4147-A177-3AD203B41FA5}">
                      <a16:colId xmlns:a16="http://schemas.microsoft.com/office/drawing/2014/main" val="20001"/>
                    </a:ext>
                  </a:extLst>
                </a:gridCol>
              </a:tblGrid>
              <a:tr h="288032">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Methods</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Instructions</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641985">
                <a:tc>
                  <a:txBody>
                    <a:bodyPr/>
                    <a:lstStyle/>
                    <a:p>
                      <a:pPr algn="ctr">
                        <a:lnSpc>
                          <a:spcPct val="150000"/>
                        </a:lnSpc>
                        <a:buClrTx/>
                        <a:buSzTx/>
                        <a:buFontTx/>
                        <a:buNone/>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boolean isNewTransaction()</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If the current method is the starting point of the transaction, then the current transaction is a new transaction</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424815">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boolean hasSavepoint()</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Determine if the current transaction has created a save point</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850265">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boolean isRollbackOnly()</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Determine whether the current transaction is marked as rollback-only, that is, whether the transaction can only perform the rollback operation and cannot commit</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425450">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void setRollbackOnly()</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Mark the current transaction as rollback-only</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424815">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boolean isCompleted()</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Determine whether the current transaction has been completed, that is, whether the transaction has been committed or rolled back</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425450">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void flush()</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Refresh the underlying modifications to the database</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84327"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 Overview of Spring Transaction Management</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2" name="直接连接符 41"/>
          <p:cNvCxnSpPr/>
          <p:nvPr>
            <p:custDataLst>
              <p:tags r:id="rId1"/>
            </p:custDataLst>
          </p:nvPr>
        </p:nvCxnSpPr>
        <p:spPr>
          <a:xfrm flipH="1">
            <a:off x="3276896" y="1862863"/>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4" name="直接连接符 42"/>
          <p:cNvCxnSpPr/>
          <p:nvPr>
            <p:custDataLst>
              <p:tags r:id="rId2"/>
            </p:custDataLst>
          </p:nvPr>
        </p:nvCxnSpPr>
        <p:spPr>
          <a:xfrm flipH="1">
            <a:off x="3276896" y="4608211"/>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10" name="直接连接符 44"/>
          <p:cNvCxnSpPr/>
          <p:nvPr>
            <p:custDataLst>
              <p:tags r:id="rId3"/>
            </p:custDataLst>
          </p:nvPr>
        </p:nvCxnSpPr>
        <p:spPr>
          <a:xfrm>
            <a:off x="3276896" y="1862862"/>
            <a:ext cx="0" cy="276606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11" name="椭圆 10"/>
          <p:cNvSpPr/>
          <p:nvPr>
            <p:custDataLst>
              <p:tags r:id="rId4"/>
            </p:custDataLst>
          </p:nvPr>
        </p:nvSpPr>
        <p:spPr>
          <a:xfrm>
            <a:off x="4183409" y="1331180"/>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2" name="椭圆 11"/>
          <p:cNvSpPr/>
          <p:nvPr>
            <p:custDataLst>
              <p:tags r:id="rId5"/>
            </p:custDataLst>
          </p:nvPr>
        </p:nvSpPr>
        <p:spPr>
          <a:xfrm>
            <a:off x="4183409" y="4054338"/>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4" name="椭圆 13"/>
          <p:cNvSpPr/>
          <p:nvPr>
            <p:custDataLst>
              <p:tags r:id="rId6"/>
            </p:custDataLst>
          </p:nvPr>
        </p:nvSpPr>
        <p:spPr>
          <a:xfrm>
            <a:off x="4266022" y="4146312"/>
            <a:ext cx="923799" cy="92379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5" name="Freeform 176"/>
          <p:cNvSpPr>
            <a:spLocks noEditPoints="1"/>
          </p:cNvSpPr>
          <p:nvPr>
            <p:custDataLst>
              <p:tags r:id="rId7"/>
            </p:custDataLst>
          </p:nvPr>
        </p:nvSpPr>
        <p:spPr bwMode="auto">
          <a:xfrm>
            <a:off x="4461058" y="4361185"/>
            <a:ext cx="605367" cy="575733"/>
          </a:xfrm>
          <a:custGeom>
            <a:avLst/>
            <a:gdLst>
              <a:gd name="T0" fmla="*/ 93 w 121"/>
              <a:gd name="T1" fmla="*/ 56 h 115"/>
              <a:gd name="T2" fmla="*/ 90 w 121"/>
              <a:gd name="T3" fmla="*/ 60 h 115"/>
              <a:gd name="T4" fmla="*/ 86 w 121"/>
              <a:gd name="T5" fmla="*/ 40 h 115"/>
              <a:gd name="T6" fmla="*/ 82 w 121"/>
              <a:gd name="T7" fmla="*/ 82 h 115"/>
              <a:gd name="T8" fmla="*/ 75 w 121"/>
              <a:gd name="T9" fmla="*/ 89 h 115"/>
              <a:gd name="T10" fmla="*/ 69 w 121"/>
              <a:gd name="T11" fmla="*/ 44 h 115"/>
              <a:gd name="T12" fmla="*/ 59 w 121"/>
              <a:gd name="T13" fmla="*/ 28 h 115"/>
              <a:gd name="T14" fmla="*/ 82 w 121"/>
              <a:gd name="T15" fmla="*/ 13 h 115"/>
              <a:gd name="T16" fmla="*/ 59 w 121"/>
              <a:gd name="T17" fmla="*/ 10 h 115"/>
              <a:gd name="T18" fmla="*/ 116 w 121"/>
              <a:gd name="T19" fmla="*/ 0 h 115"/>
              <a:gd name="T20" fmla="*/ 113 w 121"/>
              <a:gd name="T21" fmla="*/ 21 h 115"/>
              <a:gd name="T22" fmla="*/ 121 w 121"/>
              <a:gd name="T23" fmla="*/ 23 h 115"/>
              <a:gd name="T24" fmla="*/ 121 w 121"/>
              <a:gd name="T25" fmla="*/ 28 h 115"/>
              <a:gd name="T26" fmla="*/ 110 w 121"/>
              <a:gd name="T27" fmla="*/ 39 h 115"/>
              <a:gd name="T28" fmla="*/ 93 w 121"/>
              <a:gd name="T29" fmla="*/ 42 h 115"/>
              <a:gd name="T30" fmla="*/ 5 w 121"/>
              <a:gd name="T31" fmla="*/ 40 h 115"/>
              <a:gd name="T32" fmla="*/ 56 w 121"/>
              <a:gd name="T33" fmla="*/ 37 h 115"/>
              <a:gd name="T34" fmla="*/ 5 w 121"/>
              <a:gd name="T35" fmla="*/ 40 h 115"/>
              <a:gd name="T36" fmla="*/ 7 w 121"/>
              <a:gd name="T37" fmla="*/ 49 h 115"/>
              <a:gd name="T38" fmla="*/ 29 w 121"/>
              <a:gd name="T39" fmla="*/ 64 h 115"/>
              <a:gd name="T40" fmla="*/ 52 w 121"/>
              <a:gd name="T41" fmla="*/ 108 h 115"/>
              <a:gd name="T42" fmla="*/ 58 w 121"/>
              <a:gd name="T43" fmla="*/ 46 h 115"/>
              <a:gd name="T44" fmla="*/ 42 w 121"/>
              <a:gd name="T45" fmla="*/ 98 h 115"/>
              <a:gd name="T46" fmla="*/ 44 w 121"/>
              <a:gd name="T47" fmla="*/ 107 h 115"/>
              <a:gd name="T48" fmla="*/ 42 w 121"/>
              <a:gd name="T49" fmla="*/ 98 h 115"/>
              <a:gd name="T50" fmla="*/ 51 w 121"/>
              <a:gd name="T51" fmla="*/ 11 h 115"/>
              <a:gd name="T52" fmla="*/ 39 w 121"/>
              <a:gd name="T53" fmla="*/ 7 h 115"/>
              <a:gd name="T54" fmla="*/ 36 w 121"/>
              <a:gd name="T55" fmla="*/ 8 h 115"/>
              <a:gd name="T56" fmla="*/ 16 w 121"/>
              <a:gd name="T57" fmla="*/ 25 h 115"/>
              <a:gd name="T58" fmla="*/ 12 w 121"/>
              <a:gd name="T59" fmla="*/ 12 h 115"/>
              <a:gd name="T60" fmla="*/ 12 w 121"/>
              <a:gd name="T61" fmla="*/ 26 h 115"/>
              <a:gd name="T62" fmla="*/ 7 w 121"/>
              <a:gd name="T63" fmla="*/ 13 h 115"/>
              <a:gd name="T64" fmla="*/ 4 w 121"/>
              <a:gd name="T65" fmla="*/ 3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15">
                <a:moveTo>
                  <a:pt x="93" y="42"/>
                </a:moveTo>
                <a:cubicBezTo>
                  <a:pt x="93" y="56"/>
                  <a:pt x="93" y="56"/>
                  <a:pt x="93" y="56"/>
                </a:cubicBezTo>
                <a:cubicBezTo>
                  <a:pt x="93" y="58"/>
                  <a:pt x="92" y="60"/>
                  <a:pt x="90" y="60"/>
                </a:cubicBezTo>
                <a:cubicBezTo>
                  <a:pt x="90" y="60"/>
                  <a:pt x="90" y="60"/>
                  <a:pt x="90" y="60"/>
                </a:cubicBezTo>
                <a:cubicBezTo>
                  <a:pt x="88" y="60"/>
                  <a:pt x="86" y="58"/>
                  <a:pt x="86" y="56"/>
                </a:cubicBezTo>
                <a:cubicBezTo>
                  <a:pt x="86" y="40"/>
                  <a:pt x="86" y="40"/>
                  <a:pt x="86" y="40"/>
                </a:cubicBezTo>
                <a:cubicBezTo>
                  <a:pt x="85" y="42"/>
                  <a:pt x="84" y="43"/>
                  <a:pt x="82" y="44"/>
                </a:cubicBezTo>
                <a:cubicBezTo>
                  <a:pt x="82" y="82"/>
                  <a:pt x="82" y="82"/>
                  <a:pt x="82" y="82"/>
                </a:cubicBezTo>
                <a:cubicBezTo>
                  <a:pt x="82" y="86"/>
                  <a:pt x="79" y="89"/>
                  <a:pt x="75" y="89"/>
                </a:cubicBezTo>
                <a:cubicBezTo>
                  <a:pt x="75" y="89"/>
                  <a:pt x="75" y="89"/>
                  <a:pt x="75" y="89"/>
                </a:cubicBezTo>
                <a:cubicBezTo>
                  <a:pt x="72" y="89"/>
                  <a:pt x="69" y="86"/>
                  <a:pt x="69" y="82"/>
                </a:cubicBezTo>
                <a:cubicBezTo>
                  <a:pt x="69" y="44"/>
                  <a:pt x="69" y="44"/>
                  <a:pt x="69" y="44"/>
                </a:cubicBezTo>
                <a:cubicBezTo>
                  <a:pt x="63" y="42"/>
                  <a:pt x="59" y="36"/>
                  <a:pt x="59" y="29"/>
                </a:cubicBezTo>
                <a:cubicBezTo>
                  <a:pt x="59" y="29"/>
                  <a:pt x="59" y="28"/>
                  <a:pt x="59" y="28"/>
                </a:cubicBezTo>
                <a:cubicBezTo>
                  <a:pt x="59" y="16"/>
                  <a:pt x="59" y="16"/>
                  <a:pt x="59" y="16"/>
                </a:cubicBezTo>
                <a:cubicBezTo>
                  <a:pt x="82" y="13"/>
                  <a:pt x="82" y="13"/>
                  <a:pt x="82" y="13"/>
                </a:cubicBezTo>
                <a:cubicBezTo>
                  <a:pt x="84" y="10"/>
                  <a:pt x="84" y="10"/>
                  <a:pt x="84" y="10"/>
                </a:cubicBezTo>
                <a:cubicBezTo>
                  <a:pt x="59" y="10"/>
                  <a:pt x="59" y="10"/>
                  <a:pt x="59" y="10"/>
                </a:cubicBezTo>
                <a:cubicBezTo>
                  <a:pt x="59" y="6"/>
                  <a:pt x="59" y="6"/>
                  <a:pt x="59" y="6"/>
                </a:cubicBezTo>
                <a:cubicBezTo>
                  <a:pt x="116" y="0"/>
                  <a:pt x="116" y="0"/>
                  <a:pt x="116" y="0"/>
                </a:cubicBezTo>
                <a:cubicBezTo>
                  <a:pt x="121" y="16"/>
                  <a:pt x="121" y="16"/>
                  <a:pt x="121" y="16"/>
                </a:cubicBezTo>
                <a:cubicBezTo>
                  <a:pt x="113" y="21"/>
                  <a:pt x="113" y="21"/>
                  <a:pt x="113" y="21"/>
                </a:cubicBezTo>
                <a:cubicBezTo>
                  <a:pt x="112" y="24"/>
                  <a:pt x="112" y="24"/>
                  <a:pt x="112" y="24"/>
                </a:cubicBezTo>
                <a:cubicBezTo>
                  <a:pt x="121" y="23"/>
                  <a:pt x="121" y="23"/>
                  <a:pt x="121" y="23"/>
                </a:cubicBezTo>
                <a:cubicBezTo>
                  <a:pt x="121" y="28"/>
                  <a:pt x="121" y="28"/>
                  <a:pt x="121" y="28"/>
                </a:cubicBezTo>
                <a:cubicBezTo>
                  <a:pt x="121" y="28"/>
                  <a:pt x="121" y="28"/>
                  <a:pt x="121" y="28"/>
                </a:cubicBezTo>
                <a:cubicBezTo>
                  <a:pt x="121" y="28"/>
                  <a:pt x="121" y="28"/>
                  <a:pt x="121" y="28"/>
                </a:cubicBezTo>
                <a:cubicBezTo>
                  <a:pt x="121" y="34"/>
                  <a:pt x="116" y="39"/>
                  <a:pt x="110" y="39"/>
                </a:cubicBezTo>
                <a:cubicBezTo>
                  <a:pt x="107" y="39"/>
                  <a:pt x="105" y="38"/>
                  <a:pt x="103" y="37"/>
                </a:cubicBezTo>
                <a:cubicBezTo>
                  <a:pt x="101" y="40"/>
                  <a:pt x="97" y="42"/>
                  <a:pt x="93" y="42"/>
                </a:cubicBezTo>
                <a:cubicBezTo>
                  <a:pt x="93" y="42"/>
                  <a:pt x="93" y="42"/>
                  <a:pt x="93" y="42"/>
                </a:cubicBezTo>
                <a:close/>
                <a:moveTo>
                  <a:pt x="5" y="40"/>
                </a:moveTo>
                <a:cubicBezTo>
                  <a:pt x="54" y="30"/>
                  <a:pt x="54" y="30"/>
                  <a:pt x="54" y="30"/>
                </a:cubicBezTo>
                <a:cubicBezTo>
                  <a:pt x="56" y="37"/>
                  <a:pt x="56" y="37"/>
                  <a:pt x="56" y="37"/>
                </a:cubicBezTo>
                <a:cubicBezTo>
                  <a:pt x="6" y="47"/>
                  <a:pt x="6" y="47"/>
                  <a:pt x="6" y="47"/>
                </a:cubicBezTo>
                <a:cubicBezTo>
                  <a:pt x="5" y="40"/>
                  <a:pt x="5" y="40"/>
                  <a:pt x="5" y="40"/>
                </a:cubicBezTo>
                <a:close/>
                <a:moveTo>
                  <a:pt x="56" y="40"/>
                </a:moveTo>
                <a:cubicBezTo>
                  <a:pt x="7" y="49"/>
                  <a:pt x="7" y="49"/>
                  <a:pt x="7" y="49"/>
                </a:cubicBezTo>
                <a:cubicBezTo>
                  <a:pt x="7" y="52"/>
                  <a:pt x="7" y="54"/>
                  <a:pt x="8" y="56"/>
                </a:cubicBezTo>
                <a:cubicBezTo>
                  <a:pt x="16" y="56"/>
                  <a:pt x="23" y="59"/>
                  <a:pt x="29" y="64"/>
                </a:cubicBezTo>
                <a:cubicBezTo>
                  <a:pt x="32" y="79"/>
                  <a:pt x="28" y="104"/>
                  <a:pt x="37" y="111"/>
                </a:cubicBezTo>
                <a:cubicBezTo>
                  <a:pt x="42" y="115"/>
                  <a:pt x="49" y="114"/>
                  <a:pt x="52" y="108"/>
                </a:cubicBezTo>
                <a:cubicBezTo>
                  <a:pt x="57" y="97"/>
                  <a:pt x="44" y="76"/>
                  <a:pt x="42" y="62"/>
                </a:cubicBezTo>
                <a:cubicBezTo>
                  <a:pt x="45" y="54"/>
                  <a:pt x="51" y="49"/>
                  <a:pt x="58" y="46"/>
                </a:cubicBezTo>
                <a:cubicBezTo>
                  <a:pt x="57" y="44"/>
                  <a:pt x="57" y="42"/>
                  <a:pt x="56" y="40"/>
                </a:cubicBezTo>
                <a:close/>
                <a:moveTo>
                  <a:pt x="42" y="98"/>
                </a:moveTo>
                <a:cubicBezTo>
                  <a:pt x="45" y="98"/>
                  <a:pt x="47" y="99"/>
                  <a:pt x="48" y="102"/>
                </a:cubicBezTo>
                <a:cubicBezTo>
                  <a:pt x="48" y="104"/>
                  <a:pt x="47" y="107"/>
                  <a:pt x="44" y="107"/>
                </a:cubicBezTo>
                <a:cubicBezTo>
                  <a:pt x="42" y="108"/>
                  <a:pt x="39" y="106"/>
                  <a:pt x="39" y="104"/>
                </a:cubicBezTo>
                <a:cubicBezTo>
                  <a:pt x="38" y="101"/>
                  <a:pt x="40" y="99"/>
                  <a:pt x="42" y="98"/>
                </a:cubicBezTo>
                <a:close/>
                <a:moveTo>
                  <a:pt x="54" y="26"/>
                </a:moveTo>
                <a:cubicBezTo>
                  <a:pt x="51" y="11"/>
                  <a:pt x="51" y="11"/>
                  <a:pt x="51" y="11"/>
                </a:cubicBezTo>
                <a:cubicBezTo>
                  <a:pt x="50" y="8"/>
                  <a:pt x="46" y="6"/>
                  <a:pt x="42" y="6"/>
                </a:cubicBezTo>
                <a:cubicBezTo>
                  <a:pt x="39" y="7"/>
                  <a:pt x="39" y="7"/>
                  <a:pt x="39" y="7"/>
                </a:cubicBezTo>
                <a:cubicBezTo>
                  <a:pt x="39" y="13"/>
                  <a:pt x="39" y="13"/>
                  <a:pt x="39" y="13"/>
                </a:cubicBezTo>
                <a:cubicBezTo>
                  <a:pt x="36" y="8"/>
                  <a:pt x="36" y="8"/>
                  <a:pt x="36" y="8"/>
                </a:cubicBezTo>
                <a:cubicBezTo>
                  <a:pt x="14" y="12"/>
                  <a:pt x="14" y="12"/>
                  <a:pt x="14" y="12"/>
                </a:cubicBezTo>
                <a:cubicBezTo>
                  <a:pt x="16" y="25"/>
                  <a:pt x="16" y="25"/>
                  <a:pt x="16" y="25"/>
                </a:cubicBezTo>
                <a:cubicBezTo>
                  <a:pt x="16" y="26"/>
                  <a:pt x="16" y="26"/>
                  <a:pt x="16" y="26"/>
                </a:cubicBezTo>
                <a:cubicBezTo>
                  <a:pt x="12" y="12"/>
                  <a:pt x="12" y="12"/>
                  <a:pt x="12" y="12"/>
                </a:cubicBezTo>
                <a:cubicBezTo>
                  <a:pt x="10" y="13"/>
                  <a:pt x="10" y="13"/>
                  <a:pt x="10" y="13"/>
                </a:cubicBezTo>
                <a:cubicBezTo>
                  <a:pt x="12" y="26"/>
                  <a:pt x="12" y="26"/>
                  <a:pt x="12" y="26"/>
                </a:cubicBezTo>
                <a:cubicBezTo>
                  <a:pt x="11" y="26"/>
                  <a:pt x="11" y="26"/>
                  <a:pt x="11" y="26"/>
                </a:cubicBezTo>
                <a:cubicBezTo>
                  <a:pt x="7" y="13"/>
                  <a:pt x="7" y="13"/>
                  <a:pt x="7" y="13"/>
                </a:cubicBezTo>
                <a:cubicBezTo>
                  <a:pt x="3" y="14"/>
                  <a:pt x="0" y="18"/>
                  <a:pt x="1" y="21"/>
                </a:cubicBezTo>
                <a:cubicBezTo>
                  <a:pt x="4" y="36"/>
                  <a:pt x="4" y="36"/>
                  <a:pt x="4" y="36"/>
                </a:cubicBezTo>
                <a:lnTo>
                  <a:pt x="54" y="26"/>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16" name="椭圆 15"/>
          <p:cNvSpPr/>
          <p:nvPr>
            <p:custDataLst>
              <p:tags r:id="rId8"/>
            </p:custDataLst>
          </p:nvPr>
        </p:nvSpPr>
        <p:spPr>
          <a:xfrm>
            <a:off x="4275383" y="1423154"/>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9" name="Freeform 168"/>
          <p:cNvSpPr>
            <a:spLocks noEditPoints="1"/>
          </p:cNvSpPr>
          <p:nvPr>
            <p:custDataLst>
              <p:tags r:id="rId9"/>
            </p:custDataLst>
          </p:nvPr>
        </p:nvSpPr>
        <p:spPr bwMode="auto">
          <a:xfrm>
            <a:off x="4461057" y="1554887"/>
            <a:ext cx="552451" cy="615951"/>
          </a:xfrm>
          <a:custGeom>
            <a:avLst/>
            <a:gdLst>
              <a:gd name="T0" fmla="*/ 55 w 110"/>
              <a:gd name="T1" fmla="*/ 41 h 123"/>
              <a:gd name="T2" fmla="*/ 75 w 110"/>
              <a:gd name="T3" fmla="*/ 31 h 123"/>
              <a:gd name="T4" fmla="*/ 99 w 110"/>
              <a:gd name="T5" fmla="*/ 86 h 123"/>
              <a:gd name="T6" fmla="*/ 97 w 110"/>
              <a:gd name="T7" fmla="*/ 88 h 123"/>
              <a:gd name="T8" fmla="*/ 101 w 110"/>
              <a:gd name="T9" fmla="*/ 96 h 123"/>
              <a:gd name="T10" fmla="*/ 94 w 110"/>
              <a:gd name="T11" fmla="*/ 99 h 123"/>
              <a:gd name="T12" fmla="*/ 90 w 110"/>
              <a:gd name="T13" fmla="*/ 91 h 123"/>
              <a:gd name="T14" fmla="*/ 87 w 110"/>
              <a:gd name="T15" fmla="*/ 93 h 123"/>
              <a:gd name="T16" fmla="*/ 55 w 110"/>
              <a:gd name="T17" fmla="*/ 41 h 123"/>
              <a:gd name="T18" fmla="*/ 0 w 110"/>
              <a:gd name="T19" fmla="*/ 108 h 123"/>
              <a:gd name="T20" fmla="*/ 3 w 110"/>
              <a:gd name="T21" fmla="*/ 115 h 123"/>
              <a:gd name="T22" fmla="*/ 31 w 110"/>
              <a:gd name="T23" fmla="*/ 105 h 123"/>
              <a:gd name="T24" fmla="*/ 30 w 110"/>
              <a:gd name="T25" fmla="*/ 121 h 123"/>
              <a:gd name="T26" fmla="*/ 110 w 110"/>
              <a:gd name="T27" fmla="*/ 105 h 123"/>
              <a:gd name="T28" fmla="*/ 108 w 110"/>
              <a:gd name="T29" fmla="*/ 98 h 123"/>
              <a:gd name="T30" fmla="*/ 36 w 110"/>
              <a:gd name="T31" fmla="*/ 113 h 123"/>
              <a:gd name="T32" fmla="*/ 55 w 110"/>
              <a:gd name="T33" fmla="*/ 96 h 123"/>
              <a:gd name="T34" fmla="*/ 52 w 110"/>
              <a:gd name="T35" fmla="*/ 89 h 123"/>
              <a:gd name="T36" fmla="*/ 0 w 110"/>
              <a:gd name="T37" fmla="*/ 108 h 123"/>
              <a:gd name="T38" fmla="*/ 60 w 110"/>
              <a:gd name="T39" fmla="*/ 9 h 123"/>
              <a:gd name="T40" fmla="*/ 53 w 110"/>
              <a:gd name="T41" fmla="*/ 36 h 123"/>
              <a:gd name="T42" fmla="*/ 72 w 110"/>
              <a:gd name="T43" fmla="*/ 26 h 123"/>
              <a:gd name="T44" fmla="*/ 66 w 110"/>
              <a:gd name="T45" fmla="*/ 15 h 123"/>
              <a:gd name="T46" fmla="*/ 71 w 110"/>
              <a:gd name="T47" fmla="*/ 12 h 123"/>
              <a:gd name="T48" fmla="*/ 86 w 110"/>
              <a:gd name="T49" fmla="*/ 51 h 123"/>
              <a:gd name="T50" fmla="*/ 93 w 110"/>
              <a:gd name="T51" fmla="*/ 48 h 123"/>
              <a:gd name="T52" fmla="*/ 77 w 110"/>
              <a:gd name="T53" fmla="*/ 5 h 123"/>
              <a:gd name="T54" fmla="*/ 75 w 110"/>
              <a:gd name="T55" fmla="*/ 2 h 123"/>
              <a:gd name="T56" fmla="*/ 72 w 110"/>
              <a:gd name="T57" fmla="*/ 3 h 123"/>
              <a:gd name="T58" fmla="*/ 60 w 110"/>
              <a:gd name="T59" fmla="*/ 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0" h="123">
                <a:moveTo>
                  <a:pt x="55" y="41"/>
                </a:moveTo>
                <a:cubicBezTo>
                  <a:pt x="75" y="31"/>
                  <a:pt x="75" y="31"/>
                  <a:pt x="75" y="31"/>
                </a:cubicBezTo>
                <a:cubicBezTo>
                  <a:pt x="99" y="86"/>
                  <a:pt x="99" y="86"/>
                  <a:pt x="99" y="86"/>
                </a:cubicBezTo>
                <a:cubicBezTo>
                  <a:pt x="97" y="88"/>
                  <a:pt x="97" y="88"/>
                  <a:pt x="97" y="88"/>
                </a:cubicBezTo>
                <a:cubicBezTo>
                  <a:pt x="101" y="96"/>
                  <a:pt x="101" y="96"/>
                  <a:pt x="101" y="96"/>
                </a:cubicBezTo>
                <a:cubicBezTo>
                  <a:pt x="94" y="99"/>
                  <a:pt x="94" y="99"/>
                  <a:pt x="94" y="99"/>
                </a:cubicBezTo>
                <a:cubicBezTo>
                  <a:pt x="90" y="91"/>
                  <a:pt x="90" y="91"/>
                  <a:pt x="90" y="91"/>
                </a:cubicBezTo>
                <a:cubicBezTo>
                  <a:pt x="87" y="93"/>
                  <a:pt x="87" y="93"/>
                  <a:pt x="87" y="93"/>
                </a:cubicBezTo>
                <a:cubicBezTo>
                  <a:pt x="55" y="41"/>
                  <a:pt x="55" y="41"/>
                  <a:pt x="55" y="41"/>
                </a:cubicBezTo>
                <a:close/>
                <a:moveTo>
                  <a:pt x="0" y="108"/>
                </a:moveTo>
                <a:cubicBezTo>
                  <a:pt x="3" y="115"/>
                  <a:pt x="3" y="115"/>
                  <a:pt x="3" y="115"/>
                </a:cubicBezTo>
                <a:cubicBezTo>
                  <a:pt x="31" y="105"/>
                  <a:pt x="31" y="105"/>
                  <a:pt x="31" y="105"/>
                </a:cubicBezTo>
                <a:cubicBezTo>
                  <a:pt x="23" y="112"/>
                  <a:pt x="19" y="119"/>
                  <a:pt x="30" y="121"/>
                </a:cubicBezTo>
                <a:cubicBezTo>
                  <a:pt x="44" y="123"/>
                  <a:pt x="110" y="105"/>
                  <a:pt x="110" y="105"/>
                </a:cubicBezTo>
                <a:cubicBezTo>
                  <a:pt x="108" y="98"/>
                  <a:pt x="108" y="98"/>
                  <a:pt x="108" y="98"/>
                </a:cubicBezTo>
                <a:cubicBezTo>
                  <a:pt x="108" y="98"/>
                  <a:pt x="49" y="115"/>
                  <a:pt x="36" y="113"/>
                </a:cubicBezTo>
                <a:cubicBezTo>
                  <a:pt x="33" y="112"/>
                  <a:pt x="55" y="96"/>
                  <a:pt x="55" y="96"/>
                </a:cubicBezTo>
                <a:cubicBezTo>
                  <a:pt x="52" y="89"/>
                  <a:pt x="52" y="89"/>
                  <a:pt x="52" y="89"/>
                </a:cubicBezTo>
                <a:cubicBezTo>
                  <a:pt x="0" y="108"/>
                  <a:pt x="0" y="108"/>
                  <a:pt x="0" y="108"/>
                </a:cubicBezTo>
                <a:close/>
                <a:moveTo>
                  <a:pt x="60" y="9"/>
                </a:moveTo>
                <a:cubicBezTo>
                  <a:pt x="48" y="0"/>
                  <a:pt x="40" y="12"/>
                  <a:pt x="53" y="36"/>
                </a:cubicBezTo>
                <a:cubicBezTo>
                  <a:pt x="72" y="26"/>
                  <a:pt x="72" y="26"/>
                  <a:pt x="72" y="26"/>
                </a:cubicBezTo>
                <a:cubicBezTo>
                  <a:pt x="70" y="21"/>
                  <a:pt x="68" y="18"/>
                  <a:pt x="66" y="15"/>
                </a:cubicBezTo>
                <a:cubicBezTo>
                  <a:pt x="71" y="12"/>
                  <a:pt x="71" y="12"/>
                  <a:pt x="71" y="12"/>
                </a:cubicBezTo>
                <a:cubicBezTo>
                  <a:pt x="86" y="51"/>
                  <a:pt x="86" y="51"/>
                  <a:pt x="86" y="51"/>
                </a:cubicBezTo>
                <a:cubicBezTo>
                  <a:pt x="93" y="48"/>
                  <a:pt x="93" y="48"/>
                  <a:pt x="93" y="48"/>
                </a:cubicBezTo>
                <a:cubicBezTo>
                  <a:pt x="77" y="5"/>
                  <a:pt x="77" y="5"/>
                  <a:pt x="77" y="5"/>
                </a:cubicBezTo>
                <a:cubicBezTo>
                  <a:pt x="75" y="2"/>
                  <a:pt x="75" y="2"/>
                  <a:pt x="75" y="2"/>
                </a:cubicBezTo>
                <a:cubicBezTo>
                  <a:pt x="72" y="3"/>
                  <a:pt x="72" y="3"/>
                  <a:pt x="72" y="3"/>
                </a:cubicBezTo>
                <a:lnTo>
                  <a:pt x="60" y="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20" name="TextBox 33"/>
          <p:cNvSpPr txBox="1"/>
          <p:nvPr>
            <p:custDataLst>
              <p:tags r:id="rId10"/>
            </p:custDataLst>
          </p:nvPr>
        </p:nvSpPr>
        <p:spPr>
          <a:xfrm>
            <a:off x="5383130" y="1845618"/>
            <a:ext cx="6576695" cy="1246505"/>
          </a:xfrm>
          <a:prstGeom prst="rect">
            <a:avLst/>
          </a:prstGeom>
          <a:noFill/>
        </p:spPr>
        <p:txBody>
          <a:bodyPr wrap="square" lIns="0" tIns="0" rIns="0" bIns="0" rtlCol="0">
            <a:no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algn="l" defTabSz="1219200">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Manage operations such as starting, committing, and rolling back transactions by writing code. Developers can take control of transactions by directly invoking the transaction management API in their code</a:t>
            </a:r>
          </a:p>
        </p:txBody>
      </p:sp>
      <p:sp>
        <p:nvSpPr>
          <p:cNvPr id="21" name="文本框 9"/>
          <p:cNvSpPr txBox="1"/>
          <p:nvPr>
            <p:custDataLst>
              <p:tags r:id="rId11"/>
            </p:custDataLst>
          </p:nvPr>
        </p:nvSpPr>
        <p:spPr>
          <a:xfrm>
            <a:off x="5602650" y="1423154"/>
            <a:ext cx="4885044" cy="32778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Program transaction management</a:t>
            </a:r>
          </a:p>
        </p:txBody>
      </p:sp>
      <p:sp>
        <p:nvSpPr>
          <p:cNvPr id="22" name="TextBox 33"/>
          <p:cNvSpPr txBox="1"/>
          <p:nvPr>
            <p:custDataLst>
              <p:tags r:id="rId12"/>
            </p:custDataLst>
          </p:nvPr>
        </p:nvSpPr>
        <p:spPr>
          <a:xfrm>
            <a:off x="3934968" y="4239213"/>
            <a:ext cx="8024856" cy="1661795"/>
          </a:xfrm>
          <a:prstGeom prst="rect">
            <a:avLst/>
          </a:prstGeom>
          <a:noFill/>
        </p:spPr>
        <p:txBody>
          <a:bodyPr wrap="square" lIns="0" tIns="0" rIns="0" bIns="0" rtlCol="0">
            <a:no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0" algn="l" defTabSz="1219200">
              <a:lnSpc>
                <a:spcPct val="170000"/>
              </a:lnSpc>
            </a:pPr>
            <a:r>
              <a:rPr lang="zh-CN" altLang="en-US" sz="2000" dirty="0">
                <a:solidFill>
                  <a:srgbClr val="595959"/>
                </a:solidFill>
                <a:latin typeface="微软雅黑" panose="020B0503020204020204" pitchFamily="34" charset="-122"/>
                <a:ea typeface="微软雅黑" panose="020B0503020204020204" pitchFamily="34" charset="-122"/>
                <a:sym typeface="+mn-ea"/>
              </a:rPr>
              <a:t>Declare how transactions are managed either in a configuration file or by using annotations. Declarative transaction management implements transaction management through AOP technology, allowing developers to separate transaction management from business logic, making the code clearer and more concise</a:t>
            </a:r>
          </a:p>
        </p:txBody>
      </p:sp>
      <p:sp>
        <p:nvSpPr>
          <p:cNvPr id="23" name="文本框 9"/>
          <p:cNvSpPr txBox="1"/>
          <p:nvPr>
            <p:custDataLst>
              <p:tags r:id="rId13"/>
            </p:custDataLst>
          </p:nvPr>
        </p:nvSpPr>
        <p:spPr>
          <a:xfrm>
            <a:off x="5602650" y="3855575"/>
            <a:ext cx="4801587" cy="34082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1800" b="1">
                <a:solidFill>
                  <a:schemeClr val="tx1">
                    <a:lumMod val="75000"/>
                    <a:lumOff val="25000"/>
                  </a:schemeClr>
                </a:solidFill>
                <a:latin typeface="微软雅黑" panose="020B0503020204020204" pitchFamily="34" charset="-122"/>
                <a:ea typeface="微软雅黑" panose="020B0503020204020204" pitchFamily="34" charset="-122"/>
              </a:defRPr>
            </a:lvl2pPr>
            <a:lvl3pPr defTabSz="1218565"/>
            <a:lvl4pPr defTabSz="1218565"/>
            <a:lvl5pPr defTabSz="1218565"/>
            <a:lvl6pPr defTabSz="1218565"/>
            <a:lvl7pPr defTabSz="1218565"/>
            <a:lvl8pPr defTabSz="1218565"/>
            <a:lvl9pPr defTabSz="1218565"/>
          </a:lstStyle>
          <a:p>
            <a:pPr lvl="1"/>
            <a:r>
              <a:rPr lang="zh-CN" altLang="en-US" dirty="0"/>
              <a:t>Declarative transaction management</a:t>
            </a:r>
          </a:p>
        </p:txBody>
      </p:sp>
      <p:sp>
        <p:nvSpPr>
          <p:cNvPr id="26" name="文本框 9"/>
          <p:cNvSpPr txBox="1"/>
          <p:nvPr>
            <p:custDataLst>
              <p:tags r:id="rId14"/>
            </p:custDataLst>
          </p:nvPr>
        </p:nvSpPr>
        <p:spPr>
          <a:xfrm>
            <a:off x="334566" y="2853730"/>
            <a:ext cx="3076743" cy="74275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Transaction management approach</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4727054" y="3141762"/>
            <a:ext cx="6824106" cy="768350"/>
          </a:xfrm>
          <a:prstGeom prst="rect">
            <a:avLst/>
          </a:prstGeom>
          <a:noFill/>
        </p:spPr>
        <p:txBody>
          <a:bodyPr wrap="square" lIns="91443" tIns="45720" rIns="91443" bIns="45720" rtlCol="0">
            <a:noAutofit/>
          </a:bodyPr>
          <a:lstStyle/>
          <a:p>
            <a:r>
              <a:rPr sz="28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Declarative transaction management</a:t>
            </a: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4.3</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98588"/>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4.3 Declarative Transaction Management</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96128" y="1808289"/>
            <a:ext cx="10335895" cy="3243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Spring's declarative transaction management is a very practical and widely adopted approach in enterprise-level applications, which can effectively simplify the implementation of transaction management and improve the quality and maintainability of code. </a:t>
            </a:r>
            <a:r>
              <a:rPr lang="zh-CN" altLang="zh-CN" sz="2000" dirty="0">
                <a:solidFill>
                  <a:srgbClr val="0070C0"/>
                </a:solidFill>
                <a:latin typeface="微软雅黑" panose="020B0503020204020204" pitchFamily="34" charset="-122"/>
                <a:ea typeface="微软雅黑" panose="020B0503020204020204" pitchFamily="34" charset="-122"/>
              </a:rPr>
              <a:t>Spring's declarative transaction management can be implemented in two ways, one XML-based and the other annotation-based. </a:t>
            </a:r>
            <a:r>
              <a:rPr lang="zh-CN" altLang="zh-CN" sz="2000" dirty="0">
                <a:solidFill>
                  <a:srgbClr val="595959"/>
                </a:solidFill>
                <a:latin typeface="微软雅黑" panose="020B0503020204020204" pitchFamily="34" charset="-122"/>
                <a:ea typeface="微软雅黑" panose="020B0503020204020204" pitchFamily="34" charset="-122"/>
              </a:rPr>
              <a:t>This section will cover both of these declarative transaction management approaches.</a:t>
            </a:r>
          </a:p>
        </p:txBody>
      </p:sp>
      <p:sp>
        <p:nvSpPr>
          <p:cNvPr id="2" name="圆角矩形 1"/>
          <p:cNvSpPr/>
          <p:nvPr>
            <p:custDataLst>
              <p:tags r:id="rId2"/>
            </p:custDataLst>
          </p:nvPr>
        </p:nvSpPr>
        <p:spPr>
          <a:xfrm>
            <a:off x="1009014" y="1517332"/>
            <a:ext cx="10427335" cy="4072701"/>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0" name="矩形 93"/>
          <p:cNvSpPr/>
          <p:nvPr>
            <p:custDataLst>
              <p:tags r:id="rId3"/>
            </p:custDataLst>
          </p:nvPr>
        </p:nvSpPr>
        <p:spPr>
          <a:xfrm>
            <a:off x="939482" y="1459548"/>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1" name="矩形 93"/>
          <p:cNvSpPr/>
          <p:nvPr>
            <p:custDataLst>
              <p:tags r:id="rId4"/>
            </p:custDataLst>
          </p:nvPr>
        </p:nvSpPr>
        <p:spPr>
          <a:xfrm rot="10800000">
            <a:off x="11118311" y="5123307"/>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6651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4.3.1 Declarative Transaction Management based on XML</a:t>
            </a:r>
          </a:p>
        </p:txBody>
      </p:sp>
      <p:pic>
        <p:nvPicPr>
          <p:cNvPr id="6" name="图片 5"/>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5315900" y="2926251"/>
            <a:ext cx="5445760" cy="1077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transaction management in an XML-based way</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8"/>
          <p:cNvSpPr txBox="1"/>
          <p:nvPr>
            <p:custDataLst>
              <p:tags r:id="rId1"/>
            </p:custDataLst>
          </p:nvPr>
        </p:nvSpPr>
        <p:spPr>
          <a:xfrm>
            <a:off x="550590" y="930876"/>
            <a:ext cx="10899095" cy="5683374"/>
          </a:xfrm>
          <a:prstGeom prst="rect">
            <a:avLst/>
          </a:prstGeom>
          <a:noFill/>
        </p:spPr>
        <p:txBody>
          <a:bodyPr wrap="square" lIns="0" tIns="0" rIns="0" bIns="0" rtlCol="0">
            <a:noAutofit/>
          </a:bodyPr>
          <a:lstStyle/>
          <a:p>
            <a:pPr algn="just">
              <a:lnSpc>
                <a:spcPct val="150000"/>
              </a:lnSpc>
              <a:buClrTx/>
              <a:buSzTx/>
              <a:buFontTx/>
            </a:pPr>
            <a:r>
              <a:rPr sz="2000" dirty="0">
                <a:solidFill>
                  <a:srgbClr val="595959"/>
                </a:solidFill>
                <a:latin typeface="微软雅黑" panose="020B0503020204020204" pitchFamily="34" charset="-122"/>
                <a:ea typeface="微软雅黑" panose="020B0503020204020204" pitchFamily="34" charset="-122"/>
                <a:sym typeface="+mn-lt"/>
              </a:rPr>
              <a:t>Declarative transaction management based on XML is achieved by configuring relevant declarations of transaction rules in an XML configuration file. When configuring declarative transaction management using an XML file, first introduce the tx namespace. After introducing the tx namespace, </a:t>
            </a:r>
            <a:r>
              <a:rPr sz="2000" dirty="0">
                <a:solidFill>
                  <a:srgbClr val="0070C0"/>
                </a:solidFill>
                <a:latin typeface="微软雅黑" panose="020B0503020204020204" pitchFamily="34" charset="-122"/>
                <a:ea typeface="微软雅黑" panose="020B0503020204020204" pitchFamily="34" charset="-122"/>
                <a:sym typeface="+mn-lt"/>
              </a:rPr>
              <a:t>you can use the &lt;tx:advice&gt; tag to configure transaction notifications for transaction management.</a:t>
            </a:r>
            <a:endParaRPr lang="en-US" altLang="zh-CN" sz="2000" dirty="0" err="1">
              <a:solidFill>
                <a:srgbClr val="0070C0"/>
              </a:solidFill>
              <a:latin typeface="微软雅黑" panose="020B0503020204020204" pitchFamily="34" charset="-122"/>
              <a:ea typeface="微软雅黑" panose="020B0503020204020204" pitchFamily="34" charset="-122"/>
              <a:sym typeface="+mn-lt"/>
            </a:endParaRPr>
          </a:p>
          <a:p>
            <a:pPr algn="just">
              <a:lnSpc>
                <a:spcPct val="150000"/>
              </a:lnSpc>
              <a:buClrTx/>
              <a:buSzTx/>
              <a:buFontTx/>
            </a:pPr>
            <a:r>
              <a:rPr lang="en-US" altLang="zh-CN" sz="2000" dirty="0" err="1">
                <a:solidFill>
                  <a:srgbClr val="0070C0"/>
                </a:solidFill>
                <a:latin typeface="微软雅黑" panose="020B0503020204020204" pitchFamily="34" charset="-122"/>
                <a:ea typeface="微软雅黑" panose="020B0503020204020204" pitchFamily="34" charset="-122"/>
                <a:sym typeface="+mn-lt"/>
              </a:rPr>
              <a:t>When configuring the &lt;tx:advice&gt; tag, you typically need to specify the id and transaction-manager properties, where the id property is the unique identifier in the configuration file and the transaction-manager property is used to specify the transaction manager. In addition, the &lt;tx:advice&gt; tag contains sub-tags &lt;tx:attributes&gt;. The &lt;tx:attributes&gt; tag can configure multiple &lt;tx:method&gt; sub-tags, which are mainly used to configure specific transaction properties for each method, Including propagation behavior, isolation level, timeouts, etc.</a:t>
            </a:r>
          </a:p>
        </p:txBody>
      </p:sp>
      <p:sp>
        <p:nvSpPr>
          <p:cNvPr id="31" name="Title 1"/>
          <p:cNvSpPr txBox="1"/>
          <p:nvPr>
            <p:custDataLst>
              <p:tags r:id="rId2"/>
            </p:custDataLst>
          </p:nvPr>
        </p:nvSpPr>
        <p:spPr>
          <a:xfrm>
            <a:off x="1143635" y="266700"/>
            <a:ext cx="6576695" cy="506095"/>
          </a:xfrm>
          <a:prstGeom prst="rect">
            <a:avLst/>
          </a:prstGeom>
        </p:spPr>
        <p:txBody>
          <a:bodyPr lIns="0" tIns="60958" rIns="0" bIns="60958" anchor="ctr">
            <a:normAutofit fontScale="6651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4.3.1 Declarative Transaction management based on XML</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rmAutofit fontScale="6651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4.3.1 Declarative Transaction management based on XML</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3574926" y="772795"/>
            <a:ext cx="5942369" cy="553085"/>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Common attributes for &lt;tx:method&gt; tags</a:t>
            </a:r>
          </a:p>
        </p:txBody>
      </p:sp>
      <p:graphicFrame>
        <p:nvGraphicFramePr>
          <p:cNvPr id="2" name="表格 1"/>
          <p:cNvGraphicFramePr/>
          <p:nvPr>
            <p:custDataLst>
              <p:tags r:id="rId2"/>
            </p:custDataLst>
            <p:extLst>
              <p:ext uri="{D42A27DB-BD31-4B8C-83A1-F6EECF244321}">
                <p14:modId xmlns:p14="http://schemas.microsoft.com/office/powerpoint/2010/main" val="4201910320"/>
              </p:ext>
            </p:extLst>
          </p:nvPr>
        </p:nvGraphicFramePr>
        <p:xfrm>
          <a:off x="550590" y="1353674"/>
          <a:ext cx="11233248" cy="5237226"/>
        </p:xfrm>
        <a:graphic>
          <a:graphicData uri="http://schemas.openxmlformats.org/drawingml/2006/table">
            <a:tbl>
              <a:tblPr/>
              <a:tblGrid>
                <a:gridCol w="2880320">
                  <a:extLst>
                    <a:ext uri="{9D8B030D-6E8A-4147-A177-3AD203B41FA5}">
                      <a16:colId xmlns:a16="http://schemas.microsoft.com/office/drawing/2014/main" val="20000"/>
                    </a:ext>
                  </a:extLst>
                </a:gridCol>
                <a:gridCol w="8352928">
                  <a:extLst>
                    <a:ext uri="{9D8B030D-6E8A-4147-A177-3AD203B41FA5}">
                      <a16:colId xmlns:a16="http://schemas.microsoft.com/office/drawing/2014/main" val="20001"/>
                    </a:ext>
                  </a:extLst>
                </a:gridCol>
              </a:tblGrid>
              <a:tr h="466090">
                <a:tc>
                  <a:txBody>
                    <a:bodyPr/>
                    <a:lstStyle/>
                    <a:p>
                      <a:pPr indent="0" algn="ctr">
                        <a:buNone/>
                      </a:pPr>
                      <a:r>
                        <a:rPr lang="en-US" sz="2000" b="1" dirty="0">
                          <a:latin typeface="微软雅黑" panose="020B0503020204020204" pitchFamily="34" charset="-122"/>
                          <a:ea typeface="微软雅黑" panose="020B0503020204020204" pitchFamily="34" charset="-122"/>
                          <a:cs typeface="宋体" panose="02010600030101010101" pitchFamily="2" charset="-122"/>
                        </a:rPr>
                        <a:t>Properties</a:t>
                      </a:r>
                      <a:endParaRPr lang="en-US" altLang="en-US" sz="20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a:buNone/>
                      </a:pPr>
                      <a:r>
                        <a:rPr lang="en-US" sz="2000" b="1">
                          <a:latin typeface="微软雅黑" panose="020B0503020204020204" pitchFamily="34" charset="-122"/>
                          <a:ea typeface="微软雅黑" panose="020B0503020204020204" pitchFamily="34" charset="-122"/>
                          <a:cs typeface="宋体" panose="02010600030101010101" pitchFamily="2" charset="-122"/>
                        </a:rPr>
                        <a:t>Description</a:t>
                      </a:r>
                      <a:endParaRPr lang="en-US" altLang="en-US" sz="20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865505">
                <a:tc>
                  <a:txBody>
                    <a:bodyPr/>
                    <a:lstStyle/>
                    <a:p>
                      <a:pPr algn="ctr">
                        <a:lnSpc>
                          <a:spcPct val="150000"/>
                        </a:lnSpc>
                        <a:buClrTx/>
                        <a:buSzTx/>
                        <a:buFontTx/>
                        <a:buNone/>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name</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Used to specify the matching pattern for the method name, this attribute is mandatory and it specifies the method name associated with the transaction attribute</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433070">
                <a:tc>
                  <a:txBody>
                    <a:bodyPr/>
                    <a:lstStyle/>
                    <a:p>
                      <a:pPr algn="ctr">
                        <a:lnSpc>
                          <a:spcPct val="150000"/>
                        </a:lnSpc>
                        <a:buClrTx/>
                        <a:buSzTx/>
                        <a:buFontTx/>
                        <a:buNone/>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propagation</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Used to specify the propagation behavior of a transaction</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433070">
                <a:tc>
                  <a:txBody>
                    <a:bodyPr/>
                    <a:lstStyle/>
                    <a:p>
                      <a:pPr algn="ctr">
                        <a:lnSpc>
                          <a:spcPct val="150000"/>
                        </a:lnSpc>
                        <a:buClrTx/>
                        <a:buSzTx/>
                        <a:buFontTx/>
                        <a:buNone/>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isolation</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Used to specify the isolation level of a transaction</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433070">
                <a:tc>
                  <a:txBody>
                    <a:bodyPr/>
                    <a:lstStyle/>
                    <a:p>
                      <a:pPr algn="ctr">
                        <a:lnSpc>
                          <a:spcPct val="150000"/>
                        </a:lnSpc>
                        <a:buClrTx/>
                        <a:buSzTx/>
                        <a:buFontTx/>
                        <a:buNone/>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read-only</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Used to specify whether a transaction is read-only</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433070">
                <a:tc>
                  <a:txBody>
                    <a:bodyPr/>
                    <a:lstStyle/>
                    <a:p>
                      <a:pPr algn="ctr">
                        <a:lnSpc>
                          <a:spcPct val="150000"/>
                        </a:lnSpc>
                        <a:buClrTx/>
                        <a:buSzTx/>
                        <a:buFontTx/>
                        <a:buNone/>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timeout</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Used to specify the transaction timeout</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433070">
                <a:tc>
                  <a:txBody>
                    <a:bodyPr/>
                    <a:lstStyle/>
                    <a:p>
                      <a:pPr algn="ctr">
                        <a:lnSpc>
                          <a:spcPct val="150000"/>
                        </a:lnSpc>
                        <a:buClrTx/>
                        <a:buSzTx/>
                        <a:buFontTx/>
                        <a:buNone/>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rollback-for</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Used to specify the exception class that triggers the transaction rollback</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433070">
                <a:tc>
                  <a:txBody>
                    <a:bodyPr/>
                    <a:lstStyle/>
                    <a:p>
                      <a:pPr algn="ctr">
                        <a:lnSpc>
                          <a:spcPct val="150000"/>
                        </a:lnSpc>
                        <a:buClrTx/>
                        <a:buSzTx/>
                        <a:buFontTx/>
                        <a:buNone/>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no-rollback-for</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Used to specify an exception class that does not trigger a transaction rollback</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rmAutofit fontScale="6651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4.3.1 Declarative Transaction Management based on XML</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custDataLst>
              <p:tags r:id="rId2"/>
            </p:custDataLst>
          </p:nvPr>
        </p:nvSpPr>
        <p:spPr>
          <a:xfrm>
            <a:off x="913074" y="763131"/>
            <a:ext cx="10870764" cy="1003797"/>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Write a program that </a:t>
            </a:r>
            <a:r>
              <a:rPr lang="zh-CN" altLang="en-US" sz="2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simulates a bank transfer and requires control of the transaction through Spring at the time of the transfer.</a:t>
            </a:r>
          </a:p>
        </p:txBody>
      </p:sp>
      <p:grpSp>
        <p:nvGrpSpPr>
          <p:cNvPr id="2" name="组合 1"/>
          <p:cNvGrpSpPr/>
          <p:nvPr/>
        </p:nvGrpSpPr>
        <p:grpSpPr>
          <a:xfrm>
            <a:off x="866914" y="1751689"/>
            <a:ext cx="5372308" cy="476905"/>
            <a:chOff x="852276" y="1797999"/>
            <a:chExt cx="2780020" cy="476905"/>
          </a:xfrm>
        </p:grpSpPr>
        <p:sp>
          <p:nvSpPr>
            <p:cNvPr id="3" name="矩形: 圆角 6"/>
            <p:cNvSpPr/>
            <p:nvPr>
              <p:custDataLst>
                <p:tags r:id="rId9"/>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10"/>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Introduce the dependencies</a:t>
              </a:r>
            </a:p>
          </p:txBody>
        </p:sp>
      </p:grpSp>
      <p:pic>
        <p:nvPicPr>
          <p:cNvPr id="12" name="图片 11" descr="图片包含 形状  描述已自动生成"/>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2559656" y="4215867"/>
            <a:ext cx="2232248" cy="2232248"/>
          </a:xfrm>
          <a:prstGeom prst="rect">
            <a:avLst/>
          </a:prstGeom>
        </p:spPr>
      </p:pic>
      <p:grpSp>
        <p:nvGrpSpPr>
          <p:cNvPr id="10" name="组合 9"/>
          <p:cNvGrpSpPr/>
          <p:nvPr/>
        </p:nvGrpSpPr>
        <p:grpSpPr>
          <a:xfrm>
            <a:off x="5671205" y="421586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245722"/>
                <a:ext cx="3421380" cy="506730"/>
              </a:xfrm>
              <a:prstGeom prst="rect">
                <a:avLst/>
              </a:prstGeom>
              <a:noFill/>
            </p:spPr>
            <p:txBody>
              <a:bodyPr wrap="square" rtlCol="0">
                <a:normAutofit fontScale="97802"/>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zh-CN" altLang="en-US" sz="1800">
                    <a:sym typeface="+mn-ea"/>
                    <a:hlinkClick r:id="rId14"/>
                  </a:rPr>
                  <a:t>Introduce dependencies</a:t>
                </a:r>
                <a:endParaRPr lang="zh-CN" altLang="en-US" sz="1800">
                  <a:sym typeface="+mn-ea"/>
                </a:endParaRPr>
              </a:p>
            </p:txBody>
          </p:sp>
          <p:sp>
            <p:nvSpPr>
              <p:cNvPr id="17" name="圆角矩形 16"/>
              <p:cNvSpPr/>
              <p:nvPr>
                <p:custDataLst>
                  <p:tags r:id="rId7"/>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8"/>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5"/>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662438" y="5126050"/>
              <a:ext cx="914400" cy="914400"/>
            </a:xfrm>
            <a:prstGeom prst="rect">
              <a:avLst/>
            </a:prstGeom>
          </p:spPr>
        </p:pic>
      </p:grpSp>
      <p:sp>
        <p:nvSpPr>
          <p:cNvPr id="11" name="文本框 10"/>
          <p:cNvSpPr txBox="1"/>
          <p:nvPr>
            <p:custDataLst>
              <p:tags r:id="rId4"/>
            </p:custDataLst>
          </p:nvPr>
        </p:nvSpPr>
        <p:spPr>
          <a:xfrm>
            <a:off x="993775" y="2313939"/>
            <a:ext cx="10295890" cy="1868887"/>
          </a:xfrm>
          <a:prstGeom prst="rect">
            <a:avLst/>
          </a:prstGeom>
          <a:noFill/>
          <a:ln w="9525">
            <a:noFill/>
          </a:ln>
        </p:spPr>
        <p:txBody>
          <a:bodyPr wrap="square">
            <a:noAutofit/>
          </a:bodyPr>
          <a:lstStyle/>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Spring's declarative transaction management relies on AOP technology at the bottom layer. To implement this, you need to introduce </a:t>
            </a:r>
            <a:r>
              <a:rPr lang="zh-CN" altLang="en-US" sz="18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aspectjrt dependencies </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and </a:t>
            </a:r>
            <a:r>
              <a:rPr lang="zh-CN" altLang="en-US" sz="18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aspectjweaver dependencies</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 the pop.xml file of the chapter04 project as the dependency packages required for the implementation aspect. The specific code is as follows.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rmAutofit fontScale="6651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4.3.1 Declarative Transaction Management based on XML</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105894"/>
            <a:ext cx="4796244" cy="476905"/>
            <a:chOff x="852276" y="1797999"/>
            <a:chExt cx="2780020" cy="476905"/>
          </a:xfrm>
        </p:grpSpPr>
        <p:sp>
          <p:nvSpPr>
            <p:cNvPr id="3" name="矩形: 圆角 6"/>
            <p:cNvSpPr/>
            <p:nvPr>
              <p:custDataLst>
                <p:tags r:id="rId5"/>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6"/>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(2) Define the Dao layer method</a:t>
              </a:r>
            </a:p>
          </p:txBody>
        </p:sp>
      </p:grpSp>
      <p:sp>
        <p:nvSpPr>
          <p:cNvPr id="11" name="文本框 10"/>
          <p:cNvSpPr txBox="1"/>
          <p:nvPr>
            <p:custDataLst>
              <p:tags r:id="rId2"/>
            </p:custDataLst>
          </p:nvPr>
        </p:nvSpPr>
        <p:spPr>
          <a:xfrm>
            <a:off x="993775" y="1883410"/>
            <a:ext cx="10295890" cy="50673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 the </a:t>
            </a:r>
            <a:r>
              <a:rPr lang="zh-CN" altLang="en-US" sz="2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AccountDao</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interface of File 4-6, </a:t>
            </a:r>
            <a:r>
              <a:rPr lang="zh-CN" altLang="en-US" sz="2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declare the transfer method transfer(), </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and its code is as follows.</a:t>
            </a:r>
          </a:p>
        </p:txBody>
      </p:sp>
      <p:sp>
        <p:nvSpPr>
          <p:cNvPr id="5" name="矩形 4"/>
          <p:cNvSpPr/>
          <p:nvPr>
            <p:custDataLst>
              <p:tags r:id="rId3"/>
            </p:custDataLst>
          </p:nvPr>
        </p:nvSpPr>
        <p:spPr>
          <a:xfrm>
            <a:off x="1024204" y="3141762"/>
            <a:ext cx="10337800" cy="1800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8" name="矩形 7"/>
          <p:cNvSpPr/>
          <p:nvPr>
            <p:custDataLst>
              <p:tags r:id="rId4"/>
            </p:custDataLst>
          </p:nvPr>
        </p:nvSpPr>
        <p:spPr>
          <a:xfrm>
            <a:off x="1546174" y="3174147"/>
            <a:ext cx="9533890" cy="1116330"/>
          </a:xfrm>
          <a:prstGeom prst="rect">
            <a:avLst/>
          </a:prstGeom>
        </p:spPr>
        <p:txBody>
          <a:bodyPr wrap="square">
            <a:noAutofit/>
          </a:bodyPr>
          <a:lstStyle/>
          <a:p>
            <a:pPr algn="l">
              <a:lnSpc>
                <a:spcPct val="150000"/>
              </a:lnSpc>
              <a:defRPr/>
            </a:pPr>
            <a:r>
              <a:rPr sz="1800" dirty="0">
                <a:latin typeface="Courier New" panose="02070309020205020404" pitchFamily="49" charset="0"/>
                <a:sym typeface="+mn-ea"/>
              </a:rPr>
              <a:t> </a:t>
            </a:r>
            <a:r>
              <a:rPr sz="2000" dirty="0">
                <a:latin typeface="Courier New" panose="02070309020205020404" pitchFamily="49" charset="0"/>
                <a:sym typeface="+mn-ea"/>
              </a:rPr>
              <a:t>// Transfer</a:t>
            </a:r>
          </a:p>
          <a:p>
            <a:pPr algn="l">
              <a:lnSpc>
                <a:spcPct val="150000"/>
              </a:lnSpc>
              <a:defRPr/>
            </a:pPr>
            <a:r>
              <a:rPr sz="2000" dirty="0">
                <a:latin typeface="Courier New" panose="02070309020205020404" pitchFamily="49" charset="0"/>
                <a:sym typeface="+mn-ea"/>
              </a:rPr>
              <a:t> public void transfer(String </a:t>
            </a:r>
            <a:r>
              <a:rPr sz="2000" dirty="0" err="1">
                <a:latin typeface="Courier New" panose="02070309020205020404" pitchFamily="49" charset="0"/>
                <a:sym typeface="+mn-ea"/>
              </a:rPr>
              <a:t>outUser,String</a:t>
            </a:r>
            <a:r>
              <a:rPr sz="2000" dirty="0">
                <a:latin typeface="Courier New" panose="02070309020205020404" pitchFamily="49" charset="0"/>
                <a:sym typeface="+mn-ea"/>
              </a:rPr>
              <a:t> </a:t>
            </a:r>
            <a:r>
              <a:rPr sz="2000" dirty="0" err="1">
                <a:latin typeface="Courier New" panose="02070309020205020404" pitchFamily="49" charset="0"/>
                <a:sym typeface="+mn-ea"/>
              </a:rPr>
              <a:t>inUser,Double</a:t>
            </a:r>
            <a:r>
              <a:rPr sz="2000" dirty="0">
                <a:latin typeface="Courier New" panose="02070309020205020404" pitchFamily="49" charset="0"/>
                <a:sym typeface="+mn-ea"/>
              </a:rPr>
              <a:t> money);</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rmAutofit fontScale="59805"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4.3.1 Declarative Transaction management based on XML approach</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105894"/>
            <a:ext cx="5660340" cy="476905"/>
            <a:chOff x="852276" y="1797999"/>
            <a:chExt cx="2780020" cy="476905"/>
          </a:xfrm>
        </p:grpSpPr>
        <p:sp>
          <p:nvSpPr>
            <p:cNvPr id="3" name="矩形: 圆角 6"/>
            <p:cNvSpPr/>
            <p:nvPr>
              <p:custDataLst>
                <p:tags r:id="rId8"/>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(3) Implement the Dao layer method</a:t>
              </a:r>
            </a:p>
          </p:txBody>
        </p:sp>
      </p:grpSp>
      <p:sp>
        <p:nvSpPr>
          <p:cNvPr id="11" name="文本框 10"/>
          <p:cNvSpPr txBox="1"/>
          <p:nvPr>
            <p:custDataLst>
              <p:tags r:id="rId2"/>
            </p:custDataLst>
          </p:nvPr>
        </p:nvSpPr>
        <p:spPr>
          <a:xfrm>
            <a:off x="550590" y="1874930"/>
            <a:ext cx="11089232" cy="1111414"/>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Implement the transfer() method in the AccountDao interface in the AccountDaoImpl implementation class in file 4-7 as follows.</a:t>
            </a:r>
          </a:p>
        </p:txBody>
      </p:sp>
      <p:pic>
        <p:nvPicPr>
          <p:cNvPr id="12" name="图片 11" descr="图片包含 形状  描述已自动生成"/>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389232"/>
                <a:ext cx="342138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hlinkClick r:id="rId13"/>
                  </a:rPr>
                  <a:t>transfer() method</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rmAutofit fontScale="6651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4.3.1 Declarative Transaction Management based on XML</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105894"/>
            <a:ext cx="4940260" cy="476905"/>
            <a:chOff x="852276" y="1797999"/>
            <a:chExt cx="2780020" cy="476905"/>
          </a:xfrm>
        </p:grpSpPr>
        <p:sp>
          <p:nvSpPr>
            <p:cNvPr id="3" name="矩形: 圆角 6"/>
            <p:cNvSpPr/>
            <p:nvPr>
              <p:custDataLst>
                <p:tags r:id="rId8"/>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(4) Create the configuration file</a:t>
              </a:r>
            </a:p>
          </p:txBody>
        </p:sp>
      </p:grpSp>
      <p:sp>
        <p:nvSpPr>
          <p:cNvPr id="11" name="文本框 10"/>
          <p:cNvSpPr txBox="1"/>
          <p:nvPr>
            <p:custDataLst>
              <p:tags r:id="rId2"/>
            </p:custDataLst>
          </p:nvPr>
        </p:nvSpPr>
        <p:spPr>
          <a:xfrm>
            <a:off x="1092601" y="1717944"/>
            <a:ext cx="10259189" cy="1513374"/>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configuration file applicationContext.xml in the chapter04 project and configure the </a:t>
            </a:r>
            <a:r>
              <a:rPr lang="zh-CN" altLang="en-US" sz="2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transaction manager and transaction notifications in the configuration file, as shown in File 4-9.</a:t>
            </a:r>
          </a:p>
        </p:txBody>
      </p:sp>
      <p:pic>
        <p:nvPicPr>
          <p:cNvPr id="12" name="图片 11" descr="图片包含 形状  描述已自动生成"/>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2719839" y="3297930"/>
            <a:ext cx="2232248" cy="2232248"/>
          </a:xfrm>
          <a:prstGeom prst="rect">
            <a:avLst/>
          </a:prstGeom>
        </p:spPr>
      </p:pic>
      <p:grpSp>
        <p:nvGrpSpPr>
          <p:cNvPr id="10" name="组合 9"/>
          <p:cNvGrpSpPr/>
          <p:nvPr/>
        </p:nvGrpSpPr>
        <p:grpSpPr>
          <a:xfrm>
            <a:off x="5669365" y="3366463"/>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4-9</a:t>
                </a:r>
              </a:p>
              <a:p>
                <a:pPr algn="ctr"/>
                <a:r>
                  <a:rPr sz="1800">
                    <a:sym typeface="+mn-ea"/>
                    <a:hlinkClick r:id="rId13"/>
                  </a:rPr>
                  <a:t>applicationContext.xml</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rmAutofit fontScale="6651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4.3.1 Declarative Transaction Management based on XML</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105894"/>
            <a:ext cx="4436204" cy="476905"/>
            <a:chOff x="852276" y="1797999"/>
            <a:chExt cx="2780020" cy="476905"/>
          </a:xfrm>
        </p:grpSpPr>
        <p:sp>
          <p:nvSpPr>
            <p:cNvPr id="3" name="矩形: 圆角 6"/>
            <p:cNvSpPr/>
            <p:nvPr>
              <p:custDataLst>
                <p:tags r:id="rId8"/>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(5) Create the test class</a:t>
              </a:r>
            </a:p>
          </p:txBody>
        </p:sp>
      </p:grpSp>
      <p:sp>
        <p:nvSpPr>
          <p:cNvPr id="11" name="文本框 10"/>
          <p:cNvSpPr txBox="1"/>
          <p:nvPr>
            <p:custDataLst>
              <p:tags r:id="rId2"/>
            </p:custDataLst>
          </p:nvPr>
        </p:nvSpPr>
        <p:spPr>
          <a:xfrm>
            <a:off x="982638" y="1814109"/>
            <a:ext cx="10295890" cy="92202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test class TransactionTest in the test\java directory of the chapter04 project, and inject the AccountDao object into the test class as shown in File 4-10.</a:t>
            </a:r>
          </a:p>
        </p:txBody>
      </p:sp>
      <p:pic>
        <p:nvPicPr>
          <p:cNvPr id="12" name="图片 11" descr="图片包含 形状  描述已自动生成"/>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4-10</a:t>
                </a:r>
              </a:p>
              <a:p>
                <a:pPr algn="ctr"/>
                <a:r>
                  <a:rPr sz="1800">
                    <a:sym typeface="+mn-ea"/>
                    <a:hlinkClick r:id="rId13"/>
                  </a:rPr>
                  <a:t>TransactionTest.java</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rmAutofit fontScale="6651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4.3.1 Declarative Transaction Management based on XML</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105894"/>
            <a:ext cx="2780020" cy="476905"/>
            <a:chOff x="852276" y="1797999"/>
            <a:chExt cx="2780020" cy="476905"/>
          </a:xfrm>
        </p:grpSpPr>
        <p:sp>
          <p:nvSpPr>
            <p:cNvPr id="3" name="矩形: 圆角 6"/>
            <p:cNvSpPr/>
            <p:nvPr>
              <p:custDataLst>
                <p:tags r:id="rId4"/>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5"/>
              </p:custDataLst>
            </p:nvPr>
          </p:nvSpPr>
          <p:spPr>
            <a:xfrm>
              <a:off x="852276" y="1797999"/>
              <a:ext cx="2767965" cy="443865"/>
            </a:xfrm>
            <a:prstGeom prst="rect">
              <a:avLst/>
            </a:prstGeom>
            <a:noFill/>
          </p:spPr>
          <p:txBody>
            <a:bodyPr wrap="square" rtlCol="0">
              <a:normAutofit fontScale="98666"/>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20204" pitchFamily="34" charset="0"/>
                  <a:ea typeface="思源黑体 CN Normal" panose="020B0400000000000000" pitchFamily="34" charset="-122"/>
                  <a:sym typeface="Arial" panose="020B0604020202020204" pitchFamily="34" charset="0"/>
                </a:rPr>
                <a:t>(6) Test the results</a:t>
              </a:r>
            </a:p>
          </p:txBody>
        </p:sp>
      </p:grpSp>
      <p:sp>
        <p:nvSpPr>
          <p:cNvPr id="11" name="文本框 10"/>
          <p:cNvSpPr txBox="1"/>
          <p:nvPr>
            <p:custDataLst>
              <p:tags r:id="rId2"/>
            </p:custDataLst>
          </p:nvPr>
        </p:nvSpPr>
        <p:spPr>
          <a:xfrm>
            <a:off x="993914" y="1737080"/>
            <a:ext cx="10295890" cy="972634"/>
          </a:xfrm>
          <a:prstGeom prst="rect">
            <a:avLst/>
          </a:prstGeom>
          <a:noFill/>
          <a:ln w="9525">
            <a:noFill/>
          </a:ln>
        </p:spPr>
        <p:txBody>
          <a:bodyPr wrap="square">
            <a:noAutofit/>
          </a:bodyPr>
          <a:lstStyle/>
          <a:p>
            <a:pPr>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For the effect before and after the program runs, query the data in the current account data table before the program runs, as shown in the following figure.</a:t>
            </a:r>
          </a:p>
        </p:txBody>
      </p:sp>
      <p:pic>
        <p:nvPicPr>
          <p:cNvPr id="5" name="图片 -2147482595"/>
          <p:cNvPicPr>
            <a:picLocks noChangeAspect="1"/>
          </p:cNvPicPr>
          <p:nvPr>
            <p:custDataLst>
              <p:tags r:id="rId3"/>
            </p:custDataLst>
          </p:nvPr>
        </p:nvPicPr>
        <p:blipFill>
          <a:blip r:embed="rId8"/>
          <a:stretch>
            <a:fillRect/>
          </a:stretch>
        </p:blipFill>
        <p:spPr>
          <a:xfrm>
            <a:off x="2998862" y="2863995"/>
            <a:ext cx="6336704" cy="31320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rmAutofit fontScale="6651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4.3.1 Declarative Transaction management based on XML</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105894"/>
            <a:ext cx="2780020" cy="476905"/>
            <a:chOff x="852276" y="1797999"/>
            <a:chExt cx="2780020" cy="476905"/>
          </a:xfrm>
        </p:grpSpPr>
        <p:sp>
          <p:nvSpPr>
            <p:cNvPr id="3" name="矩形: 圆角 6"/>
            <p:cNvSpPr/>
            <p:nvPr>
              <p:custDataLst>
                <p:tags r:id="rId4"/>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5"/>
              </p:custDataLst>
            </p:nvPr>
          </p:nvSpPr>
          <p:spPr>
            <a:xfrm>
              <a:off x="852276" y="1797999"/>
              <a:ext cx="2767965" cy="443865"/>
            </a:xfrm>
            <a:prstGeom prst="rect">
              <a:avLst/>
            </a:prstGeom>
            <a:noFill/>
          </p:spPr>
          <p:txBody>
            <a:bodyPr wrap="square" rtlCol="0">
              <a:normAutofit fontScale="98666"/>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20204" pitchFamily="34" charset="0"/>
                  <a:ea typeface="思源黑体 CN Normal" panose="020B0400000000000000" pitchFamily="34" charset="-122"/>
                  <a:sym typeface="Arial" panose="020B0604020202020204" pitchFamily="34" charset="0"/>
                </a:rPr>
                <a:t>(6) Test the results</a:t>
              </a:r>
            </a:p>
          </p:txBody>
        </p:sp>
      </p:grpSp>
      <p:sp>
        <p:nvSpPr>
          <p:cNvPr id="11" name="文本框 10"/>
          <p:cNvSpPr txBox="1"/>
          <p:nvPr>
            <p:custDataLst>
              <p:tags r:id="rId2"/>
            </p:custDataLst>
          </p:nvPr>
        </p:nvSpPr>
        <p:spPr>
          <a:xfrm>
            <a:off x="947261" y="1659829"/>
            <a:ext cx="10295890" cy="506730"/>
          </a:xfrm>
          <a:prstGeom prst="rect">
            <a:avLst/>
          </a:prstGeom>
          <a:noFill/>
          <a:ln w="9525">
            <a:noFill/>
          </a:ln>
        </p:spPr>
        <p:txBody>
          <a:bodyPr wrap="square">
            <a:noAutofit/>
          </a:bodyPr>
          <a:lstStyle/>
          <a:p>
            <a:pPr>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rPr>
              <a:t>Run the testTransfer() method in file 4-10 and review the data in the account data sheet again, as shown in the following figure.</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2147482594"/>
          <p:cNvPicPr>
            <a:picLocks noChangeAspect="1"/>
          </p:cNvPicPr>
          <p:nvPr>
            <p:custDataLst>
              <p:tags r:id="rId3"/>
            </p:custDataLst>
          </p:nvPr>
        </p:nvPicPr>
        <p:blipFill>
          <a:blip r:embed="rId8"/>
          <a:stretch>
            <a:fillRect/>
          </a:stretch>
        </p:blipFill>
        <p:spPr>
          <a:xfrm>
            <a:off x="2926854" y="2925738"/>
            <a:ext cx="6912768" cy="32976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6664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4.3.2 Declarative Transaction management based on annotation</a:t>
            </a:r>
          </a:p>
        </p:txBody>
      </p:sp>
      <p:pic>
        <p:nvPicPr>
          <p:cNvPr id="6" name="图片 5"/>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5447134" y="2917147"/>
            <a:ext cx="5166519" cy="1221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the way of annotating transactions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8"/>
          <p:cNvSpPr txBox="1"/>
          <p:nvPr>
            <p:custDataLst>
              <p:tags r:id="rId1"/>
            </p:custDataLst>
          </p:nvPr>
        </p:nvSpPr>
        <p:spPr>
          <a:xfrm>
            <a:off x="478582" y="981522"/>
            <a:ext cx="11161240" cy="5611366"/>
          </a:xfrm>
          <a:prstGeom prst="rect">
            <a:avLst/>
          </a:prstGeom>
          <a:noFill/>
        </p:spPr>
        <p:txBody>
          <a:bodyPr wrap="square" lIns="0" tIns="0" rIns="0" bIns="0" rtlCol="0">
            <a:normAutofit fontScale="77089" lnSpcReduction="20000"/>
          </a:bodyPr>
          <a:lstStyle/>
          <a:p>
            <a:pPr algn="just">
              <a:lnSpc>
                <a:spcPct val="150000"/>
              </a:lnSpc>
              <a:buClrTx/>
              <a:buSzTx/>
              <a:buFontTx/>
            </a:pPr>
            <a:r>
              <a:rPr sz="2600" dirty="0">
                <a:solidFill>
                  <a:srgbClr val="595959"/>
                </a:solidFill>
                <a:latin typeface="微软雅黑" panose="020B0503020204020204" pitchFamily="34" charset="-122"/>
                <a:ea typeface="微软雅黑" panose="020B0503020204020204" pitchFamily="34" charset="-122"/>
                <a:sym typeface="+mn-lt"/>
              </a:rPr>
              <a:t>There are some drawbacks to implementing declarative transaction management based on XML, </a:t>
            </a:r>
            <a:r>
              <a:rPr sz="2600" dirty="0">
                <a:solidFill>
                  <a:srgbClr val="0070C0"/>
                </a:solidFill>
                <a:latin typeface="微软雅黑" panose="020B0503020204020204" pitchFamily="34" charset="-122"/>
                <a:ea typeface="微软雅黑" panose="020B0503020204020204" pitchFamily="34" charset="-122"/>
                <a:sym typeface="+mn-lt"/>
              </a:rPr>
              <a:t>such as the need to write a lot of AOP-related configuration in the Spring configuration file, which can lead to code redundancy and reduced readability. To address this issue, annotation-based declarative transaction management can be adopted to simplify the Spring configuration file.</a:t>
            </a:r>
            <a:endParaRPr lang="en-US" altLang="zh-CN" sz="2600" dirty="0" err="1">
              <a:solidFill>
                <a:srgbClr val="0070C0"/>
              </a:solidFill>
              <a:latin typeface="微软雅黑" panose="020B0503020204020204" pitchFamily="34" charset="-122"/>
              <a:ea typeface="微软雅黑" panose="020B0503020204020204" pitchFamily="34" charset="-122"/>
              <a:sym typeface="+mn-lt"/>
            </a:endParaRPr>
          </a:p>
          <a:p>
            <a:pPr algn="just">
              <a:lnSpc>
                <a:spcPct val="150000"/>
              </a:lnSpc>
              <a:buClrTx/>
              <a:buSzTx/>
              <a:buFontTx/>
            </a:pPr>
            <a:r>
              <a:rPr lang="en-US" altLang="zh-CN" sz="2600" dirty="0" err="1">
                <a:solidFill>
                  <a:srgbClr val="0070C0"/>
                </a:solidFill>
                <a:latin typeface="微软雅黑" panose="020B0503020204020204" pitchFamily="34" charset="-122"/>
                <a:ea typeface="微软雅黑" panose="020B0503020204020204" pitchFamily="34" charset="-122"/>
                <a:sym typeface="+mn-lt"/>
              </a:rPr>
              <a:t>With annotation-based declarative transaction management, annotations can be added directly to the classes or methods where the aspect needs to be applied, specifying the logic of the aspect without the cumbersome configuration in the XML configuration file. </a:t>
            </a:r>
            <a:r>
              <a:rPr lang="en-US" altLang="zh-CN" sz="2600" dirty="0" err="1">
                <a:solidFill>
                  <a:srgbClr val="595959"/>
                </a:solidFill>
                <a:latin typeface="微软雅黑" panose="020B0503020204020204" pitchFamily="34" charset="-122"/>
                <a:ea typeface="微软雅黑" panose="020B0503020204020204" pitchFamily="34" charset="-122"/>
                <a:sym typeface="+mn-lt"/>
              </a:rPr>
              <a:t>Spring provides the @Transactional annotation for declarative transaction management, which has the same functionality as the &lt;tx:advice&gt; tag used in XML configuration. By adding the @Transactional annotation to the methods that require transaction management, transactions can be automatically started, committed, or rolled back without explicitly declaring transaction notifications in the XML configuration file.</a:t>
            </a:r>
          </a:p>
          <a:p>
            <a:pPr algn="just">
              <a:lnSpc>
                <a:spcPct val="150000"/>
              </a:lnSpc>
              <a:buClrTx/>
              <a:buSzTx/>
              <a:buFontTx/>
            </a:pPr>
            <a:endParaRPr lang="en-US" altLang="zh-CN" sz="2000" dirty="0" err="1">
              <a:solidFill>
                <a:srgbClr val="595959"/>
              </a:solidFill>
              <a:latin typeface="微软雅黑" panose="020B0503020204020204" pitchFamily="34" charset="-122"/>
              <a:ea typeface="微软雅黑" panose="020B0503020204020204" pitchFamily="34" charset="-122"/>
              <a:sym typeface="+mn-lt"/>
            </a:endParaRPr>
          </a:p>
        </p:txBody>
      </p:sp>
      <p:sp>
        <p:nvSpPr>
          <p:cNvPr id="31" name="Title 1"/>
          <p:cNvSpPr txBox="1"/>
          <p:nvPr>
            <p:custDataLst>
              <p:tags r:id="rId2"/>
            </p:custDataLst>
          </p:nvPr>
        </p:nvSpPr>
        <p:spPr>
          <a:xfrm>
            <a:off x="1143635" y="266700"/>
            <a:ext cx="6576695" cy="506095"/>
          </a:xfrm>
          <a:prstGeom prst="rect">
            <a:avLst/>
          </a:prstGeom>
        </p:spPr>
        <p:txBody>
          <a:bodyPr lIns="0" tIns="60958" rIns="0" bIns="60958" anchor="ctr">
            <a:normAutofit fontScale="6664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4.3.2 Declarative Transaction management based on annotation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rmAutofit fontScale="58477"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4.3.2 Declarative Transaction management based on annotations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39973" y="792655"/>
            <a:ext cx="11953328" cy="2493123"/>
          </a:xfrm>
          <a:prstGeom prst="rect">
            <a:avLst/>
          </a:prstGeom>
          <a:noFill/>
          <a:ln w="9525">
            <a:noFill/>
          </a:ln>
        </p:spPr>
        <p:txBody>
          <a:bodyPr wrap="square">
            <a:noAutofit/>
          </a:bodyPr>
          <a:lstStyle/>
          <a:p>
            <a:pPr algn="just">
              <a:buClrTx/>
              <a:buSzTx/>
              <a:buFontTx/>
            </a:pPr>
            <a:r>
              <a:rPr lang="zh-CN" sz="2000" dirty="0">
                <a:solidFill>
                  <a:schemeClr val="accent1"/>
                </a:solidFill>
                <a:latin typeface="微软雅黑" panose="020B0503020204020204" pitchFamily="34" charset="-122"/>
                <a:ea typeface="微软雅黑" panose="020B0503020204020204" pitchFamily="34" charset="-122"/>
                <a:cs typeface="+mn-ea"/>
                <a:sym typeface="+mn-lt"/>
              </a:rPr>
              <a:t>@Transactional can be annotated on interfaces, interface methods, classes, or class methods, and when annotated ona class, all public methods of that class will have transaction properties of the same type; When annotating a method in a class, if the class is also annotated with @Transactional, then the annotation of the method in the class will mask the annotation of the class. The common attributes of @Transactional are as shown below.</a:t>
            </a:r>
            <a:endParaRPr lang="en-US" altLang="zh-CN" sz="2000" dirty="0" err="1">
              <a:solidFill>
                <a:srgbClr val="595959"/>
              </a:solidFill>
              <a:latin typeface="微软雅黑" panose="020B0503020204020204" pitchFamily="34" charset="-122"/>
              <a:ea typeface="微软雅黑" panose="020B0503020204020204" pitchFamily="34" charset="-122"/>
              <a:sym typeface="+mn-lt"/>
            </a:endParaRPr>
          </a:p>
        </p:txBody>
      </p:sp>
      <p:graphicFrame>
        <p:nvGraphicFramePr>
          <p:cNvPr id="3" name="表格 2"/>
          <p:cNvGraphicFramePr/>
          <p:nvPr>
            <p:custDataLst>
              <p:tags r:id="rId2"/>
            </p:custDataLst>
            <p:extLst>
              <p:ext uri="{D42A27DB-BD31-4B8C-83A1-F6EECF244321}">
                <p14:modId xmlns:p14="http://schemas.microsoft.com/office/powerpoint/2010/main" val="3944203166"/>
              </p:ext>
            </p:extLst>
          </p:nvPr>
        </p:nvGraphicFramePr>
        <p:xfrm>
          <a:off x="262558" y="2460213"/>
          <a:ext cx="11787882" cy="4364550"/>
        </p:xfrm>
        <a:graphic>
          <a:graphicData uri="http://schemas.openxmlformats.org/drawingml/2006/table">
            <a:tbl>
              <a:tblPr/>
              <a:tblGrid>
                <a:gridCol w="1989205">
                  <a:extLst>
                    <a:ext uri="{9D8B030D-6E8A-4147-A177-3AD203B41FA5}">
                      <a16:colId xmlns:a16="http://schemas.microsoft.com/office/drawing/2014/main" val="20000"/>
                    </a:ext>
                  </a:extLst>
                </a:gridCol>
                <a:gridCol w="9798677">
                  <a:extLst>
                    <a:ext uri="{9D8B030D-6E8A-4147-A177-3AD203B41FA5}">
                      <a16:colId xmlns:a16="http://schemas.microsoft.com/office/drawing/2014/main" val="20001"/>
                    </a:ext>
                  </a:extLst>
                </a:gridCol>
              </a:tblGrid>
              <a:tr h="0">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Properties</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Description</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0">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value</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Used to specify the transaction manager to be used</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0">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propagation</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Used to specify the propagation behavior of a transaction</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0">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isolation</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Used to specify the isolation level of a transaction</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0">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timeout</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Used to specify the timeout period of a transaction</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0">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readonly</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Used to specify whether a transaction is read-only</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0">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rollbackFor</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Used to specify an array of exception classes that cause the transaction to roll back</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0">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rollbackForClassName</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Used to specify an array of exception class names that cause the transaction to roll back</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7"/>
                  </a:ext>
                </a:extLst>
              </a:tr>
              <a:tr h="264795">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noRollbackFor</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Used to specify an array of exception classes that do not cause a transaction rollback</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8"/>
                  </a:ext>
                </a:extLst>
              </a:tr>
              <a:tr h="0">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noRollbackForClassName</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Used to specify an array of exception class names that do not cause a transaction rollback</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8"/>
          <p:cNvSpPr txBox="1"/>
          <p:nvPr>
            <p:custDataLst>
              <p:tags r:id="rId1"/>
            </p:custDataLst>
          </p:nvPr>
        </p:nvSpPr>
        <p:spPr>
          <a:xfrm>
            <a:off x="478582" y="1341562"/>
            <a:ext cx="11377264" cy="4824085"/>
          </a:xfrm>
          <a:prstGeom prst="rect">
            <a:avLst/>
          </a:prstGeom>
          <a:noFill/>
        </p:spPr>
        <p:txBody>
          <a:bodyPr wrap="square" lIns="0" tIns="0" rIns="0" bIns="0" rtlCol="0">
            <a:noAutofit/>
          </a:bodyPr>
          <a:lstStyle/>
          <a:p>
            <a:pPr algn="just">
              <a:lnSpc>
                <a:spcPct val="150000"/>
              </a:lnSpc>
              <a:buClrTx/>
              <a:buSzTx/>
              <a:buFontTx/>
            </a:pPr>
            <a:r>
              <a:rPr lang="en-US" altLang="zh-CN" sz="2000" dirty="0" err="1">
                <a:solidFill>
                  <a:srgbClr val="595959"/>
                </a:solidFill>
                <a:latin typeface="微软雅黑" panose="020B0503020204020204" pitchFamily="34" charset="-122"/>
                <a:ea typeface="微软雅黑" panose="020B0503020204020204" pitchFamily="34" charset="-122"/>
                <a:sym typeface="+mn-lt"/>
              </a:rPr>
              <a:t>When using </a:t>
            </a:r>
            <a:r>
              <a:rPr lang="en-US" altLang="zh-CN" sz="2000" dirty="0" err="1">
                <a:solidFill>
                  <a:srgbClr val="0070C0"/>
                </a:solidFill>
                <a:latin typeface="微软雅黑" panose="020B0503020204020204" pitchFamily="34" charset="-122"/>
                <a:ea typeface="微软雅黑" panose="020B0503020204020204" pitchFamily="34" charset="-122"/>
                <a:sym typeface="+mn-lt"/>
              </a:rPr>
              <a:t>@Transactional</a:t>
            </a:r>
            <a:r>
              <a:rPr lang="en-US" altLang="zh-CN" sz="2000" dirty="0" err="1">
                <a:solidFill>
                  <a:srgbClr val="595959"/>
                </a:solidFill>
                <a:latin typeface="微软雅黑" panose="020B0503020204020204" pitchFamily="34" charset="-122"/>
                <a:ea typeface="微软雅黑" panose="020B0503020204020204" pitchFamily="34" charset="-122"/>
                <a:sym typeface="+mn-lt"/>
              </a:rPr>
              <a:t>, you also need to configure the transaction annotation-driven in the Spring XML file with the </a:t>
            </a:r>
            <a:r>
              <a:rPr lang="en-US" altLang="zh-CN" sz="2000" dirty="0" err="1">
                <a:solidFill>
                  <a:srgbClr val="0070C0"/>
                </a:solidFill>
                <a:latin typeface="微软雅黑" panose="020B0503020204020204" pitchFamily="34" charset="-122"/>
                <a:ea typeface="微软雅黑" panose="020B0503020204020204" pitchFamily="34" charset="-122"/>
                <a:sym typeface="+mn-lt"/>
              </a:rPr>
              <a:t>&lt;tx:annotation-driven&gt; </a:t>
            </a:r>
            <a:r>
              <a:rPr lang="en-US" altLang="zh-CN" sz="2000" dirty="0" err="1">
                <a:solidFill>
                  <a:srgbClr val="595959"/>
                </a:solidFill>
                <a:latin typeface="微软雅黑" panose="020B0503020204020204" pitchFamily="34" charset="-122"/>
                <a:ea typeface="微软雅黑" panose="020B0503020204020204" pitchFamily="34" charset="-122"/>
                <a:sym typeface="+mn-lt"/>
              </a:rPr>
              <a:t>tag, which tells Spring to enable annotation-driven transaction management, And it will automatically scan classes and methods with the @Transactional annotation to apply the transaction management configuration.</a:t>
            </a:r>
          </a:p>
          <a:p>
            <a:pPr algn="just">
              <a:lnSpc>
                <a:spcPct val="150000"/>
              </a:lnSpc>
            </a:pPr>
            <a:r>
              <a:rPr lang="en-US" altLang="zh-CN" sz="2000" dirty="0">
                <a:solidFill>
                  <a:srgbClr val="0070C0"/>
                </a:solidFill>
                <a:latin typeface="微软雅黑" panose="020B0503020204020204" pitchFamily="34" charset="-122"/>
                <a:ea typeface="微软雅黑" panose="020B0503020204020204" pitchFamily="34" charset="-122"/>
                <a:sym typeface="+mn-lt"/>
              </a:rPr>
              <a:t>The &lt;tx:annotation-driven&gt; tag has a common property, Transaction-Manager, which is used to specify the transaction manager. The Transaction-manager property defaults to transactionManager. If there is a transaction manager named transactionManager in the application and the developer wishes to use that transaction manager, the explicit configuration of the TransactionManager property can be omitted.</a:t>
            </a:r>
            <a:endParaRPr lang="en-US" altLang="zh-CN" sz="2000" dirty="0" err="1">
              <a:solidFill>
                <a:srgbClr val="0070C0"/>
              </a:solidFill>
              <a:latin typeface="微软雅黑" panose="020B0503020204020204" pitchFamily="34" charset="-122"/>
              <a:ea typeface="微软雅黑" panose="020B0503020204020204" pitchFamily="34" charset="-122"/>
              <a:sym typeface="+mn-lt"/>
            </a:endParaRPr>
          </a:p>
        </p:txBody>
      </p:sp>
      <p:sp>
        <p:nvSpPr>
          <p:cNvPr id="31" name="Title 1"/>
          <p:cNvSpPr txBox="1"/>
          <p:nvPr>
            <p:custDataLst>
              <p:tags r:id="rId2"/>
            </p:custDataLst>
          </p:nvPr>
        </p:nvSpPr>
        <p:spPr>
          <a:xfrm>
            <a:off x="1143635" y="266700"/>
            <a:ext cx="6576695" cy="506095"/>
          </a:xfrm>
          <a:prstGeom prst="rect">
            <a:avLst/>
          </a:prstGeom>
        </p:spPr>
        <p:txBody>
          <a:bodyPr lIns="0" tIns="60958" rIns="0" bIns="60958" anchor="ctr">
            <a:normAutofit fontScale="6664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4.3.2 Declarative Transaction management based on annotation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rmAutofit fontScale="58477"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4.3.2 Declarative Transaction management based on annotations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38622" y="1788746"/>
            <a:ext cx="5012268" cy="476905"/>
            <a:chOff x="852276" y="1797999"/>
            <a:chExt cx="2780020" cy="476905"/>
          </a:xfrm>
        </p:grpSpPr>
        <p:sp>
          <p:nvSpPr>
            <p:cNvPr id="3" name="矩形: 圆角 6"/>
            <p:cNvSpPr/>
            <p:nvPr>
              <p:custDataLst>
                <p:tags r:id="rId9"/>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10"/>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Create the configuration file</a:t>
              </a:r>
            </a:p>
          </p:txBody>
        </p:sp>
      </p:grpSp>
      <p:pic>
        <p:nvPicPr>
          <p:cNvPr id="12" name="图片 11" descr="图片包含 形状  描述已自动生成"/>
          <p:cNvPicPr>
            <a:picLocks noChangeAspect="1"/>
          </p:cNvPicPr>
          <p:nvPr>
            <p:custDataLst>
              <p:tags r:id="rId2"/>
            </p:custDataLst>
          </p:nvPr>
        </p:nvPicPr>
        <p:blipFill>
          <a:blip r:embed="rId13" cstate="print">
            <a:extLst>
              <a:ext uri="{28A0092B-C50C-407E-A947-70E740481C1C}">
                <a14:useLocalDpi xmlns:a14="http://schemas.microsoft.com/office/drawing/2010/main" val="0"/>
              </a:ext>
            </a:extLst>
          </a:blip>
          <a:stretch>
            <a:fillRect/>
          </a:stretch>
        </p:blipFill>
        <p:spPr>
          <a:xfrm>
            <a:off x="2566814" y="3695384"/>
            <a:ext cx="2232248" cy="2232248"/>
          </a:xfrm>
          <a:prstGeom prst="rect">
            <a:avLst/>
          </a:prstGeom>
        </p:spPr>
      </p:pic>
      <p:grpSp>
        <p:nvGrpSpPr>
          <p:cNvPr id="10" name="组合 9"/>
          <p:cNvGrpSpPr/>
          <p:nvPr/>
        </p:nvGrpSpPr>
        <p:grpSpPr>
          <a:xfrm>
            <a:off x="5810417" y="386184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549708" y="4102212"/>
                <a:ext cx="3992245"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4-11</a:t>
                </a:r>
              </a:p>
              <a:p>
                <a:pPr algn="ctr"/>
                <a:r>
                  <a:rPr sz="1800">
                    <a:sym typeface="+mn-ea"/>
                    <a:hlinkClick r:id="rId14"/>
                  </a:rPr>
                  <a:t>applicationContext-annotation.xml</a:t>
                </a:r>
                <a:endParaRPr sz="1800">
                  <a:sym typeface="+mn-ea"/>
                </a:endParaRPr>
              </a:p>
            </p:txBody>
          </p:sp>
          <p:sp>
            <p:nvSpPr>
              <p:cNvPr id="17" name="圆角矩形 16"/>
              <p:cNvSpPr/>
              <p:nvPr>
                <p:custDataLst>
                  <p:tags r:id="rId7"/>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8"/>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5"/>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662438" y="5126050"/>
              <a:ext cx="914400" cy="914400"/>
            </a:xfrm>
            <a:prstGeom prst="rect">
              <a:avLst/>
            </a:prstGeom>
          </p:spPr>
        </p:pic>
      </p:grpSp>
      <p:sp>
        <p:nvSpPr>
          <p:cNvPr id="11" name="文本框 10"/>
          <p:cNvSpPr txBox="1"/>
          <p:nvPr>
            <p:custDataLst>
              <p:tags r:id="rId3"/>
            </p:custDataLst>
          </p:nvPr>
        </p:nvSpPr>
        <p:spPr>
          <a:xfrm>
            <a:off x="993775" y="2242185"/>
            <a:ext cx="10633075" cy="92202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configuration file applicationContext-annotation.xml in the src/main/resources directory of the chapter04 project, and configure the transaction annotation driver in this file as shown in file 4-11.</a:t>
            </a:r>
          </a:p>
        </p:txBody>
      </p:sp>
      <p:sp>
        <p:nvSpPr>
          <p:cNvPr id="5" name="文本框 4"/>
          <p:cNvSpPr txBox="1"/>
          <p:nvPr>
            <p:custDataLst>
              <p:tags r:id="rId4"/>
            </p:custDataLst>
          </p:nvPr>
        </p:nvSpPr>
        <p:spPr>
          <a:xfrm>
            <a:off x="1120775" y="862330"/>
            <a:ext cx="10295890" cy="506730"/>
          </a:xfrm>
          <a:prstGeom prst="rect">
            <a:avLst/>
          </a:prstGeom>
          <a:noFill/>
          <a:ln w="9525">
            <a:noFill/>
          </a:ln>
        </p:spPr>
        <p:txBody>
          <a:bodyPr wrap="square">
            <a:noAutofit/>
          </a:bodyPr>
          <a:lstStyle/>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Modify the code of the chapter04 project to implement transaction management in the project based on annotation.</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rmAutofit fontScale="6664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4.3.2 Declarative Transaction management based on Annotation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650620" y="984662"/>
            <a:ext cx="7069710" cy="559357"/>
            <a:chOff x="894688" y="1715547"/>
            <a:chExt cx="2767965" cy="559357"/>
          </a:xfrm>
        </p:grpSpPr>
        <p:sp>
          <p:nvSpPr>
            <p:cNvPr id="3" name="矩形: 圆角 6"/>
            <p:cNvSpPr/>
            <p:nvPr>
              <p:custDataLst>
                <p:tags r:id="rId8"/>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894688" y="1715547"/>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pPr>
                <a:lnSpc>
                  <a:spcPct val="155000"/>
                </a:lnSpc>
              </a:pPr>
              <a:r>
                <a:rPr dirty="0">
                  <a:latin typeface="Arial" panose="020B0604020202020204" pitchFamily="34" charset="0"/>
                  <a:ea typeface="思源黑体 CN Normal" panose="020B0400000000000000" pitchFamily="34" charset="-122"/>
                  <a:sym typeface="Arial" panose="020B0604020202020204" pitchFamily="34" charset="0"/>
                </a:rPr>
                <a:t>(2) Modify the Dao layer implementation class</a:t>
              </a:r>
            </a:p>
          </p:txBody>
        </p:sp>
      </p:grpSp>
      <p:pic>
        <p:nvPicPr>
          <p:cNvPr id="12" name="图片 11"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2494806" y="3287643"/>
            <a:ext cx="2232248" cy="2232248"/>
          </a:xfrm>
          <a:prstGeom prst="rect">
            <a:avLst/>
          </a:prstGeom>
        </p:spPr>
      </p:pic>
      <p:grpSp>
        <p:nvGrpSpPr>
          <p:cNvPr id="10" name="组合 9"/>
          <p:cNvGrpSpPr/>
          <p:nvPr/>
        </p:nvGrpSpPr>
        <p:grpSpPr>
          <a:xfrm>
            <a:off x="5807174" y="334398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549708" y="4389232"/>
                <a:ext cx="3992245"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hlinkClick r:id="rId13"/>
                  </a:rPr>
                  <a:t>transfer() method</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62438" y="5126050"/>
              <a:ext cx="914400" cy="914400"/>
            </a:xfrm>
            <a:prstGeom prst="rect">
              <a:avLst/>
            </a:prstGeom>
          </p:spPr>
        </p:pic>
      </p:grpSp>
      <p:sp>
        <p:nvSpPr>
          <p:cNvPr id="11" name="文本框 10"/>
          <p:cNvSpPr txBox="1"/>
          <p:nvPr>
            <p:custDataLst>
              <p:tags r:id="rId3"/>
            </p:custDataLst>
          </p:nvPr>
        </p:nvSpPr>
        <p:spPr>
          <a:xfrm>
            <a:off x="866668" y="1684378"/>
            <a:ext cx="10633075" cy="100254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Annotate the transfer() method of the AccountDaoImpl implementation class with the @Transactional annotation, as shown below.</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rmAutofit fontScale="6664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4.3.2 Declarative Transaction management based on Annotation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10630" y="1025888"/>
            <a:ext cx="4824536" cy="476905"/>
            <a:chOff x="852276" y="1797999"/>
            <a:chExt cx="2780020" cy="476905"/>
          </a:xfrm>
        </p:grpSpPr>
        <p:sp>
          <p:nvSpPr>
            <p:cNvPr id="3" name="矩形: 圆角 6"/>
            <p:cNvSpPr/>
            <p:nvPr>
              <p:custDataLst>
                <p:tags r:id="rId8"/>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(3) Modify the test class</a:t>
              </a:r>
            </a:p>
          </p:txBody>
        </p:sp>
      </p:grpSp>
      <p:pic>
        <p:nvPicPr>
          <p:cNvPr id="12" name="图片 11"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2566814" y="3217269"/>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549708" y="4102212"/>
                <a:ext cx="3992245"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4-12</a:t>
                </a:r>
              </a:p>
              <a:p>
                <a:pPr algn="ctr"/>
                <a:r>
                  <a:rPr sz="1800">
                    <a:sym typeface="+mn-ea"/>
                    <a:hlinkClick r:id="rId13"/>
                  </a:rPr>
                  <a:t>TransactionTest.java</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62438" y="5126050"/>
              <a:ext cx="914400" cy="914400"/>
            </a:xfrm>
            <a:prstGeom prst="rect">
              <a:avLst/>
            </a:prstGeom>
          </p:spPr>
        </p:pic>
      </p:grpSp>
      <p:sp>
        <p:nvSpPr>
          <p:cNvPr id="11" name="文本框 10"/>
          <p:cNvSpPr txBox="1"/>
          <p:nvPr>
            <p:custDataLst>
              <p:tags r:id="rId3"/>
            </p:custDataLst>
          </p:nvPr>
        </p:nvSpPr>
        <p:spPr>
          <a:xfrm>
            <a:off x="910630" y="1637778"/>
            <a:ext cx="10862071" cy="1208107"/>
          </a:xfrm>
          <a:prstGeom prst="rect">
            <a:avLst/>
          </a:prstGeom>
          <a:noFill/>
          <a:ln w="9525">
            <a:noFill/>
          </a:ln>
        </p:spPr>
        <p:txBody>
          <a:bodyPr wrap="square">
            <a:noAutofit/>
          </a:bodyPr>
          <a:lstStyle/>
          <a:p>
            <a:pPr algn="l">
              <a:lnSpc>
                <a:spcPct val="150000"/>
              </a:lnSpc>
              <a:buClrTx/>
              <a:buSzTx/>
              <a:buFontTx/>
            </a:pPr>
            <a:r>
              <a:rPr lang="zh-CN" altLang="en-US"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Modify the configuration file required for testing on the TransactionTest test class in File 4-10, as shown in file 4-12.</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rmAutofit fontScale="6664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4.3.2 Declarative Transaction management based on Annotation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38622" y="1020445"/>
            <a:ext cx="4148172" cy="476905"/>
            <a:chOff x="852276" y="1797999"/>
            <a:chExt cx="2780020" cy="476905"/>
          </a:xfrm>
        </p:grpSpPr>
        <p:sp>
          <p:nvSpPr>
            <p:cNvPr id="3" name="矩形: 圆角 6"/>
            <p:cNvSpPr/>
            <p:nvPr>
              <p:custDataLst>
                <p:tags r:id="rId4"/>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5"/>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(4) Test the results</a:t>
              </a:r>
            </a:p>
          </p:txBody>
        </p:sp>
      </p:grpSp>
      <p:sp>
        <p:nvSpPr>
          <p:cNvPr id="11" name="文本框 10"/>
          <p:cNvSpPr txBox="1"/>
          <p:nvPr>
            <p:custDataLst>
              <p:tags r:id="rId2"/>
            </p:custDataLst>
          </p:nvPr>
        </p:nvSpPr>
        <p:spPr>
          <a:xfrm>
            <a:off x="1028123" y="1527800"/>
            <a:ext cx="10633075" cy="506730"/>
          </a:xfrm>
          <a:prstGeom prst="rect">
            <a:avLst/>
          </a:prstGeom>
          <a:noFill/>
          <a:ln w="9525">
            <a:noFill/>
          </a:ln>
        </p:spPr>
        <p:txBody>
          <a:bodyPr wrap="square">
            <a:noAutofit/>
          </a:bodyPr>
          <a:lstStyle/>
          <a:p>
            <a:pPr>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rPr>
              <a:t>After running the testTransfer() method in file 4-12, look at the data in the account data table as shown in the following figure.</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2147482592"/>
          <p:cNvPicPr>
            <a:picLocks noChangeAspect="1"/>
          </p:cNvPicPr>
          <p:nvPr>
            <p:custDataLst>
              <p:tags r:id="rId3"/>
            </p:custDataLst>
          </p:nvPr>
        </p:nvPicPr>
        <p:blipFill>
          <a:blip r:embed="rId8"/>
          <a:stretch>
            <a:fillRect/>
          </a:stretch>
        </p:blipFill>
        <p:spPr>
          <a:xfrm>
            <a:off x="3204629" y="2781323"/>
            <a:ext cx="6280062" cy="35496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rmAutofit fontScale="96476"/>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Summary of this chapter</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35"/>
          <p:cNvSpPr txBox="1">
            <a:spLocks noChangeArrowheads="1"/>
          </p:cNvSpPr>
          <p:nvPr/>
        </p:nvSpPr>
        <p:spPr bwMode="auto">
          <a:xfrm>
            <a:off x="1054646" y="1559247"/>
            <a:ext cx="9793605" cy="1782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sz="2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This chapter mainly covers database programming in Spring. </a:t>
            </a:r>
            <a:r>
              <a:rPr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It begins with </a:t>
            </a:r>
            <a:r>
              <a:rPr sz="2000" dirty="0" err="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JdbcTemplate</a:t>
            </a:r>
            <a:r>
              <a:rPr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 including an overview of </a:t>
            </a:r>
            <a:r>
              <a:rPr sz="2000" dirty="0" err="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JdbcTemplate</a:t>
            </a:r>
            <a:r>
              <a:rPr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 and the operations of adding, deleting, modifying and querying </a:t>
            </a:r>
            <a:r>
              <a:rPr sz="2000" dirty="0" err="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JdbcTemplate</a:t>
            </a:r>
            <a:r>
              <a:rPr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2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Then an overview of Spring transaction management was presented; </a:t>
            </a:r>
            <a:r>
              <a:rPr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Finally, there are two ways to implement declarative transaction management, XML-based declarative transactions and annotation-based declarative transactions. </a:t>
            </a:r>
            <a:r>
              <a:rPr sz="2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Through the study of this chapter, readers can gain some understanding of database programming in Spring and lay the foundation for database development in the framework.</a:t>
            </a:r>
          </a:p>
        </p:txBody>
      </p:sp>
      <p:sp>
        <p:nvSpPr>
          <p:cNvPr id="27" name="圆角矩形 26"/>
          <p:cNvSpPr/>
          <p:nvPr/>
        </p:nvSpPr>
        <p:spPr>
          <a:xfrm>
            <a:off x="839470" y="1485578"/>
            <a:ext cx="10511790" cy="4464496"/>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3f15e6573a385e41c33bb97e7105a62faa5c484"/>
  <p:tag name="COMMONDATA" val="eyJoZGlkIjoiNTQwODNlZjBiNzRkNjZmNWIwNWFhMDg5ODM5YzE3ZjIifQ=="/>
  <p:tag name="KSO_WPP_MARK_KEY" val="982352ae-fb85-4723-8ca9-7b0b57b9b06c"/>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SubTitle"/>
  <p:tag name="MH_ORDER" val="1"/>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1"/>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SubTitle"/>
  <p:tag name="MH_ORDER" val="4"/>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Text"/>
  <p:tag name="MH_ORDER" val="4"/>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2"/>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SubTitle"/>
  <p:tag name="MH_ORDER" val="1"/>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Text"/>
  <p:tag name="MH_ORDER" val="1"/>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3"/>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4"/>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5"/>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6"/>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7"/>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8"/>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SubTitle"/>
  <p:tag name="MH_ORDER" val="3"/>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Text"/>
  <p:tag name="MH_ORDER" val="3"/>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SubTitle"/>
  <p:tag name="MH_ORDER" val="2"/>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Text"/>
  <p:tag name="MH_ORDER" val="2"/>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UNIT_TABLE_BEAUTIFY" val="smartTable{5a7836c6-2f9b-48e7-a678-2c80b8863e0d}"/>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UNIT_TABLE_BEAUTIFY" val="smartTable{6e5913da-c730-47c7-aad5-21acdcdddb37}"/>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UNIT_TABLE_BEAUTIFY" val="smartTable{62b4efdb-c029-4a88-83f5-22c1756ce752}"/>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UNIT_TABLE_BEAUTIFY" val="smartTable{ab8e9991-333c-43a2-abe9-e4fc25c3ad40}"/>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UNIT_TABLE_BEAUTIFY" val="smartTable{0943c7c3-d076-45f4-9272-a31d3c0470af}"/>
</p:tagLst>
</file>

<file path=ppt/tags/tag2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8.xml><?xml version="1.0" encoding="utf-8"?>
<p:tagLst xmlns:a="http://schemas.openxmlformats.org/drawingml/2006/main" xmlns:r="http://schemas.openxmlformats.org/officeDocument/2006/relationships" xmlns:p="http://schemas.openxmlformats.org/presentationml/2006/main">
  <p:tag name="KSO_WM_UNIT_TABLE_BEAUTIFY" val="smartTable{2f5adbe4-0467-4b17-b676-62df70eac036}"/>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2.xml><?xml version="1.0" encoding="utf-8"?>
<p:tagLst xmlns:a="http://schemas.openxmlformats.org/drawingml/2006/main" xmlns:r="http://schemas.openxmlformats.org/officeDocument/2006/relationships" xmlns:p="http://schemas.openxmlformats.org/presentationml/2006/main">
  <p:tag name="KSO_WM_UNIT_TABLE_BEAUTIFY" val="smartTable{cba784f9-3a12-4908-a652-e15ccaab87da}"/>
  <p:tag name="TABLE_ENDDRAG_ORIGIN_RECT" val="801*218"/>
  <p:tag name="TABLE_ENDDRAG_RECT" val="83*241*801*218"/>
</p:tagLst>
</file>

<file path=ppt/tags/tag2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4.xml><?xml version="1.0" encoding="utf-8"?>
<p:tagLst xmlns:a="http://schemas.openxmlformats.org/drawingml/2006/main" xmlns:r="http://schemas.openxmlformats.org/officeDocument/2006/relationships" xmlns:p="http://schemas.openxmlformats.org/presentationml/2006/main">
  <p:tag name="KSO_WM_UNIT_TABLE_BEAUTIFY" val="smartTable{b7f271fd-79f0-496c-86e7-568cdf570c66}"/>
  <p:tag name="TABLE_ENDDRAG_ORIGIN_RECT" val="827*302"/>
  <p:tag name="TABLE_ENDDRAG_RECT" val="75*203*827*302"/>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3.xml><?xml version="1.0" encoding="utf-8"?>
<p:tagLst xmlns:a="http://schemas.openxmlformats.org/drawingml/2006/main" xmlns:r="http://schemas.openxmlformats.org/officeDocument/2006/relationships" xmlns:p="http://schemas.openxmlformats.org/presentationml/2006/main">
  <p:tag name="KSO_WM_UNIT_TABLE_BEAUTIFY" val="smartTable{f2c557c2-c1c7-4559-8771-538a2a0b2e4d}"/>
  <p:tag name="TABLE_ENDDRAG_ORIGIN_RECT" val="786*309"/>
  <p:tag name="TABLE_ENDDRAG_RECT" val="84*115*786*309"/>
</p:tagLst>
</file>

<file path=ppt/tags/tag2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5.xml><?xml version="1.0" encoding="utf-8"?>
<p:tagLst xmlns:a="http://schemas.openxmlformats.org/drawingml/2006/main" xmlns:r="http://schemas.openxmlformats.org/officeDocument/2006/relationships" xmlns:p="http://schemas.openxmlformats.org/presentationml/2006/main">
  <p:tag name="KSO_WM_UNIT_TABLE_BEAUTIFY" val="smartTable{51188256-ae14-4f9b-ae0d-33c0c079a948}"/>
</p:tagLst>
</file>

<file path=ppt/tags/tag3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0.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1861</TotalTime>
  <Words>5119</Words>
  <Application>Microsoft Office PowerPoint</Application>
  <PresentationFormat>自定义</PresentationFormat>
  <Paragraphs>463</Paragraphs>
  <Slides>64</Slides>
  <Notes>64</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64</vt:i4>
      </vt:variant>
    </vt:vector>
  </HeadingPairs>
  <TitlesOfParts>
    <vt:vector size="71" baseType="lpstr">
      <vt:lpstr>Source Han Sans K Bold</vt:lpstr>
      <vt:lpstr>微软雅黑</vt:lpstr>
      <vt:lpstr>Arial</vt:lpstr>
      <vt:lpstr>Calibri</vt:lpstr>
      <vt:lpstr>Courier New</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Li QinRu</cp:lastModifiedBy>
  <cp:revision>1274</cp:revision>
  <dcterms:created xsi:type="dcterms:W3CDTF">2020-11-11T09:29:00Z</dcterms:created>
  <dcterms:modified xsi:type="dcterms:W3CDTF">2026-04-13T11:41:49Z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69DB4B6826B6494390E926BE37E6C64D</vt:lpwstr>
  </property>
</Properties>
</file>