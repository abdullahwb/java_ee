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6.xml" ContentType="application/vnd.openxmlformats-officedocument.presentationml.notesSlide+xml"/>
  <Override PartName="/ppt/tags/tag38.xml" ContentType="application/vnd.openxmlformats-officedocument.presentationml.tags+xml"/>
  <Override PartName="/ppt/notesSlides/notesSlide7.xml" ContentType="application/vnd.openxmlformats-officedocument.presentationml.notesSlide+xml"/>
  <Override PartName="/ppt/tags/tag39.xml" ContentType="application/vnd.openxmlformats-officedocument.presentationml.tags+xml"/>
  <Override PartName="/ppt/notesSlides/notesSlide8.xml" ContentType="application/vnd.openxmlformats-officedocument.presentationml.notesSlide+xml"/>
  <Override PartName="/ppt/tags/tag40.xml" ContentType="application/vnd.openxmlformats-officedocument.presentationml.tags+xml"/>
  <Override PartName="/ppt/notesSlides/notesSlide9.xml" ContentType="application/vnd.openxmlformats-officedocument.presentationml.notesSlide+xml"/>
  <Override PartName="/ppt/tags/tag41.xml" ContentType="application/vnd.openxmlformats-officedocument.presentationml.tags+xml"/>
  <Override PartName="/ppt/notesSlides/notesSlide10.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13.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14.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15.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6.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17.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18.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19.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20.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21.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22.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23.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29.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notesSlides/notesSlide30.xml" ContentType="application/vnd.openxmlformats-officedocument.presentationml.notesSlide+xml"/>
  <Override PartName="/ppt/tags/tag168.xml" ContentType="application/vnd.openxmlformats-officedocument.presentationml.tags+xml"/>
  <Override PartName="/ppt/notesSlides/notesSlide31.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notesSlides/notesSlide32.xml" ContentType="application/vnd.openxmlformats-officedocument.presentationml.notesSlide+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33.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34.xml" ContentType="application/vnd.openxmlformats-officedocument.presentationml.notesSlide+xml"/>
  <Override PartName="/ppt/tags/tag180.xml" ContentType="application/vnd.openxmlformats-officedocument.presentationml.tags+xml"/>
  <Override PartName="/ppt/notesSlides/notesSlide35.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36.xml" ContentType="application/vnd.openxmlformats-officedocument.presentationml.notesSlide+xml"/>
  <Override PartName="/ppt/tags/tag184.xml" ContentType="application/vnd.openxmlformats-officedocument.presentationml.tags+xml"/>
  <Override PartName="/ppt/notesSlides/notesSlide37.xml" ContentType="application/vnd.openxmlformats-officedocument.presentationml.notesSlide+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38.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notesSlides/notesSlide39.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40.xml" ContentType="application/vnd.openxmlformats-officedocument.presentationml.notesSlide+xml"/>
  <Override PartName="/ppt/tags/tag196.xml" ContentType="application/vnd.openxmlformats-officedocument.presentationml.tags+xml"/>
  <Override PartName="/ppt/notesSlides/notesSlide41.xml" ContentType="application/vnd.openxmlformats-officedocument.presentationml.notesSlide+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42.xml" ContentType="application/vnd.openxmlformats-officedocument.presentationml.notesSlide+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43.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44.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notesSlides/notesSlide45.xml" ContentType="application/vnd.openxmlformats-officedocument.presentationml.notesSlide+xml"/>
  <Override PartName="/ppt/tags/tag214.xml" ContentType="application/vnd.openxmlformats-officedocument.presentationml.tags+xml"/>
  <Override PartName="/ppt/tags/tag215.xml" ContentType="application/vnd.openxmlformats-officedocument.presentationml.tags+xml"/>
  <Override PartName="/ppt/notesSlides/notesSlide46.xml" ContentType="application/vnd.openxmlformats-officedocument.presentationml.notesSlide+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notesSlides/notesSlide47.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notesSlides/notesSlide48.xml" ContentType="application/vnd.openxmlformats-officedocument.presentationml.notesSlide+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notesSlides/notesSlide49.xml" ContentType="application/vnd.openxmlformats-officedocument.presentationml.notesSlide+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notesSlides/notesSlide50.xml" ContentType="application/vnd.openxmlformats-officedocument.presentationml.notesSlide+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notesSlides/notesSlide51.xml" ContentType="application/vnd.openxmlformats-officedocument.presentationml.notesSlide+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notesSlides/notesSlide52.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notesSlides/notesSlide53.xml" ContentType="application/vnd.openxmlformats-officedocument.presentationml.notesSlide+xml"/>
  <Override PartName="/ppt/tags/tag240.xml" ContentType="application/vnd.openxmlformats-officedocument.presentationml.tags+xml"/>
  <Override PartName="/ppt/notesSlides/notesSlide54.xml" ContentType="application/vnd.openxmlformats-officedocument.presentationml.notesSl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notesSlides/notesSlide55.xml" ContentType="application/vnd.openxmlformats-officedocument.presentationml.notesSlide+xml"/>
  <Override PartName="/ppt/tags/tag249.xml" ContentType="application/vnd.openxmlformats-officedocument.presentationml.tags+xml"/>
  <Override PartName="/ppt/tags/tag250.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60"/>
  </p:notesMasterIdLst>
  <p:handoutMasterIdLst>
    <p:handoutMasterId r:id="rId61"/>
  </p:handoutMasterIdLst>
  <p:sldIdLst>
    <p:sldId id="583" r:id="rId3"/>
    <p:sldId id="1124" r:id="rId4"/>
    <p:sldId id="586" r:id="rId5"/>
    <p:sldId id="587" r:id="rId6"/>
    <p:sldId id="309" r:id="rId7"/>
    <p:sldId id="1323" r:id="rId8"/>
    <p:sldId id="899" r:id="rId9"/>
    <p:sldId id="1426" r:id="rId10"/>
    <p:sldId id="1427" r:id="rId11"/>
    <p:sldId id="1428" r:id="rId12"/>
    <p:sldId id="1429" r:id="rId13"/>
    <p:sldId id="1430" r:id="rId14"/>
    <p:sldId id="1431" r:id="rId15"/>
    <p:sldId id="1433" r:id="rId16"/>
    <p:sldId id="1435" r:id="rId17"/>
    <p:sldId id="1436" r:id="rId18"/>
    <p:sldId id="1437" r:id="rId19"/>
    <p:sldId id="1438" r:id="rId20"/>
    <p:sldId id="1440" r:id="rId21"/>
    <p:sldId id="1441" r:id="rId22"/>
    <p:sldId id="1442" r:id="rId23"/>
    <p:sldId id="1443" r:id="rId24"/>
    <p:sldId id="1444" r:id="rId25"/>
    <p:sldId id="1445" r:id="rId26"/>
    <p:sldId id="1446" r:id="rId27"/>
    <p:sldId id="1447" r:id="rId28"/>
    <p:sldId id="1432" r:id="rId29"/>
    <p:sldId id="1448" r:id="rId30"/>
    <p:sldId id="776" r:id="rId31"/>
    <p:sldId id="1449" r:id="rId32"/>
    <p:sldId id="1450" r:id="rId33"/>
    <p:sldId id="1451" r:id="rId34"/>
    <p:sldId id="1452" r:id="rId35"/>
    <p:sldId id="1453" r:id="rId36"/>
    <p:sldId id="1455" r:id="rId37"/>
    <p:sldId id="1456" r:id="rId38"/>
    <p:sldId id="1457" r:id="rId39"/>
    <p:sldId id="1454" r:id="rId40"/>
    <p:sldId id="1458" r:id="rId41"/>
    <p:sldId id="1459" r:id="rId42"/>
    <p:sldId id="1460" r:id="rId43"/>
    <p:sldId id="1461" r:id="rId44"/>
    <p:sldId id="1462" r:id="rId45"/>
    <p:sldId id="1463" r:id="rId46"/>
    <p:sldId id="1464" r:id="rId47"/>
    <p:sldId id="1465" r:id="rId48"/>
    <p:sldId id="1466" r:id="rId49"/>
    <p:sldId id="1467" r:id="rId50"/>
    <p:sldId id="1468" r:id="rId51"/>
    <p:sldId id="1469" r:id="rId52"/>
    <p:sldId id="1470" r:id="rId53"/>
    <p:sldId id="1471" r:id="rId54"/>
    <p:sldId id="1473" r:id="rId55"/>
    <p:sldId id="1472" r:id="rId56"/>
    <p:sldId id="1474" r:id="rId57"/>
    <p:sldId id="1475" r:id="rId58"/>
    <p:sldId id="889" r:id="rId59"/>
  </p:sldIdLst>
  <p:sldSz cx="12190413" cy="6859588"/>
  <p:notesSz cx="6858000" cy="9144000"/>
  <p:custDataLst>
    <p:tags r:id="rId62"/>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82" userDrawn="1">
          <p15:clr>
            <a:srgbClr val="A4A3A4"/>
          </p15:clr>
        </p15:guide>
        <p15:guide id="2" pos="626" userDrawn="1">
          <p15:clr>
            <a:srgbClr val="A4A3A4"/>
          </p15:clr>
        </p15:guide>
        <p15:guide id="3" pos="6993" userDrawn="1">
          <p15:clr>
            <a:srgbClr val="A4A3A4"/>
          </p15:clr>
        </p15:guide>
      </p15:sldGuideLst>
    </p:ext>
    <p:ext uri="{2D200454-40CA-4A62-9FC3-DE9A4176ACB9}">
      <p15:notesGuideLst xmlns:p15="http://schemas.microsoft.com/office/powerpoint/2012/main">
        <p15:guide id="1" orient="horz" pos="2741">
          <p15:clr>
            <a:srgbClr val="A4A3A4"/>
          </p15:clr>
        </p15:guide>
        <p15:guide id="2" pos="2205">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薛蒙蒙" initials="xmm" lastIdx="10" clrIdx="0"/>
  <p:cmAuthor id="2" name="LD" initials="L" lastIdx="2" clrIdx="1"/>
  <p:cmAuthor id="3" name="Lv0593" initials="L" lastIdx="15" clrIdx="2"/>
  <p:cmAuthor id="4" name="tk" initials="tk"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595959"/>
    <a:srgbClr val="FAFAFA"/>
    <a:srgbClr val="FF0000"/>
    <a:srgbClr val="11D023"/>
    <a:srgbClr val="F2F2F2"/>
    <a:srgbClr val="1369B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72" autoAdjust="0"/>
    <p:restoredTop sz="60316" autoAdjust="0"/>
  </p:normalViewPr>
  <p:slideViewPr>
    <p:cSldViewPr showGuides="1">
      <p:cViewPr varScale="1">
        <p:scale>
          <a:sx n="46" d="100"/>
          <a:sy n="46" d="100"/>
        </p:scale>
        <p:origin x="1452" y="42"/>
      </p:cViewPr>
      <p:guideLst>
        <p:guide orient="horz" pos="982"/>
        <p:guide pos="626"/>
        <p:guide pos="6993"/>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741"/>
        <p:guide pos="220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2026/4/29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2026/4/29</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indent="0" algn="just" fontAlgn="auto">
              <a:lnSpc>
                <a:spcPct val="150000"/>
              </a:lnSpc>
            </a:pPr>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indent="0" algn="just" fontAlgn="auto">
              <a:lnSpc>
                <a:spcPct val="150000"/>
              </a:lnSpc>
            </a:pPr>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3131" y="2202951"/>
            <a:ext cx="12193544" cy="2327529"/>
            <a:chOff x="169683" y="177982"/>
            <a:chExt cx="3937015" cy="751234"/>
          </a:xfrm>
        </p:grpSpPr>
        <p:sp>
          <p:nvSpPr>
            <p:cNvPr id="44" name="等腰三角形 43"/>
            <p:cNvSpPr/>
            <p:nvPr/>
          </p:nvSpPr>
          <p:spPr>
            <a:xfrm>
              <a:off x="1587695"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69683" y="57270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467" y="177982"/>
              <a:ext cx="1418233" cy="751234"/>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10631710"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8903743"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9767727"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7175776"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039760"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2026/4/29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2026/4/29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2026/4/29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2026/4/29</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fld id="{530820CF-B880-4189-942D-D702A7CBA730}" type="datetimeFigureOut">
              <a:rPr lang="zh-CN" altLang="en-US" smtClean="0"/>
              <a:t>2026/4/29</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微软雅黑" panose="020B0503020204020204" pitchFamily="34" charset="-122"/>
          <a:ea typeface="微软雅黑" panose="020B0503020204020204" pitchFamily="34" charset="-122"/>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微软雅黑" panose="020B0503020204020204" pitchFamily="34" charset="-122"/>
          <a:ea typeface="微软雅黑" panose="020B0503020204020204" pitchFamily="34" charset="-122"/>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微软雅黑" panose="020B0503020204020204" pitchFamily="34" charset="-122"/>
          <a:ea typeface="微软雅黑" panose="020B0503020204020204" pitchFamily="34" charset="-122"/>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1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notesSlide" Target="../notesSlides/notesSlide3.xml"/><Relationship Id="rId4"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18" Type="http://schemas.openxmlformats.org/officeDocument/2006/relationships/notesSlide" Target="../notesSlides/notesSlide4.xml"/><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slideLayout" Target="../slideLayouts/slideLayout19.xml"/><Relationship Id="rId2" Type="http://schemas.openxmlformats.org/officeDocument/2006/relationships/tags" Target="../tags/tag18.xml"/><Relationship Id="rId16" Type="http://schemas.openxmlformats.org/officeDocument/2006/relationships/tags" Target="../tags/tag32.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5" Type="http://schemas.openxmlformats.org/officeDocument/2006/relationships/tags" Target="../tags/tag21.xml"/><Relationship Id="rId15" Type="http://schemas.openxmlformats.org/officeDocument/2006/relationships/tags" Target="../tags/tag31.xml"/><Relationship Id="rId10" Type="http://schemas.openxmlformats.org/officeDocument/2006/relationships/tags" Target="../tags/tag26.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5.xml"/><Relationship Id="rId7" Type="http://schemas.openxmlformats.org/officeDocument/2006/relationships/notesSlide" Target="../notesSlides/notesSlide6.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slideLayout" Target="../slideLayouts/slideLayout10.xml"/><Relationship Id="rId5" Type="http://schemas.openxmlformats.org/officeDocument/2006/relationships/tags" Target="../tags/tag37.xml"/><Relationship Id="rId4" Type="http://schemas.openxmlformats.org/officeDocument/2006/relationships/tags" Target="../tags/tag3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3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39.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4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41.xml"/></Relationships>
</file>

<file path=ppt/slides/_rels/slide11.xml.rels><?xml version="1.0" encoding="UTF-8" standalone="yes"?>
<Relationships xmlns="http://schemas.openxmlformats.org/package/2006/relationships"><Relationship Id="rId13" Type="http://schemas.openxmlformats.org/officeDocument/2006/relationships/tags" Target="../tags/tag54.xml"/><Relationship Id="rId18" Type="http://schemas.openxmlformats.org/officeDocument/2006/relationships/tags" Target="../tags/tag59.xml"/><Relationship Id="rId26" Type="http://schemas.openxmlformats.org/officeDocument/2006/relationships/tags" Target="../tags/tag67.xml"/><Relationship Id="rId3" Type="http://schemas.openxmlformats.org/officeDocument/2006/relationships/tags" Target="../tags/tag44.xml"/><Relationship Id="rId21" Type="http://schemas.openxmlformats.org/officeDocument/2006/relationships/tags" Target="../tags/tag62.xml"/><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tags" Target="../tags/tag58.xml"/><Relationship Id="rId25" Type="http://schemas.openxmlformats.org/officeDocument/2006/relationships/tags" Target="../tags/tag66.xml"/><Relationship Id="rId33" Type="http://schemas.openxmlformats.org/officeDocument/2006/relationships/notesSlide" Target="../notesSlides/notesSlide11.xml"/><Relationship Id="rId2" Type="http://schemas.openxmlformats.org/officeDocument/2006/relationships/tags" Target="../tags/tag43.xml"/><Relationship Id="rId16" Type="http://schemas.openxmlformats.org/officeDocument/2006/relationships/tags" Target="../tags/tag57.xml"/><Relationship Id="rId20" Type="http://schemas.openxmlformats.org/officeDocument/2006/relationships/tags" Target="../tags/tag61.xml"/><Relationship Id="rId29" Type="http://schemas.openxmlformats.org/officeDocument/2006/relationships/tags" Target="../tags/tag70.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24" Type="http://schemas.openxmlformats.org/officeDocument/2006/relationships/tags" Target="../tags/tag65.xml"/><Relationship Id="rId32" Type="http://schemas.openxmlformats.org/officeDocument/2006/relationships/slideLayout" Target="../slideLayouts/slideLayout10.xml"/><Relationship Id="rId5" Type="http://schemas.openxmlformats.org/officeDocument/2006/relationships/tags" Target="../tags/tag46.xml"/><Relationship Id="rId15" Type="http://schemas.openxmlformats.org/officeDocument/2006/relationships/tags" Target="../tags/tag56.xml"/><Relationship Id="rId23" Type="http://schemas.openxmlformats.org/officeDocument/2006/relationships/tags" Target="../tags/tag64.xml"/><Relationship Id="rId28" Type="http://schemas.openxmlformats.org/officeDocument/2006/relationships/tags" Target="../tags/tag69.xml"/><Relationship Id="rId10" Type="http://schemas.openxmlformats.org/officeDocument/2006/relationships/tags" Target="../tags/tag51.xml"/><Relationship Id="rId19" Type="http://schemas.openxmlformats.org/officeDocument/2006/relationships/tags" Target="../tags/tag60.xml"/><Relationship Id="rId31" Type="http://schemas.openxmlformats.org/officeDocument/2006/relationships/tags" Target="../tags/tag72.xml"/><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 Id="rId22" Type="http://schemas.openxmlformats.org/officeDocument/2006/relationships/tags" Target="../tags/tag63.xml"/><Relationship Id="rId27" Type="http://schemas.openxmlformats.org/officeDocument/2006/relationships/tags" Target="../tags/tag68.xml"/><Relationship Id="rId30" Type="http://schemas.openxmlformats.org/officeDocument/2006/relationships/tags" Target="../tags/tag71.xml"/><Relationship Id="rId8" Type="http://schemas.openxmlformats.org/officeDocument/2006/relationships/tags" Target="../tags/tag4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5.xml"/><Relationship Id="rId7" Type="http://schemas.openxmlformats.org/officeDocument/2006/relationships/notesSlide" Target="../notesSlides/notesSlide13.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Layout" Target="../slideLayouts/slideLayout10.xml"/><Relationship Id="rId5" Type="http://schemas.openxmlformats.org/officeDocument/2006/relationships/tags" Target="../tags/tag77.xml"/><Relationship Id="rId4" Type="http://schemas.openxmlformats.org/officeDocument/2006/relationships/tags" Target="../tags/tag76.xml"/></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80.xml"/><Relationship Id="rId7" Type="http://schemas.openxmlformats.org/officeDocument/2006/relationships/notesSlide" Target="../notesSlides/notesSlide1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slideLayout" Target="../slideLayouts/slideLayout10.xml"/><Relationship Id="rId5" Type="http://schemas.openxmlformats.org/officeDocument/2006/relationships/tags" Target="../tags/tag82.xml"/><Relationship Id="rId4" Type="http://schemas.openxmlformats.org/officeDocument/2006/relationships/tags" Target="../tags/tag81.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85.xml"/><Relationship Id="rId7" Type="http://schemas.openxmlformats.org/officeDocument/2006/relationships/notesSlide" Target="../notesSlides/notesSlide15.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slideLayout" Target="../slideLayouts/slideLayout10.xml"/><Relationship Id="rId5" Type="http://schemas.openxmlformats.org/officeDocument/2006/relationships/tags" Target="../tags/tag87.xml"/><Relationship Id="rId4" Type="http://schemas.openxmlformats.org/officeDocument/2006/relationships/tags" Target="../tags/tag86.xml"/></Relationships>
</file>

<file path=ppt/slides/_rels/slide16.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hyperlink" Target="http://stu.ityxb.com/ebookview/f2aae098f9d4dd608a1863b0aff93186" TargetMode="Externa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7.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notesSlide" Target="../notesSlides/notesSlide16.xml"/><Relationship Id="rId5" Type="http://schemas.openxmlformats.org/officeDocument/2006/relationships/tags" Target="../tags/tag92.xml"/><Relationship Id="rId15" Type="http://schemas.openxmlformats.org/officeDocument/2006/relationships/image" Target="../media/image9.svg"/><Relationship Id="rId10" Type="http://schemas.openxmlformats.org/officeDocument/2006/relationships/slideLayout" Target="../slideLayouts/slideLayout10.xml"/><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image" Target="../media/image8.png"/></Relationships>
</file>

<file path=ppt/slides/_rels/slide17.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hyperlink" Target="http://stu.ityxb.com/ebookview/7f867d4947dfad946b32016bb4aa9745" TargetMode="External"/><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image" Target="../media/image7.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notesSlide" Target="../notesSlides/notesSlide17.xml"/><Relationship Id="rId5" Type="http://schemas.openxmlformats.org/officeDocument/2006/relationships/tags" Target="../tags/tag101.xml"/><Relationship Id="rId15" Type="http://schemas.openxmlformats.org/officeDocument/2006/relationships/image" Target="../media/image9.svg"/><Relationship Id="rId10" Type="http://schemas.openxmlformats.org/officeDocument/2006/relationships/slideLayout" Target="../slideLayouts/slideLayout10.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tags" Target="../tags/tag113.xml"/><Relationship Id="rId13" Type="http://schemas.openxmlformats.org/officeDocument/2006/relationships/hyperlink" Target="http://stu.ityxb.com/ebookview/bfd981afbf1aae00fb073e7e846df1c9" TargetMode="External"/><Relationship Id="rId3" Type="http://schemas.openxmlformats.org/officeDocument/2006/relationships/tags" Target="../tags/tag108.xml"/><Relationship Id="rId7" Type="http://schemas.openxmlformats.org/officeDocument/2006/relationships/tags" Target="../tags/tag112.xml"/><Relationship Id="rId12" Type="http://schemas.openxmlformats.org/officeDocument/2006/relationships/image" Target="../media/image7.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notesSlide" Target="../notesSlides/notesSlide18.xml"/><Relationship Id="rId5" Type="http://schemas.openxmlformats.org/officeDocument/2006/relationships/tags" Target="../tags/tag110.xml"/><Relationship Id="rId15" Type="http://schemas.openxmlformats.org/officeDocument/2006/relationships/image" Target="../media/image9.svg"/><Relationship Id="rId10" Type="http://schemas.openxmlformats.org/officeDocument/2006/relationships/slideLayout" Target="../slideLayouts/slideLayout10.xml"/><Relationship Id="rId4" Type="http://schemas.openxmlformats.org/officeDocument/2006/relationships/tags" Target="../tags/tag109.xml"/><Relationship Id="rId9" Type="http://schemas.openxmlformats.org/officeDocument/2006/relationships/tags" Target="../tags/tag114.xml"/><Relationship Id="rId14"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tags" Target="../tags/tag122.xml"/><Relationship Id="rId13" Type="http://schemas.openxmlformats.org/officeDocument/2006/relationships/hyperlink" Target="http://stu.ityxb.com/ebookview/de79793497e83274d9da60d1f7cc6b72" TargetMode="External"/><Relationship Id="rId3" Type="http://schemas.openxmlformats.org/officeDocument/2006/relationships/tags" Target="../tags/tag117.xml"/><Relationship Id="rId7" Type="http://schemas.openxmlformats.org/officeDocument/2006/relationships/tags" Target="../tags/tag121.xml"/><Relationship Id="rId12" Type="http://schemas.openxmlformats.org/officeDocument/2006/relationships/image" Target="../media/image7.png"/><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11" Type="http://schemas.openxmlformats.org/officeDocument/2006/relationships/notesSlide" Target="../notesSlides/notesSlide19.xml"/><Relationship Id="rId5" Type="http://schemas.openxmlformats.org/officeDocument/2006/relationships/tags" Target="../tags/tag119.xml"/><Relationship Id="rId15" Type="http://schemas.openxmlformats.org/officeDocument/2006/relationships/image" Target="../media/image9.svg"/><Relationship Id="rId10" Type="http://schemas.openxmlformats.org/officeDocument/2006/relationships/slideLayout" Target="../slideLayouts/slideLayout10.xml"/><Relationship Id="rId4" Type="http://schemas.openxmlformats.org/officeDocument/2006/relationships/tags" Target="../tags/tag118.xml"/><Relationship Id="rId9" Type="http://schemas.openxmlformats.org/officeDocument/2006/relationships/tags" Target="../tags/tag123.xml"/><Relationship Id="rId14"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tags" Target="../tags/tag131.xml"/><Relationship Id="rId13" Type="http://schemas.openxmlformats.org/officeDocument/2006/relationships/hyperlink" Target="http://stu.ityxb.com/ebookview/e95f56d9f7f209094a14388382da62d6" TargetMode="External"/><Relationship Id="rId3" Type="http://schemas.openxmlformats.org/officeDocument/2006/relationships/tags" Target="../tags/tag126.xml"/><Relationship Id="rId7" Type="http://schemas.openxmlformats.org/officeDocument/2006/relationships/tags" Target="../tags/tag130.xml"/><Relationship Id="rId12" Type="http://schemas.openxmlformats.org/officeDocument/2006/relationships/image" Target="../media/image7.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notesSlide" Target="../notesSlides/notesSlide20.xml"/><Relationship Id="rId5" Type="http://schemas.openxmlformats.org/officeDocument/2006/relationships/tags" Target="../tags/tag128.xml"/><Relationship Id="rId15" Type="http://schemas.openxmlformats.org/officeDocument/2006/relationships/image" Target="../media/image9.svg"/><Relationship Id="rId10" Type="http://schemas.openxmlformats.org/officeDocument/2006/relationships/slideLayout" Target="../slideLayouts/slideLayout10.xml"/><Relationship Id="rId4" Type="http://schemas.openxmlformats.org/officeDocument/2006/relationships/tags" Target="../tags/tag127.xml"/><Relationship Id="rId9" Type="http://schemas.openxmlformats.org/officeDocument/2006/relationships/tags" Target="../tags/tag132.xml"/><Relationship Id="rId14"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35.xml"/><Relationship Id="rId7" Type="http://schemas.openxmlformats.org/officeDocument/2006/relationships/notesSlide" Target="../notesSlides/notesSlide21.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slideLayout" Target="../slideLayouts/slideLayout10.xml"/><Relationship Id="rId5" Type="http://schemas.openxmlformats.org/officeDocument/2006/relationships/tags" Target="../tags/tag137.xml"/><Relationship Id="rId4" Type="http://schemas.openxmlformats.org/officeDocument/2006/relationships/tags" Target="../tags/tag136.xml"/></Relationships>
</file>

<file path=ppt/slides/_rels/slide2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40.xml"/><Relationship Id="rId7" Type="http://schemas.openxmlformats.org/officeDocument/2006/relationships/notesSlide" Target="../notesSlides/notesSlide22.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slideLayout" Target="../slideLayouts/slideLayout10.xml"/><Relationship Id="rId5" Type="http://schemas.openxmlformats.org/officeDocument/2006/relationships/tags" Target="../tags/tag142.xml"/><Relationship Id="rId4" Type="http://schemas.openxmlformats.org/officeDocument/2006/relationships/tags" Target="../tags/tag141.xml"/></Relationships>
</file>

<file path=ppt/slides/_rels/slide2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145.xml"/><Relationship Id="rId7" Type="http://schemas.openxmlformats.org/officeDocument/2006/relationships/notesSlide" Target="../notesSlides/notesSlide23.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slideLayout" Target="../slideLayouts/slideLayout10.xml"/><Relationship Id="rId5" Type="http://schemas.openxmlformats.org/officeDocument/2006/relationships/tags" Target="../tags/tag147.xml"/><Relationship Id="rId4" Type="http://schemas.openxmlformats.org/officeDocument/2006/relationships/tags" Target="../tags/tag146.xml"/></Relationships>
</file>

<file path=ppt/slides/_rels/slide2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150.xml"/><Relationship Id="rId7" Type="http://schemas.openxmlformats.org/officeDocument/2006/relationships/notesSlide" Target="../notesSlides/notesSlide2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slideLayout" Target="../slideLayouts/slideLayout10.xml"/><Relationship Id="rId5" Type="http://schemas.openxmlformats.org/officeDocument/2006/relationships/tags" Target="../tags/tag152.xml"/><Relationship Id="rId4" Type="http://schemas.openxmlformats.org/officeDocument/2006/relationships/tags" Target="../tags/tag15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55.xml"/><Relationship Id="rId7" Type="http://schemas.openxmlformats.org/officeDocument/2006/relationships/notesSlide" Target="../notesSlides/notesSlide26.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slideLayout" Target="../slideLayouts/slideLayout10.xml"/><Relationship Id="rId5" Type="http://schemas.openxmlformats.org/officeDocument/2006/relationships/tags" Target="../tags/tag157.xml"/><Relationship Id="rId4" Type="http://schemas.openxmlformats.org/officeDocument/2006/relationships/tags" Target="../tags/tag156.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tags" Target="../tags/tag160.xml"/><Relationship Id="rId7" Type="http://schemas.openxmlformats.org/officeDocument/2006/relationships/notesSlide" Target="../notesSlides/notesSlide29.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slideLayout" Target="../slideLayouts/slideLayout10.xml"/><Relationship Id="rId5" Type="http://schemas.openxmlformats.org/officeDocument/2006/relationships/tags" Target="../tags/tag162.xml"/><Relationship Id="rId4" Type="http://schemas.openxmlformats.org/officeDocument/2006/relationships/tags" Target="../tags/tag161.xml"/></Relationships>
</file>

<file path=ppt/slides/_rels/slide3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65.xml"/><Relationship Id="rId7" Type="http://schemas.openxmlformats.org/officeDocument/2006/relationships/notesSlide" Target="../notesSlides/notesSlide30.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slideLayout" Target="../slideLayouts/slideLayout10.xml"/><Relationship Id="rId5" Type="http://schemas.openxmlformats.org/officeDocument/2006/relationships/tags" Target="../tags/tag167.xml"/><Relationship Id="rId4" Type="http://schemas.openxmlformats.org/officeDocument/2006/relationships/tags" Target="../tags/tag16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168.xml"/></Relationships>
</file>

<file path=ppt/slides/_rels/slide32.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5" Type="http://schemas.openxmlformats.org/officeDocument/2006/relationships/notesSlide" Target="../notesSlides/notesSlide32.xml"/><Relationship Id="rId4"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 Id="rId5" Type="http://schemas.openxmlformats.org/officeDocument/2006/relationships/notesSlide" Target="../notesSlides/notesSlide33.xml"/><Relationship Id="rId4"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77.xml"/><Relationship Id="rId7" Type="http://schemas.openxmlformats.org/officeDocument/2006/relationships/notesSlide" Target="../notesSlides/notesSlide34.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slideLayout" Target="../slideLayouts/slideLayout10.xml"/><Relationship Id="rId5" Type="http://schemas.openxmlformats.org/officeDocument/2006/relationships/tags" Target="../tags/tag179.xml"/><Relationship Id="rId4" Type="http://schemas.openxmlformats.org/officeDocument/2006/relationships/tags" Target="../tags/tag17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180.xml"/></Relationships>
</file>

<file path=ppt/slides/_rels/slide36.xml.rels><?xml version="1.0" encoding="UTF-8" standalone="yes"?>
<Relationships xmlns="http://schemas.openxmlformats.org/package/2006/relationships"><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 Id="rId5" Type="http://schemas.openxmlformats.org/officeDocument/2006/relationships/notesSlide" Target="../notesSlides/notesSlide36.xml"/><Relationship Id="rId4"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184.xml"/></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3" Type="http://schemas.openxmlformats.org/officeDocument/2006/relationships/tags" Target="../tags/tag187.xml"/><Relationship Id="rId7" Type="http://schemas.openxmlformats.org/officeDocument/2006/relationships/slideLayout" Target="../slideLayouts/slideLayout10.xml"/><Relationship Id="rId12" Type="http://schemas.openxmlformats.org/officeDocument/2006/relationships/image" Target="../media/image9.svg"/><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image" Target="../media/image8.png"/><Relationship Id="rId5" Type="http://schemas.openxmlformats.org/officeDocument/2006/relationships/tags" Target="../tags/tag189.xml"/><Relationship Id="rId10" Type="http://schemas.openxmlformats.org/officeDocument/2006/relationships/hyperlink" Target="http://stu.ityxb.com/ebookview/b728860cb51af3a61d0dfdf9c7d85425" TargetMode="External"/><Relationship Id="rId4" Type="http://schemas.openxmlformats.org/officeDocument/2006/relationships/tags" Target="../tags/tag188.xml"/><Relationship Id="rId9"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92.xml"/><Relationship Id="rId1" Type="http://schemas.openxmlformats.org/officeDocument/2006/relationships/tags" Target="../tags/tag191.xml"/><Relationship Id="rId5" Type="http://schemas.openxmlformats.org/officeDocument/2006/relationships/image" Target="../media/image15.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5" Type="http://schemas.openxmlformats.org/officeDocument/2006/relationships/notesSlide" Target="../notesSlides/notesSlide40.xml"/><Relationship Id="rId4"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tags" Target="../tags/tag196.xml"/></Relationships>
</file>

<file path=ppt/slides/_rels/slide42.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notesSlide" Target="../notesSlides/notesSlide42.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slideLayout" Target="../slideLayouts/slideLayout10.xml"/><Relationship Id="rId5" Type="http://schemas.openxmlformats.org/officeDocument/2006/relationships/tags" Target="../tags/tag201.xml"/><Relationship Id="rId4" Type="http://schemas.openxmlformats.org/officeDocument/2006/relationships/tags" Target="../tags/tag200.xml"/></Relationships>
</file>

<file path=ppt/slides/_rels/slide43.xml.rels><?xml version="1.0" encoding="UTF-8" standalone="yes"?>
<Relationships xmlns="http://schemas.openxmlformats.org/package/2006/relationships"><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 Id="rId5" Type="http://schemas.openxmlformats.org/officeDocument/2006/relationships/notesSlide" Target="../notesSlides/notesSlide43.xml"/><Relationship Id="rId4"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 Id="rId5" Type="http://schemas.openxmlformats.org/officeDocument/2006/relationships/notesSlide" Target="../notesSlides/notesSlide44.xml"/><Relationship Id="rId4"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8" Type="http://schemas.openxmlformats.org/officeDocument/2006/relationships/notesSlide" Target="../notesSlides/notesSlide45.xml"/><Relationship Id="rId3" Type="http://schemas.openxmlformats.org/officeDocument/2006/relationships/tags" Target="../tags/tag210.xml"/><Relationship Id="rId7" Type="http://schemas.openxmlformats.org/officeDocument/2006/relationships/slideLayout" Target="../slideLayouts/slideLayout10.xml"/><Relationship Id="rId12" Type="http://schemas.openxmlformats.org/officeDocument/2006/relationships/image" Target="../media/image9.svg"/><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tags" Target="../tags/tag213.xml"/><Relationship Id="rId11" Type="http://schemas.openxmlformats.org/officeDocument/2006/relationships/image" Target="../media/image8.png"/><Relationship Id="rId5" Type="http://schemas.openxmlformats.org/officeDocument/2006/relationships/tags" Target="../tags/tag212.xml"/><Relationship Id="rId10" Type="http://schemas.openxmlformats.org/officeDocument/2006/relationships/hyperlink" Target="http://stu.ityxb.com/ebookview/58f8b6c7468b5f735e09743b2464f6b1" TargetMode="External"/><Relationship Id="rId4" Type="http://schemas.openxmlformats.org/officeDocument/2006/relationships/tags" Target="../tags/tag211.xml"/><Relationship Id="rId9"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15.xml"/><Relationship Id="rId1" Type="http://schemas.openxmlformats.org/officeDocument/2006/relationships/tags" Target="../tags/tag214.xml"/><Relationship Id="rId5" Type="http://schemas.openxmlformats.org/officeDocument/2006/relationships/image" Target="../media/image16.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5" Type="http://schemas.openxmlformats.org/officeDocument/2006/relationships/notesSlide" Target="../notesSlides/notesSlide47.xml"/><Relationship Id="rId4"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tags" Target="../tags/tag221.xml"/><Relationship Id="rId7" Type="http://schemas.openxmlformats.org/officeDocument/2006/relationships/notesSlide" Target="../notesSlides/notesSlide48.xml"/><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slideLayout" Target="../slideLayouts/slideLayout10.xml"/><Relationship Id="rId5" Type="http://schemas.openxmlformats.org/officeDocument/2006/relationships/tags" Target="../tags/tag223.xml"/><Relationship Id="rId4" Type="http://schemas.openxmlformats.org/officeDocument/2006/relationships/tags" Target="../tags/tag222.xml"/></Relationships>
</file>

<file path=ppt/slides/_rels/slide4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26.xml"/><Relationship Id="rId7" Type="http://schemas.openxmlformats.org/officeDocument/2006/relationships/notesSlide" Target="../notesSlides/notesSlide49.xml"/><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slideLayout" Target="../slideLayouts/slideLayout10.xml"/><Relationship Id="rId5" Type="http://schemas.openxmlformats.org/officeDocument/2006/relationships/tags" Target="../tags/tag228.xml"/><Relationship Id="rId4" Type="http://schemas.openxmlformats.org/officeDocument/2006/relationships/tags" Target="../tags/tag227.xml"/></Relationships>
</file>

<file path=ppt/slides/_rels/slide50.xml.rels><?xml version="1.0" encoding="UTF-8" standalone="yes"?>
<Relationships xmlns="http://schemas.openxmlformats.org/package/2006/relationships"><Relationship Id="rId3" Type="http://schemas.openxmlformats.org/officeDocument/2006/relationships/tags" Target="../tags/tag231.xml"/><Relationship Id="rId2" Type="http://schemas.openxmlformats.org/officeDocument/2006/relationships/tags" Target="../tags/tag230.xml"/><Relationship Id="rId1" Type="http://schemas.openxmlformats.org/officeDocument/2006/relationships/tags" Target="../tags/tag229.xml"/><Relationship Id="rId5" Type="http://schemas.openxmlformats.org/officeDocument/2006/relationships/notesSlide" Target="../notesSlides/notesSlide50.xml"/><Relationship Id="rId4"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 Id="rId5" Type="http://schemas.openxmlformats.org/officeDocument/2006/relationships/notesSlide" Target="../notesSlides/notesSlide51.xml"/><Relationship Id="rId4"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tags" Target="../tags/tag235.xml"/><Relationship Id="rId5" Type="http://schemas.openxmlformats.org/officeDocument/2006/relationships/notesSlide" Target="../notesSlides/notesSlide52.xml"/><Relationship Id="rId4"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39.xml"/><Relationship Id="rId1" Type="http://schemas.openxmlformats.org/officeDocument/2006/relationships/tags" Target="../tags/tag238.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tags" Target="../tags/tag240.xml"/></Relationships>
</file>

<file path=ppt/slides/_rels/slide55.xml.rels><?xml version="1.0" encoding="UTF-8" standalone="yes"?>
<Relationships xmlns="http://schemas.openxmlformats.org/package/2006/relationships"><Relationship Id="rId8" Type="http://schemas.openxmlformats.org/officeDocument/2006/relationships/tags" Target="../tags/tag248.xml"/><Relationship Id="rId3" Type="http://schemas.openxmlformats.org/officeDocument/2006/relationships/tags" Target="../tags/tag243.xml"/><Relationship Id="rId7" Type="http://schemas.openxmlformats.org/officeDocument/2006/relationships/tags" Target="../tags/tag247.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5" Type="http://schemas.openxmlformats.org/officeDocument/2006/relationships/tags" Target="../tags/tag245.xml"/><Relationship Id="rId10" Type="http://schemas.openxmlformats.org/officeDocument/2006/relationships/notesSlide" Target="../notesSlides/notesSlide55.xml"/><Relationship Id="rId4" Type="http://schemas.openxmlformats.org/officeDocument/2006/relationships/tags" Target="../tags/tag244.xml"/><Relationship Id="rId9"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50.xml"/><Relationship Id="rId1" Type="http://schemas.openxmlformats.org/officeDocument/2006/relationships/tags" Target="../tags/tag249.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normAutofit fontScale="61516" lnSpcReduction="20000"/>
          </a:bodyPr>
          <a:lstStyle/>
          <a:p>
            <a:pPr algn="ct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Chapter 5: Introduction to the Spring MVC Framework</a:t>
            </a:r>
          </a:p>
        </p:txBody>
      </p:sp>
      <p:sp>
        <p:nvSpPr>
          <p:cNvPr id="4" name="Rectangle 4"/>
          <p:cNvSpPr txBox="1">
            <a:spLocks noChangeArrowheads="1"/>
          </p:cNvSpPr>
          <p:nvPr/>
        </p:nvSpPr>
        <p:spPr>
          <a:xfrm>
            <a:off x="1003300" y="3935095"/>
            <a:ext cx="1051941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sz="2300" dirty="0">
                <a:solidFill>
                  <a:srgbClr val="595959"/>
                </a:solidFill>
                <a:latin typeface="微软雅黑" panose="020B0503020204020204" pitchFamily="34" charset="-122"/>
                <a:ea typeface="微软雅黑" panose="020B0503020204020204" pitchFamily="34" charset="-122"/>
                <a:cs typeface="+mn-ea"/>
                <a:sym typeface="+mn-lt"/>
              </a:rPr>
              <a:t>Java EE Enterprise Application Development Tutorial (Spring+Spring MVC+MyBatis) (3rd Edition)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5855962" cy="662532"/>
          </a:xfrm>
          <a:prstGeom prst="rect">
            <a:avLst/>
          </a:prstGeom>
        </p:spPr>
        <p:txBody>
          <a:bodyPr lIns="121917" tIns="60958" rIns="121917" bIns="60958" anchor="ctr">
            <a:normAutofit fontScale="99486"/>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Learning objectives/Target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custDataLst>
              <p:tags r:id="rId1"/>
            </p:custDataLst>
          </p:nvPr>
        </p:nvGrpSpPr>
        <p:grpSpPr>
          <a:xfrm>
            <a:off x="1557655" y="1991360"/>
            <a:ext cx="9014460" cy="688340"/>
            <a:chOff x="978872" y="1800500"/>
            <a:chExt cx="6427354" cy="516136"/>
          </a:xfrm>
        </p:grpSpPr>
        <p:sp>
          <p:nvSpPr>
            <p:cNvPr id="81" name="Pentagon 3"/>
            <p:cNvSpPr/>
            <p:nvPr>
              <p:custDataLst>
                <p:tags r:id="rId11"/>
              </p:custDataLst>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9372"/>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Learn about the related concepts and features of Spring MVC</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custDataLst>
                <p:tags r:id="rId12"/>
              </p:custDataLst>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custDataLst>
              <p:tags r:id="rId2"/>
            </p:custDataLst>
          </p:nvPr>
        </p:nvGrpSpPr>
        <p:grpSpPr>
          <a:xfrm>
            <a:off x="1557655" y="3108325"/>
            <a:ext cx="9006205" cy="689610"/>
            <a:chOff x="978872" y="2570437"/>
            <a:chExt cx="5437064" cy="517208"/>
          </a:xfrm>
        </p:grpSpPr>
        <p:sp>
          <p:nvSpPr>
            <p:cNvPr id="84" name="Pentagon 5"/>
            <p:cNvSpPr/>
            <p:nvPr>
              <p:custDataLst>
                <p:tags r:id="rId9"/>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586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3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Be familiar with the execution process of Spring MVC</a:t>
              </a:r>
            </a:p>
          </p:txBody>
        </p:sp>
        <p:sp>
          <p:nvSpPr>
            <p:cNvPr id="85" name="MH_Others_1"/>
            <p:cNvSpPr/>
            <p:nvPr>
              <p:custDataLst>
                <p:tags r:id="rId10"/>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custDataLst>
              <p:tags r:id="rId3"/>
            </p:custDataLst>
          </p:nvPr>
        </p:nvGrpSpPr>
        <p:grpSpPr>
          <a:xfrm>
            <a:off x="1557655" y="4226560"/>
            <a:ext cx="9006205" cy="685800"/>
            <a:chOff x="978872" y="2570437"/>
            <a:chExt cx="5437064" cy="514351"/>
          </a:xfrm>
        </p:grpSpPr>
        <p:sp>
          <p:nvSpPr>
            <p:cNvPr id="10" name="Pentagon 5"/>
            <p:cNvSpPr/>
            <p:nvPr>
              <p:custDataLst>
                <p:tags r:id="rId7"/>
              </p:custDataLst>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6649"/>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40000"/>
                </a:lnSpc>
                <a:defRPr/>
              </a:pP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Be able to independently implement a Spring MVC starter program</a:t>
              </a:r>
            </a:p>
          </p:txBody>
        </p:sp>
        <p:sp>
          <p:nvSpPr>
            <p:cNvPr id="11" name="MH_Others_1"/>
            <p:cNvSpPr/>
            <p:nvPr>
              <p:custDataLst>
                <p:tags r:id="rId8"/>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custDataLst>
              <p:tags r:id="rId4"/>
            </p:custDataLst>
          </p:nvPr>
        </p:nvGrpSpPr>
        <p:grpSpPr>
          <a:xfrm>
            <a:off x="1557655" y="5316220"/>
            <a:ext cx="9006205" cy="689610"/>
            <a:chOff x="978872" y="2570437"/>
            <a:chExt cx="5437064" cy="517208"/>
          </a:xfrm>
        </p:grpSpPr>
        <p:sp>
          <p:nvSpPr>
            <p:cNvPr id="3" name="Pentagon 5"/>
            <p:cNvSpPr/>
            <p:nvPr>
              <p:custDataLst>
                <p:tags r:id="rId5"/>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50000"/>
                </a:lnSpc>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request mapping of Spring MVC and be able to implement the request mapping of Spring MVC using annotations</a:t>
              </a:r>
            </a:p>
          </p:txBody>
        </p:sp>
        <p:sp>
          <p:nvSpPr>
            <p:cNvPr id="4" name="MH_Others_1"/>
            <p:cNvSpPr/>
            <p:nvPr>
              <p:custDataLst>
                <p:tags r:id="rId6"/>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643202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Chapter Overview/Summary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76959" y="1841351"/>
            <a:ext cx="10335895" cy="4612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Early Java Web applications were typically implemented using the JSP Model2 architecture model, which separated page display, flow control, and business logic using JSP, Servlet, and Java Bean technologies. </a:t>
            </a:r>
            <a:r>
              <a:rPr lang="zh-CN" altLang="en-US" sz="1800" dirty="0">
                <a:solidFill>
                  <a:srgbClr val="1369B2"/>
                </a:solidFill>
                <a:latin typeface="微软雅黑" panose="020B0503020204020204" pitchFamily="34" charset="-122"/>
                <a:ea typeface="微软雅黑" panose="020B0503020204020204" pitchFamily="34" charset="-122"/>
                <a:cs typeface="+mn-ea"/>
              </a:rPr>
              <a:t>However, the JSP Model2 architecture model implemented general-purpose logic such as flow control in a hard-coded way, which led to the need to rewrite the URL analysis code for Servlet controllers and general-purpose Web layer logic such as flow control every time a new Web application was developed.</a:t>
            </a:r>
            <a:endParaRPr lang="zh-CN" altLang="zh-CN" sz="1800" dirty="0">
              <a:solidFill>
                <a:srgbClr val="1369B2"/>
              </a:solidFill>
              <a:latin typeface="微软雅黑" panose="020B0503020204020204" pitchFamily="34" charset="-122"/>
              <a:ea typeface="微软雅黑" panose="020B0503020204020204" pitchFamily="34" charset="-122"/>
              <a:cs typeface="+mn-ea"/>
            </a:endParaRPr>
          </a:p>
          <a:p>
            <a:pPr indent="0" algn="just" fontAlgn="auto">
              <a:lnSpc>
                <a:spcPct val="150000"/>
              </a:lnSpc>
            </a:pPr>
            <a:r>
              <a:rPr lang="zh-CN" altLang="zh-CN" sz="1800" dirty="0">
                <a:solidFill>
                  <a:srgbClr val="595959"/>
                </a:solidFill>
                <a:latin typeface="微软雅黑" panose="020B0503020204020204" pitchFamily="34" charset="-122"/>
                <a:ea typeface="微软雅黑" panose="020B0503020204020204" pitchFamily="34" charset="-122"/>
              </a:rPr>
              <a:t>To address the limitations of the JSP Model2 architecture model in practice, some Web MVC application frameworks based on the JSP Model2 architecture have emerged, among which </a:t>
            </a:r>
            <a:r>
              <a:rPr lang="zh-CN" altLang="zh-CN" sz="1800" dirty="0">
                <a:solidFill>
                  <a:srgbClr val="1369B2"/>
                </a:solidFill>
                <a:latin typeface="微软雅黑" panose="020B0503020204020204" pitchFamily="34" charset="-122"/>
                <a:ea typeface="微软雅黑" panose="020B0503020204020204" pitchFamily="34" charset="-122"/>
                <a:cs typeface="+mn-ea"/>
              </a:rPr>
              <a:t>Spring MVC </a:t>
            </a:r>
            <a:r>
              <a:rPr lang="zh-CN" altLang="zh-CN" sz="1800" dirty="0">
                <a:solidFill>
                  <a:srgbClr val="595959"/>
                </a:solidFill>
                <a:latin typeface="微软雅黑" panose="020B0503020204020204" pitchFamily="34" charset="-122"/>
                <a:ea typeface="微软雅黑" panose="020B0503020204020204" pitchFamily="34" charset="-122"/>
              </a:rPr>
              <a:t>is currently one of the mainstream Web MVC application frameworks. This chapter will start the learning journey of Spring MVC.</a:t>
            </a:r>
          </a:p>
        </p:txBody>
      </p:sp>
      <p:sp>
        <p:nvSpPr>
          <p:cNvPr id="9" name="圆角矩形 8"/>
          <p:cNvSpPr/>
          <p:nvPr>
            <p:custDataLst>
              <p:tags r:id="rId1"/>
            </p:custDataLst>
          </p:nvPr>
        </p:nvSpPr>
        <p:spPr>
          <a:xfrm>
            <a:off x="1031240" y="1747957"/>
            <a:ext cx="10427335" cy="4346133"/>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0" name="矩形 93"/>
          <p:cNvSpPr/>
          <p:nvPr>
            <p:custDataLst>
              <p:tags r:id="rId2"/>
            </p:custDataLst>
          </p:nvPr>
        </p:nvSpPr>
        <p:spPr>
          <a:xfrm>
            <a:off x="969645" y="1701602"/>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3"/>
            </p:custDataLst>
          </p:nvPr>
        </p:nvSpPr>
        <p:spPr>
          <a:xfrm rot="10800000">
            <a:off x="11111865" y="5637757"/>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2521040"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05" name="组合 104"/>
          <p:cNvGrpSpPr/>
          <p:nvPr/>
        </p:nvGrpSpPr>
        <p:grpSpPr>
          <a:xfrm>
            <a:off x="2999206" y="2155720"/>
            <a:ext cx="1192190" cy="612775"/>
            <a:chOff x="2215144" y="982844"/>
            <a:chExt cx="1244730" cy="842780"/>
          </a:xfrm>
        </p:grpSpPr>
        <p:sp>
          <p:nvSpPr>
            <p:cNvPr id="106" name="平行四边形 105"/>
            <p:cNvSpPr/>
            <p:nvPr>
              <p:custDataLst>
                <p:tags r:id="rId15"/>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7" name="文本框 9"/>
            <p:cNvSpPr txBox="1"/>
            <p:nvPr>
              <p:custDataLst>
                <p:tags r:id="rId16"/>
              </p:custDataLst>
            </p:nvPr>
          </p:nvSpPr>
          <p:spPr>
            <a:xfrm>
              <a:off x="2393075" y="1005670"/>
              <a:ext cx="1066799" cy="80260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5.1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08" name="组合 107"/>
          <p:cNvGrpSpPr/>
          <p:nvPr/>
        </p:nvGrpSpPr>
        <p:grpSpPr>
          <a:xfrm>
            <a:off x="2999206" y="3209544"/>
            <a:ext cx="1192190" cy="612775"/>
            <a:chOff x="2215144" y="2026500"/>
            <a:chExt cx="1244730" cy="850129"/>
          </a:xfrm>
        </p:grpSpPr>
        <p:sp>
          <p:nvSpPr>
            <p:cNvPr id="109" name="平行四边形 108"/>
            <p:cNvSpPr/>
            <p:nvPr>
              <p:custDataLst>
                <p:tags r:id="rId1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0" name="文本框 10"/>
            <p:cNvSpPr txBox="1"/>
            <p:nvPr>
              <p:custDataLst>
                <p:tags r:id="rId14"/>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5.2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1" name="组合 110"/>
          <p:cNvGrpSpPr/>
          <p:nvPr/>
        </p:nvGrpSpPr>
        <p:grpSpPr>
          <a:xfrm>
            <a:off x="3904758" y="2146841"/>
            <a:ext cx="5496560" cy="612775"/>
            <a:chOff x="4315150" y="953426"/>
            <a:chExt cx="4122956" cy="539804"/>
          </a:xfrm>
        </p:grpSpPr>
        <p:sp>
          <p:nvSpPr>
            <p:cNvPr id="112" name="矩形 111"/>
            <p:cNvSpPr/>
            <p:nvPr>
              <p:custDataLst>
                <p:tags r:id="rId11"/>
              </p:custDataLst>
            </p:nvPr>
          </p:nvSpPr>
          <p:spPr>
            <a:xfrm>
              <a:off x="4841196" y="1036090"/>
              <a:ext cx="2827147" cy="331154"/>
            </a:xfrm>
            <a:prstGeom prst="rect">
              <a:avLst/>
            </a:prstGeom>
            <a:ln w="15875">
              <a:noFill/>
            </a:ln>
          </p:spPr>
          <p:txBody>
            <a:bodyPr wrap="square" lIns="68580" tIns="34290" rIns="68580" bIns="34290">
              <a:normAutofit fontScale="96076"/>
            </a:bodyPr>
            <a:lstStyle/>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Introduction to Spring MVC</a:t>
              </a:r>
            </a:p>
          </p:txBody>
        </p:sp>
        <p:sp>
          <p:nvSpPr>
            <p:cNvPr id="113" name="平行四边形 112"/>
            <p:cNvSpPr/>
            <p:nvPr>
              <p:custDataLst>
                <p:tags r:id="rId12"/>
              </p:custDataLst>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4" name="组合 113"/>
          <p:cNvGrpSpPr/>
          <p:nvPr/>
        </p:nvGrpSpPr>
        <p:grpSpPr>
          <a:xfrm>
            <a:off x="3904758" y="3192718"/>
            <a:ext cx="5496560" cy="612775"/>
            <a:chOff x="4315150" y="1647579"/>
            <a:chExt cx="4122956" cy="539804"/>
          </a:xfrm>
        </p:grpSpPr>
        <p:sp>
          <p:nvSpPr>
            <p:cNvPr id="115" name="矩形 114"/>
            <p:cNvSpPr/>
            <p:nvPr>
              <p:custDataLst>
                <p:tags r:id="rId9"/>
              </p:custDataLst>
            </p:nvPr>
          </p:nvSpPr>
          <p:spPr>
            <a:xfrm>
              <a:off x="4840998" y="1730368"/>
              <a:ext cx="3238445" cy="331154"/>
            </a:xfrm>
            <a:prstGeom prst="rect">
              <a:avLst/>
            </a:prstGeom>
            <a:ln w="15875">
              <a:noFill/>
            </a:ln>
          </p:spPr>
          <p:txBody>
            <a:bodyPr wrap="square" lIns="68580" tIns="34290" rIns="68580" bIns="34290">
              <a:spAutoFit/>
            </a:bodyPr>
            <a:lstStyle/>
            <a:p>
              <a:r>
                <a:rPr sz="19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MVC for beginners</a:t>
              </a:r>
            </a:p>
          </p:txBody>
        </p:sp>
        <p:sp>
          <p:nvSpPr>
            <p:cNvPr id="116" name="平行四边形 115"/>
            <p:cNvSpPr/>
            <p:nvPr>
              <p:custDataLst>
                <p:tags r:id="rId10"/>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7" name="组合 116"/>
          <p:cNvGrpSpPr/>
          <p:nvPr/>
        </p:nvGrpSpPr>
        <p:grpSpPr>
          <a:xfrm>
            <a:off x="2982696" y="4269359"/>
            <a:ext cx="1192190" cy="612775"/>
            <a:chOff x="2215144" y="2026500"/>
            <a:chExt cx="1244730" cy="850129"/>
          </a:xfrm>
        </p:grpSpPr>
        <p:sp>
          <p:nvSpPr>
            <p:cNvPr id="118" name="平行四边形 117"/>
            <p:cNvSpPr/>
            <p:nvPr>
              <p:custDataLst>
                <p:tags r:id="rId7"/>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9" name="文本框 10"/>
            <p:cNvSpPr txBox="1"/>
            <p:nvPr>
              <p:custDataLst>
                <p:tags r:id="rId8"/>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5.3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20" name="组合 119"/>
          <p:cNvGrpSpPr/>
          <p:nvPr/>
        </p:nvGrpSpPr>
        <p:grpSpPr>
          <a:xfrm>
            <a:off x="3888248" y="4252533"/>
            <a:ext cx="5591333" cy="612775"/>
            <a:chOff x="4315150" y="1647579"/>
            <a:chExt cx="4194045" cy="539804"/>
          </a:xfrm>
        </p:grpSpPr>
        <p:sp>
          <p:nvSpPr>
            <p:cNvPr id="121" name="矩形 120"/>
            <p:cNvSpPr/>
            <p:nvPr>
              <p:custDataLst>
                <p:tags r:id="rId5"/>
              </p:custDataLst>
            </p:nvPr>
          </p:nvSpPr>
          <p:spPr>
            <a:xfrm>
              <a:off x="4840998" y="1747444"/>
              <a:ext cx="3668197" cy="331154"/>
            </a:xfrm>
            <a:prstGeom prst="rect">
              <a:avLst/>
            </a:prstGeom>
            <a:ln w="15875">
              <a:noFill/>
            </a:ln>
          </p:spPr>
          <p:txBody>
            <a:bodyPr wrap="square" lIns="68580" tIns="34290" rIns="68580" bIns="34290">
              <a:normAutofit fontScale="96824"/>
            </a:bodyPr>
            <a:lstStyle/>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The execution flow of Spring MVC</a:t>
              </a:r>
            </a:p>
          </p:txBody>
        </p:sp>
        <p:sp>
          <p:nvSpPr>
            <p:cNvPr id="122" name="平行四边形 121"/>
            <p:cNvSpPr/>
            <p:nvPr>
              <p:custDataLst>
                <p:tags r:id="rId6"/>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2982696" y="5345684"/>
            <a:ext cx="1192190" cy="612775"/>
            <a:chOff x="2215144" y="2026500"/>
            <a:chExt cx="1244730" cy="850129"/>
          </a:xfrm>
        </p:grpSpPr>
        <p:sp>
          <p:nvSpPr>
            <p:cNvPr id="28" name="平行四边形 27"/>
            <p:cNvSpPr/>
            <p:nvPr>
              <p:custDataLst>
                <p:tags r:id="rId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10"/>
            <p:cNvSpPr txBox="1"/>
            <p:nvPr>
              <p:custDataLst>
                <p:tags r:id="rId4"/>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5.4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p:cNvGrpSpPr/>
          <p:nvPr/>
        </p:nvGrpSpPr>
        <p:grpSpPr>
          <a:xfrm>
            <a:off x="3888248" y="5328858"/>
            <a:ext cx="5496560" cy="612775"/>
            <a:chOff x="4315150" y="1647579"/>
            <a:chExt cx="4122956" cy="539804"/>
          </a:xfrm>
        </p:grpSpPr>
        <p:sp>
          <p:nvSpPr>
            <p:cNvPr id="31" name="矩形 30"/>
            <p:cNvSpPr/>
            <p:nvPr>
              <p:custDataLst>
                <p:tags r:id="rId1"/>
              </p:custDataLst>
            </p:nvPr>
          </p:nvSpPr>
          <p:spPr>
            <a:xfrm>
              <a:off x="4840998" y="1730368"/>
              <a:ext cx="3238445" cy="331154"/>
            </a:xfrm>
            <a:prstGeom prst="rect">
              <a:avLst/>
            </a:prstGeom>
            <a:ln w="15875">
              <a:noFill/>
            </a:ln>
          </p:spPr>
          <p:txBody>
            <a:bodyPr wrap="square" lIns="68580" tIns="34290" rIns="68580" bIns="34290">
              <a:spAutoFit/>
            </a:bodyPr>
            <a:lstStyle/>
            <a:p>
              <a:r>
                <a:rPr sz="19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Request mapping in Spring MVC</a:t>
              </a:r>
            </a:p>
          </p:txBody>
        </p:sp>
        <p:sp>
          <p:nvSpPr>
            <p:cNvPr id="32" name="平行四边形 31"/>
            <p:cNvSpPr/>
            <p:nvPr>
              <p:custDataLst>
                <p:tags r:id="rId2"/>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15086" y="3069754"/>
            <a:ext cx="6013520" cy="768350"/>
          </a:xfrm>
          <a:prstGeom prst="rect">
            <a:avLst/>
          </a:prstGeom>
          <a:noFill/>
        </p:spPr>
        <p:txBody>
          <a:bodyPr wrap="square" lIns="91443" tIns="45720" rIns="91443" bIns="45720" rtlCol="0">
            <a:normAutofit fontScale="73576" lnSpcReduction="20000"/>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Introduction to Spring MVC</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5.1</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5.1 Introduction to Spring MVC</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815965" y="2927985"/>
            <a:ext cx="544576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248"/>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Learn about the concepts and features of Spring MVC</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a:p>
            <a:pPr algn="l">
              <a:lnSpc>
                <a:spcPct val="120000"/>
              </a:lnSpc>
              <a:buClrTx/>
              <a:buSzTx/>
              <a:buFontTx/>
              <a:defRPr/>
            </a:pP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5.1 Introduction to Spring MVC</a:t>
            </a:r>
          </a:p>
        </p:txBody>
      </p:sp>
      <p:sp>
        <p:nvSpPr>
          <p:cNvPr id="80" name="TextBox 35"/>
          <p:cNvSpPr txBox="1">
            <a:spLocks noChangeArrowheads="1"/>
          </p:cNvSpPr>
          <p:nvPr>
            <p:custDataLst>
              <p:tags r:id="rId1"/>
            </p:custDataLst>
          </p:nvPr>
        </p:nvSpPr>
        <p:spPr bwMode="auto">
          <a:xfrm>
            <a:off x="550590" y="1246505"/>
            <a:ext cx="1094521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rmAutofit fontScale="98957"/>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The MVC (Model-View-Controller) pattern is a widely used software design pattern for organizing the code and functionality of an application, dividing the application into three core parts: </a:t>
            </a:r>
            <a:r>
              <a:rPr lang="zh-CN" altLang="en-US" sz="2000" dirty="0">
                <a:solidFill>
                  <a:srgbClr val="1369B2"/>
                </a:solidFill>
                <a:latin typeface="微软雅黑" panose="020B0503020204020204" pitchFamily="34" charset="-122"/>
                <a:ea typeface="微软雅黑" panose="020B0503020204020204" pitchFamily="34" charset="-122"/>
                <a:cs typeface="+mn-ea"/>
              </a:rPr>
              <a:t>Model, View, and Controller.</a:t>
            </a:r>
            <a:endParaRPr lang="en-US" altLang="zh-CN" sz="2000" dirty="0">
              <a:solidFill>
                <a:srgbClr val="595959"/>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1491E9B-A767-31FB-BC7C-A9060BF25775}"/>
              </a:ext>
            </a:extLst>
          </p:cNvPr>
          <p:cNvPicPr>
            <a:picLocks noChangeAspect="1"/>
          </p:cNvPicPr>
          <p:nvPr/>
        </p:nvPicPr>
        <p:blipFill>
          <a:blip r:embed="rId4"/>
          <a:stretch>
            <a:fillRect/>
          </a:stretch>
        </p:blipFill>
        <p:spPr>
          <a:xfrm>
            <a:off x="982638" y="2766921"/>
            <a:ext cx="10320413" cy="372430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5.1 Introduction to Spring MVC</a:t>
            </a:r>
          </a:p>
        </p:txBody>
      </p:sp>
      <p:sp>
        <p:nvSpPr>
          <p:cNvPr id="80" name="TextBox 35"/>
          <p:cNvSpPr txBox="1">
            <a:spLocks noChangeArrowheads="1"/>
          </p:cNvSpPr>
          <p:nvPr>
            <p:custDataLst>
              <p:tags r:id="rId1"/>
            </p:custDataLst>
          </p:nvPr>
        </p:nvSpPr>
        <p:spPr bwMode="auto">
          <a:xfrm>
            <a:off x="226554" y="729161"/>
            <a:ext cx="11737303"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1600" dirty="0">
                <a:solidFill>
                  <a:srgbClr val="595959"/>
                </a:solidFill>
                <a:latin typeface="微软雅黑" panose="020B0503020204020204" pitchFamily="34" charset="-122"/>
                <a:ea typeface="微软雅黑" panose="020B0503020204020204" pitchFamily="34" charset="-122"/>
              </a:rPr>
              <a:t>In Java EE development, the system's classic </a:t>
            </a:r>
            <a:r>
              <a:rPr lang="zh-CN" altLang="zh-CN" sz="1600" dirty="0">
                <a:solidFill>
                  <a:srgbClr val="1369B2"/>
                </a:solidFill>
                <a:latin typeface="微软雅黑" panose="020B0503020204020204" pitchFamily="34" charset="-122"/>
                <a:ea typeface="微软雅黑" panose="020B0503020204020204" pitchFamily="34" charset="-122"/>
                <a:cs typeface="+mn-ea"/>
              </a:rPr>
              <a:t>three-tier architecture </a:t>
            </a:r>
            <a:r>
              <a:rPr lang="zh-CN" altLang="zh-CN" sz="1600" dirty="0">
                <a:solidFill>
                  <a:srgbClr val="595959"/>
                </a:solidFill>
                <a:latin typeface="微软雅黑" panose="020B0503020204020204" pitchFamily="34" charset="-122"/>
                <a:ea typeface="微软雅黑" panose="020B0503020204020204" pitchFamily="34" charset="-122"/>
              </a:rPr>
              <a:t>includes the </a:t>
            </a:r>
            <a:r>
              <a:rPr lang="zh-CN" altLang="zh-CN" sz="1600" dirty="0">
                <a:solidFill>
                  <a:srgbClr val="1369B2"/>
                </a:solidFill>
                <a:latin typeface="微软雅黑" panose="020B0503020204020204" pitchFamily="34" charset="-122"/>
                <a:ea typeface="微软雅黑" panose="020B0503020204020204" pitchFamily="34" charset="-122"/>
                <a:cs typeface="+mn-ea"/>
              </a:rPr>
              <a:t>presentation layer, the business logic layer, and the data access layer. </a:t>
            </a:r>
            <a:r>
              <a:rPr lang="zh-CN" altLang="zh-CN" sz="1600" dirty="0">
                <a:solidFill>
                  <a:srgbClr val="595959"/>
                </a:solidFill>
                <a:latin typeface="微软雅黑" panose="020B0503020204020204" pitchFamily="34" charset="-122"/>
                <a:ea typeface="微软雅黑" panose="020B0503020204020204" pitchFamily="34" charset="-122"/>
              </a:rPr>
              <a:t>Among them, </a:t>
            </a:r>
            <a:r>
              <a:rPr lang="zh-CN" altLang="zh-CN" sz="1600" dirty="0">
                <a:solidFill>
                  <a:srgbClr val="1369B2"/>
                </a:solidFill>
                <a:latin typeface="微软雅黑" panose="020B0503020204020204" pitchFamily="34" charset="-122"/>
                <a:ea typeface="微软雅黑" panose="020B0503020204020204" pitchFamily="34" charset="-122"/>
                <a:cs typeface="+mn-ea"/>
              </a:rPr>
              <a:t>the presentation layer is equivalent to the combination of views and controllers in the MVC pattern, which is responsible for receiving client requests and responding to the results from the client</a:t>
            </a:r>
            <a:r>
              <a:rPr lang="zh-CN" altLang="zh-CN" sz="1600" dirty="0">
                <a:solidFill>
                  <a:srgbClr val="595959"/>
                </a:solidFill>
                <a:latin typeface="微软雅黑" panose="020B0503020204020204" pitchFamily="34" charset="-122"/>
                <a:ea typeface="微软雅黑" panose="020B0503020204020204" pitchFamily="34" charset="-122"/>
              </a:rPr>
              <a:t>; </a:t>
            </a:r>
            <a:r>
              <a:rPr lang="zh-CN" altLang="zh-CN" sz="1600" dirty="0">
                <a:solidFill>
                  <a:srgbClr val="1369B2"/>
                </a:solidFill>
                <a:latin typeface="微软雅黑" panose="020B0503020204020204" pitchFamily="34" charset="-122"/>
                <a:ea typeface="微软雅黑" panose="020B0503020204020204" pitchFamily="34" charset="-122"/>
                <a:cs typeface="+mn-ea"/>
              </a:rPr>
              <a:t>The business logic layer is responsible for handling the business logic and is closely related to the project requirements; The data access layer is responsible for interacting with the database and performing add, delete, modify and query operations on database tables.</a:t>
            </a:r>
          </a:p>
        </p:txBody>
      </p:sp>
      <p:pic>
        <p:nvPicPr>
          <p:cNvPr id="3" name="图片 2">
            <a:extLst>
              <a:ext uri="{FF2B5EF4-FFF2-40B4-BE49-F238E27FC236}">
                <a16:creationId xmlns:a16="http://schemas.microsoft.com/office/drawing/2014/main" id="{8CD03B1D-DC11-E226-D780-B196D17A7307}"/>
              </a:ext>
            </a:extLst>
          </p:cNvPr>
          <p:cNvPicPr>
            <a:picLocks noChangeAspect="1"/>
          </p:cNvPicPr>
          <p:nvPr/>
        </p:nvPicPr>
        <p:blipFill>
          <a:blip r:embed="rId4"/>
          <a:stretch>
            <a:fillRect/>
          </a:stretch>
        </p:blipFill>
        <p:spPr>
          <a:xfrm>
            <a:off x="1540699" y="2961409"/>
            <a:ext cx="9109013" cy="376405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5.1 Introduction to Spring MVC</a:t>
            </a:r>
          </a:p>
        </p:txBody>
      </p:sp>
      <p:sp>
        <p:nvSpPr>
          <p:cNvPr id="80" name="TextBox 35"/>
          <p:cNvSpPr txBox="1">
            <a:spLocks noChangeArrowheads="1"/>
          </p:cNvSpPr>
          <p:nvPr>
            <p:custDataLst>
              <p:tags r:id="rId1"/>
            </p:custDataLst>
          </p:nvPr>
        </p:nvSpPr>
        <p:spPr bwMode="auto">
          <a:xfrm>
            <a:off x="927258" y="1557586"/>
            <a:ext cx="10335895"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Spring MVC is a </a:t>
            </a:r>
            <a:r>
              <a:rPr lang="zh-CN" altLang="en-US" sz="2000" dirty="0">
                <a:solidFill>
                  <a:srgbClr val="1369B2"/>
                </a:solidFill>
                <a:latin typeface="微软雅黑" panose="020B0503020204020204" pitchFamily="34" charset="-122"/>
                <a:ea typeface="微软雅黑" panose="020B0503020204020204" pitchFamily="34" charset="-122"/>
                <a:cs typeface="+mn-ea"/>
              </a:rPr>
              <a:t>lightweight Web framework </a:t>
            </a:r>
            <a:r>
              <a:rPr lang="zh-CN" altLang="en-US" sz="2000" dirty="0">
                <a:solidFill>
                  <a:srgbClr val="595959"/>
                </a:solidFill>
                <a:latin typeface="微软雅黑" panose="020B0503020204020204" pitchFamily="34" charset="-122"/>
                <a:ea typeface="微软雅黑" panose="020B0503020204020204" pitchFamily="34" charset="-122"/>
              </a:rPr>
              <a:t>based on the MVC design pattern. It is a module of the Spring framework, officially known as Spring Web MVC, and is commonly referred to as Spring MVC. </a:t>
            </a:r>
            <a:r>
              <a:rPr lang="zh-CN" altLang="en-US" sz="2000" dirty="0">
                <a:solidFill>
                  <a:srgbClr val="1369B2"/>
                </a:solidFill>
                <a:latin typeface="微软雅黑" panose="020B0503020204020204" pitchFamily="34" charset="-122"/>
                <a:ea typeface="微软雅黑" panose="020B0503020204020204" pitchFamily="34" charset="-122"/>
                <a:cs typeface="+mn-ea"/>
              </a:rPr>
              <a:t>Spring MVC simplifies the development process of Web applications by providing a set of classes and interfaces that implement the MVC pattern, and by leveraging features such as Spring's dependency injection and aspect-oriented programming, allowing developers to write more modular and maintainable Web applications.</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5.1 Introduction to Spring MVC</a:t>
            </a:r>
          </a:p>
        </p:txBody>
      </p:sp>
      <p:sp>
        <p:nvSpPr>
          <p:cNvPr id="100" name="文本框 99"/>
          <p:cNvSpPr txBox="1"/>
          <p:nvPr/>
        </p:nvSpPr>
        <p:spPr>
          <a:xfrm>
            <a:off x="3847821" y="837506"/>
            <a:ext cx="4968795" cy="553085"/>
          </a:xfrm>
          <a:prstGeom prst="rect">
            <a:avLst/>
          </a:prstGeom>
          <a:noFill/>
          <a:ln w="9525">
            <a:noFill/>
          </a:ln>
        </p:spPr>
        <p:txBody>
          <a:bodyPr wrap="square">
            <a:normAutofit fontScale="81352" lnSpcReduction="10000"/>
          </a:bodyPr>
          <a:lstStyle/>
          <a:p>
            <a:pPr algn="just">
              <a:lnSpc>
                <a:spcPct val="150000"/>
              </a:lnSpc>
              <a:buClrTx/>
              <a:buSzTx/>
              <a:buFontTx/>
            </a:pPr>
            <a:r>
              <a:rPr lang="zh-CN" altLang="zh-CN" sz="2000" b="0" dirty="0">
                <a:solidFill>
                  <a:srgbClr val="595959"/>
                </a:solidFill>
                <a:latin typeface="微软雅黑" panose="020B0503020204020204" pitchFamily="34" charset="-122"/>
                <a:ea typeface="微软雅黑" panose="020B0503020204020204" pitchFamily="34" charset="-122"/>
              </a:rPr>
              <a:t>Components commonly used in Spring MVC</a:t>
            </a:r>
          </a:p>
        </p:txBody>
      </p:sp>
      <p:graphicFrame>
        <p:nvGraphicFramePr>
          <p:cNvPr id="2" name="表格 1"/>
          <p:cNvGraphicFramePr/>
          <p:nvPr>
            <p:custDataLst>
              <p:tags r:id="rId1"/>
            </p:custDataLst>
            <p:extLst>
              <p:ext uri="{D42A27DB-BD31-4B8C-83A1-F6EECF244321}">
                <p14:modId xmlns:p14="http://schemas.microsoft.com/office/powerpoint/2010/main" val="2959686883"/>
              </p:ext>
            </p:extLst>
          </p:nvPr>
        </p:nvGraphicFramePr>
        <p:xfrm>
          <a:off x="190550" y="885427"/>
          <a:ext cx="11809312" cy="5856735"/>
        </p:xfrm>
        <a:graphic>
          <a:graphicData uri="http://schemas.openxmlformats.org/drawingml/2006/table">
            <a:tbl>
              <a:tblPr/>
              <a:tblGrid>
                <a:gridCol w="2232248">
                  <a:extLst>
                    <a:ext uri="{9D8B030D-6E8A-4147-A177-3AD203B41FA5}">
                      <a16:colId xmlns:a16="http://schemas.microsoft.com/office/drawing/2014/main" val="20000"/>
                    </a:ext>
                  </a:extLst>
                </a:gridCol>
                <a:gridCol w="9577064">
                  <a:extLst>
                    <a:ext uri="{9D8B030D-6E8A-4147-A177-3AD203B41FA5}">
                      <a16:colId xmlns:a16="http://schemas.microsoft.com/office/drawing/2014/main" val="20001"/>
                    </a:ext>
                  </a:extLst>
                </a:gridCol>
              </a:tblGrid>
              <a:tr h="386715">
                <a:tc>
                  <a:txBody>
                    <a:bodyPr/>
                    <a:lstStyle/>
                    <a:p>
                      <a:pPr indent="0" algn="ctr">
                        <a:buNone/>
                      </a:pPr>
                      <a:r>
                        <a:rPr lang="en-US" sz="1800" b="1" dirty="0">
                          <a:latin typeface="微软雅黑" panose="020B0503020204020204" pitchFamily="34" charset="-122"/>
                          <a:ea typeface="微软雅黑" panose="020B0503020204020204" pitchFamily="34" charset="-122"/>
                          <a:cs typeface="宋体" panose="02010600030101010101" pitchFamily="2" charset="-122"/>
                        </a:rPr>
                        <a:t>Components</a:t>
                      </a:r>
                      <a:endParaRPr lang="en-US" altLang="en-US" sz="18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DispatcherServlet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The front-end controller is the center of control for the entire Spring MVC process, responsible for uniformly handling requests and responses and invoking other components to handle user requests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HandlerMapping</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The processor mapper finds the corresponding processor based on information such as the requested URL, HTTP method, etc</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ctr">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Handler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A processor is a component of business logic that handles requests. The processor processes specific requests under the dispatch of the DispatcherServlet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0">
                <a:tc>
                  <a:txBody>
                    <a:bodyPr/>
                    <a:lstStyle/>
                    <a:p>
                      <a:pPr algn="ctr">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HandlerAdapter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The processor adapter is responsible for adapting requests to the corresponding processor to handle the requests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0">
                <a:tc>
                  <a:txBody>
                    <a:bodyPr/>
                    <a:lstStyle/>
                    <a:p>
                      <a:pPr algn="ctr">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ViewResolver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The View resolver resolves the logical View name into a physical view name, then generates the view object, and finally renders the View object to display the processing result to the user through the page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0">
                <a:tc>
                  <a:txBody>
                    <a:bodyPr/>
                    <a:lstStyle/>
                    <a:p>
                      <a:pPr algn="ctr">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View</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A view, often using page tags or page template techniques, presents model data to a user through a page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5.1 Introduction to Spring MVC</a:t>
            </a:r>
          </a:p>
        </p:txBody>
      </p:sp>
      <p:grpSp>
        <p:nvGrpSpPr>
          <p:cNvPr id="19" name="组合 18"/>
          <p:cNvGrpSpPr/>
          <p:nvPr/>
        </p:nvGrpSpPr>
        <p:grpSpPr>
          <a:xfrm>
            <a:off x="4064000" y="1489075"/>
            <a:ext cx="4018915" cy="3779520"/>
            <a:chOff x="4279345" y="1987898"/>
            <a:chExt cx="3633306" cy="3489263"/>
          </a:xfrm>
        </p:grpSpPr>
        <p:sp>
          <p:nvSpPr>
            <p:cNvPr id="20" name="Freeform 6"/>
            <p:cNvSpPr/>
            <p:nvPr>
              <p:custDataLst>
                <p:tags r:id="rId14"/>
              </p:custDataLst>
            </p:nvPr>
          </p:nvSpPr>
          <p:spPr bwMode="auto">
            <a:xfrm>
              <a:off x="6730633" y="3053229"/>
              <a:ext cx="1182018" cy="1364059"/>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Freeform 7"/>
            <p:cNvSpPr/>
            <p:nvPr>
              <p:custDataLst>
                <p:tags r:id="rId15"/>
              </p:custDataLst>
            </p:nvPr>
          </p:nvSpPr>
          <p:spPr bwMode="auto">
            <a:xfrm>
              <a:off x="4279345" y="3053229"/>
              <a:ext cx="1180655" cy="1364059"/>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Freeform 8"/>
            <p:cNvSpPr/>
            <p:nvPr>
              <p:custDataLst>
                <p:tags r:id="rId16"/>
              </p:custDataLst>
            </p:nvPr>
          </p:nvSpPr>
          <p:spPr bwMode="auto">
            <a:xfrm>
              <a:off x="4891486" y="1987898"/>
              <a:ext cx="1180655" cy="136542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Freeform 9"/>
            <p:cNvSpPr/>
            <p:nvPr>
              <p:custDataLst>
                <p:tags r:id="rId17"/>
              </p:custDataLst>
            </p:nvPr>
          </p:nvSpPr>
          <p:spPr bwMode="auto">
            <a:xfrm>
              <a:off x="6119857" y="1987898"/>
              <a:ext cx="1180655" cy="136542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4" name="Freeform 10"/>
            <p:cNvSpPr/>
            <p:nvPr>
              <p:custDataLst>
                <p:tags r:id="rId18"/>
              </p:custDataLst>
            </p:nvPr>
          </p:nvSpPr>
          <p:spPr bwMode="auto">
            <a:xfrm>
              <a:off x="4891486" y="4111738"/>
              <a:ext cx="1180655" cy="1365423"/>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5" name="Freeform 11"/>
            <p:cNvSpPr/>
            <p:nvPr>
              <p:custDataLst>
                <p:tags r:id="rId19"/>
              </p:custDataLst>
            </p:nvPr>
          </p:nvSpPr>
          <p:spPr bwMode="auto">
            <a:xfrm>
              <a:off x="6119857" y="4111738"/>
              <a:ext cx="1180655" cy="1365423"/>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 name="Freeform 13"/>
            <p:cNvSpPr>
              <a:spLocks noEditPoints="1"/>
            </p:cNvSpPr>
            <p:nvPr>
              <p:custDataLst>
                <p:tags r:id="rId20"/>
              </p:custDataLst>
            </p:nvPr>
          </p:nvSpPr>
          <p:spPr bwMode="auto">
            <a:xfrm>
              <a:off x="4628361" y="3477450"/>
              <a:ext cx="526251" cy="519707"/>
            </a:xfrm>
            <a:custGeom>
              <a:avLst/>
              <a:gdLst>
                <a:gd name="T0" fmla="*/ 909 w 1006"/>
                <a:gd name="T1" fmla="*/ 858 h 995"/>
                <a:gd name="T2" fmla="*/ 805 w 1006"/>
                <a:gd name="T3" fmla="*/ 858 h 995"/>
                <a:gd name="T4" fmla="*/ 969 w 1006"/>
                <a:gd name="T5" fmla="*/ 97 h 995"/>
                <a:gd name="T6" fmla="*/ 834 w 1006"/>
                <a:gd name="T7" fmla="*/ 0 h 995"/>
                <a:gd name="T8" fmla="*/ 472 w 1006"/>
                <a:gd name="T9" fmla="*/ 323 h 995"/>
                <a:gd name="T10" fmla="*/ 421 w 1006"/>
                <a:gd name="T11" fmla="*/ 397 h 995"/>
                <a:gd name="T12" fmla="*/ 376 w 1006"/>
                <a:gd name="T13" fmla="*/ 419 h 995"/>
                <a:gd name="T14" fmla="*/ 381 w 1006"/>
                <a:gd name="T15" fmla="*/ 556 h 995"/>
                <a:gd name="T16" fmla="*/ 89 w 1006"/>
                <a:gd name="T17" fmla="*/ 810 h 995"/>
                <a:gd name="T18" fmla="*/ 57 w 1006"/>
                <a:gd name="T19" fmla="*/ 995 h 995"/>
                <a:gd name="T20" fmla="*/ 208 w 1006"/>
                <a:gd name="T21" fmla="*/ 844 h 995"/>
                <a:gd name="T22" fmla="*/ 445 w 1006"/>
                <a:gd name="T23" fmla="*/ 621 h 995"/>
                <a:gd name="T24" fmla="*/ 578 w 1006"/>
                <a:gd name="T25" fmla="*/ 621 h 995"/>
                <a:gd name="T26" fmla="*/ 616 w 1006"/>
                <a:gd name="T27" fmla="*/ 537 h 995"/>
                <a:gd name="T28" fmla="*/ 674 w 1006"/>
                <a:gd name="T29" fmla="*/ 525 h 995"/>
                <a:gd name="T30" fmla="*/ 969 w 1006"/>
                <a:gd name="T31" fmla="*/ 97 h 995"/>
                <a:gd name="T32" fmla="*/ 392 w 1006"/>
                <a:gd name="T33" fmla="*/ 325 h 995"/>
                <a:gd name="T34" fmla="*/ 404 w 1006"/>
                <a:gd name="T35" fmla="*/ 312 h 995"/>
                <a:gd name="T36" fmla="*/ 436 w 1006"/>
                <a:gd name="T37" fmla="*/ 281 h 995"/>
                <a:gd name="T38" fmla="*/ 215 w 1006"/>
                <a:gd name="T39" fmla="*/ 1 h 995"/>
                <a:gd name="T40" fmla="*/ 280 w 1006"/>
                <a:gd name="T41" fmla="*/ 160 h 995"/>
                <a:gd name="T42" fmla="*/ 21 w 1006"/>
                <a:gd name="T43" fmla="*/ 195 h 995"/>
                <a:gd name="T44" fmla="*/ 232 w 1006"/>
                <a:gd name="T45" fmla="*/ 447 h 995"/>
                <a:gd name="T46" fmla="*/ 303 w 1006"/>
                <a:gd name="T47" fmla="*/ 433 h 995"/>
                <a:gd name="T48" fmla="*/ 363 w 1006"/>
                <a:gd name="T49" fmla="*/ 354 h 995"/>
                <a:gd name="T50" fmla="*/ 672 w 1006"/>
                <a:gd name="T51" fmla="*/ 606 h 995"/>
                <a:gd name="T52" fmla="*/ 617 w 1006"/>
                <a:gd name="T53" fmla="*/ 660 h 995"/>
                <a:gd name="T54" fmla="*/ 741 w 1006"/>
                <a:gd name="T55" fmla="*/ 871 h 995"/>
                <a:gd name="T56" fmla="*/ 869 w 1006"/>
                <a:gd name="T57" fmla="*/ 995 h 995"/>
                <a:gd name="T58" fmla="*/ 980 w 1006"/>
                <a:gd name="T59" fmla="*/ 825 h 995"/>
                <a:gd name="T60" fmla="*/ 702 w 1006"/>
                <a:gd name="T61" fmla="*/ 576 h 995"/>
                <a:gd name="T62" fmla="*/ 658 w 1006"/>
                <a:gd name="T63" fmla="*/ 579 h 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06" h="995">
                  <a:moveTo>
                    <a:pt x="857" y="806"/>
                  </a:moveTo>
                  <a:cubicBezTo>
                    <a:pt x="886" y="806"/>
                    <a:pt x="909" y="829"/>
                    <a:pt x="909" y="858"/>
                  </a:cubicBezTo>
                  <a:cubicBezTo>
                    <a:pt x="909" y="887"/>
                    <a:pt x="886" y="910"/>
                    <a:pt x="857" y="910"/>
                  </a:cubicBezTo>
                  <a:cubicBezTo>
                    <a:pt x="828" y="910"/>
                    <a:pt x="805" y="887"/>
                    <a:pt x="805" y="858"/>
                  </a:cubicBezTo>
                  <a:cubicBezTo>
                    <a:pt x="805" y="829"/>
                    <a:pt x="828" y="806"/>
                    <a:pt x="857" y="806"/>
                  </a:cubicBezTo>
                  <a:close/>
                  <a:moveTo>
                    <a:pt x="969" y="97"/>
                  </a:moveTo>
                  <a:lnTo>
                    <a:pt x="900" y="28"/>
                  </a:lnTo>
                  <a:cubicBezTo>
                    <a:pt x="882" y="9"/>
                    <a:pt x="858" y="0"/>
                    <a:pt x="834" y="0"/>
                  </a:cubicBezTo>
                  <a:cubicBezTo>
                    <a:pt x="810" y="0"/>
                    <a:pt x="786" y="9"/>
                    <a:pt x="767" y="28"/>
                  </a:cubicBezTo>
                  <a:lnTo>
                    <a:pt x="472" y="323"/>
                  </a:lnTo>
                  <a:cubicBezTo>
                    <a:pt x="481" y="340"/>
                    <a:pt x="475" y="367"/>
                    <a:pt x="460" y="381"/>
                  </a:cubicBezTo>
                  <a:cubicBezTo>
                    <a:pt x="451" y="391"/>
                    <a:pt x="435" y="397"/>
                    <a:pt x="421" y="397"/>
                  </a:cubicBezTo>
                  <a:cubicBezTo>
                    <a:pt x="414" y="397"/>
                    <a:pt x="408" y="396"/>
                    <a:pt x="402" y="393"/>
                  </a:cubicBezTo>
                  <a:lnTo>
                    <a:pt x="376" y="419"/>
                  </a:lnTo>
                  <a:cubicBezTo>
                    <a:pt x="340" y="455"/>
                    <a:pt x="340" y="515"/>
                    <a:pt x="376" y="552"/>
                  </a:cubicBezTo>
                  <a:lnTo>
                    <a:pt x="381" y="556"/>
                  </a:lnTo>
                  <a:lnTo>
                    <a:pt x="151" y="787"/>
                  </a:lnTo>
                  <a:lnTo>
                    <a:pt x="89" y="810"/>
                  </a:lnTo>
                  <a:lnTo>
                    <a:pt x="0" y="938"/>
                  </a:lnTo>
                  <a:lnTo>
                    <a:pt x="57" y="995"/>
                  </a:lnTo>
                  <a:lnTo>
                    <a:pt x="185" y="906"/>
                  </a:lnTo>
                  <a:lnTo>
                    <a:pt x="208" y="844"/>
                  </a:lnTo>
                  <a:lnTo>
                    <a:pt x="439" y="614"/>
                  </a:lnTo>
                  <a:lnTo>
                    <a:pt x="445" y="621"/>
                  </a:lnTo>
                  <a:cubicBezTo>
                    <a:pt x="464" y="639"/>
                    <a:pt x="488" y="648"/>
                    <a:pt x="512" y="648"/>
                  </a:cubicBezTo>
                  <a:cubicBezTo>
                    <a:pt x="536" y="648"/>
                    <a:pt x="560" y="639"/>
                    <a:pt x="578" y="621"/>
                  </a:cubicBezTo>
                  <a:lnTo>
                    <a:pt x="604" y="595"/>
                  </a:lnTo>
                  <a:cubicBezTo>
                    <a:pt x="596" y="577"/>
                    <a:pt x="602" y="551"/>
                    <a:pt x="616" y="537"/>
                  </a:cubicBezTo>
                  <a:cubicBezTo>
                    <a:pt x="626" y="527"/>
                    <a:pt x="642" y="521"/>
                    <a:pt x="656" y="521"/>
                  </a:cubicBezTo>
                  <a:cubicBezTo>
                    <a:pt x="662" y="521"/>
                    <a:pt x="669" y="522"/>
                    <a:pt x="674" y="525"/>
                  </a:cubicBezTo>
                  <a:lnTo>
                    <a:pt x="969" y="230"/>
                  </a:lnTo>
                  <a:cubicBezTo>
                    <a:pt x="1006" y="193"/>
                    <a:pt x="1006" y="133"/>
                    <a:pt x="969" y="97"/>
                  </a:cubicBezTo>
                  <a:close/>
                  <a:moveTo>
                    <a:pt x="363" y="354"/>
                  </a:moveTo>
                  <a:lnTo>
                    <a:pt x="392" y="325"/>
                  </a:lnTo>
                  <a:lnTo>
                    <a:pt x="418" y="338"/>
                  </a:lnTo>
                  <a:lnTo>
                    <a:pt x="404" y="312"/>
                  </a:lnTo>
                  <a:lnTo>
                    <a:pt x="433" y="284"/>
                  </a:lnTo>
                  <a:lnTo>
                    <a:pt x="436" y="281"/>
                  </a:lnTo>
                  <a:cubicBezTo>
                    <a:pt x="442" y="264"/>
                    <a:pt x="446" y="248"/>
                    <a:pt x="446" y="233"/>
                  </a:cubicBezTo>
                  <a:cubicBezTo>
                    <a:pt x="446" y="115"/>
                    <a:pt x="333" y="0"/>
                    <a:pt x="215" y="1"/>
                  </a:cubicBezTo>
                  <a:cubicBezTo>
                    <a:pt x="214" y="1"/>
                    <a:pt x="201" y="15"/>
                    <a:pt x="193" y="22"/>
                  </a:cubicBezTo>
                  <a:cubicBezTo>
                    <a:pt x="288" y="117"/>
                    <a:pt x="280" y="102"/>
                    <a:pt x="280" y="160"/>
                  </a:cubicBezTo>
                  <a:cubicBezTo>
                    <a:pt x="280" y="207"/>
                    <a:pt x="205" y="282"/>
                    <a:pt x="159" y="282"/>
                  </a:cubicBezTo>
                  <a:cubicBezTo>
                    <a:pt x="99" y="282"/>
                    <a:pt x="118" y="291"/>
                    <a:pt x="21" y="195"/>
                  </a:cubicBezTo>
                  <a:cubicBezTo>
                    <a:pt x="14" y="202"/>
                    <a:pt x="0" y="215"/>
                    <a:pt x="0" y="216"/>
                  </a:cubicBezTo>
                  <a:cubicBezTo>
                    <a:pt x="2" y="334"/>
                    <a:pt x="113" y="447"/>
                    <a:pt x="232" y="447"/>
                  </a:cubicBezTo>
                  <a:cubicBezTo>
                    <a:pt x="253" y="447"/>
                    <a:pt x="276" y="440"/>
                    <a:pt x="299" y="429"/>
                  </a:cubicBezTo>
                  <a:lnTo>
                    <a:pt x="303" y="433"/>
                  </a:lnTo>
                  <a:cubicBezTo>
                    <a:pt x="310" y="414"/>
                    <a:pt x="322" y="395"/>
                    <a:pt x="337" y="380"/>
                  </a:cubicBezTo>
                  <a:lnTo>
                    <a:pt x="363" y="354"/>
                  </a:lnTo>
                  <a:close/>
                  <a:moveTo>
                    <a:pt x="658" y="579"/>
                  </a:moveTo>
                  <a:lnTo>
                    <a:pt x="672" y="606"/>
                  </a:lnTo>
                  <a:lnTo>
                    <a:pt x="644" y="634"/>
                  </a:lnTo>
                  <a:lnTo>
                    <a:pt x="617" y="660"/>
                  </a:lnTo>
                  <a:cubicBezTo>
                    <a:pt x="602" y="675"/>
                    <a:pt x="584" y="687"/>
                    <a:pt x="564" y="694"/>
                  </a:cubicBezTo>
                  <a:lnTo>
                    <a:pt x="741" y="871"/>
                  </a:lnTo>
                  <a:lnTo>
                    <a:pt x="824" y="983"/>
                  </a:lnTo>
                  <a:lnTo>
                    <a:pt x="869" y="995"/>
                  </a:lnTo>
                  <a:lnTo>
                    <a:pt x="992" y="871"/>
                  </a:lnTo>
                  <a:lnTo>
                    <a:pt x="980" y="825"/>
                  </a:lnTo>
                  <a:lnTo>
                    <a:pt x="869" y="743"/>
                  </a:lnTo>
                  <a:lnTo>
                    <a:pt x="702" y="576"/>
                  </a:lnTo>
                  <a:lnTo>
                    <a:pt x="685" y="592"/>
                  </a:lnTo>
                  <a:lnTo>
                    <a:pt x="658" y="579"/>
                  </a:lnTo>
                  <a:close/>
                </a:path>
              </a:pathLst>
            </a:custGeom>
            <a:solidFill>
              <a:schemeClr val="bg1">
                <a:lumMod val="95000"/>
              </a:schemeClr>
            </a:solidFill>
            <a:ln>
              <a:noFill/>
            </a:ln>
          </p:spPr>
          <p:txBody>
            <a:bodyPr vert="horz" wrap="square" lIns="68571" tIns="34285" rIns="68571" bIns="34285" numCol="1" anchor="t" anchorCtr="0" compatLnSpc="1"/>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Freeform 14"/>
            <p:cNvSpPr>
              <a:spLocks noEditPoints="1"/>
            </p:cNvSpPr>
            <p:nvPr>
              <p:custDataLst>
                <p:tags r:id="rId21"/>
              </p:custDataLst>
            </p:nvPr>
          </p:nvSpPr>
          <p:spPr bwMode="auto">
            <a:xfrm>
              <a:off x="5311395" y="2357559"/>
              <a:ext cx="377646" cy="515614"/>
            </a:xfrm>
            <a:custGeom>
              <a:avLst/>
              <a:gdLst>
                <a:gd name="T0" fmla="*/ 95 w 723"/>
                <a:gd name="T1" fmla="*/ 160 h 986"/>
                <a:gd name="T2" fmla="*/ 80 w 723"/>
                <a:gd name="T3" fmla="*/ 986 h 986"/>
                <a:gd name="T4" fmla="*/ 723 w 723"/>
                <a:gd name="T5" fmla="*/ 242 h 986"/>
                <a:gd name="T6" fmla="*/ 668 w 723"/>
                <a:gd name="T7" fmla="*/ 260 h 986"/>
                <a:gd name="T8" fmla="*/ 83 w 723"/>
                <a:gd name="T9" fmla="*/ 929 h 986"/>
                <a:gd name="T10" fmla="*/ 313 w 723"/>
                <a:gd name="T11" fmla="*/ 105 h 986"/>
                <a:gd name="T12" fmla="*/ 410 w 723"/>
                <a:gd name="T13" fmla="*/ 105 h 986"/>
                <a:gd name="T14" fmla="*/ 360 w 723"/>
                <a:gd name="T15" fmla="*/ 157 h 986"/>
                <a:gd name="T16" fmla="*/ 253 w 723"/>
                <a:gd name="T17" fmla="*/ 107 h 986"/>
                <a:gd name="T18" fmla="*/ 133 w 723"/>
                <a:gd name="T19" fmla="*/ 250 h 986"/>
                <a:gd name="T20" fmla="*/ 590 w 723"/>
                <a:gd name="T21" fmla="*/ 250 h 986"/>
                <a:gd name="T22" fmla="*/ 470 w 723"/>
                <a:gd name="T23" fmla="*/ 107 h 986"/>
                <a:gd name="T24" fmla="*/ 253 w 723"/>
                <a:gd name="T25" fmla="*/ 107 h 986"/>
                <a:gd name="T26" fmla="*/ 255 w 723"/>
                <a:gd name="T27" fmla="*/ 749 h 986"/>
                <a:gd name="T28" fmla="*/ 175 w 723"/>
                <a:gd name="T29" fmla="*/ 771 h 986"/>
                <a:gd name="T30" fmla="*/ 158 w 723"/>
                <a:gd name="T31" fmla="*/ 789 h 986"/>
                <a:gd name="T32" fmla="*/ 255 w 723"/>
                <a:gd name="T33" fmla="*/ 796 h 986"/>
                <a:gd name="T34" fmla="*/ 153 w 723"/>
                <a:gd name="T35" fmla="*/ 846 h 986"/>
                <a:gd name="T36" fmla="*/ 280 w 723"/>
                <a:gd name="T37" fmla="*/ 784 h 986"/>
                <a:gd name="T38" fmla="*/ 280 w 723"/>
                <a:gd name="T39" fmla="*/ 744 h 986"/>
                <a:gd name="T40" fmla="*/ 128 w 723"/>
                <a:gd name="T41" fmla="*/ 751 h 986"/>
                <a:gd name="T42" fmla="*/ 248 w 723"/>
                <a:gd name="T43" fmla="*/ 879 h 986"/>
                <a:gd name="T44" fmla="*/ 248 w 723"/>
                <a:gd name="T45" fmla="*/ 387 h 986"/>
                <a:gd name="T46" fmla="*/ 175 w 723"/>
                <a:gd name="T47" fmla="*/ 409 h 986"/>
                <a:gd name="T48" fmla="*/ 200 w 723"/>
                <a:gd name="T49" fmla="*/ 474 h 986"/>
                <a:gd name="T50" fmla="*/ 153 w 723"/>
                <a:gd name="T51" fmla="*/ 492 h 986"/>
                <a:gd name="T52" fmla="*/ 248 w 723"/>
                <a:gd name="T53" fmla="*/ 362 h 986"/>
                <a:gd name="T54" fmla="*/ 128 w 723"/>
                <a:gd name="T55" fmla="*/ 489 h 986"/>
                <a:gd name="T56" fmla="*/ 279 w 723"/>
                <a:gd name="T57" fmla="*/ 416 h 986"/>
                <a:gd name="T58" fmla="*/ 278 w 723"/>
                <a:gd name="T59" fmla="*/ 382 h 986"/>
                <a:gd name="T60" fmla="*/ 255 w 723"/>
                <a:gd name="T61" fmla="*/ 582 h 986"/>
                <a:gd name="T62" fmla="*/ 158 w 723"/>
                <a:gd name="T63" fmla="*/ 607 h 986"/>
                <a:gd name="T64" fmla="*/ 255 w 723"/>
                <a:gd name="T65" fmla="*/ 672 h 986"/>
                <a:gd name="T66" fmla="*/ 280 w 723"/>
                <a:gd name="T67" fmla="*/ 563 h 986"/>
                <a:gd name="T68" fmla="*/ 128 w 723"/>
                <a:gd name="T69" fmla="*/ 569 h 986"/>
                <a:gd name="T70" fmla="*/ 255 w 723"/>
                <a:gd name="T71" fmla="*/ 696 h 986"/>
                <a:gd name="T72" fmla="*/ 334 w 723"/>
                <a:gd name="T73" fmla="*/ 538 h 986"/>
                <a:gd name="T74" fmla="*/ 378 w 723"/>
                <a:gd name="T75" fmla="*/ 836 h 986"/>
                <a:gd name="T76" fmla="*/ 580 w 723"/>
                <a:gd name="T77" fmla="*/ 774 h 986"/>
                <a:gd name="T78" fmla="*/ 370 w 723"/>
                <a:gd name="T79" fmla="*/ 829 h 986"/>
                <a:gd name="T80" fmla="*/ 580 w 723"/>
                <a:gd name="T81" fmla="*/ 587 h 986"/>
                <a:gd name="T82" fmla="*/ 370 w 723"/>
                <a:gd name="T83" fmla="*/ 474 h 986"/>
                <a:gd name="T84" fmla="*/ 370 w 723"/>
                <a:gd name="T85" fmla="*/ 40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3" h="986">
                  <a:moveTo>
                    <a:pt x="55" y="260"/>
                  </a:moveTo>
                  <a:cubicBezTo>
                    <a:pt x="55" y="232"/>
                    <a:pt x="68" y="218"/>
                    <a:pt x="95" y="217"/>
                  </a:cubicBezTo>
                  <a:lnTo>
                    <a:pt x="95" y="160"/>
                  </a:lnTo>
                  <a:cubicBezTo>
                    <a:pt x="45" y="161"/>
                    <a:pt x="0" y="193"/>
                    <a:pt x="0" y="242"/>
                  </a:cubicBezTo>
                  <a:lnTo>
                    <a:pt x="0" y="906"/>
                  </a:lnTo>
                  <a:cubicBezTo>
                    <a:pt x="0" y="947"/>
                    <a:pt x="40" y="986"/>
                    <a:pt x="80" y="986"/>
                  </a:cubicBezTo>
                  <a:lnTo>
                    <a:pt x="643" y="986"/>
                  </a:lnTo>
                  <a:cubicBezTo>
                    <a:pt x="683" y="986"/>
                    <a:pt x="723" y="947"/>
                    <a:pt x="723" y="906"/>
                  </a:cubicBezTo>
                  <a:lnTo>
                    <a:pt x="723" y="242"/>
                  </a:lnTo>
                  <a:cubicBezTo>
                    <a:pt x="723" y="193"/>
                    <a:pt x="678" y="161"/>
                    <a:pt x="628" y="160"/>
                  </a:cubicBezTo>
                  <a:lnTo>
                    <a:pt x="628" y="217"/>
                  </a:lnTo>
                  <a:cubicBezTo>
                    <a:pt x="655" y="218"/>
                    <a:pt x="668" y="232"/>
                    <a:pt x="668" y="260"/>
                  </a:cubicBezTo>
                  <a:lnTo>
                    <a:pt x="668" y="889"/>
                  </a:lnTo>
                  <a:cubicBezTo>
                    <a:pt x="668" y="908"/>
                    <a:pt x="659" y="929"/>
                    <a:pt x="640" y="929"/>
                  </a:cubicBezTo>
                  <a:lnTo>
                    <a:pt x="83" y="929"/>
                  </a:lnTo>
                  <a:cubicBezTo>
                    <a:pt x="61" y="929"/>
                    <a:pt x="55" y="906"/>
                    <a:pt x="55" y="884"/>
                  </a:cubicBezTo>
                  <a:lnTo>
                    <a:pt x="55" y="260"/>
                  </a:lnTo>
                  <a:close/>
                  <a:moveTo>
                    <a:pt x="313" y="105"/>
                  </a:moveTo>
                  <a:cubicBezTo>
                    <a:pt x="313" y="82"/>
                    <a:pt x="335" y="60"/>
                    <a:pt x="358" y="60"/>
                  </a:cubicBezTo>
                  <a:lnTo>
                    <a:pt x="365" y="60"/>
                  </a:lnTo>
                  <a:cubicBezTo>
                    <a:pt x="388" y="60"/>
                    <a:pt x="410" y="82"/>
                    <a:pt x="410" y="105"/>
                  </a:cubicBezTo>
                  <a:lnTo>
                    <a:pt x="410" y="110"/>
                  </a:lnTo>
                  <a:cubicBezTo>
                    <a:pt x="410" y="135"/>
                    <a:pt x="388" y="157"/>
                    <a:pt x="363" y="157"/>
                  </a:cubicBezTo>
                  <a:lnTo>
                    <a:pt x="360" y="157"/>
                  </a:lnTo>
                  <a:cubicBezTo>
                    <a:pt x="335" y="157"/>
                    <a:pt x="313" y="135"/>
                    <a:pt x="313" y="110"/>
                  </a:cubicBezTo>
                  <a:lnTo>
                    <a:pt x="313" y="105"/>
                  </a:lnTo>
                  <a:close/>
                  <a:moveTo>
                    <a:pt x="253" y="107"/>
                  </a:moveTo>
                  <a:lnTo>
                    <a:pt x="173" y="107"/>
                  </a:lnTo>
                  <a:cubicBezTo>
                    <a:pt x="145" y="107"/>
                    <a:pt x="133" y="120"/>
                    <a:pt x="133" y="147"/>
                  </a:cubicBezTo>
                  <a:lnTo>
                    <a:pt x="133" y="250"/>
                  </a:lnTo>
                  <a:cubicBezTo>
                    <a:pt x="133" y="267"/>
                    <a:pt x="144" y="285"/>
                    <a:pt x="160" y="285"/>
                  </a:cubicBezTo>
                  <a:lnTo>
                    <a:pt x="563" y="285"/>
                  </a:lnTo>
                  <a:cubicBezTo>
                    <a:pt x="579" y="285"/>
                    <a:pt x="590" y="267"/>
                    <a:pt x="590" y="250"/>
                  </a:cubicBezTo>
                  <a:lnTo>
                    <a:pt x="590" y="147"/>
                  </a:lnTo>
                  <a:cubicBezTo>
                    <a:pt x="590" y="120"/>
                    <a:pt x="578" y="107"/>
                    <a:pt x="550" y="107"/>
                  </a:cubicBezTo>
                  <a:lnTo>
                    <a:pt x="470" y="107"/>
                  </a:lnTo>
                  <a:cubicBezTo>
                    <a:pt x="470" y="52"/>
                    <a:pt x="423" y="0"/>
                    <a:pt x="370" y="0"/>
                  </a:cubicBezTo>
                  <a:lnTo>
                    <a:pt x="353" y="0"/>
                  </a:lnTo>
                  <a:cubicBezTo>
                    <a:pt x="300" y="0"/>
                    <a:pt x="253" y="52"/>
                    <a:pt x="253" y="107"/>
                  </a:cubicBezTo>
                  <a:close/>
                  <a:moveTo>
                    <a:pt x="153" y="756"/>
                  </a:moveTo>
                  <a:cubicBezTo>
                    <a:pt x="153" y="751"/>
                    <a:pt x="154" y="749"/>
                    <a:pt x="160" y="749"/>
                  </a:cubicBezTo>
                  <a:lnTo>
                    <a:pt x="255" y="749"/>
                  </a:lnTo>
                  <a:lnTo>
                    <a:pt x="255" y="756"/>
                  </a:lnTo>
                  <a:cubicBezTo>
                    <a:pt x="255" y="764"/>
                    <a:pt x="216" y="787"/>
                    <a:pt x="208" y="791"/>
                  </a:cubicBezTo>
                  <a:cubicBezTo>
                    <a:pt x="201" y="786"/>
                    <a:pt x="186" y="771"/>
                    <a:pt x="175" y="771"/>
                  </a:cubicBezTo>
                  <a:lnTo>
                    <a:pt x="173" y="771"/>
                  </a:lnTo>
                  <a:cubicBezTo>
                    <a:pt x="167" y="771"/>
                    <a:pt x="158" y="780"/>
                    <a:pt x="158" y="786"/>
                  </a:cubicBezTo>
                  <a:lnTo>
                    <a:pt x="158" y="789"/>
                  </a:lnTo>
                  <a:cubicBezTo>
                    <a:pt x="158" y="795"/>
                    <a:pt x="193" y="834"/>
                    <a:pt x="200" y="834"/>
                  </a:cubicBezTo>
                  <a:lnTo>
                    <a:pt x="203" y="834"/>
                  </a:lnTo>
                  <a:cubicBezTo>
                    <a:pt x="208" y="834"/>
                    <a:pt x="247" y="802"/>
                    <a:pt x="255" y="796"/>
                  </a:cubicBezTo>
                  <a:cubicBezTo>
                    <a:pt x="255" y="810"/>
                    <a:pt x="261" y="854"/>
                    <a:pt x="248" y="854"/>
                  </a:cubicBezTo>
                  <a:lnTo>
                    <a:pt x="160" y="854"/>
                  </a:lnTo>
                  <a:cubicBezTo>
                    <a:pt x="154" y="854"/>
                    <a:pt x="153" y="852"/>
                    <a:pt x="153" y="846"/>
                  </a:cubicBezTo>
                  <a:lnTo>
                    <a:pt x="153" y="756"/>
                  </a:lnTo>
                  <a:close/>
                  <a:moveTo>
                    <a:pt x="248" y="879"/>
                  </a:moveTo>
                  <a:cubicBezTo>
                    <a:pt x="295" y="879"/>
                    <a:pt x="277" y="827"/>
                    <a:pt x="280" y="784"/>
                  </a:cubicBezTo>
                  <a:cubicBezTo>
                    <a:pt x="282" y="762"/>
                    <a:pt x="337" y="742"/>
                    <a:pt x="343" y="721"/>
                  </a:cubicBezTo>
                  <a:lnTo>
                    <a:pt x="335" y="721"/>
                  </a:lnTo>
                  <a:cubicBezTo>
                    <a:pt x="318" y="721"/>
                    <a:pt x="293" y="737"/>
                    <a:pt x="280" y="744"/>
                  </a:cubicBezTo>
                  <a:cubicBezTo>
                    <a:pt x="274" y="735"/>
                    <a:pt x="268" y="724"/>
                    <a:pt x="253" y="724"/>
                  </a:cubicBezTo>
                  <a:lnTo>
                    <a:pt x="155" y="724"/>
                  </a:lnTo>
                  <a:cubicBezTo>
                    <a:pt x="141" y="724"/>
                    <a:pt x="128" y="737"/>
                    <a:pt x="128" y="751"/>
                  </a:cubicBezTo>
                  <a:lnTo>
                    <a:pt x="128" y="851"/>
                  </a:lnTo>
                  <a:cubicBezTo>
                    <a:pt x="128" y="868"/>
                    <a:pt x="143" y="879"/>
                    <a:pt x="160" y="879"/>
                  </a:cubicBezTo>
                  <a:lnTo>
                    <a:pt x="248" y="879"/>
                  </a:lnTo>
                  <a:close/>
                  <a:moveTo>
                    <a:pt x="153" y="394"/>
                  </a:moveTo>
                  <a:cubicBezTo>
                    <a:pt x="153" y="389"/>
                    <a:pt x="154" y="387"/>
                    <a:pt x="160" y="387"/>
                  </a:cubicBezTo>
                  <a:lnTo>
                    <a:pt x="248" y="387"/>
                  </a:lnTo>
                  <a:cubicBezTo>
                    <a:pt x="253" y="387"/>
                    <a:pt x="255" y="389"/>
                    <a:pt x="255" y="394"/>
                  </a:cubicBezTo>
                  <a:cubicBezTo>
                    <a:pt x="255" y="401"/>
                    <a:pt x="213" y="429"/>
                    <a:pt x="208" y="429"/>
                  </a:cubicBezTo>
                  <a:cubicBezTo>
                    <a:pt x="203" y="429"/>
                    <a:pt x="190" y="409"/>
                    <a:pt x="175" y="409"/>
                  </a:cubicBezTo>
                  <a:cubicBezTo>
                    <a:pt x="168" y="409"/>
                    <a:pt x="158" y="417"/>
                    <a:pt x="158" y="424"/>
                  </a:cubicBezTo>
                  <a:lnTo>
                    <a:pt x="158" y="427"/>
                  </a:lnTo>
                  <a:cubicBezTo>
                    <a:pt x="158" y="437"/>
                    <a:pt x="192" y="470"/>
                    <a:pt x="200" y="474"/>
                  </a:cubicBezTo>
                  <a:lnTo>
                    <a:pt x="255" y="434"/>
                  </a:lnTo>
                  <a:lnTo>
                    <a:pt x="255" y="492"/>
                  </a:lnTo>
                  <a:lnTo>
                    <a:pt x="153" y="492"/>
                  </a:lnTo>
                  <a:lnTo>
                    <a:pt x="153" y="394"/>
                  </a:lnTo>
                  <a:close/>
                  <a:moveTo>
                    <a:pt x="278" y="382"/>
                  </a:moveTo>
                  <a:cubicBezTo>
                    <a:pt x="275" y="369"/>
                    <a:pt x="264" y="362"/>
                    <a:pt x="248" y="362"/>
                  </a:cubicBezTo>
                  <a:lnTo>
                    <a:pt x="160" y="362"/>
                  </a:lnTo>
                  <a:cubicBezTo>
                    <a:pt x="143" y="362"/>
                    <a:pt x="128" y="373"/>
                    <a:pt x="128" y="390"/>
                  </a:cubicBezTo>
                  <a:lnTo>
                    <a:pt x="128" y="489"/>
                  </a:lnTo>
                  <a:cubicBezTo>
                    <a:pt x="128" y="504"/>
                    <a:pt x="141" y="517"/>
                    <a:pt x="155" y="517"/>
                  </a:cubicBezTo>
                  <a:lnTo>
                    <a:pt x="253" y="517"/>
                  </a:lnTo>
                  <a:cubicBezTo>
                    <a:pt x="292" y="517"/>
                    <a:pt x="280" y="455"/>
                    <a:pt x="279" y="416"/>
                  </a:cubicBezTo>
                  <a:lnTo>
                    <a:pt x="343" y="362"/>
                  </a:lnTo>
                  <a:cubicBezTo>
                    <a:pt x="343" y="362"/>
                    <a:pt x="338" y="360"/>
                    <a:pt x="338" y="360"/>
                  </a:cubicBezTo>
                  <a:cubicBezTo>
                    <a:pt x="313" y="360"/>
                    <a:pt x="293" y="381"/>
                    <a:pt x="278" y="382"/>
                  </a:cubicBezTo>
                  <a:close/>
                  <a:moveTo>
                    <a:pt x="153" y="569"/>
                  </a:moveTo>
                  <a:lnTo>
                    <a:pt x="255" y="569"/>
                  </a:lnTo>
                  <a:lnTo>
                    <a:pt x="255" y="582"/>
                  </a:lnTo>
                  <a:lnTo>
                    <a:pt x="208" y="612"/>
                  </a:lnTo>
                  <a:lnTo>
                    <a:pt x="176" y="588"/>
                  </a:lnTo>
                  <a:cubicBezTo>
                    <a:pt x="168" y="593"/>
                    <a:pt x="158" y="595"/>
                    <a:pt x="158" y="607"/>
                  </a:cubicBezTo>
                  <a:cubicBezTo>
                    <a:pt x="158" y="614"/>
                    <a:pt x="193" y="654"/>
                    <a:pt x="200" y="654"/>
                  </a:cubicBezTo>
                  <a:cubicBezTo>
                    <a:pt x="212" y="654"/>
                    <a:pt x="242" y="620"/>
                    <a:pt x="255" y="617"/>
                  </a:cubicBezTo>
                  <a:lnTo>
                    <a:pt x="255" y="672"/>
                  </a:lnTo>
                  <a:lnTo>
                    <a:pt x="153" y="672"/>
                  </a:lnTo>
                  <a:lnTo>
                    <a:pt x="153" y="569"/>
                  </a:lnTo>
                  <a:close/>
                  <a:moveTo>
                    <a:pt x="280" y="563"/>
                  </a:moveTo>
                  <a:cubicBezTo>
                    <a:pt x="275" y="555"/>
                    <a:pt x="269" y="544"/>
                    <a:pt x="255" y="544"/>
                  </a:cubicBezTo>
                  <a:lnTo>
                    <a:pt x="153" y="544"/>
                  </a:lnTo>
                  <a:cubicBezTo>
                    <a:pt x="140" y="544"/>
                    <a:pt x="128" y="557"/>
                    <a:pt x="128" y="569"/>
                  </a:cubicBezTo>
                  <a:lnTo>
                    <a:pt x="128" y="672"/>
                  </a:lnTo>
                  <a:cubicBezTo>
                    <a:pt x="128" y="684"/>
                    <a:pt x="140" y="696"/>
                    <a:pt x="153" y="696"/>
                  </a:cubicBezTo>
                  <a:lnTo>
                    <a:pt x="255" y="696"/>
                  </a:lnTo>
                  <a:cubicBezTo>
                    <a:pt x="291" y="696"/>
                    <a:pt x="280" y="632"/>
                    <a:pt x="279" y="596"/>
                  </a:cubicBezTo>
                  <a:lnTo>
                    <a:pt x="343" y="542"/>
                  </a:lnTo>
                  <a:lnTo>
                    <a:pt x="334" y="538"/>
                  </a:lnTo>
                  <a:lnTo>
                    <a:pt x="280" y="563"/>
                  </a:lnTo>
                  <a:close/>
                  <a:moveTo>
                    <a:pt x="370" y="829"/>
                  </a:moveTo>
                  <a:cubicBezTo>
                    <a:pt x="370" y="834"/>
                    <a:pt x="372" y="836"/>
                    <a:pt x="378" y="836"/>
                  </a:cubicBezTo>
                  <a:lnTo>
                    <a:pt x="573" y="836"/>
                  </a:lnTo>
                  <a:cubicBezTo>
                    <a:pt x="579" y="836"/>
                    <a:pt x="580" y="834"/>
                    <a:pt x="580" y="829"/>
                  </a:cubicBezTo>
                  <a:lnTo>
                    <a:pt x="580" y="774"/>
                  </a:lnTo>
                  <a:cubicBezTo>
                    <a:pt x="580" y="768"/>
                    <a:pt x="579" y="766"/>
                    <a:pt x="573" y="766"/>
                  </a:cubicBezTo>
                  <a:lnTo>
                    <a:pt x="370" y="766"/>
                  </a:lnTo>
                  <a:lnTo>
                    <a:pt x="370" y="829"/>
                  </a:lnTo>
                  <a:close/>
                  <a:moveTo>
                    <a:pt x="370" y="654"/>
                  </a:moveTo>
                  <a:lnTo>
                    <a:pt x="580" y="654"/>
                  </a:lnTo>
                  <a:lnTo>
                    <a:pt x="580" y="587"/>
                  </a:lnTo>
                  <a:lnTo>
                    <a:pt x="370" y="587"/>
                  </a:lnTo>
                  <a:lnTo>
                    <a:pt x="370" y="654"/>
                  </a:lnTo>
                  <a:close/>
                  <a:moveTo>
                    <a:pt x="370" y="474"/>
                  </a:moveTo>
                  <a:lnTo>
                    <a:pt x="523" y="474"/>
                  </a:lnTo>
                  <a:lnTo>
                    <a:pt x="523" y="407"/>
                  </a:lnTo>
                  <a:lnTo>
                    <a:pt x="370" y="407"/>
                  </a:lnTo>
                  <a:lnTo>
                    <a:pt x="370" y="474"/>
                  </a:lnTo>
                  <a:close/>
                </a:path>
              </a:pathLst>
            </a:custGeom>
            <a:solidFill>
              <a:srgbClr val="0070C0"/>
            </a:solidFill>
            <a:ln>
              <a:noFill/>
            </a:ln>
          </p:spPr>
          <p:txBody>
            <a:bodyPr vert="horz" wrap="square" lIns="68571" tIns="34285" rIns="68571" bIns="34285" numCol="1" anchor="t" anchorCtr="0" compatLnSpc="1"/>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8" name="Freeform 15"/>
            <p:cNvSpPr>
              <a:spLocks noEditPoints="1"/>
            </p:cNvSpPr>
            <p:nvPr>
              <p:custDataLst>
                <p:tags r:id="rId22"/>
              </p:custDataLst>
            </p:nvPr>
          </p:nvSpPr>
          <p:spPr bwMode="auto">
            <a:xfrm>
              <a:off x="6411612" y="2414849"/>
              <a:ext cx="599870" cy="514251"/>
            </a:xfrm>
            <a:custGeom>
              <a:avLst/>
              <a:gdLst>
                <a:gd name="T0" fmla="*/ 737 w 1149"/>
                <a:gd name="T1" fmla="*/ 427 h 983"/>
                <a:gd name="T2" fmla="*/ 640 w 1149"/>
                <a:gd name="T3" fmla="*/ 427 h 983"/>
                <a:gd name="T4" fmla="*/ 616 w 1149"/>
                <a:gd name="T5" fmla="*/ 502 h 983"/>
                <a:gd name="T6" fmla="*/ 640 w 1149"/>
                <a:gd name="T7" fmla="*/ 810 h 983"/>
                <a:gd name="T8" fmla="*/ 575 w 1149"/>
                <a:gd name="T9" fmla="*/ 921 h 983"/>
                <a:gd name="T10" fmla="*/ 514 w 1149"/>
                <a:gd name="T11" fmla="*/ 810 h 983"/>
                <a:gd name="T12" fmla="*/ 549 w 1149"/>
                <a:gd name="T13" fmla="*/ 503 h 983"/>
                <a:gd name="T14" fmla="*/ 524 w 1149"/>
                <a:gd name="T15" fmla="*/ 427 h 983"/>
                <a:gd name="T16" fmla="*/ 417 w 1149"/>
                <a:gd name="T17" fmla="*/ 427 h 983"/>
                <a:gd name="T18" fmla="*/ 417 w 1149"/>
                <a:gd name="T19" fmla="*/ 427 h 983"/>
                <a:gd name="T20" fmla="*/ 241 w 1149"/>
                <a:gd name="T21" fmla="*/ 612 h 983"/>
                <a:gd name="T22" fmla="*/ 266 w 1149"/>
                <a:gd name="T23" fmla="*/ 801 h 983"/>
                <a:gd name="T24" fmla="*/ 443 w 1149"/>
                <a:gd name="T25" fmla="*/ 983 h 983"/>
                <a:gd name="T26" fmla="*/ 711 w 1149"/>
                <a:gd name="T27" fmla="*/ 983 h 983"/>
                <a:gd name="T28" fmla="*/ 888 w 1149"/>
                <a:gd name="T29" fmla="*/ 799 h 983"/>
                <a:gd name="T30" fmla="*/ 913 w 1149"/>
                <a:gd name="T31" fmla="*/ 609 h 983"/>
                <a:gd name="T32" fmla="*/ 737 w 1149"/>
                <a:gd name="T33" fmla="*/ 427 h 983"/>
                <a:gd name="T34" fmla="*/ 218 w 1149"/>
                <a:gd name="T35" fmla="*/ 308 h 983"/>
                <a:gd name="T36" fmla="*/ 330 w 1149"/>
                <a:gd name="T37" fmla="*/ 196 h 983"/>
                <a:gd name="T38" fmla="*/ 218 w 1149"/>
                <a:gd name="T39" fmla="*/ 83 h 983"/>
                <a:gd name="T40" fmla="*/ 105 w 1149"/>
                <a:gd name="T41" fmla="*/ 196 h 983"/>
                <a:gd name="T42" fmla="*/ 218 w 1149"/>
                <a:gd name="T43" fmla="*/ 308 h 983"/>
                <a:gd name="T44" fmla="*/ 318 w 1149"/>
                <a:gd name="T45" fmla="*/ 344 h 983"/>
                <a:gd name="T46" fmla="*/ 118 w 1149"/>
                <a:gd name="T47" fmla="*/ 344 h 983"/>
                <a:gd name="T48" fmla="*/ 118 w 1149"/>
                <a:gd name="T49" fmla="*/ 343 h 983"/>
                <a:gd name="T50" fmla="*/ 7 w 1149"/>
                <a:gd name="T51" fmla="*/ 458 h 983"/>
                <a:gd name="T52" fmla="*/ 23 w 1149"/>
                <a:gd name="T53" fmla="*/ 577 h 983"/>
                <a:gd name="T54" fmla="*/ 134 w 1149"/>
                <a:gd name="T55" fmla="*/ 689 h 983"/>
                <a:gd name="T56" fmla="*/ 191 w 1149"/>
                <a:gd name="T57" fmla="*/ 689 h 983"/>
                <a:gd name="T58" fmla="*/ 180 w 1149"/>
                <a:gd name="T59" fmla="*/ 606 h 983"/>
                <a:gd name="T60" fmla="*/ 180 w 1149"/>
                <a:gd name="T61" fmla="*/ 606 h 983"/>
                <a:gd name="T62" fmla="*/ 180 w 1149"/>
                <a:gd name="T63" fmla="*/ 606 h 983"/>
                <a:gd name="T64" fmla="*/ 231 w 1149"/>
                <a:gd name="T65" fmla="*/ 449 h 983"/>
                <a:gd name="T66" fmla="*/ 308 w 1149"/>
                <a:gd name="T67" fmla="*/ 393 h 983"/>
                <a:gd name="T68" fmla="*/ 387 w 1149"/>
                <a:gd name="T69" fmla="*/ 367 h 983"/>
                <a:gd name="T70" fmla="*/ 318 w 1149"/>
                <a:gd name="T71" fmla="*/ 344 h 983"/>
                <a:gd name="T72" fmla="*/ 931 w 1149"/>
                <a:gd name="T73" fmla="*/ 308 h 983"/>
                <a:gd name="T74" fmla="*/ 1043 w 1149"/>
                <a:gd name="T75" fmla="*/ 196 h 983"/>
                <a:gd name="T76" fmla="*/ 931 w 1149"/>
                <a:gd name="T77" fmla="*/ 83 h 983"/>
                <a:gd name="T78" fmla="*/ 819 w 1149"/>
                <a:gd name="T79" fmla="*/ 196 h 983"/>
                <a:gd name="T80" fmla="*/ 931 w 1149"/>
                <a:gd name="T81" fmla="*/ 308 h 983"/>
                <a:gd name="T82" fmla="*/ 1031 w 1149"/>
                <a:gd name="T83" fmla="*/ 344 h 983"/>
                <a:gd name="T84" fmla="*/ 831 w 1149"/>
                <a:gd name="T85" fmla="*/ 344 h 983"/>
                <a:gd name="T86" fmla="*/ 831 w 1149"/>
                <a:gd name="T87" fmla="*/ 343 h 983"/>
                <a:gd name="T88" fmla="*/ 763 w 1149"/>
                <a:gd name="T89" fmla="*/ 366 h 983"/>
                <a:gd name="T90" fmla="*/ 847 w 1149"/>
                <a:gd name="T91" fmla="*/ 393 h 983"/>
                <a:gd name="T92" fmla="*/ 925 w 1149"/>
                <a:gd name="T93" fmla="*/ 450 h 983"/>
                <a:gd name="T94" fmla="*/ 974 w 1149"/>
                <a:gd name="T95" fmla="*/ 603 h 983"/>
                <a:gd name="T96" fmla="*/ 974 w 1149"/>
                <a:gd name="T97" fmla="*/ 603 h 983"/>
                <a:gd name="T98" fmla="*/ 974 w 1149"/>
                <a:gd name="T99" fmla="*/ 603 h 983"/>
                <a:gd name="T100" fmla="*/ 962 w 1149"/>
                <a:gd name="T101" fmla="*/ 689 h 983"/>
                <a:gd name="T102" fmla="*/ 1015 w 1149"/>
                <a:gd name="T103" fmla="*/ 689 h 983"/>
                <a:gd name="T104" fmla="*/ 1126 w 1149"/>
                <a:gd name="T105" fmla="*/ 575 h 983"/>
                <a:gd name="T106" fmla="*/ 1142 w 1149"/>
                <a:gd name="T107" fmla="*/ 456 h 983"/>
                <a:gd name="T108" fmla="*/ 1031 w 1149"/>
                <a:gd name="T109" fmla="*/ 344 h 983"/>
                <a:gd name="T110" fmla="*/ 756 w 1149"/>
                <a:gd name="T111" fmla="*/ 184 h 983"/>
                <a:gd name="T112" fmla="*/ 577 w 1149"/>
                <a:gd name="T113" fmla="*/ 369 h 983"/>
                <a:gd name="T114" fmla="*/ 398 w 1149"/>
                <a:gd name="T115" fmla="*/ 184 h 983"/>
                <a:gd name="T116" fmla="*/ 577 w 1149"/>
                <a:gd name="T117" fmla="*/ 0 h 983"/>
                <a:gd name="T118" fmla="*/ 756 w 1149"/>
                <a:gd name="T119" fmla="*/ 18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9" h="983">
                  <a:moveTo>
                    <a:pt x="737" y="427"/>
                  </a:moveTo>
                  <a:lnTo>
                    <a:pt x="640" y="427"/>
                  </a:lnTo>
                  <a:cubicBezTo>
                    <a:pt x="641" y="437"/>
                    <a:pt x="642" y="483"/>
                    <a:pt x="616" y="502"/>
                  </a:cubicBezTo>
                  <a:cubicBezTo>
                    <a:pt x="616" y="502"/>
                    <a:pt x="658" y="735"/>
                    <a:pt x="640" y="810"/>
                  </a:cubicBezTo>
                  <a:cubicBezTo>
                    <a:pt x="633" y="842"/>
                    <a:pt x="606" y="921"/>
                    <a:pt x="575" y="921"/>
                  </a:cubicBezTo>
                  <a:cubicBezTo>
                    <a:pt x="544" y="920"/>
                    <a:pt x="520" y="841"/>
                    <a:pt x="514" y="810"/>
                  </a:cubicBezTo>
                  <a:cubicBezTo>
                    <a:pt x="499" y="735"/>
                    <a:pt x="549" y="503"/>
                    <a:pt x="549" y="503"/>
                  </a:cubicBezTo>
                  <a:cubicBezTo>
                    <a:pt x="541" y="500"/>
                    <a:pt x="527" y="486"/>
                    <a:pt x="524" y="427"/>
                  </a:cubicBezTo>
                  <a:lnTo>
                    <a:pt x="417" y="427"/>
                  </a:lnTo>
                  <a:lnTo>
                    <a:pt x="417" y="427"/>
                  </a:lnTo>
                  <a:cubicBezTo>
                    <a:pt x="320" y="427"/>
                    <a:pt x="229" y="510"/>
                    <a:pt x="241" y="612"/>
                  </a:cubicBezTo>
                  <a:lnTo>
                    <a:pt x="266" y="801"/>
                  </a:lnTo>
                  <a:cubicBezTo>
                    <a:pt x="286" y="902"/>
                    <a:pt x="345" y="983"/>
                    <a:pt x="443" y="983"/>
                  </a:cubicBezTo>
                  <a:lnTo>
                    <a:pt x="711" y="983"/>
                  </a:lnTo>
                  <a:cubicBezTo>
                    <a:pt x="809" y="983"/>
                    <a:pt x="868" y="899"/>
                    <a:pt x="888" y="799"/>
                  </a:cubicBezTo>
                  <a:lnTo>
                    <a:pt x="913" y="609"/>
                  </a:lnTo>
                  <a:cubicBezTo>
                    <a:pt x="925" y="510"/>
                    <a:pt x="834" y="427"/>
                    <a:pt x="737" y="427"/>
                  </a:cubicBezTo>
                  <a:close/>
                  <a:moveTo>
                    <a:pt x="218" y="308"/>
                  </a:moveTo>
                  <a:cubicBezTo>
                    <a:pt x="280" y="308"/>
                    <a:pt x="330" y="258"/>
                    <a:pt x="330" y="196"/>
                  </a:cubicBezTo>
                  <a:cubicBezTo>
                    <a:pt x="330" y="134"/>
                    <a:pt x="280" y="83"/>
                    <a:pt x="218" y="83"/>
                  </a:cubicBezTo>
                  <a:cubicBezTo>
                    <a:pt x="156" y="83"/>
                    <a:pt x="105" y="134"/>
                    <a:pt x="105" y="196"/>
                  </a:cubicBezTo>
                  <a:cubicBezTo>
                    <a:pt x="105" y="258"/>
                    <a:pt x="156" y="308"/>
                    <a:pt x="218" y="308"/>
                  </a:cubicBezTo>
                  <a:close/>
                  <a:moveTo>
                    <a:pt x="318" y="344"/>
                  </a:moveTo>
                  <a:lnTo>
                    <a:pt x="118" y="344"/>
                  </a:lnTo>
                  <a:lnTo>
                    <a:pt x="118" y="343"/>
                  </a:lnTo>
                  <a:cubicBezTo>
                    <a:pt x="57" y="343"/>
                    <a:pt x="0" y="395"/>
                    <a:pt x="7" y="458"/>
                  </a:cubicBezTo>
                  <a:lnTo>
                    <a:pt x="23" y="577"/>
                  </a:lnTo>
                  <a:cubicBezTo>
                    <a:pt x="35" y="639"/>
                    <a:pt x="73" y="689"/>
                    <a:pt x="134" y="689"/>
                  </a:cubicBezTo>
                  <a:lnTo>
                    <a:pt x="191" y="689"/>
                  </a:lnTo>
                  <a:lnTo>
                    <a:pt x="180" y="606"/>
                  </a:lnTo>
                  <a:lnTo>
                    <a:pt x="180" y="606"/>
                  </a:lnTo>
                  <a:lnTo>
                    <a:pt x="180" y="606"/>
                  </a:lnTo>
                  <a:cubicBezTo>
                    <a:pt x="173" y="549"/>
                    <a:pt x="191" y="493"/>
                    <a:pt x="231" y="449"/>
                  </a:cubicBezTo>
                  <a:cubicBezTo>
                    <a:pt x="252" y="425"/>
                    <a:pt x="279" y="406"/>
                    <a:pt x="308" y="393"/>
                  </a:cubicBezTo>
                  <a:cubicBezTo>
                    <a:pt x="333" y="379"/>
                    <a:pt x="359" y="371"/>
                    <a:pt x="387" y="367"/>
                  </a:cubicBezTo>
                  <a:cubicBezTo>
                    <a:pt x="367" y="352"/>
                    <a:pt x="343" y="344"/>
                    <a:pt x="318" y="344"/>
                  </a:cubicBezTo>
                  <a:close/>
                  <a:moveTo>
                    <a:pt x="931" y="308"/>
                  </a:moveTo>
                  <a:cubicBezTo>
                    <a:pt x="993" y="308"/>
                    <a:pt x="1043" y="258"/>
                    <a:pt x="1043" y="196"/>
                  </a:cubicBezTo>
                  <a:cubicBezTo>
                    <a:pt x="1043" y="134"/>
                    <a:pt x="993" y="83"/>
                    <a:pt x="931" y="83"/>
                  </a:cubicBezTo>
                  <a:cubicBezTo>
                    <a:pt x="869" y="83"/>
                    <a:pt x="819" y="134"/>
                    <a:pt x="819" y="196"/>
                  </a:cubicBezTo>
                  <a:cubicBezTo>
                    <a:pt x="819" y="258"/>
                    <a:pt x="869" y="308"/>
                    <a:pt x="931" y="308"/>
                  </a:cubicBezTo>
                  <a:close/>
                  <a:moveTo>
                    <a:pt x="1031" y="344"/>
                  </a:moveTo>
                  <a:lnTo>
                    <a:pt x="831" y="344"/>
                  </a:lnTo>
                  <a:lnTo>
                    <a:pt x="831" y="343"/>
                  </a:lnTo>
                  <a:cubicBezTo>
                    <a:pt x="806" y="343"/>
                    <a:pt x="782" y="352"/>
                    <a:pt x="763" y="366"/>
                  </a:cubicBezTo>
                  <a:cubicBezTo>
                    <a:pt x="792" y="370"/>
                    <a:pt x="821" y="379"/>
                    <a:pt x="847" y="393"/>
                  </a:cubicBezTo>
                  <a:cubicBezTo>
                    <a:pt x="877" y="406"/>
                    <a:pt x="903" y="426"/>
                    <a:pt x="925" y="450"/>
                  </a:cubicBezTo>
                  <a:cubicBezTo>
                    <a:pt x="963" y="494"/>
                    <a:pt x="981" y="548"/>
                    <a:pt x="974" y="603"/>
                  </a:cubicBezTo>
                  <a:lnTo>
                    <a:pt x="974" y="603"/>
                  </a:lnTo>
                  <a:lnTo>
                    <a:pt x="974" y="603"/>
                  </a:lnTo>
                  <a:lnTo>
                    <a:pt x="962" y="689"/>
                  </a:lnTo>
                  <a:lnTo>
                    <a:pt x="1015" y="689"/>
                  </a:lnTo>
                  <a:cubicBezTo>
                    <a:pt x="1076" y="689"/>
                    <a:pt x="1114" y="637"/>
                    <a:pt x="1126" y="575"/>
                  </a:cubicBezTo>
                  <a:lnTo>
                    <a:pt x="1142" y="456"/>
                  </a:lnTo>
                  <a:cubicBezTo>
                    <a:pt x="1149" y="395"/>
                    <a:pt x="1092" y="344"/>
                    <a:pt x="1031" y="344"/>
                  </a:cubicBezTo>
                  <a:close/>
                  <a:moveTo>
                    <a:pt x="756" y="184"/>
                  </a:moveTo>
                  <a:cubicBezTo>
                    <a:pt x="756" y="286"/>
                    <a:pt x="676" y="369"/>
                    <a:pt x="577" y="369"/>
                  </a:cubicBezTo>
                  <a:cubicBezTo>
                    <a:pt x="478" y="369"/>
                    <a:pt x="398" y="286"/>
                    <a:pt x="398" y="184"/>
                  </a:cubicBezTo>
                  <a:cubicBezTo>
                    <a:pt x="398" y="82"/>
                    <a:pt x="478" y="0"/>
                    <a:pt x="577" y="0"/>
                  </a:cubicBezTo>
                  <a:cubicBezTo>
                    <a:pt x="676" y="0"/>
                    <a:pt x="756" y="82"/>
                    <a:pt x="756" y="184"/>
                  </a:cubicBezTo>
                  <a:close/>
                </a:path>
              </a:pathLst>
            </a:custGeom>
            <a:solidFill>
              <a:schemeClr val="bg1">
                <a:lumMod val="95000"/>
              </a:schemeClr>
            </a:solidFill>
            <a:ln>
              <a:noFill/>
            </a:ln>
          </p:spPr>
          <p:txBody>
            <a:bodyPr vert="horz" wrap="square" lIns="68571" tIns="34285" rIns="68571" bIns="34285" numCol="1" anchor="t" anchorCtr="0" compatLnSpc="1"/>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Freeform 17"/>
            <p:cNvSpPr>
              <a:spLocks noEditPoints="1"/>
            </p:cNvSpPr>
            <p:nvPr>
              <p:custDataLst>
                <p:tags r:id="rId23"/>
              </p:custDataLst>
            </p:nvPr>
          </p:nvSpPr>
          <p:spPr bwMode="auto">
            <a:xfrm>
              <a:off x="7043691" y="3474722"/>
              <a:ext cx="526251" cy="527891"/>
            </a:xfrm>
            <a:custGeom>
              <a:avLst/>
              <a:gdLst>
                <a:gd name="T0" fmla="*/ 504 w 1008"/>
                <a:gd name="T1" fmla="*/ 1009 h 1009"/>
                <a:gd name="T2" fmla="*/ 0 w 1008"/>
                <a:gd name="T3" fmla="*/ 504 h 1009"/>
                <a:gd name="T4" fmla="*/ 504 w 1008"/>
                <a:gd name="T5" fmla="*/ 0 h 1009"/>
                <a:gd name="T6" fmla="*/ 1008 w 1008"/>
                <a:gd name="T7" fmla="*/ 504 h 1009"/>
                <a:gd name="T8" fmla="*/ 504 w 1008"/>
                <a:gd name="T9" fmla="*/ 1009 h 1009"/>
                <a:gd name="T10" fmla="*/ 725 w 1008"/>
                <a:gd name="T11" fmla="*/ 769 h 1009"/>
                <a:gd name="T12" fmla="*/ 725 w 1008"/>
                <a:gd name="T13" fmla="*/ 769 h 1009"/>
                <a:gd name="T14" fmla="*/ 538 w 1008"/>
                <a:gd name="T15" fmla="*/ 586 h 1009"/>
                <a:gd name="T16" fmla="*/ 504 w 1008"/>
                <a:gd name="T17" fmla="*/ 592 h 1009"/>
                <a:gd name="T18" fmla="*/ 416 w 1008"/>
                <a:gd name="T19" fmla="*/ 504 h 1009"/>
                <a:gd name="T20" fmla="*/ 456 w 1008"/>
                <a:gd name="T21" fmla="*/ 431 h 1009"/>
                <a:gd name="T22" fmla="*/ 456 w 1008"/>
                <a:gd name="T23" fmla="*/ 179 h 1009"/>
                <a:gd name="T24" fmla="*/ 553 w 1008"/>
                <a:gd name="T25" fmla="*/ 179 h 1009"/>
                <a:gd name="T26" fmla="*/ 553 w 1008"/>
                <a:gd name="T27" fmla="*/ 431 h 1009"/>
                <a:gd name="T28" fmla="*/ 592 w 1008"/>
                <a:gd name="T29" fmla="*/ 504 h 1009"/>
                <a:gd name="T30" fmla="*/ 586 w 1008"/>
                <a:gd name="T31" fmla="*/ 536 h 1009"/>
                <a:gd name="T32" fmla="*/ 774 w 1008"/>
                <a:gd name="T33" fmla="*/ 719 h 1009"/>
                <a:gd name="T34" fmla="*/ 725 w 1008"/>
                <a:gd name="T35" fmla="*/ 769 h 1009"/>
                <a:gd name="T36" fmla="*/ 168 w 1008"/>
                <a:gd name="T37" fmla="*/ 471 h 1009"/>
                <a:gd name="T38" fmla="*/ 168 w 1008"/>
                <a:gd name="T39" fmla="*/ 471 h 1009"/>
                <a:gd name="T40" fmla="*/ 234 w 1008"/>
                <a:gd name="T41" fmla="*/ 471 h 1009"/>
                <a:gd name="T42" fmla="*/ 234 w 1008"/>
                <a:gd name="T43" fmla="*/ 538 h 1009"/>
                <a:gd name="T44" fmla="*/ 168 w 1008"/>
                <a:gd name="T45" fmla="*/ 538 h 1009"/>
                <a:gd name="T46" fmla="*/ 168 w 1008"/>
                <a:gd name="T47" fmla="*/ 471 h 1009"/>
                <a:gd name="T48" fmla="*/ 774 w 1008"/>
                <a:gd name="T49" fmla="*/ 471 h 1009"/>
                <a:gd name="T50" fmla="*/ 774 w 1008"/>
                <a:gd name="T51" fmla="*/ 471 h 1009"/>
                <a:gd name="T52" fmla="*/ 840 w 1008"/>
                <a:gd name="T53" fmla="*/ 471 h 1009"/>
                <a:gd name="T54" fmla="*/ 840 w 1008"/>
                <a:gd name="T55" fmla="*/ 538 h 1009"/>
                <a:gd name="T56" fmla="*/ 774 w 1008"/>
                <a:gd name="T57" fmla="*/ 538 h 1009"/>
                <a:gd name="T58" fmla="*/ 774 w 1008"/>
                <a:gd name="T59" fmla="*/ 471 h 1009"/>
                <a:gd name="T60" fmla="*/ 470 w 1008"/>
                <a:gd name="T61" fmla="*/ 840 h 1009"/>
                <a:gd name="T62" fmla="*/ 470 w 1008"/>
                <a:gd name="T63" fmla="*/ 840 h 1009"/>
                <a:gd name="T64" fmla="*/ 470 w 1008"/>
                <a:gd name="T65" fmla="*/ 775 h 1009"/>
                <a:gd name="T66" fmla="*/ 538 w 1008"/>
                <a:gd name="T67" fmla="*/ 775 h 1009"/>
                <a:gd name="T68" fmla="*/ 538 w 1008"/>
                <a:gd name="T69" fmla="*/ 840 h 1009"/>
                <a:gd name="T70" fmla="*/ 470 w 1008"/>
                <a:gd name="T71" fmla="*/ 840 h 1009"/>
                <a:gd name="T72" fmla="*/ 504 w 1008"/>
                <a:gd name="T73" fmla="*/ 912 h 1009"/>
                <a:gd name="T74" fmla="*/ 504 w 1008"/>
                <a:gd name="T75" fmla="*/ 912 h 1009"/>
                <a:gd name="T76" fmla="*/ 912 w 1008"/>
                <a:gd name="T77" fmla="*/ 504 h 1009"/>
                <a:gd name="T78" fmla="*/ 504 w 1008"/>
                <a:gd name="T79" fmla="*/ 97 h 1009"/>
                <a:gd name="T80" fmla="*/ 96 w 1008"/>
                <a:gd name="T81" fmla="*/ 504 h 1009"/>
                <a:gd name="T82" fmla="*/ 504 w 1008"/>
                <a:gd name="T83" fmla="*/ 912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8"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rgbClr val="0070C0"/>
            </a:solidFill>
            <a:ln>
              <a:noFill/>
            </a:ln>
          </p:spPr>
          <p:txBody>
            <a:bodyPr vert="horz" wrap="square" lIns="68571" tIns="34285" rIns="68571" bIns="34285" numCol="1" anchor="t" anchorCtr="0" compatLnSpc="1"/>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30" name="组合 29"/>
            <p:cNvGrpSpPr/>
            <p:nvPr/>
          </p:nvGrpSpPr>
          <p:grpSpPr>
            <a:xfrm>
              <a:off x="6421528" y="4525290"/>
              <a:ext cx="580037" cy="538318"/>
              <a:chOff x="5928340" y="670992"/>
              <a:chExt cx="506444" cy="470018"/>
            </a:xfrm>
            <a:solidFill>
              <a:schemeClr val="bg1">
                <a:lumMod val="95000"/>
              </a:schemeClr>
            </a:solidFill>
          </p:grpSpPr>
          <p:sp>
            <p:nvSpPr>
              <p:cNvPr id="37" name="Freeform 36"/>
              <p:cNvSpPr>
                <a:spLocks noEditPoints="1"/>
              </p:cNvSpPr>
              <p:nvPr>
                <p:custDataLst>
                  <p:tags r:id="rId29"/>
                </p:custDataLst>
              </p:nvPr>
            </p:nvSpPr>
            <p:spPr bwMode="auto">
              <a:xfrm>
                <a:off x="5993909" y="670992"/>
                <a:ext cx="241151" cy="160240"/>
              </a:xfrm>
              <a:custGeom>
                <a:avLst/>
                <a:gdLst>
                  <a:gd name="T0" fmla="*/ 133 w 372"/>
                  <a:gd name="T1" fmla="*/ 185 h 247"/>
                  <a:gd name="T2" fmla="*/ 118 w 372"/>
                  <a:gd name="T3" fmla="*/ 152 h 247"/>
                  <a:gd name="T4" fmla="*/ 136 w 372"/>
                  <a:gd name="T5" fmla="*/ 115 h 247"/>
                  <a:gd name="T6" fmla="*/ 180 w 372"/>
                  <a:gd name="T7" fmla="*/ 100 h 247"/>
                  <a:gd name="T8" fmla="*/ 180 w 372"/>
                  <a:gd name="T9" fmla="*/ 84 h 247"/>
                  <a:gd name="T10" fmla="*/ 205 w 372"/>
                  <a:gd name="T11" fmla="*/ 84 h 247"/>
                  <a:gd name="T12" fmla="*/ 205 w 372"/>
                  <a:gd name="T13" fmla="*/ 99 h 247"/>
                  <a:gd name="T14" fmla="*/ 246 w 372"/>
                  <a:gd name="T15" fmla="*/ 114 h 247"/>
                  <a:gd name="T16" fmla="*/ 263 w 372"/>
                  <a:gd name="T17" fmla="*/ 152 h 247"/>
                  <a:gd name="T18" fmla="*/ 221 w 372"/>
                  <a:gd name="T19" fmla="*/ 152 h 247"/>
                  <a:gd name="T20" fmla="*/ 215 w 372"/>
                  <a:gd name="T21" fmla="*/ 136 h 247"/>
                  <a:gd name="T22" fmla="*/ 167 w 372"/>
                  <a:gd name="T23" fmla="*/ 134 h 247"/>
                  <a:gd name="T24" fmla="*/ 167 w 372"/>
                  <a:gd name="T25" fmla="*/ 156 h 247"/>
                  <a:gd name="T26" fmla="*/ 217 w 372"/>
                  <a:gd name="T27" fmla="*/ 171 h 247"/>
                  <a:gd name="T28" fmla="*/ 251 w 372"/>
                  <a:gd name="T29" fmla="*/ 188 h 247"/>
                  <a:gd name="T30" fmla="*/ 266 w 372"/>
                  <a:gd name="T31" fmla="*/ 223 h 247"/>
                  <a:gd name="T32" fmla="*/ 265 w 372"/>
                  <a:gd name="T33" fmla="*/ 234 h 247"/>
                  <a:gd name="T34" fmla="*/ 259 w 372"/>
                  <a:gd name="T35" fmla="*/ 246 h 247"/>
                  <a:gd name="T36" fmla="*/ 222 w 372"/>
                  <a:gd name="T37" fmla="*/ 230 h 247"/>
                  <a:gd name="T38" fmla="*/ 217 w 372"/>
                  <a:gd name="T39" fmla="*/ 217 h 247"/>
                  <a:gd name="T40" fmla="*/ 133 w 372"/>
                  <a:gd name="T41" fmla="*/ 185 h 247"/>
                  <a:gd name="T42" fmla="*/ 191 w 372"/>
                  <a:gd name="T43" fmla="*/ 39 h 247"/>
                  <a:gd name="T44" fmla="*/ 83 w 372"/>
                  <a:gd name="T45" fmla="*/ 83 h 247"/>
                  <a:gd name="T46" fmla="*/ 39 w 372"/>
                  <a:gd name="T47" fmla="*/ 191 h 247"/>
                  <a:gd name="T48" fmla="*/ 44 w 372"/>
                  <a:gd name="T49" fmla="*/ 231 h 247"/>
                  <a:gd name="T50" fmla="*/ 9 w 372"/>
                  <a:gd name="T51" fmla="*/ 247 h 247"/>
                  <a:gd name="T52" fmla="*/ 0 w 372"/>
                  <a:gd name="T53" fmla="*/ 191 h 247"/>
                  <a:gd name="T54" fmla="*/ 56 w 372"/>
                  <a:gd name="T55" fmla="*/ 56 h 247"/>
                  <a:gd name="T56" fmla="*/ 191 w 372"/>
                  <a:gd name="T57" fmla="*/ 0 h 247"/>
                  <a:gd name="T58" fmla="*/ 326 w 372"/>
                  <a:gd name="T59" fmla="*/ 56 h 247"/>
                  <a:gd name="T60" fmla="*/ 372 w 372"/>
                  <a:gd name="T61" fmla="*/ 132 h 247"/>
                  <a:gd name="T62" fmla="*/ 339 w 372"/>
                  <a:gd name="T63" fmla="*/ 152 h 247"/>
                  <a:gd name="T64" fmla="*/ 299 w 372"/>
                  <a:gd name="T65" fmla="*/ 83 h 247"/>
                  <a:gd name="T66" fmla="*/ 191 w 372"/>
                  <a:gd name="T67" fmla="*/ 39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2" h="247">
                    <a:moveTo>
                      <a:pt x="133" y="185"/>
                    </a:moveTo>
                    <a:cubicBezTo>
                      <a:pt x="123" y="177"/>
                      <a:pt x="118" y="166"/>
                      <a:pt x="118" y="152"/>
                    </a:cubicBezTo>
                    <a:cubicBezTo>
                      <a:pt x="118" y="136"/>
                      <a:pt x="124" y="124"/>
                      <a:pt x="136" y="115"/>
                    </a:cubicBezTo>
                    <a:cubicBezTo>
                      <a:pt x="147" y="105"/>
                      <a:pt x="160" y="100"/>
                      <a:pt x="180" y="100"/>
                    </a:cubicBezTo>
                    <a:cubicBezTo>
                      <a:pt x="180" y="84"/>
                      <a:pt x="180" y="84"/>
                      <a:pt x="180" y="84"/>
                    </a:cubicBezTo>
                    <a:cubicBezTo>
                      <a:pt x="205" y="84"/>
                      <a:pt x="205" y="84"/>
                      <a:pt x="205" y="84"/>
                    </a:cubicBezTo>
                    <a:cubicBezTo>
                      <a:pt x="205" y="99"/>
                      <a:pt x="205" y="99"/>
                      <a:pt x="205" y="99"/>
                    </a:cubicBezTo>
                    <a:cubicBezTo>
                      <a:pt x="224" y="100"/>
                      <a:pt x="235" y="104"/>
                      <a:pt x="246" y="114"/>
                    </a:cubicBezTo>
                    <a:cubicBezTo>
                      <a:pt x="257" y="123"/>
                      <a:pt x="262" y="136"/>
                      <a:pt x="263" y="152"/>
                    </a:cubicBezTo>
                    <a:cubicBezTo>
                      <a:pt x="221" y="152"/>
                      <a:pt x="221" y="152"/>
                      <a:pt x="221" y="152"/>
                    </a:cubicBezTo>
                    <a:cubicBezTo>
                      <a:pt x="220" y="145"/>
                      <a:pt x="218" y="140"/>
                      <a:pt x="215" y="136"/>
                    </a:cubicBezTo>
                    <a:cubicBezTo>
                      <a:pt x="208" y="128"/>
                      <a:pt x="176" y="128"/>
                      <a:pt x="167" y="134"/>
                    </a:cubicBezTo>
                    <a:cubicBezTo>
                      <a:pt x="161" y="139"/>
                      <a:pt x="160" y="151"/>
                      <a:pt x="167" y="156"/>
                    </a:cubicBezTo>
                    <a:cubicBezTo>
                      <a:pt x="175" y="162"/>
                      <a:pt x="205" y="167"/>
                      <a:pt x="217" y="171"/>
                    </a:cubicBezTo>
                    <a:cubicBezTo>
                      <a:pt x="232" y="176"/>
                      <a:pt x="244" y="181"/>
                      <a:pt x="251" y="188"/>
                    </a:cubicBezTo>
                    <a:cubicBezTo>
                      <a:pt x="261" y="197"/>
                      <a:pt x="266" y="208"/>
                      <a:pt x="266" y="223"/>
                    </a:cubicBezTo>
                    <a:cubicBezTo>
                      <a:pt x="266" y="227"/>
                      <a:pt x="266" y="231"/>
                      <a:pt x="265" y="234"/>
                    </a:cubicBezTo>
                    <a:cubicBezTo>
                      <a:pt x="263" y="238"/>
                      <a:pt x="261" y="242"/>
                      <a:pt x="259" y="246"/>
                    </a:cubicBezTo>
                    <a:cubicBezTo>
                      <a:pt x="247" y="240"/>
                      <a:pt x="235" y="235"/>
                      <a:pt x="222" y="230"/>
                    </a:cubicBezTo>
                    <a:cubicBezTo>
                      <a:pt x="223" y="225"/>
                      <a:pt x="221" y="220"/>
                      <a:pt x="217" y="217"/>
                    </a:cubicBezTo>
                    <a:cubicBezTo>
                      <a:pt x="200" y="204"/>
                      <a:pt x="158" y="207"/>
                      <a:pt x="133" y="185"/>
                    </a:cubicBezTo>
                    <a:close/>
                    <a:moveTo>
                      <a:pt x="191" y="39"/>
                    </a:moveTo>
                    <a:cubicBezTo>
                      <a:pt x="149" y="39"/>
                      <a:pt x="111" y="56"/>
                      <a:pt x="83" y="83"/>
                    </a:cubicBezTo>
                    <a:cubicBezTo>
                      <a:pt x="56" y="111"/>
                      <a:pt x="39" y="149"/>
                      <a:pt x="39" y="191"/>
                    </a:cubicBezTo>
                    <a:cubicBezTo>
                      <a:pt x="39" y="205"/>
                      <a:pt x="40" y="219"/>
                      <a:pt x="44" y="231"/>
                    </a:cubicBezTo>
                    <a:cubicBezTo>
                      <a:pt x="32" y="236"/>
                      <a:pt x="20" y="241"/>
                      <a:pt x="9" y="247"/>
                    </a:cubicBezTo>
                    <a:cubicBezTo>
                      <a:pt x="3" y="229"/>
                      <a:pt x="0" y="210"/>
                      <a:pt x="0" y="191"/>
                    </a:cubicBezTo>
                    <a:cubicBezTo>
                      <a:pt x="0" y="138"/>
                      <a:pt x="22" y="91"/>
                      <a:pt x="56" y="56"/>
                    </a:cubicBezTo>
                    <a:cubicBezTo>
                      <a:pt x="91" y="22"/>
                      <a:pt x="138" y="0"/>
                      <a:pt x="191" y="0"/>
                    </a:cubicBezTo>
                    <a:cubicBezTo>
                      <a:pt x="244" y="0"/>
                      <a:pt x="291" y="22"/>
                      <a:pt x="326" y="56"/>
                    </a:cubicBezTo>
                    <a:cubicBezTo>
                      <a:pt x="347" y="77"/>
                      <a:pt x="363" y="103"/>
                      <a:pt x="372" y="132"/>
                    </a:cubicBezTo>
                    <a:cubicBezTo>
                      <a:pt x="361" y="138"/>
                      <a:pt x="349" y="145"/>
                      <a:pt x="339" y="152"/>
                    </a:cubicBezTo>
                    <a:cubicBezTo>
                      <a:pt x="332" y="126"/>
                      <a:pt x="318" y="102"/>
                      <a:pt x="299" y="83"/>
                    </a:cubicBezTo>
                    <a:cubicBezTo>
                      <a:pt x="271" y="56"/>
                      <a:pt x="233" y="39"/>
                      <a:pt x="191"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8" name="Freeform 37"/>
              <p:cNvSpPr>
                <a:spLocks noEditPoints="1"/>
              </p:cNvSpPr>
              <p:nvPr>
                <p:custDataLst>
                  <p:tags r:id="rId30"/>
                </p:custDataLst>
              </p:nvPr>
            </p:nvSpPr>
            <p:spPr bwMode="auto">
              <a:xfrm>
                <a:off x="6183208" y="766203"/>
                <a:ext cx="251576" cy="263409"/>
              </a:xfrm>
              <a:custGeom>
                <a:avLst/>
                <a:gdLst>
                  <a:gd name="T0" fmla="*/ 41 w 388"/>
                  <a:gd name="T1" fmla="*/ 59 h 406"/>
                  <a:gd name="T2" fmla="*/ 185 w 388"/>
                  <a:gd name="T3" fmla="*/ 0 h 406"/>
                  <a:gd name="T4" fmla="*/ 329 w 388"/>
                  <a:gd name="T5" fmla="*/ 59 h 406"/>
                  <a:gd name="T6" fmla="*/ 388 w 388"/>
                  <a:gd name="T7" fmla="*/ 203 h 406"/>
                  <a:gd name="T8" fmla="*/ 329 w 388"/>
                  <a:gd name="T9" fmla="*/ 347 h 406"/>
                  <a:gd name="T10" fmla="*/ 185 w 388"/>
                  <a:gd name="T11" fmla="*/ 406 h 406"/>
                  <a:gd name="T12" fmla="*/ 111 w 388"/>
                  <a:gd name="T13" fmla="*/ 393 h 406"/>
                  <a:gd name="T14" fmla="*/ 116 w 388"/>
                  <a:gd name="T15" fmla="*/ 342 h 406"/>
                  <a:gd name="T16" fmla="*/ 36 w 388"/>
                  <a:gd name="T17" fmla="*/ 149 h 406"/>
                  <a:gd name="T18" fmla="*/ 0 w 388"/>
                  <a:gd name="T19" fmla="*/ 119 h 406"/>
                  <a:gd name="T20" fmla="*/ 41 w 388"/>
                  <a:gd name="T21" fmla="*/ 59 h 406"/>
                  <a:gd name="T22" fmla="*/ 123 w 388"/>
                  <a:gd name="T23" fmla="*/ 197 h 406"/>
                  <a:gd name="T24" fmla="*/ 107 w 388"/>
                  <a:gd name="T25" fmla="*/ 161 h 406"/>
                  <a:gd name="T26" fmla="*/ 126 w 388"/>
                  <a:gd name="T27" fmla="*/ 121 h 406"/>
                  <a:gd name="T28" fmla="*/ 173 w 388"/>
                  <a:gd name="T29" fmla="*/ 105 h 406"/>
                  <a:gd name="T30" fmla="*/ 173 w 388"/>
                  <a:gd name="T31" fmla="*/ 88 h 406"/>
                  <a:gd name="T32" fmla="*/ 200 w 388"/>
                  <a:gd name="T33" fmla="*/ 88 h 406"/>
                  <a:gd name="T34" fmla="*/ 200 w 388"/>
                  <a:gd name="T35" fmla="*/ 104 h 406"/>
                  <a:gd name="T36" fmla="*/ 244 w 388"/>
                  <a:gd name="T37" fmla="*/ 120 h 406"/>
                  <a:gd name="T38" fmla="*/ 262 w 388"/>
                  <a:gd name="T39" fmla="*/ 161 h 406"/>
                  <a:gd name="T40" fmla="*/ 217 w 388"/>
                  <a:gd name="T41" fmla="*/ 161 h 406"/>
                  <a:gd name="T42" fmla="*/ 211 w 388"/>
                  <a:gd name="T43" fmla="*/ 144 h 406"/>
                  <a:gd name="T44" fmla="*/ 160 w 388"/>
                  <a:gd name="T45" fmla="*/ 142 h 406"/>
                  <a:gd name="T46" fmla="*/ 159 w 388"/>
                  <a:gd name="T47" fmla="*/ 165 h 406"/>
                  <a:gd name="T48" fmla="*/ 213 w 388"/>
                  <a:gd name="T49" fmla="*/ 181 h 406"/>
                  <a:gd name="T50" fmla="*/ 250 w 388"/>
                  <a:gd name="T51" fmla="*/ 200 h 406"/>
                  <a:gd name="T52" fmla="*/ 265 w 388"/>
                  <a:gd name="T53" fmla="*/ 237 h 406"/>
                  <a:gd name="T54" fmla="*/ 248 w 388"/>
                  <a:gd name="T55" fmla="*/ 279 h 406"/>
                  <a:gd name="T56" fmla="*/ 198 w 388"/>
                  <a:gd name="T57" fmla="*/ 296 h 406"/>
                  <a:gd name="T58" fmla="*/ 198 w 388"/>
                  <a:gd name="T59" fmla="*/ 318 h 406"/>
                  <a:gd name="T60" fmla="*/ 172 w 388"/>
                  <a:gd name="T61" fmla="*/ 318 h 406"/>
                  <a:gd name="T62" fmla="*/ 172 w 388"/>
                  <a:gd name="T63" fmla="*/ 296 h 406"/>
                  <a:gd name="T64" fmla="*/ 123 w 388"/>
                  <a:gd name="T65" fmla="*/ 279 h 406"/>
                  <a:gd name="T66" fmla="*/ 105 w 388"/>
                  <a:gd name="T67" fmla="*/ 233 h 406"/>
                  <a:gd name="T68" fmla="*/ 152 w 388"/>
                  <a:gd name="T69" fmla="*/ 233 h 406"/>
                  <a:gd name="T70" fmla="*/ 158 w 388"/>
                  <a:gd name="T71" fmla="*/ 254 h 406"/>
                  <a:gd name="T72" fmla="*/ 212 w 388"/>
                  <a:gd name="T73" fmla="*/ 256 h 406"/>
                  <a:gd name="T74" fmla="*/ 213 w 388"/>
                  <a:gd name="T75" fmla="*/ 231 h 406"/>
                  <a:gd name="T76" fmla="*/ 123 w 388"/>
                  <a:gd name="T77" fmla="*/ 197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8" h="406">
                    <a:moveTo>
                      <a:pt x="41" y="59"/>
                    </a:moveTo>
                    <a:cubicBezTo>
                      <a:pt x="78" y="22"/>
                      <a:pt x="129" y="0"/>
                      <a:pt x="185" y="0"/>
                    </a:cubicBezTo>
                    <a:cubicBezTo>
                      <a:pt x="241" y="0"/>
                      <a:pt x="292" y="22"/>
                      <a:pt x="329" y="59"/>
                    </a:cubicBezTo>
                    <a:cubicBezTo>
                      <a:pt x="366" y="96"/>
                      <a:pt x="388" y="147"/>
                      <a:pt x="388" y="203"/>
                    </a:cubicBezTo>
                    <a:cubicBezTo>
                      <a:pt x="388" y="259"/>
                      <a:pt x="366" y="310"/>
                      <a:pt x="329" y="347"/>
                    </a:cubicBezTo>
                    <a:cubicBezTo>
                      <a:pt x="292" y="384"/>
                      <a:pt x="241" y="406"/>
                      <a:pt x="185" y="406"/>
                    </a:cubicBezTo>
                    <a:cubicBezTo>
                      <a:pt x="159" y="406"/>
                      <a:pt x="134" y="401"/>
                      <a:pt x="111" y="393"/>
                    </a:cubicBezTo>
                    <a:cubicBezTo>
                      <a:pt x="114" y="376"/>
                      <a:pt x="116" y="359"/>
                      <a:pt x="116" y="342"/>
                    </a:cubicBezTo>
                    <a:cubicBezTo>
                      <a:pt x="116" y="270"/>
                      <a:pt x="87" y="200"/>
                      <a:pt x="36" y="149"/>
                    </a:cubicBezTo>
                    <a:cubicBezTo>
                      <a:pt x="25" y="138"/>
                      <a:pt x="13" y="128"/>
                      <a:pt x="0" y="119"/>
                    </a:cubicBezTo>
                    <a:cubicBezTo>
                      <a:pt x="10" y="96"/>
                      <a:pt x="24" y="76"/>
                      <a:pt x="41" y="59"/>
                    </a:cubicBezTo>
                    <a:close/>
                    <a:moveTo>
                      <a:pt x="123" y="197"/>
                    </a:moveTo>
                    <a:cubicBezTo>
                      <a:pt x="112" y="188"/>
                      <a:pt x="107" y="176"/>
                      <a:pt x="107" y="161"/>
                    </a:cubicBezTo>
                    <a:cubicBezTo>
                      <a:pt x="107" y="144"/>
                      <a:pt x="113" y="131"/>
                      <a:pt x="126" y="121"/>
                    </a:cubicBezTo>
                    <a:cubicBezTo>
                      <a:pt x="138" y="111"/>
                      <a:pt x="152" y="105"/>
                      <a:pt x="173" y="105"/>
                    </a:cubicBezTo>
                    <a:cubicBezTo>
                      <a:pt x="173" y="88"/>
                      <a:pt x="173" y="88"/>
                      <a:pt x="173" y="88"/>
                    </a:cubicBezTo>
                    <a:cubicBezTo>
                      <a:pt x="200" y="88"/>
                      <a:pt x="200" y="88"/>
                      <a:pt x="200" y="88"/>
                    </a:cubicBezTo>
                    <a:cubicBezTo>
                      <a:pt x="200" y="104"/>
                      <a:pt x="200" y="104"/>
                      <a:pt x="200" y="104"/>
                    </a:cubicBezTo>
                    <a:cubicBezTo>
                      <a:pt x="220" y="105"/>
                      <a:pt x="233" y="110"/>
                      <a:pt x="244" y="120"/>
                    </a:cubicBezTo>
                    <a:cubicBezTo>
                      <a:pt x="255" y="130"/>
                      <a:pt x="261" y="143"/>
                      <a:pt x="262" y="161"/>
                    </a:cubicBezTo>
                    <a:cubicBezTo>
                      <a:pt x="217" y="161"/>
                      <a:pt x="217" y="161"/>
                      <a:pt x="217" y="161"/>
                    </a:cubicBezTo>
                    <a:cubicBezTo>
                      <a:pt x="216" y="154"/>
                      <a:pt x="214" y="148"/>
                      <a:pt x="211" y="144"/>
                    </a:cubicBezTo>
                    <a:cubicBezTo>
                      <a:pt x="203" y="135"/>
                      <a:pt x="168" y="135"/>
                      <a:pt x="160" y="142"/>
                    </a:cubicBezTo>
                    <a:cubicBezTo>
                      <a:pt x="152" y="147"/>
                      <a:pt x="152" y="160"/>
                      <a:pt x="159" y="165"/>
                    </a:cubicBezTo>
                    <a:cubicBezTo>
                      <a:pt x="168" y="172"/>
                      <a:pt x="200" y="177"/>
                      <a:pt x="213" y="181"/>
                    </a:cubicBezTo>
                    <a:cubicBezTo>
                      <a:pt x="229" y="186"/>
                      <a:pt x="242" y="193"/>
                      <a:pt x="250" y="200"/>
                    </a:cubicBezTo>
                    <a:cubicBezTo>
                      <a:pt x="260" y="209"/>
                      <a:pt x="265" y="221"/>
                      <a:pt x="265" y="237"/>
                    </a:cubicBezTo>
                    <a:cubicBezTo>
                      <a:pt x="265" y="256"/>
                      <a:pt x="260" y="270"/>
                      <a:pt x="248" y="279"/>
                    </a:cubicBezTo>
                    <a:cubicBezTo>
                      <a:pt x="236" y="289"/>
                      <a:pt x="222" y="295"/>
                      <a:pt x="198" y="296"/>
                    </a:cubicBezTo>
                    <a:cubicBezTo>
                      <a:pt x="198" y="318"/>
                      <a:pt x="198" y="318"/>
                      <a:pt x="198" y="318"/>
                    </a:cubicBezTo>
                    <a:cubicBezTo>
                      <a:pt x="172" y="318"/>
                      <a:pt x="172" y="318"/>
                      <a:pt x="172" y="318"/>
                    </a:cubicBezTo>
                    <a:cubicBezTo>
                      <a:pt x="172" y="296"/>
                      <a:pt x="172" y="296"/>
                      <a:pt x="172" y="296"/>
                    </a:cubicBezTo>
                    <a:cubicBezTo>
                      <a:pt x="150" y="295"/>
                      <a:pt x="136" y="290"/>
                      <a:pt x="123" y="279"/>
                    </a:cubicBezTo>
                    <a:cubicBezTo>
                      <a:pt x="111" y="268"/>
                      <a:pt x="105" y="252"/>
                      <a:pt x="105" y="233"/>
                    </a:cubicBezTo>
                    <a:cubicBezTo>
                      <a:pt x="152" y="233"/>
                      <a:pt x="152" y="233"/>
                      <a:pt x="152" y="233"/>
                    </a:cubicBezTo>
                    <a:cubicBezTo>
                      <a:pt x="153" y="243"/>
                      <a:pt x="155" y="250"/>
                      <a:pt x="158" y="254"/>
                    </a:cubicBezTo>
                    <a:cubicBezTo>
                      <a:pt x="167" y="265"/>
                      <a:pt x="203" y="263"/>
                      <a:pt x="212" y="256"/>
                    </a:cubicBezTo>
                    <a:cubicBezTo>
                      <a:pt x="220" y="251"/>
                      <a:pt x="221" y="237"/>
                      <a:pt x="213" y="231"/>
                    </a:cubicBezTo>
                    <a:cubicBezTo>
                      <a:pt x="195" y="216"/>
                      <a:pt x="150" y="220"/>
                      <a:pt x="123"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9" name="Freeform 38"/>
              <p:cNvSpPr>
                <a:spLocks noEditPoints="1"/>
              </p:cNvSpPr>
              <p:nvPr>
                <p:custDataLst>
                  <p:tags r:id="rId31"/>
                </p:custDataLst>
              </p:nvPr>
            </p:nvSpPr>
            <p:spPr bwMode="auto">
              <a:xfrm>
                <a:off x="5928340" y="836444"/>
                <a:ext cx="304799" cy="304566"/>
              </a:xfrm>
              <a:custGeom>
                <a:avLst/>
                <a:gdLst>
                  <a:gd name="T0" fmla="*/ 235 w 470"/>
                  <a:gd name="T1" fmla="*/ 57 h 470"/>
                  <a:gd name="T2" fmla="*/ 109 w 470"/>
                  <a:gd name="T3" fmla="*/ 109 h 470"/>
                  <a:gd name="T4" fmla="*/ 57 w 470"/>
                  <a:gd name="T5" fmla="*/ 235 h 470"/>
                  <a:gd name="T6" fmla="*/ 109 w 470"/>
                  <a:gd name="T7" fmla="*/ 361 h 470"/>
                  <a:gd name="T8" fmla="*/ 235 w 470"/>
                  <a:gd name="T9" fmla="*/ 413 h 470"/>
                  <a:gd name="T10" fmla="*/ 361 w 470"/>
                  <a:gd name="T11" fmla="*/ 361 h 470"/>
                  <a:gd name="T12" fmla="*/ 413 w 470"/>
                  <a:gd name="T13" fmla="*/ 235 h 470"/>
                  <a:gd name="T14" fmla="*/ 361 w 470"/>
                  <a:gd name="T15" fmla="*/ 109 h 470"/>
                  <a:gd name="T16" fmla="*/ 235 w 470"/>
                  <a:gd name="T17" fmla="*/ 57 h 470"/>
                  <a:gd name="T18" fmla="*/ 170 w 470"/>
                  <a:gd name="T19" fmla="*/ 228 h 470"/>
                  <a:gd name="T20" fmla="*/ 154 w 470"/>
                  <a:gd name="T21" fmla="*/ 191 h 470"/>
                  <a:gd name="T22" fmla="*/ 173 w 470"/>
                  <a:gd name="T23" fmla="*/ 149 h 470"/>
                  <a:gd name="T24" fmla="*/ 222 w 470"/>
                  <a:gd name="T25" fmla="*/ 132 h 470"/>
                  <a:gd name="T26" fmla="*/ 222 w 470"/>
                  <a:gd name="T27" fmla="*/ 114 h 470"/>
                  <a:gd name="T28" fmla="*/ 251 w 470"/>
                  <a:gd name="T29" fmla="*/ 114 h 470"/>
                  <a:gd name="T30" fmla="*/ 251 w 470"/>
                  <a:gd name="T31" fmla="*/ 132 h 470"/>
                  <a:gd name="T32" fmla="*/ 296 w 470"/>
                  <a:gd name="T33" fmla="*/ 148 h 470"/>
                  <a:gd name="T34" fmla="*/ 314 w 470"/>
                  <a:gd name="T35" fmla="*/ 190 h 470"/>
                  <a:gd name="T36" fmla="*/ 267 w 470"/>
                  <a:gd name="T37" fmla="*/ 190 h 470"/>
                  <a:gd name="T38" fmla="*/ 262 w 470"/>
                  <a:gd name="T39" fmla="*/ 173 h 470"/>
                  <a:gd name="T40" fmla="*/ 208 w 470"/>
                  <a:gd name="T41" fmla="*/ 171 h 470"/>
                  <a:gd name="T42" fmla="*/ 208 w 470"/>
                  <a:gd name="T43" fmla="*/ 196 h 470"/>
                  <a:gd name="T44" fmla="*/ 264 w 470"/>
                  <a:gd name="T45" fmla="*/ 212 h 470"/>
                  <a:gd name="T46" fmla="*/ 302 w 470"/>
                  <a:gd name="T47" fmla="*/ 231 h 470"/>
                  <a:gd name="T48" fmla="*/ 318 w 470"/>
                  <a:gd name="T49" fmla="*/ 271 h 470"/>
                  <a:gd name="T50" fmla="*/ 300 w 470"/>
                  <a:gd name="T51" fmla="*/ 314 h 470"/>
                  <a:gd name="T52" fmla="*/ 248 w 470"/>
                  <a:gd name="T53" fmla="*/ 333 h 470"/>
                  <a:gd name="T54" fmla="*/ 248 w 470"/>
                  <a:gd name="T55" fmla="*/ 355 h 470"/>
                  <a:gd name="T56" fmla="*/ 219 w 470"/>
                  <a:gd name="T57" fmla="*/ 355 h 470"/>
                  <a:gd name="T58" fmla="*/ 219 w 470"/>
                  <a:gd name="T59" fmla="*/ 333 h 470"/>
                  <a:gd name="T60" fmla="*/ 171 w 470"/>
                  <a:gd name="T61" fmla="*/ 313 h 470"/>
                  <a:gd name="T62" fmla="*/ 151 w 470"/>
                  <a:gd name="T63" fmla="*/ 266 h 470"/>
                  <a:gd name="T64" fmla="*/ 201 w 470"/>
                  <a:gd name="T65" fmla="*/ 266 h 470"/>
                  <a:gd name="T66" fmla="*/ 207 w 470"/>
                  <a:gd name="T67" fmla="*/ 288 h 470"/>
                  <a:gd name="T68" fmla="*/ 263 w 470"/>
                  <a:gd name="T69" fmla="*/ 290 h 470"/>
                  <a:gd name="T70" fmla="*/ 264 w 470"/>
                  <a:gd name="T71" fmla="*/ 264 h 470"/>
                  <a:gd name="T72" fmla="*/ 170 w 470"/>
                  <a:gd name="T73" fmla="*/ 228 h 470"/>
                  <a:gd name="T74" fmla="*/ 69 w 470"/>
                  <a:gd name="T75" fmla="*/ 69 h 470"/>
                  <a:gd name="T76" fmla="*/ 235 w 470"/>
                  <a:gd name="T77" fmla="*/ 0 h 470"/>
                  <a:gd name="T78" fmla="*/ 401 w 470"/>
                  <a:gd name="T79" fmla="*/ 69 h 470"/>
                  <a:gd name="T80" fmla="*/ 470 w 470"/>
                  <a:gd name="T81" fmla="*/ 235 h 470"/>
                  <a:gd name="T82" fmla="*/ 401 w 470"/>
                  <a:gd name="T83" fmla="*/ 401 h 470"/>
                  <a:gd name="T84" fmla="*/ 235 w 470"/>
                  <a:gd name="T85" fmla="*/ 470 h 470"/>
                  <a:gd name="T86" fmla="*/ 69 w 470"/>
                  <a:gd name="T87" fmla="*/ 401 h 470"/>
                  <a:gd name="T88" fmla="*/ 0 w 470"/>
                  <a:gd name="T89" fmla="*/ 235 h 470"/>
                  <a:gd name="T90" fmla="*/ 69 w 470"/>
                  <a:gd name="T91" fmla="*/ 69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0" h="470">
                    <a:moveTo>
                      <a:pt x="235" y="57"/>
                    </a:moveTo>
                    <a:cubicBezTo>
                      <a:pt x="186" y="57"/>
                      <a:pt x="141" y="77"/>
                      <a:pt x="109" y="109"/>
                    </a:cubicBezTo>
                    <a:cubicBezTo>
                      <a:pt x="77" y="141"/>
                      <a:pt x="57" y="186"/>
                      <a:pt x="57" y="235"/>
                    </a:cubicBezTo>
                    <a:cubicBezTo>
                      <a:pt x="57" y="284"/>
                      <a:pt x="77" y="328"/>
                      <a:pt x="109" y="361"/>
                    </a:cubicBezTo>
                    <a:cubicBezTo>
                      <a:pt x="141" y="393"/>
                      <a:pt x="186" y="413"/>
                      <a:pt x="235" y="413"/>
                    </a:cubicBezTo>
                    <a:cubicBezTo>
                      <a:pt x="284" y="413"/>
                      <a:pt x="328" y="393"/>
                      <a:pt x="361" y="361"/>
                    </a:cubicBezTo>
                    <a:cubicBezTo>
                      <a:pt x="393" y="328"/>
                      <a:pt x="413" y="284"/>
                      <a:pt x="413" y="235"/>
                    </a:cubicBezTo>
                    <a:cubicBezTo>
                      <a:pt x="413" y="186"/>
                      <a:pt x="393" y="141"/>
                      <a:pt x="361" y="109"/>
                    </a:cubicBezTo>
                    <a:cubicBezTo>
                      <a:pt x="328" y="77"/>
                      <a:pt x="284" y="57"/>
                      <a:pt x="235" y="57"/>
                    </a:cubicBezTo>
                    <a:close/>
                    <a:moveTo>
                      <a:pt x="170" y="228"/>
                    </a:moveTo>
                    <a:cubicBezTo>
                      <a:pt x="159" y="219"/>
                      <a:pt x="154" y="207"/>
                      <a:pt x="154" y="191"/>
                    </a:cubicBezTo>
                    <a:cubicBezTo>
                      <a:pt x="154" y="174"/>
                      <a:pt x="160" y="160"/>
                      <a:pt x="173" y="149"/>
                    </a:cubicBezTo>
                    <a:cubicBezTo>
                      <a:pt x="186" y="139"/>
                      <a:pt x="200" y="133"/>
                      <a:pt x="222" y="132"/>
                    </a:cubicBezTo>
                    <a:cubicBezTo>
                      <a:pt x="222" y="114"/>
                      <a:pt x="222" y="114"/>
                      <a:pt x="222" y="114"/>
                    </a:cubicBezTo>
                    <a:cubicBezTo>
                      <a:pt x="251" y="114"/>
                      <a:pt x="251" y="114"/>
                      <a:pt x="251" y="114"/>
                    </a:cubicBezTo>
                    <a:cubicBezTo>
                      <a:pt x="251" y="132"/>
                      <a:pt x="251" y="132"/>
                      <a:pt x="251" y="132"/>
                    </a:cubicBezTo>
                    <a:cubicBezTo>
                      <a:pt x="272" y="133"/>
                      <a:pt x="284" y="138"/>
                      <a:pt x="296" y="148"/>
                    </a:cubicBezTo>
                    <a:cubicBezTo>
                      <a:pt x="308" y="158"/>
                      <a:pt x="313" y="172"/>
                      <a:pt x="314" y="190"/>
                    </a:cubicBezTo>
                    <a:cubicBezTo>
                      <a:pt x="267" y="190"/>
                      <a:pt x="267" y="190"/>
                      <a:pt x="267" y="190"/>
                    </a:cubicBezTo>
                    <a:cubicBezTo>
                      <a:pt x="266" y="182"/>
                      <a:pt x="265" y="177"/>
                      <a:pt x="262" y="173"/>
                    </a:cubicBezTo>
                    <a:cubicBezTo>
                      <a:pt x="254" y="164"/>
                      <a:pt x="218" y="164"/>
                      <a:pt x="208" y="171"/>
                    </a:cubicBezTo>
                    <a:cubicBezTo>
                      <a:pt x="201" y="177"/>
                      <a:pt x="200" y="190"/>
                      <a:pt x="208" y="196"/>
                    </a:cubicBezTo>
                    <a:cubicBezTo>
                      <a:pt x="217" y="203"/>
                      <a:pt x="250" y="208"/>
                      <a:pt x="264" y="212"/>
                    </a:cubicBezTo>
                    <a:cubicBezTo>
                      <a:pt x="281" y="218"/>
                      <a:pt x="294" y="224"/>
                      <a:pt x="302" y="231"/>
                    </a:cubicBezTo>
                    <a:cubicBezTo>
                      <a:pt x="313" y="241"/>
                      <a:pt x="318" y="254"/>
                      <a:pt x="318" y="271"/>
                    </a:cubicBezTo>
                    <a:cubicBezTo>
                      <a:pt x="319" y="290"/>
                      <a:pt x="312" y="304"/>
                      <a:pt x="300" y="314"/>
                    </a:cubicBezTo>
                    <a:cubicBezTo>
                      <a:pt x="288" y="325"/>
                      <a:pt x="272" y="332"/>
                      <a:pt x="248" y="333"/>
                    </a:cubicBezTo>
                    <a:cubicBezTo>
                      <a:pt x="248" y="355"/>
                      <a:pt x="248" y="355"/>
                      <a:pt x="248" y="355"/>
                    </a:cubicBezTo>
                    <a:cubicBezTo>
                      <a:pt x="219" y="355"/>
                      <a:pt x="219" y="355"/>
                      <a:pt x="219" y="355"/>
                    </a:cubicBezTo>
                    <a:cubicBezTo>
                      <a:pt x="219" y="333"/>
                      <a:pt x="219" y="333"/>
                      <a:pt x="219" y="333"/>
                    </a:cubicBezTo>
                    <a:cubicBezTo>
                      <a:pt x="196" y="333"/>
                      <a:pt x="183" y="325"/>
                      <a:pt x="171" y="313"/>
                    </a:cubicBezTo>
                    <a:cubicBezTo>
                      <a:pt x="158" y="302"/>
                      <a:pt x="151" y="286"/>
                      <a:pt x="151" y="266"/>
                    </a:cubicBezTo>
                    <a:cubicBezTo>
                      <a:pt x="201" y="266"/>
                      <a:pt x="201" y="266"/>
                      <a:pt x="201" y="266"/>
                    </a:cubicBezTo>
                    <a:cubicBezTo>
                      <a:pt x="202" y="276"/>
                      <a:pt x="204" y="283"/>
                      <a:pt x="207" y="288"/>
                    </a:cubicBezTo>
                    <a:cubicBezTo>
                      <a:pt x="216" y="299"/>
                      <a:pt x="254" y="297"/>
                      <a:pt x="263" y="290"/>
                    </a:cubicBezTo>
                    <a:cubicBezTo>
                      <a:pt x="272" y="284"/>
                      <a:pt x="272" y="271"/>
                      <a:pt x="264" y="264"/>
                    </a:cubicBezTo>
                    <a:cubicBezTo>
                      <a:pt x="245" y="249"/>
                      <a:pt x="198" y="252"/>
                      <a:pt x="170" y="228"/>
                    </a:cubicBezTo>
                    <a:close/>
                    <a:moveTo>
                      <a:pt x="69" y="69"/>
                    </a:moveTo>
                    <a:cubicBezTo>
                      <a:pt x="111" y="26"/>
                      <a:pt x="170" y="0"/>
                      <a:pt x="235" y="0"/>
                    </a:cubicBezTo>
                    <a:cubicBezTo>
                      <a:pt x="300" y="0"/>
                      <a:pt x="359" y="26"/>
                      <a:pt x="401" y="69"/>
                    </a:cubicBezTo>
                    <a:cubicBezTo>
                      <a:pt x="444" y="111"/>
                      <a:pt x="470" y="170"/>
                      <a:pt x="470" y="235"/>
                    </a:cubicBezTo>
                    <a:cubicBezTo>
                      <a:pt x="470" y="300"/>
                      <a:pt x="444" y="359"/>
                      <a:pt x="401" y="401"/>
                    </a:cubicBezTo>
                    <a:cubicBezTo>
                      <a:pt x="359" y="444"/>
                      <a:pt x="300" y="470"/>
                      <a:pt x="235" y="470"/>
                    </a:cubicBezTo>
                    <a:cubicBezTo>
                      <a:pt x="170" y="470"/>
                      <a:pt x="111" y="444"/>
                      <a:pt x="69" y="401"/>
                    </a:cubicBezTo>
                    <a:cubicBezTo>
                      <a:pt x="26" y="359"/>
                      <a:pt x="0" y="300"/>
                      <a:pt x="0" y="235"/>
                    </a:cubicBezTo>
                    <a:cubicBezTo>
                      <a:pt x="0" y="170"/>
                      <a:pt x="26" y="111"/>
                      <a:pt x="6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3" name="组合 2"/>
            <p:cNvGrpSpPr/>
            <p:nvPr/>
          </p:nvGrpSpPr>
          <p:grpSpPr>
            <a:xfrm>
              <a:off x="5199891" y="4517161"/>
              <a:ext cx="490612" cy="536441"/>
              <a:chOff x="697828" y="4453123"/>
              <a:chExt cx="229831" cy="251300"/>
            </a:xfrm>
            <a:solidFill>
              <a:schemeClr val="bg1">
                <a:lumMod val="95000"/>
              </a:schemeClr>
            </a:solidFill>
          </p:grpSpPr>
          <p:sp>
            <p:nvSpPr>
              <p:cNvPr id="32" name="Freeform 665"/>
              <p:cNvSpPr/>
              <p:nvPr>
                <p:custDataLst>
                  <p:tags r:id="rId24"/>
                </p:custDataLst>
              </p:nvPr>
            </p:nvSpPr>
            <p:spPr bwMode="auto">
              <a:xfrm>
                <a:off x="697828" y="4453123"/>
                <a:ext cx="229831" cy="177458"/>
              </a:xfrm>
              <a:custGeom>
                <a:avLst/>
                <a:gdLst>
                  <a:gd name="T0" fmla="*/ 179 w 193"/>
                  <a:gd name="T1" fmla="*/ 54 h 149"/>
                  <a:gd name="T2" fmla="*/ 193 w 193"/>
                  <a:gd name="T3" fmla="*/ 0 h 149"/>
                  <a:gd name="T4" fmla="*/ 138 w 193"/>
                  <a:gd name="T5" fmla="*/ 13 h 149"/>
                  <a:gd name="T6" fmla="*/ 152 w 193"/>
                  <a:gd name="T7" fmla="*/ 27 h 149"/>
                  <a:gd name="T8" fmla="*/ 99 w 193"/>
                  <a:gd name="T9" fmla="*/ 79 h 149"/>
                  <a:gd name="T10" fmla="*/ 77 w 193"/>
                  <a:gd name="T11" fmla="*/ 57 h 149"/>
                  <a:gd name="T12" fmla="*/ 0 w 193"/>
                  <a:gd name="T13" fmla="*/ 134 h 149"/>
                  <a:gd name="T14" fmla="*/ 15 w 193"/>
                  <a:gd name="T15" fmla="*/ 149 h 149"/>
                  <a:gd name="T16" fmla="*/ 15 w 193"/>
                  <a:gd name="T17" fmla="*/ 149 h 149"/>
                  <a:gd name="T18" fmla="*/ 77 w 193"/>
                  <a:gd name="T19" fmla="*/ 87 h 149"/>
                  <a:gd name="T20" fmla="*/ 99 w 193"/>
                  <a:gd name="T21" fmla="*/ 108 h 149"/>
                  <a:gd name="T22" fmla="*/ 167 w 193"/>
                  <a:gd name="T23" fmla="*/ 41 h 149"/>
                  <a:gd name="T24" fmla="*/ 179 w 193"/>
                  <a:gd name="T25" fmla="*/ 5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3" h="149">
                    <a:moveTo>
                      <a:pt x="179" y="54"/>
                    </a:moveTo>
                    <a:lnTo>
                      <a:pt x="193" y="0"/>
                    </a:lnTo>
                    <a:lnTo>
                      <a:pt x="138" y="13"/>
                    </a:lnTo>
                    <a:lnTo>
                      <a:pt x="152" y="27"/>
                    </a:lnTo>
                    <a:lnTo>
                      <a:pt x="99" y="79"/>
                    </a:lnTo>
                    <a:lnTo>
                      <a:pt x="77" y="57"/>
                    </a:lnTo>
                    <a:lnTo>
                      <a:pt x="0" y="134"/>
                    </a:lnTo>
                    <a:lnTo>
                      <a:pt x="15" y="149"/>
                    </a:lnTo>
                    <a:lnTo>
                      <a:pt x="15" y="149"/>
                    </a:lnTo>
                    <a:lnTo>
                      <a:pt x="77" y="87"/>
                    </a:lnTo>
                    <a:lnTo>
                      <a:pt x="99" y="108"/>
                    </a:lnTo>
                    <a:lnTo>
                      <a:pt x="167" y="41"/>
                    </a:lnTo>
                    <a:lnTo>
                      <a:pt x="179" y="54"/>
                    </a:lnTo>
                    <a:close/>
                  </a:path>
                </a:pathLst>
              </a:custGeom>
              <a:solidFill>
                <a:srgbClr val="0070C0"/>
              </a:solidFill>
              <a:ln>
                <a:noFill/>
              </a:ln>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3" name="Rectangle 666"/>
              <p:cNvSpPr>
                <a:spLocks noChangeArrowheads="1"/>
              </p:cNvSpPr>
              <p:nvPr>
                <p:custDataLst>
                  <p:tags r:id="rId25"/>
                </p:custDataLst>
              </p:nvPr>
            </p:nvSpPr>
            <p:spPr bwMode="auto">
              <a:xfrm>
                <a:off x="718073" y="4643682"/>
                <a:ext cx="33343" cy="60741"/>
              </a:xfrm>
              <a:prstGeom prst="rect">
                <a:avLst/>
              </a:prstGeom>
              <a:solidFill>
                <a:srgbClr val="0070C0"/>
              </a:solidFill>
              <a:ln>
                <a:noFill/>
              </a:ln>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4" name="Rectangle 667"/>
              <p:cNvSpPr>
                <a:spLocks noChangeArrowheads="1"/>
              </p:cNvSpPr>
              <p:nvPr>
                <p:custDataLst>
                  <p:tags r:id="rId26"/>
                </p:custDataLst>
              </p:nvPr>
            </p:nvSpPr>
            <p:spPr bwMode="auto">
              <a:xfrm>
                <a:off x="772851" y="4613906"/>
                <a:ext cx="33343" cy="90515"/>
              </a:xfrm>
              <a:prstGeom prst="rect">
                <a:avLst/>
              </a:prstGeom>
              <a:solidFill>
                <a:srgbClr val="0070C0"/>
              </a:solidFill>
              <a:ln>
                <a:noFill/>
              </a:ln>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5" name="Rectangle 668"/>
              <p:cNvSpPr>
                <a:spLocks noChangeArrowheads="1"/>
              </p:cNvSpPr>
              <p:nvPr>
                <p:custDataLst>
                  <p:tags r:id="rId27"/>
                </p:custDataLst>
              </p:nvPr>
            </p:nvSpPr>
            <p:spPr bwMode="auto">
              <a:xfrm>
                <a:off x="828820" y="4584131"/>
                <a:ext cx="33343" cy="120291"/>
              </a:xfrm>
              <a:prstGeom prst="rect">
                <a:avLst/>
              </a:prstGeom>
              <a:solidFill>
                <a:srgbClr val="0070C0"/>
              </a:solidFill>
              <a:ln>
                <a:noFill/>
              </a:ln>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6" name="Rectangle 669"/>
              <p:cNvSpPr>
                <a:spLocks noChangeArrowheads="1"/>
              </p:cNvSpPr>
              <p:nvPr>
                <p:custDataLst>
                  <p:tags r:id="rId28"/>
                </p:custDataLst>
              </p:nvPr>
            </p:nvSpPr>
            <p:spPr bwMode="auto">
              <a:xfrm>
                <a:off x="883598" y="4554357"/>
                <a:ext cx="33343" cy="150065"/>
              </a:xfrm>
              <a:prstGeom prst="rect">
                <a:avLst/>
              </a:prstGeom>
              <a:solidFill>
                <a:srgbClr val="0070C0"/>
              </a:solidFill>
              <a:ln>
                <a:noFill/>
              </a:ln>
            </p:spPr>
            <p:txBody>
              <a:bodyPr vert="horz" wrap="square" lIns="68589" tIns="34295" rIns="68589" bIns="34295" numCol="1" anchor="t" anchorCtr="0" compatLnSpc="1"/>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grpSp>
        <p:nvGrpSpPr>
          <p:cNvPr id="40" name="组合 39"/>
          <p:cNvGrpSpPr/>
          <p:nvPr/>
        </p:nvGrpSpPr>
        <p:grpSpPr>
          <a:xfrm>
            <a:off x="5879182" y="984678"/>
            <a:ext cx="5992501" cy="1448531"/>
            <a:chOff x="5879182" y="1340189"/>
            <a:chExt cx="5992501" cy="1448531"/>
          </a:xfrm>
        </p:grpSpPr>
        <p:sp>
          <p:nvSpPr>
            <p:cNvPr id="41" name="TextBox 76"/>
            <p:cNvSpPr txBox="1"/>
            <p:nvPr>
              <p:custDataLst>
                <p:tags r:id="rId12"/>
              </p:custDataLst>
            </p:nvPr>
          </p:nvSpPr>
          <p:spPr>
            <a:xfrm>
              <a:off x="5879182" y="1340189"/>
              <a:ext cx="5832648" cy="398780"/>
            </a:xfrm>
            <a:prstGeom prst="rect">
              <a:avLst/>
            </a:prstGeom>
            <a:noFill/>
          </p:spPr>
          <p:txBody>
            <a:bodyPr wrap="square" rtlCol="0">
              <a:noAutofit/>
            </a:bodyPr>
            <a:lstStyle/>
            <a:p>
              <a:pPr algn="r"/>
              <a:r>
                <a:rPr lang="zh-CN" altLang="en-US" sz="17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Powerful data validation and binding mechanisms</a:t>
              </a:r>
            </a:p>
          </p:txBody>
        </p:sp>
        <p:sp>
          <p:nvSpPr>
            <p:cNvPr id="42" name="文本框 41"/>
            <p:cNvSpPr txBox="1"/>
            <p:nvPr>
              <p:custDataLst>
                <p:tags r:id="rId13"/>
              </p:custDataLst>
            </p:nvPr>
          </p:nvSpPr>
          <p:spPr>
            <a:xfrm>
              <a:off x="7474426" y="1618415"/>
              <a:ext cx="4397257" cy="1170305"/>
            </a:xfrm>
            <a:prstGeom prst="rect">
              <a:avLst/>
            </a:prstGeom>
            <a:noFill/>
          </p:spPr>
          <p:txBody>
            <a:bodyPr wrap="square" rtlCol="0">
              <a:noAutofit/>
            </a:bodyPr>
            <a:lstStyle/>
            <a:p>
              <a:pPr>
                <a:lnSpc>
                  <a:spcPct val="160000"/>
                </a:lnSpc>
              </a:pP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sym typeface="Arial" panose="020B0604020202020204" pitchFamily="34" charset="0"/>
                </a:rPr>
                <a:t>With flexible data validation, formatting, and binding mechanisms, it supports data binding for any object without implementing the API of a specific framework</a:t>
              </a:r>
            </a:p>
          </p:txBody>
        </p:sp>
      </p:grpSp>
      <p:grpSp>
        <p:nvGrpSpPr>
          <p:cNvPr id="43" name="组合 42"/>
          <p:cNvGrpSpPr/>
          <p:nvPr/>
        </p:nvGrpSpPr>
        <p:grpSpPr>
          <a:xfrm>
            <a:off x="7716486" y="4540188"/>
            <a:ext cx="3719969" cy="1294640"/>
            <a:chOff x="7716486" y="4680434"/>
            <a:chExt cx="3719969" cy="1294640"/>
          </a:xfrm>
        </p:grpSpPr>
        <p:sp>
          <p:nvSpPr>
            <p:cNvPr id="44" name="TextBox 76"/>
            <p:cNvSpPr txBox="1"/>
            <p:nvPr>
              <p:custDataLst>
                <p:tags r:id="rId10"/>
              </p:custDataLst>
            </p:nvPr>
          </p:nvSpPr>
          <p:spPr>
            <a:xfrm>
              <a:off x="7716486" y="4680434"/>
              <a:ext cx="3672407" cy="398780"/>
            </a:xfrm>
            <a:prstGeom prst="rect">
              <a:avLst/>
            </a:prstGeom>
            <a:noFill/>
          </p:spPr>
          <p:txBody>
            <a:bodyPr wrap="square" rtlCol="0">
              <a:noAutofit/>
            </a:bodyPr>
            <a:lstStyle/>
            <a:p>
              <a:pPr algn="r"/>
              <a:r>
                <a:rPr lang="zh-CN" altLang="en-US" sz="17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Support multi-view technology</a:t>
              </a:r>
            </a:p>
          </p:txBody>
        </p:sp>
        <p:sp>
          <p:nvSpPr>
            <p:cNvPr id="45" name="文本框 44"/>
            <p:cNvSpPr txBox="1"/>
            <p:nvPr>
              <p:custDataLst>
                <p:tags r:id="rId11"/>
              </p:custDataLst>
            </p:nvPr>
          </p:nvSpPr>
          <p:spPr>
            <a:xfrm>
              <a:off x="7729325" y="5164814"/>
              <a:ext cx="3707130" cy="810260"/>
            </a:xfrm>
            <a:prstGeom prst="rect">
              <a:avLst/>
            </a:prstGeom>
            <a:noFill/>
          </p:spPr>
          <p:txBody>
            <a:bodyPr wrap="square" rtlCol="0">
              <a:normAutofit fontScale="80971" lnSpcReduction="10000"/>
            </a:bodyPr>
            <a:lstStyle/>
            <a:p>
              <a:pPr>
                <a:lnSpc>
                  <a:spcPct val="130000"/>
                </a:lnSpc>
              </a:pPr>
              <a:r>
                <a:rPr lang="zh-CN" altLang="en-US" sz="1800" dirty="0">
                  <a:solidFill>
                    <a:schemeClr val="tx1">
                      <a:lumMod val="50000"/>
                      <a:lumOff val="50000"/>
                    </a:schemeClr>
                  </a:solidFill>
                  <a:latin typeface="微软雅黑" panose="020B0503020204020204" pitchFamily="34" charset="-122"/>
                  <a:ea typeface="微软雅黑" panose="020B0503020204020204" pitchFamily="34" charset="-122"/>
                  <a:sym typeface="Arial" panose="020B0604020202020204" pitchFamily="34" charset="0"/>
                </a:rPr>
                <a:t>Support multiple view technologies, including JSP, Velocity, FreeMarker, etc</a:t>
              </a:r>
            </a:p>
          </p:txBody>
        </p:sp>
      </p:grpSp>
      <p:grpSp>
        <p:nvGrpSpPr>
          <p:cNvPr id="46" name="组合 45"/>
          <p:cNvGrpSpPr/>
          <p:nvPr/>
        </p:nvGrpSpPr>
        <p:grpSpPr>
          <a:xfrm>
            <a:off x="8181423" y="2780352"/>
            <a:ext cx="3690260" cy="1166467"/>
            <a:chOff x="8181423" y="3064108"/>
            <a:chExt cx="3690260" cy="1166467"/>
          </a:xfrm>
        </p:grpSpPr>
        <p:sp>
          <p:nvSpPr>
            <p:cNvPr id="47" name="TextBox 76"/>
            <p:cNvSpPr txBox="1"/>
            <p:nvPr>
              <p:custDataLst>
                <p:tags r:id="rId8"/>
              </p:custDataLst>
            </p:nvPr>
          </p:nvSpPr>
          <p:spPr>
            <a:xfrm>
              <a:off x="8181423" y="3064108"/>
              <a:ext cx="3326752" cy="398780"/>
            </a:xfrm>
            <a:prstGeom prst="rect">
              <a:avLst/>
            </a:prstGeom>
            <a:noFill/>
          </p:spPr>
          <p:txBody>
            <a:bodyPr wrap="square" rtlCol="0">
              <a:noAutofit/>
            </a:bodyPr>
            <a:lstStyle/>
            <a:p>
              <a:pPr algn="r"/>
              <a:r>
                <a:rPr lang="zh-CN" altLang="en-US" sz="17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Support internationalization</a:t>
              </a:r>
            </a:p>
          </p:txBody>
        </p:sp>
        <p:sp>
          <p:nvSpPr>
            <p:cNvPr id="48" name="文本框 47"/>
            <p:cNvSpPr txBox="1"/>
            <p:nvPr>
              <p:custDataLst>
                <p:tags r:id="rId9"/>
              </p:custDataLst>
            </p:nvPr>
          </p:nvSpPr>
          <p:spPr>
            <a:xfrm>
              <a:off x="8226069" y="3420315"/>
              <a:ext cx="3645614" cy="810260"/>
            </a:xfrm>
            <a:prstGeom prst="rect">
              <a:avLst/>
            </a:prstGeom>
            <a:noFill/>
          </p:spPr>
          <p:txBody>
            <a:bodyPr wrap="square" rtlCol="0">
              <a:noAutofit/>
            </a:bodyPr>
            <a:lstStyle/>
            <a:p>
              <a:pPr>
                <a:lnSpc>
                  <a:spcPct val="180000"/>
                </a:lnSpc>
              </a:pP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sym typeface="Arial" panose="020B0604020202020204" pitchFamily="34" charset="0"/>
                </a:rPr>
                <a:t>Support internationalization and be able to display different languages based on the user's region Settings</a:t>
              </a:r>
            </a:p>
          </p:txBody>
        </p:sp>
      </p:grpSp>
      <p:grpSp>
        <p:nvGrpSpPr>
          <p:cNvPr id="49" name="组合 48"/>
          <p:cNvGrpSpPr/>
          <p:nvPr/>
        </p:nvGrpSpPr>
        <p:grpSpPr>
          <a:xfrm>
            <a:off x="190550" y="1298839"/>
            <a:ext cx="5832648" cy="1386544"/>
            <a:chOff x="160292" y="1654350"/>
            <a:chExt cx="5832648" cy="1386544"/>
          </a:xfrm>
        </p:grpSpPr>
        <p:sp>
          <p:nvSpPr>
            <p:cNvPr id="50" name="TextBox 76"/>
            <p:cNvSpPr txBox="1"/>
            <p:nvPr>
              <p:custDataLst>
                <p:tags r:id="rId6"/>
              </p:custDataLst>
            </p:nvPr>
          </p:nvSpPr>
          <p:spPr>
            <a:xfrm>
              <a:off x="160292" y="1654350"/>
              <a:ext cx="5832648" cy="398780"/>
            </a:xfrm>
            <a:prstGeom prst="rect">
              <a:avLst/>
            </a:prstGeom>
            <a:noFill/>
          </p:spPr>
          <p:txBody>
            <a:bodyPr wrap="square" rtlCol="0">
              <a:noAutofit/>
            </a:bodyPr>
            <a:lstStyle/>
            <a:p>
              <a:pPr algn="r"/>
              <a:r>
                <a:rPr lang="zh-CN" altLang="en-US" sz="17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Integrate the advantages of the Spring framework</a:t>
              </a:r>
            </a:p>
          </p:txBody>
        </p:sp>
        <p:sp>
          <p:nvSpPr>
            <p:cNvPr id="51" name="文本框 50"/>
            <p:cNvSpPr txBox="1"/>
            <p:nvPr>
              <p:custDataLst>
                <p:tags r:id="rId7"/>
              </p:custDataLst>
            </p:nvPr>
          </p:nvSpPr>
          <p:spPr>
            <a:xfrm>
              <a:off x="327863" y="1959873"/>
              <a:ext cx="4035425" cy="1081021"/>
            </a:xfrm>
            <a:prstGeom prst="rect">
              <a:avLst/>
            </a:prstGeom>
            <a:noFill/>
          </p:spPr>
          <p:txBody>
            <a:bodyPr wrap="square" rtlCol="0">
              <a:noAutofit/>
            </a:bodyPr>
            <a:lstStyle/>
            <a:p>
              <a:pPr>
                <a:lnSpc>
                  <a:spcPct val="140000"/>
                </a:lnSpc>
              </a:pPr>
              <a:r>
                <a:rPr lang="zh-CN" altLang="en-US" sz="1500" dirty="0">
                  <a:solidFill>
                    <a:schemeClr val="tx1">
                      <a:lumMod val="50000"/>
                      <a:lumOff val="50000"/>
                    </a:schemeClr>
                  </a:solidFill>
                  <a:latin typeface="微软雅黑" panose="020B0503020204020204" pitchFamily="34" charset="-122"/>
                  <a:ea typeface="微软雅黑" panose="020B0503020204020204" pitchFamily="34" charset="-122"/>
                  <a:sym typeface="Arial" panose="020B0604020202020204" pitchFamily="34" charset="0"/>
                </a:rPr>
                <a:t>As a spin-off of the Spring framework, it can seamlessly integrate all the features of the Spring framework</a:t>
              </a:r>
            </a:p>
          </p:txBody>
        </p:sp>
      </p:grpSp>
      <p:grpSp>
        <p:nvGrpSpPr>
          <p:cNvPr id="52" name="组合 51"/>
          <p:cNvGrpSpPr/>
          <p:nvPr/>
        </p:nvGrpSpPr>
        <p:grpSpPr>
          <a:xfrm>
            <a:off x="118542" y="4654998"/>
            <a:ext cx="4928585" cy="1539875"/>
            <a:chOff x="118542" y="4795244"/>
            <a:chExt cx="4928585" cy="1539875"/>
          </a:xfrm>
        </p:grpSpPr>
        <p:sp>
          <p:nvSpPr>
            <p:cNvPr id="53" name="TextBox 76"/>
            <p:cNvSpPr txBox="1"/>
            <p:nvPr>
              <p:custDataLst>
                <p:tags r:id="rId4"/>
              </p:custDataLst>
            </p:nvPr>
          </p:nvSpPr>
          <p:spPr>
            <a:xfrm>
              <a:off x="118542" y="4795244"/>
              <a:ext cx="4928585" cy="398780"/>
            </a:xfrm>
            <a:prstGeom prst="rect">
              <a:avLst/>
            </a:prstGeom>
            <a:noFill/>
          </p:spPr>
          <p:txBody>
            <a:bodyPr wrap="square" rtlCol="0">
              <a:noAutofit/>
            </a:bodyPr>
            <a:lstStyle/>
            <a:p>
              <a:pPr algn="r"/>
              <a:r>
                <a:rPr lang="zh-CN" altLang="en-US" sz="17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Flexibly request resource mapping policies</a:t>
              </a:r>
            </a:p>
          </p:txBody>
        </p:sp>
        <p:sp>
          <p:nvSpPr>
            <p:cNvPr id="54" name="文本框 53"/>
            <p:cNvSpPr txBox="1"/>
            <p:nvPr>
              <p:custDataLst>
                <p:tags r:id="rId5"/>
              </p:custDataLst>
            </p:nvPr>
          </p:nvSpPr>
          <p:spPr>
            <a:xfrm>
              <a:off x="416971" y="5164814"/>
              <a:ext cx="3992880" cy="1170305"/>
            </a:xfrm>
            <a:prstGeom prst="rect">
              <a:avLst/>
            </a:prstGeom>
            <a:noFill/>
          </p:spPr>
          <p:txBody>
            <a:bodyPr wrap="square" rtlCol="0">
              <a:normAutofit fontScale="68889" lnSpcReduction="20000"/>
            </a:bodyPr>
            <a:lstStyle/>
            <a:p>
              <a:pPr algn="l">
                <a:lnSpc>
                  <a:spcPct val="130000"/>
                </a:lnSpc>
              </a:pPr>
              <a:r>
                <a:rPr lang="zh-CN" altLang="en-US" sz="1800" dirty="0">
                  <a:solidFill>
                    <a:schemeClr val="tx1">
                      <a:lumMod val="50000"/>
                      <a:lumOff val="50000"/>
                    </a:schemeClr>
                  </a:solidFill>
                  <a:latin typeface="微软雅黑" panose="020B0503020204020204" pitchFamily="34" charset="-122"/>
                  <a:ea typeface="微软雅黑" panose="020B0503020204020204" pitchFamily="34" charset="-122"/>
                  <a:sym typeface="Arial" panose="020B0604020202020204" pitchFamily="34" charset="0"/>
                </a:rPr>
                <a:t>A variety of mapping strategies for requesting resources are provided to meet the needs of different business scenarios and enhance the flexibility and scalability of the system</a:t>
              </a:r>
            </a:p>
          </p:txBody>
        </p:sp>
      </p:grpSp>
      <p:sp>
        <p:nvSpPr>
          <p:cNvPr id="4" name="TextBox 76"/>
          <p:cNvSpPr txBox="1"/>
          <p:nvPr>
            <p:custDataLst>
              <p:tags r:id="rId1"/>
            </p:custDataLst>
          </p:nvPr>
        </p:nvSpPr>
        <p:spPr>
          <a:xfrm>
            <a:off x="5259391" y="3114349"/>
            <a:ext cx="1642079" cy="645160"/>
          </a:xfrm>
          <a:prstGeom prst="rect">
            <a:avLst/>
          </a:prstGeom>
          <a:noFill/>
        </p:spPr>
        <p:txBody>
          <a:bodyPr wrap="square" rtlCol="0">
            <a:spAutoFit/>
          </a:bodyPr>
          <a:lstStyle/>
          <a:p>
            <a:pPr algn="ctr"/>
            <a:r>
              <a:rPr lang="en-US" altLang="zh-CN" sz="18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Spring  MVC</a:t>
            </a:r>
          </a:p>
          <a:p>
            <a:pPr algn="ct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Features</a:t>
            </a:r>
          </a:p>
        </p:txBody>
      </p:sp>
      <p:sp>
        <p:nvSpPr>
          <p:cNvPr id="56" name="TextBox 76"/>
          <p:cNvSpPr txBox="1"/>
          <p:nvPr>
            <p:custDataLst>
              <p:tags r:id="rId2"/>
            </p:custDataLst>
          </p:nvPr>
        </p:nvSpPr>
        <p:spPr>
          <a:xfrm>
            <a:off x="2306955" y="2942975"/>
            <a:ext cx="1440331" cy="398780"/>
          </a:xfrm>
          <a:prstGeom prst="rect">
            <a:avLst/>
          </a:prstGeom>
          <a:noFill/>
        </p:spPr>
        <p:txBody>
          <a:bodyPr wrap="square" rtlCol="0">
            <a:normAutofit fontScale="85280"/>
          </a:bodyPr>
          <a:lstStyle/>
          <a:p>
            <a:pPr algn="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Easy to use</a:t>
            </a:r>
          </a:p>
        </p:txBody>
      </p:sp>
      <p:sp>
        <p:nvSpPr>
          <p:cNvPr id="57" name="文本框 56"/>
          <p:cNvSpPr txBox="1"/>
          <p:nvPr>
            <p:custDataLst>
              <p:tags r:id="rId3"/>
            </p:custDataLst>
          </p:nvPr>
        </p:nvSpPr>
        <p:spPr>
          <a:xfrm>
            <a:off x="405130" y="3312160"/>
            <a:ext cx="3342005" cy="1170305"/>
          </a:xfrm>
          <a:prstGeom prst="rect">
            <a:avLst/>
          </a:prstGeom>
          <a:noFill/>
        </p:spPr>
        <p:txBody>
          <a:bodyPr wrap="square" rtlCol="0">
            <a:normAutofit fontScale="84826" lnSpcReduction="10000"/>
          </a:bodyPr>
          <a:lstStyle/>
          <a:p>
            <a:pPr algn="l">
              <a:lnSpc>
                <a:spcPct val="130000"/>
              </a:lnSpc>
            </a:pPr>
            <a:r>
              <a:rPr lang="zh-CN" altLang="en-US" sz="1800" dirty="0">
                <a:solidFill>
                  <a:schemeClr val="tx1">
                    <a:lumMod val="50000"/>
                    <a:lumOff val="50000"/>
                  </a:schemeClr>
                </a:solidFill>
                <a:latin typeface="微软雅黑" panose="020B0503020204020204" pitchFamily="34" charset="-122"/>
                <a:ea typeface="微软雅黑" panose="020B0503020204020204" pitchFamily="34" charset="-122"/>
                <a:sym typeface="Arial" panose="020B0604020202020204" pitchFamily="34" charset="0"/>
              </a:rPr>
              <a:t>It is simple and intuitive to use, allowing developers to easily design clear and tidy Web layers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15086" y="2853730"/>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MVC starter program</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5.2</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Spring MVC Getting Started Program</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039863" y="2942691"/>
            <a:ext cx="6048672" cy="179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4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A starter program that can independently implement Spring MVC</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Spring MVC Starter Program</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2485" y="1269554"/>
            <a:ext cx="2996436" cy="546735"/>
            <a:chOff x="901662" y="1797999"/>
            <a:chExt cx="1721506" cy="546735"/>
          </a:xfrm>
        </p:grpSpPr>
        <p:sp>
          <p:nvSpPr>
            <p:cNvPr id="3" name="矩形: 圆角 6"/>
            <p:cNvSpPr/>
            <p:nvPr>
              <p:custDataLst>
                <p:tags r:id="rId4"/>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901662" y="1797999"/>
              <a:ext cx="1721506" cy="546735"/>
            </a:xfrm>
            <a:prstGeom prst="rect">
              <a:avLst/>
            </a:prstGeom>
            <a:noFill/>
          </p:spPr>
          <p:txBody>
            <a:bodyPr wrap="square" rtlCol="0">
              <a:normAutofit fontScale="94471"/>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Create a project</a:t>
              </a:r>
            </a:p>
          </p:txBody>
        </p:sp>
      </p:grpSp>
      <p:sp>
        <p:nvSpPr>
          <p:cNvPr id="11" name="文本框 10"/>
          <p:cNvSpPr txBox="1"/>
          <p:nvPr>
            <p:custDataLst>
              <p:tags r:id="rId2"/>
            </p:custDataLst>
          </p:nvPr>
        </p:nvSpPr>
        <p:spPr>
          <a:xfrm>
            <a:off x="997891" y="1917626"/>
            <a:ext cx="3441131" cy="3203074"/>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After selecting Maven Archetype in the New Project interface in IDEA, choose the corresponding Archetype and enter the basic information of the project.</a:t>
            </a:r>
          </a:p>
        </p:txBody>
      </p:sp>
      <p:pic>
        <p:nvPicPr>
          <p:cNvPr id="6" name="图片 2"/>
          <p:cNvPicPr>
            <a:picLocks noChangeAspect="1"/>
          </p:cNvPicPr>
          <p:nvPr>
            <p:custDataLst>
              <p:tags r:id="rId3"/>
            </p:custDataLst>
          </p:nvPr>
        </p:nvPicPr>
        <p:blipFill>
          <a:blip r:embed="rId8"/>
          <a:stretch>
            <a:fillRect/>
          </a:stretch>
        </p:blipFill>
        <p:spPr>
          <a:xfrm>
            <a:off x="4611106" y="1053530"/>
            <a:ext cx="7031552" cy="553935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Getting Started with Spring MVC</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40452" cy="546735"/>
            <a:chOff x="901662" y="1797999"/>
            <a:chExt cx="1721506" cy="546735"/>
          </a:xfrm>
        </p:grpSpPr>
        <p:sp>
          <p:nvSpPr>
            <p:cNvPr id="3" name="矩形: 圆角 6"/>
            <p:cNvSpPr/>
            <p:nvPr>
              <p:custDataLst>
                <p:tags r:id="rId4"/>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901662" y="1797999"/>
              <a:ext cx="1721506" cy="546735"/>
            </a:xfrm>
            <a:prstGeom prst="rect">
              <a:avLst/>
            </a:prstGeom>
            <a:noFill/>
          </p:spPr>
          <p:txBody>
            <a:bodyPr wrap="square" rtlCol="0">
              <a:normAutofit fontScale="94471"/>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Create a project</a:t>
              </a:r>
            </a:p>
          </p:txBody>
        </p:sp>
      </p:grpSp>
      <p:sp>
        <p:nvSpPr>
          <p:cNvPr id="11" name="文本框 10"/>
          <p:cNvSpPr txBox="1"/>
          <p:nvPr>
            <p:custDataLst>
              <p:tags r:id="rId2"/>
            </p:custDataLst>
          </p:nvPr>
        </p:nvSpPr>
        <p:spPr>
          <a:xfrm>
            <a:off x="993775" y="2026920"/>
            <a:ext cx="4290060" cy="1779905"/>
          </a:xfrm>
          <a:prstGeom prst="rect">
            <a:avLst/>
          </a:prstGeom>
          <a:noFill/>
          <a:ln w="9525">
            <a:noFill/>
          </a:ln>
        </p:spPr>
        <p:txBody>
          <a:bodyPr wrap="square">
            <a:normAutofit fontScale="95782"/>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After chapter05 of the project is created, the directory structure of the project is as shown in the figure.</a:t>
            </a:r>
          </a:p>
        </p:txBody>
      </p:sp>
      <p:pic>
        <p:nvPicPr>
          <p:cNvPr id="5" name="图片 4"/>
          <p:cNvPicPr>
            <a:picLocks noChangeAspect="1"/>
          </p:cNvPicPr>
          <p:nvPr>
            <p:custDataLst>
              <p:tags r:id="rId3"/>
            </p:custDataLst>
          </p:nvPr>
        </p:nvPicPr>
        <p:blipFill>
          <a:blip r:embed="rId8"/>
          <a:stretch>
            <a:fillRect/>
          </a:stretch>
        </p:blipFill>
        <p:spPr>
          <a:xfrm>
            <a:off x="6311230" y="1125538"/>
            <a:ext cx="4464496" cy="518064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Getting Started with Spring MVC</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4652620" cy="546735"/>
            <a:chOff x="901662" y="1797999"/>
            <a:chExt cx="1721506" cy="546735"/>
          </a:xfrm>
        </p:grpSpPr>
        <p:sp>
          <p:nvSpPr>
            <p:cNvPr id="3" name="矩形: 圆角 6"/>
            <p:cNvSpPr/>
            <p:nvPr>
              <p:custDataLst>
                <p:tags r:id="rId8"/>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1721506" cy="546735"/>
            </a:xfrm>
            <a:prstGeom prst="rect">
              <a:avLst/>
            </a:prstGeom>
            <a:noFill/>
          </p:spPr>
          <p:txBody>
            <a:bodyPr wrap="square" rtlCol="0">
              <a:normAutofit fontScale="96666"/>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pPr>
                <a:lnSpc>
                  <a:spcPct val="155000"/>
                </a:lnSpc>
              </a:pPr>
              <a:r>
                <a:rPr sz="1900" dirty="0">
                  <a:latin typeface="Arial" panose="020B0604020202020204" pitchFamily="34" charset="0"/>
                  <a:ea typeface="思源黑体 CN Normal" panose="020B0400000000000000" pitchFamily="34" charset="-122"/>
                  <a:sym typeface="Arial" panose="020B0604020202020204" pitchFamily="34" charset="0"/>
                </a:rPr>
                <a:t>2. Introducing dependencies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5-1</a:t>
                </a:r>
              </a:p>
              <a:p>
                <a:pPr algn="ctr"/>
                <a:r>
                  <a:rPr sz="1800">
                    <a:sym typeface="+mn-ea"/>
                    <a:hlinkClick r:id="rId13"/>
                  </a:rPr>
                  <a:t>pom.xml</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6" name="文本框 5"/>
          <p:cNvSpPr txBox="1"/>
          <p:nvPr>
            <p:custDataLst>
              <p:tags r:id="rId3"/>
            </p:custDataLst>
          </p:nvPr>
        </p:nvSpPr>
        <p:spPr>
          <a:xfrm>
            <a:off x="993775" y="1883410"/>
            <a:ext cx="10295890" cy="506730"/>
          </a:xfrm>
          <a:prstGeom prst="rect">
            <a:avLst/>
          </a:prstGeom>
          <a:noFill/>
          <a:ln w="9525">
            <a:noFill/>
          </a:ln>
        </p:spPr>
        <p:txBody>
          <a:bodyPr wrap="square">
            <a:normAutofit fontScale="97646"/>
          </a:bodyPr>
          <a:lstStyle/>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Introduce Spring MVC dependencies in the project's pom.xml file, as shown in File 5-1.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Getting Started with Spring MVC</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4940652" cy="546735"/>
            <a:chOff x="901662" y="1797999"/>
            <a:chExt cx="1721506" cy="546735"/>
          </a:xfrm>
        </p:grpSpPr>
        <p:sp>
          <p:nvSpPr>
            <p:cNvPr id="3" name="矩形: 圆角 6"/>
            <p:cNvSpPr/>
            <p:nvPr>
              <p:custDataLst>
                <p:tags r:id="rId8"/>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1721506" cy="546735"/>
            </a:xfrm>
            <a:prstGeom prst="rect">
              <a:avLst/>
            </a:prstGeom>
            <a:noFill/>
          </p:spPr>
          <p:txBody>
            <a:bodyPr wrap="square" rtlCol="0">
              <a:normAutofit fontScale="99748"/>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3. Configure the front-end controller</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5-2</a:t>
                </a:r>
              </a:p>
              <a:p>
                <a:pPr algn="ctr"/>
                <a:r>
                  <a:rPr sz="1800">
                    <a:sym typeface="+mn-ea"/>
                    <a:hlinkClick r:id="rId13"/>
                  </a:rPr>
                  <a:t>web.xml</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6" name="文本框 5"/>
          <p:cNvSpPr txBox="1"/>
          <p:nvPr>
            <p:custDataLst>
              <p:tags r:id="rId3"/>
            </p:custDataLst>
          </p:nvPr>
        </p:nvSpPr>
        <p:spPr>
          <a:xfrm>
            <a:off x="993775" y="1883410"/>
            <a:ext cx="10295890" cy="922020"/>
          </a:xfrm>
          <a:prstGeom prst="rect">
            <a:avLst/>
          </a:prstGeom>
          <a:noFill/>
          <a:ln w="9525">
            <a:noFill/>
          </a:ln>
        </p:spPr>
        <p:txBody>
          <a:bodyPr wrap="square">
            <a:spAutoFit/>
          </a:bodyPr>
          <a:lstStyle/>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The DispatcherServlet is essentially a Servlet that can be configured and mapped in a web.xml file, the specific configuration of the web.xml file is shown in file 5-2.</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Getting Started with Spring MVC</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7964988" cy="546735"/>
            <a:chOff x="901662" y="1797999"/>
            <a:chExt cx="1721506" cy="546735"/>
          </a:xfrm>
        </p:grpSpPr>
        <p:sp>
          <p:nvSpPr>
            <p:cNvPr id="3" name="矩形: 圆角 6"/>
            <p:cNvSpPr/>
            <p:nvPr>
              <p:custDataLst>
                <p:tags r:id="rId8"/>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1721506" cy="546735"/>
            </a:xfrm>
            <a:prstGeom prst="rect">
              <a:avLst/>
            </a:prstGeom>
            <a:noFill/>
          </p:spPr>
          <p:txBody>
            <a:bodyPr wrap="square" rtlCol="0">
              <a:normAutofit fontScale="96553"/>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4. Configure the processor mapping information and view parser</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199734" y="3341945"/>
            <a:ext cx="2232248" cy="2232248"/>
          </a:xfrm>
          <a:prstGeom prst="rect">
            <a:avLst/>
          </a:prstGeom>
        </p:spPr>
      </p:pic>
      <p:grpSp>
        <p:nvGrpSpPr>
          <p:cNvPr id="10" name="组合 9"/>
          <p:cNvGrpSpPr/>
          <p:nvPr/>
        </p:nvGrpSpPr>
        <p:grpSpPr>
          <a:xfrm>
            <a:off x="5519142" y="3429794"/>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5-3</a:t>
                </a:r>
              </a:p>
              <a:p>
                <a:pPr algn="ctr"/>
                <a:r>
                  <a:rPr sz="1800">
                    <a:sym typeface="+mn-ea"/>
                    <a:hlinkClick r:id="rId13"/>
                  </a:rPr>
                  <a:t>spring-mvc.xml</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6" name="文本框 5"/>
          <p:cNvSpPr txBox="1"/>
          <p:nvPr>
            <p:custDataLst>
              <p:tags r:id="rId3"/>
            </p:custDataLst>
          </p:nvPr>
        </p:nvSpPr>
        <p:spPr>
          <a:xfrm>
            <a:off x="993775" y="1883410"/>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Spring MVC configuration file </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pring-</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vc.xml in the resources folder of the project to configure the processor mapping information and view parser. The specific configuration of spring-mvc.xml is shown in file 5-3.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Getting Started with Spring MVC</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84064" cy="546735"/>
            <a:chOff x="901662" y="1797999"/>
            <a:chExt cx="1613993" cy="546735"/>
          </a:xfrm>
        </p:grpSpPr>
        <p:sp>
          <p:nvSpPr>
            <p:cNvPr id="3" name="矩形: 圆角 6"/>
            <p:cNvSpPr/>
            <p:nvPr>
              <p:custDataLst>
                <p:tags r:id="rId8"/>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1611273" cy="546735"/>
            </a:xfrm>
            <a:prstGeom prst="rect">
              <a:avLst/>
            </a:prstGeom>
            <a:noFill/>
          </p:spPr>
          <p:txBody>
            <a:bodyPr wrap="square" rtlCol="0">
              <a:normAutofit fontScale="96649"/>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5. Create a processor</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5-4</a:t>
                </a:r>
              </a:p>
              <a:p>
                <a:pPr algn="ctr"/>
                <a:r>
                  <a:rPr sz="1800">
                    <a:sym typeface="+mn-ea"/>
                    <a:hlinkClick r:id="rId13"/>
                  </a:rPr>
                  <a:t>FirstController.java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6" name="文本框 5"/>
          <p:cNvSpPr txBox="1"/>
          <p:nvPr>
            <p:custDataLst>
              <p:tags r:id="rId3"/>
            </p:custDataLst>
          </p:nvPr>
        </p:nvSpPr>
        <p:spPr>
          <a:xfrm>
            <a:off x="993775" y="1883410"/>
            <a:ext cx="10295890" cy="1380948"/>
          </a:xfrm>
          <a:prstGeom prst="rect">
            <a:avLst/>
          </a:prstGeom>
          <a:noFill/>
          <a:ln w="9525">
            <a:noFill/>
          </a:ln>
        </p:spPr>
        <p:txBody>
          <a:bodyPr wrap="square">
            <a:noAutofit/>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package com.itheima.controller in the src/main/java directory of the project. In this package, create the processor FirstController class to handle client requests and specify the page to jump to in response. The details of the FirstController class are shown in File 5-4.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Getting Started with Spring MVC</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212460" cy="546735"/>
            <a:chOff x="901662" y="1797999"/>
            <a:chExt cx="1721506" cy="546735"/>
          </a:xfrm>
        </p:grpSpPr>
        <p:sp>
          <p:nvSpPr>
            <p:cNvPr id="3" name="矩形: 圆角 6"/>
            <p:cNvSpPr/>
            <p:nvPr>
              <p:custDataLst>
                <p:tags r:id="rId8"/>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901662" y="1797999"/>
              <a:ext cx="1721506" cy="546735"/>
            </a:xfrm>
            <a:prstGeom prst="rect">
              <a:avLst/>
            </a:prstGeom>
            <a:noFill/>
          </p:spPr>
          <p:txBody>
            <a:bodyPr wrap="square" rtlCol="0">
              <a:normAutofit fontScale="94787"/>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6. Create a view page</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710830" y="3429794"/>
            <a:ext cx="2232248" cy="2232248"/>
          </a:xfrm>
          <a:prstGeom prst="rect">
            <a:avLst/>
          </a:prstGeom>
        </p:spPr>
      </p:pic>
      <p:grpSp>
        <p:nvGrpSpPr>
          <p:cNvPr id="10" name="组合 9"/>
          <p:cNvGrpSpPr/>
          <p:nvPr/>
        </p:nvGrpSpPr>
        <p:grpSpPr>
          <a:xfrm>
            <a:off x="6095206" y="3573810"/>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5-5</a:t>
                </a:r>
              </a:p>
              <a:p>
                <a:pPr algn="ctr"/>
                <a:r>
                  <a:rPr sz="1800">
                    <a:sym typeface="+mn-ea"/>
                    <a:hlinkClick r:id="rId13"/>
                  </a:rPr>
                  <a:t>success.jsp</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6" name="文本框 5"/>
          <p:cNvSpPr txBox="1"/>
          <p:nvPr>
            <p:custDataLst>
              <p:tags r:id="rId3"/>
            </p:custDataLst>
          </p:nvPr>
        </p:nvSpPr>
        <p:spPr>
          <a:xfrm>
            <a:off x="993775" y="1883409"/>
            <a:ext cx="10295890" cy="1459759"/>
          </a:xfrm>
          <a:prstGeom prst="rect">
            <a:avLst/>
          </a:prstGeom>
          <a:noFill/>
          <a:ln w="9525">
            <a:noFill/>
          </a:ln>
        </p:spPr>
        <p:txBody>
          <a:bodyPr wrap="square">
            <a:noAutofit/>
          </a:bodyPr>
          <a:lstStyle/>
          <a:p>
            <a:pPr>
              <a:lnSpc>
                <a:spcPct val="170000"/>
              </a:lnSpc>
            </a:pPr>
            <a:r>
              <a:rPr lang="zh-CN" altLang="en-US" sz="1800" dirty="0">
                <a:solidFill>
                  <a:srgbClr val="595959"/>
                </a:solidFill>
                <a:latin typeface="微软雅黑" panose="020B0503020204020204" pitchFamily="34" charset="-122"/>
                <a:ea typeface="微软雅黑" panose="020B0503020204020204" pitchFamily="34" charset="-122"/>
              </a:rPr>
              <a:t>Create a folder named pages under the webapp folder of the project, and create a jsp file named success under the pages folder for displaying the view after the client request has been processed. The success.jsp file is shown in File 5-5.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Getting Started with Spring MVC</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106170"/>
            <a:ext cx="5732740" cy="546735"/>
            <a:chOff x="901662" y="1797999"/>
            <a:chExt cx="1721506" cy="546735"/>
          </a:xfrm>
        </p:grpSpPr>
        <p:sp>
          <p:nvSpPr>
            <p:cNvPr id="3" name="矩形: 圆角 6"/>
            <p:cNvSpPr/>
            <p:nvPr>
              <p:custDataLst>
                <p:tags r:id="rId4"/>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901662" y="1797999"/>
              <a:ext cx="1721506" cy="546735"/>
            </a:xfrm>
            <a:prstGeom prst="rect">
              <a:avLst/>
            </a:prstGeom>
            <a:noFill/>
          </p:spPr>
          <p:txBody>
            <a:bodyPr wrap="square" rtlCol="0">
              <a:normAutofit fontScale="9321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7. Modify the name of the project deployment</a:t>
              </a:r>
            </a:p>
          </p:txBody>
        </p:sp>
      </p:grpSp>
      <p:sp>
        <p:nvSpPr>
          <p:cNvPr id="6" name="文本框 5"/>
          <p:cNvSpPr txBox="1"/>
          <p:nvPr>
            <p:custDataLst>
              <p:tags r:id="rId2"/>
            </p:custDataLst>
          </p:nvPr>
        </p:nvSpPr>
        <p:spPr>
          <a:xfrm>
            <a:off x="622598" y="1598295"/>
            <a:ext cx="11089232" cy="1337945"/>
          </a:xfrm>
          <a:prstGeom prst="rect">
            <a:avLst/>
          </a:prstGeom>
          <a:noFill/>
          <a:ln w="9525">
            <a:noFill/>
          </a:ln>
        </p:spPr>
        <p:txBody>
          <a:bodyPr wrap="square">
            <a:noAutofit/>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This project is a Web project, and here you choose to run the project in your local Tomcat. Click File in the IDEA toolbar → Project Structure... The option pops up the Project Structure dialog box. After selecting Artifacts in the Project Structure dialog box, display the Artifacts interface information.</a:t>
            </a:r>
          </a:p>
        </p:txBody>
      </p:sp>
      <p:pic>
        <p:nvPicPr>
          <p:cNvPr id="5" name="图片 1"/>
          <p:cNvPicPr>
            <a:picLocks noChangeAspect="1"/>
          </p:cNvPicPr>
          <p:nvPr>
            <p:custDataLst>
              <p:tags r:id="rId3"/>
            </p:custDataLst>
          </p:nvPr>
        </p:nvPicPr>
        <p:blipFill>
          <a:blip r:embed="rId8"/>
          <a:stretch>
            <a:fillRect/>
          </a:stretch>
        </p:blipFill>
        <p:spPr>
          <a:xfrm>
            <a:off x="2729992" y="3069754"/>
            <a:ext cx="7166504" cy="3456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Spring MVC Starter Program</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550590" y="1365919"/>
            <a:ext cx="11377264" cy="1337945"/>
          </a:xfrm>
          <a:prstGeom prst="rect">
            <a:avLst/>
          </a:prstGeom>
          <a:noFill/>
          <a:ln w="9525">
            <a:noFill/>
          </a:ln>
        </p:spPr>
        <p:txBody>
          <a:bodyPr wrap="square">
            <a:spAutoFit/>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Click "Run" → "Edit Configurations..." on the IDEA toolbar. Options pop up the Run/Debug Configurations dialog box. Click the button in the upper left corner of the Run/Debug Configurations dialog box to bring up the Add New Configurations menu list.</a:t>
            </a:r>
          </a:p>
        </p:txBody>
      </p:sp>
      <p:pic>
        <p:nvPicPr>
          <p:cNvPr id="38" name="图片 21"/>
          <p:cNvPicPr>
            <a:picLocks noChangeAspect="1"/>
          </p:cNvPicPr>
          <p:nvPr>
            <p:custDataLst>
              <p:tags r:id="rId3"/>
            </p:custDataLst>
          </p:nvPr>
        </p:nvPicPr>
        <p:blipFill>
          <a:blip r:embed="rId8"/>
          <a:stretch>
            <a:fillRect/>
          </a:stretch>
        </p:blipFill>
        <p:spPr>
          <a:xfrm>
            <a:off x="2350790" y="2668888"/>
            <a:ext cx="7272808" cy="4073274"/>
          </a:xfrm>
          <a:prstGeom prst="rect">
            <a:avLst/>
          </a:prstGeom>
          <a:noFill/>
          <a:ln>
            <a:noFill/>
          </a:ln>
        </p:spPr>
      </p:pic>
      <p:grpSp>
        <p:nvGrpSpPr>
          <p:cNvPr id="8" name="组合 7">
            <a:extLst>
              <a:ext uri="{FF2B5EF4-FFF2-40B4-BE49-F238E27FC236}">
                <a16:creationId xmlns:a16="http://schemas.microsoft.com/office/drawing/2014/main" id="{EBE50B94-0D35-2049-994B-19B9BC1D11AD}"/>
              </a:ext>
            </a:extLst>
          </p:cNvPr>
          <p:cNvGrpSpPr/>
          <p:nvPr/>
        </p:nvGrpSpPr>
        <p:grpSpPr>
          <a:xfrm>
            <a:off x="766614" y="873794"/>
            <a:ext cx="5732740" cy="546735"/>
            <a:chOff x="901662" y="1797999"/>
            <a:chExt cx="1721506" cy="546735"/>
          </a:xfrm>
        </p:grpSpPr>
        <p:sp>
          <p:nvSpPr>
            <p:cNvPr id="9" name="矩形: 圆角 6">
              <a:extLst>
                <a:ext uri="{FF2B5EF4-FFF2-40B4-BE49-F238E27FC236}">
                  <a16:creationId xmlns:a16="http://schemas.microsoft.com/office/drawing/2014/main" id="{CA621CA1-79B9-3FB7-1F42-C021C06EB682}"/>
                </a:ext>
              </a:extLst>
            </p:cNvPr>
            <p:cNvSpPr/>
            <p:nvPr>
              <p:custDataLst>
                <p:tags r:id="rId4"/>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文本框 9">
              <a:extLst>
                <a:ext uri="{FF2B5EF4-FFF2-40B4-BE49-F238E27FC236}">
                  <a16:creationId xmlns:a16="http://schemas.microsoft.com/office/drawing/2014/main" id="{CF2B50FB-492E-FD8F-5CCA-332BA7A4836E}"/>
                </a:ext>
              </a:extLst>
            </p:cNvPr>
            <p:cNvSpPr txBox="1"/>
            <p:nvPr>
              <p:custDataLst>
                <p:tags r:id="rId5"/>
              </p:custDataLst>
            </p:nvPr>
          </p:nvSpPr>
          <p:spPr>
            <a:xfrm>
              <a:off x="901662" y="1797999"/>
              <a:ext cx="1721506" cy="546735"/>
            </a:xfrm>
            <a:prstGeom prst="rect">
              <a:avLst/>
            </a:prstGeom>
            <a:noFill/>
          </p:spPr>
          <p:txBody>
            <a:bodyPr wrap="square" rtlCol="0">
              <a:normAutofit fontScale="9321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7. Modify the name of the project deployment</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Spring MVC Starter Program</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10630" y="1415180"/>
            <a:ext cx="10804888" cy="922020"/>
          </a:xfrm>
          <a:prstGeom prst="rect">
            <a:avLst/>
          </a:prstGeom>
          <a:noFill/>
          <a:ln w="9525">
            <a:noFill/>
          </a:ln>
        </p:spPr>
        <p:txBody>
          <a:bodyPr wrap="square">
            <a:normAutofit fontScale="92914"/>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 the menu list, click the Local option of Tomcat Server in the left menu to enter the configuration interface for running the project using the local Tomcat.</a:t>
            </a:r>
            <a:endParaRPr lang="zh-CN" altLang="it-IT" sz="18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endParaRPr>
          </a:p>
        </p:txBody>
      </p:sp>
      <p:pic>
        <p:nvPicPr>
          <p:cNvPr id="40" name="图片 23"/>
          <p:cNvPicPr>
            <a:picLocks noChangeAspect="1"/>
          </p:cNvPicPr>
          <p:nvPr>
            <p:custDataLst>
              <p:tags r:id="rId3"/>
            </p:custDataLst>
          </p:nvPr>
        </p:nvPicPr>
        <p:blipFill>
          <a:blip r:embed="rId8"/>
          <a:stretch>
            <a:fillRect/>
          </a:stretch>
        </p:blipFill>
        <p:spPr>
          <a:xfrm>
            <a:off x="2992409" y="2289072"/>
            <a:ext cx="6204397" cy="4316335"/>
          </a:xfrm>
          <a:prstGeom prst="rect">
            <a:avLst/>
          </a:prstGeom>
          <a:noFill/>
          <a:ln>
            <a:noFill/>
          </a:ln>
        </p:spPr>
      </p:pic>
      <p:grpSp>
        <p:nvGrpSpPr>
          <p:cNvPr id="5" name="组合 4">
            <a:extLst>
              <a:ext uri="{FF2B5EF4-FFF2-40B4-BE49-F238E27FC236}">
                <a16:creationId xmlns:a16="http://schemas.microsoft.com/office/drawing/2014/main" id="{32861E4A-3B18-16B3-20EA-015B0FDDCE43}"/>
              </a:ext>
            </a:extLst>
          </p:cNvPr>
          <p:cNvGrpSpPr/>
          <p:nvPr/>
        </p:nvGrpSpPr>
        <p:grpSpPr>
          <a:xfrm>
            <a:off x="719894" y="955603"/>
            <a:ext cx="5732740" cy="546735"/>
            <a:chOff x="901662" y="1797999"/>
            <a:chExt cx="1721506" cy="546735"/>
          </a:xfrm>
        </p:grpSpPr>
        <p:sp>
          <p:nvSpPr>
            <p:cNvPr id="7" name="矩形: 圆角 6">
              <a:extLst>
                <a:ext uri="{FF2B5EF4-FFF2-40B4-BE49-F238E27FC236}">
                  <a16:creationId xmlns:a16="http://schemas.microsoft.com/office/drawing/2014/main" id="{24C50712-DCC9-111F-3250-810B02A65CE0}"/>
                </a:ext>
              </a:extLst>
            </p:cNvPr>
            <p:cNvSpPr/>
            <p:nvPr>
              <p:custDataLst>
                <p:tags r:id="rId4"/>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8" name="文本框 7">
              <a:extLst>
                <a:ext uri="{FF2B5EF4-FFF2-40B4-BE49-F238E27FC236}">
                  <a16:creationId xmlns:a16="http://schemas.microsoft.com/office/drawing/2014/main" id="{86C47A37-59BB-2777-765A-58D0BA3ED64F}"/>
                </a:ext>
              </a:extLst>
            </p:cNvPr>
            <p:cNvSpPr txBox="1"/>
            <p:nvPr>
              <p:custDataLst>
                <p:tags r:id="rId5"/>
              </p:custDataLst>
            </p:nvPr>
          </p:nvSpPr>
          <p:spPr>
            <a:xfrm>
              <a:off x="901662" y="1797999"/>
              <a:ext cx="1721506" cy="546735"/>
            </a:xfrm>
            <a:prstGeom prst="rect">
              <a:avLst/>
            </a:prstGeom>
            <a:noFill/>
          </p:spPr>
          <p:txBody>
            <a:bodyPr wrap="square" rtlCol="0">
              <a:normAutofit fontScale="9321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7. Modify the name of the project deployment</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5.2 Spring MVC Starter Program</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10630" y="935663"/>
            <a:ext cx="3284468" cy="546735"/>
            <a:chOff x="901662" y="1797999"/>
            <a:chExt cx="1721506" cy="546735"/>
          </a:xfrm>
        </p:grpSpPr>
        <p:sp>
          <p:nvSpPr>
            <p:cNvPr id="3" name="矩形: 圆角 6"/>
            <p:cNvSpPr/>
            <p:nvPr>
              <p:custDataLst>
                <p:tags r:id="rId4"/>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901662" y="1797999"/>
              <a:ext cx="1721506" cy="546735"/>
            </a:xfrm>
            <a:prstGeom prst="rect">
              <a:avLst/>
            </a:prstGeom>
            <a:noFill/>
          </p:spPr>
          <p:txBody>
            <a:bodyPr wrap="square" rtlCol="0">
              <a:normAutofit fontScale="96942"/>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8. Test results</a:t>
              </a:r>
            </a:p>
          </p:txBody>
        </p:sp>
      </p:grpSp>
      <p:sp>
        <p:nvSpPr>
          <p:cNvPr id="6" name="文本框 5"/>
          <p:cNvSpPr txBox="1"/>
          <p:nvPr>
            <p:custDataLst>
              <p:tags r:id="rId2"/>
            </p:custDataLst>
          </p:nvPr>
        </p:nvSpPr>
        <p:spPr>
          <a:xfrm>
            <a:off x="1059052" y="1611109"/>
            <a:ext cx="10295890" cy="922020"/>
          </a:xfrm>
          <a:prstGeom prst="rect">
            <a:avLst/>
          </a:prstGeom>
          <a:noFill/>
          <a:ln w="9525">
            <a:noFill/>
          </a:ln>
        </p:spPr>
        <p:txBody>
          <a:bodyPr wrap="square">
            <a:normAutofit fontScale="95814"/>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 the toolbar using the configuration of Tomcat startup project, after the success of the start, in the browser to access the address http://localhost:8080/chapter05/firstController.</a:t>
            </a:r>
          </a:p>
        </p:txBody>
      </p:sp>
      <p:pic>
        <p:nvPicPr>
          <p:cNvPr id="44" name="图片 26"/>
          <p:cNvPicPr>
            <a:picLocks noChangeAspect="1"/>
          </p:cNvPicPr>
          <p:nvPr>
            <p:custDataLst>
              <p:tags r:id="rId3"/>
            </p:custDataLst>
          </p:nvPr>
        </p:nvPicPr>
        <p:blipFill>
          <a:blip r:embed="rId8"/>
          <a:stretch>
            <a:fillRect/>
          </a:stretch>
        </p:blipFill>
        <p:spPr>
          <a:xfrm>
            <a:off x="1221087" y="2781722"/>
            <a:ext cx="9748238" cy="2307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4367014" y="3141762"/>
            <a:ext cx="7751391" cy="768350"/>
          </a:xfrm>
          <a:prstGeom prst="rect">
            <a:avLst/>
          </a:prstGeom>
          <a:noFill/>
        </p:spPr>
        <p:txBody>
          <a:bodyPr wrap="square" lIns="91443" tIns="45720" rIns="91443" bIns="45720" rtlCol="0">
            <a:noAutofit/>
          </a:bodyPr>
          <a:lstStyle/>
          <a:p>
            <a:r>
              <a:rPr sz="3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The execution flow of Spring MVC</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5.3</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5.3 Spring MVC Execution Flow</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447134" y="2926251"/>
            <a:ext cx="5445760" cy="1221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Get familiar with the execution process of Spring MVC</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5.3 Spring MVC Execution Flow</a:t>
            </a:r>
          </a:p>
        </p:txBody>
      </p:sp>
      <p:pic>
        <p:nvPicPr>
          <p:cNvPr id="5" name="图片 4">
            <a:extLst>
              <a:ext uri="{FF2B5EF4-FFF2-40B4-BE49-F238E27FC236}">
                <a16:creationId xmlns:a16="http://schemas.microsoft.com/office/drawing/2014/main" id="{DEBEC0E3-1133-7A1A-6099-4E5768A4FA6C}"/>
              </a:ext>
            </a:extLst>
          </p:cNvPr>
          <p:cNvPicPr>
            <a:picLocks noChangeAspect="1"/>
          </p:cNvPicPr>
          <p:nvPr/>
        </p:nvPicPr>
        <p:blipFill>
          <a:blip r:embed="rId3"/>
          <a:stretch>
            <a:fillRect/>
          </a:stretch>
        </p:blipFill>
        <p:spPr>
          <a:xfrm>
            <a:off x="674025" y="908685"/>
            <a:ext cx="10842361" cy="568420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740" y="3014345"/>
            <a:ext cx="6174105"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Request mapping in Spring MVC</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5.4</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 Request Mapping in Spring MVC</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2"/>
            </p:custDataLst>
          </p:nvPr>
        </p:nvSpPr>
        <p:spPr bwMode="auto">
          <a:xfrm>
            <a:off x="1076959" y="1356548"/>
            <a:ext cx="10335895" cy="4089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In Web development, effectively connecting client-side requests with server-side business processing logic is the key to achieving efficient and accurate responses. Spring MVC provides a flexible and powerful request mapping mechanism that allows developers to map requests based on </a:t>
            </a:r>
            <a:r>
              <a:rPr lang="zh-CN" altLang="zh-CN" sz="2000" dirty="0">
                <a:solidFill>
                  <a:schemeClr val="accent1">
                    <a:lumMod val="75000"/>
                  </a:schemeClr>
                </a:solidFill>
                <a:latin typeface="微软雅黑" panose="020B0503020204020204" pitchFamily="34" charset="-122"/>
                <a:ea typeface="微软雅黑" panose="020B0503020204020204" pitchFamily="34" charset="-122"/>
              </a:rPr>
              <a:t>URL patterns, HTTP methods, request parameters, and more. </a:t>
            </a:r>
            <a:r>
              <a:rPr lang="zh-CN" altLang="zh-CN" sz="2000" dirty="0">
                <a:solidFill>
                  <a:srgbClr val="595959"/>
                </a:solidFill>
                <a:latin typeface="微软雅黑" panose="020B0503020204020204" pitchFamily="34" charset="-122"/>
                <a:ea typeface="微软雅黑" panose="020B0503020204020204" pitchFamily="34" charset="-122"/>
              </a:rPr>
              <a:t>By configuring the request mapping, requests can be routed correctly to the corresponding processors, enabling precise execution of business logic. </a:t>
            </a:r>
            <a:r>
              <a:rPr lang="zh-CN" altLang="zh-CN" sz="2000" dirty="0">
                <a:solidFill>
                  <a:schemeClr val="accent1">
                    <a:lumMod val="75000"/>
                  </a:schemeClr>
                </a:solidFill>
                <a:latin typeface="微软雅黑" panose="020B0503020204020204" pitchFamily="34" charset="-122"/>
                <a:ea typeface="微软雅黑" panose="020B0503020204020204" pitchFamily="34" charset="-122"/>
              </a:rPr>
              <a:t>Request mapping in Spring MVC is typically implemented based on the @Controller annotation and the @RequestMapping annotation. </a:t>
            </a:r>
            <a:r>
              <a:rPr lang="zh-CN" altLang="zh-CN" sz="2000" dirty="0">
                <a:solidFill>
                  <a:srgbClr val="595959"/>
                </a:solidFill>
                <a:latin typeface="微软雅黑" panose="020B0503020204020204" pitchFamily="34" charset="-122"/>
                <a:ea typeface="微软雅黑" panose="020B0503020204020204" pitchFamily="34" charset="-122"/>
              </a:rPr>
              <a:t>The following explains the implementation of request mapping with these two annotations.</a:t>
            </a:r>
          </a:p>
        </p:txBody>
      </p:sp>
      <p:sp>
        <p:nvSpPr>
          <p:cNvPr id="20" name="圆角矩形 19"/>
          <p:cNvSpPr/>
          <p:nvPr>
            <p:custDataLst>
              <p:tags r:id="rId3"/>
            </p:custDataLst>
          </p:nvPr>
        </p:nvSpPr>
        <p:spPr>
          <a:xfrm>
            <a:off x="1031240" y="1197546"/>
            <a:ext cx="10427335" cy="4441553"/>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0" name="矩形 93"/>
          <p:cNvSpPr/>
          <p:nvPr>
            <p:custDataLst>
              <p:tags r:id="rId4"/>
            </p:custDataLst>
          </p:nvPr>
        </p:nvSpPr>
        <p:spPr>
          <a:xfrm>
            <a:off x="967234" y="1094293"/>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5"/>
            </p:custDataLst>
          </p:nvPr>
        </p:nvSpPr>
        <p:spPr>
          <a:xfrm rot="10800000">
            <a:off x="11132110" y="52631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5.4.1 @Controller Annotation</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286118" y="2827555"/>
            <a:ext cx="5561615" cy="2085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use of the @Controller annotation and be able to annotate processor classes with the @Controller annotation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5.4.1 @Controller Annotation</a:t>
            </a:r>
          </a:p>
        </p:txBody>
      </p:sp>
      <p:sp>
        <p:nvSpPr>
          <p:cNvPr id="80" name="TextBox 35"/>
          <p:cNvSpPr txBox="1">
            <a:spLocks noChangeArrowheads="1"/>
          </p:cNvSpPr>
          <p:nvPr>
            <p:custDataLst>
              <p:tags r:id="rId1"/>
            </p:custDataLst>
          </p:nvPr>
        </p:nvSpPr>
        <p:spPr bwMode="auto">
          <a:xfrm>
            <a:off x="838622" y="1413570"/>
            <a:ext cx="10335895" cy="456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dirty="0">
                <a:solidFill>
                  <a:srgbClr val="595959"/>
                </a:solidFill>
                <a:latin typeface="微软雅黑" panose="020B0503020204020204" pitchFamily="34" charset="-122"/>
                <a:ea typeface="微软雅黑" panose="020B0503020204020204" pitchFamily="34" charset="-122"/>
              </a:rPr>
              <a:t>In the execution flow of Spring MVC, the </a:t>
            </a:r>
            <a:r>
              <a:rPr lang="zh-CN" altLang="zh-CN" dirty="0">
                <a:solidFill>
                  <a:srgbClr val="0070C0"/>
                </a:solidFill>
                <a:latin typeface="微软雅黑" panose="020B0503020204020204" pitchFamily="34" charset="-122"/>
                <a:ea typeface="微软雅黑" panose="020B0503020204020204" pitchFamily="34" charset="-122"/>
              </a:rPr>
              <a:t>DispatcherServlet </a:t>
            </a:r>
            <a:r>
              <a:rPr lang="zh-CN" altLang="zh-CN" dirty="0">
                <a:solidFill>
                  <a:srgbClr val="595959"/>
                </a:solidFill>
                <a:latin typeface="微软雅黑" panose="020B0503020204020204" pitchFamily="34" charset="-122"/>
                <a:ea typeface="微软雅黑" panose="020B0503020204020204" pitchFamily="34" charset="-122"/>
              </a:rPr>
              <a:t>forwards requests to the processor for processing. For ease of development, Spring provides the </a:t>
            </a:r>
            <a:r>
              <a:rPr lang="zh-CN" altLang="zh-CN" dirty="0">
                <a:solidFill>
                  <a:srgbClr val="0070C0"/>
                </a:solidFill>
                <a:latin typeface="微软雅黑" panose="020B0503020204020204" pitchFamily="34" charset="-122"/>
                <a:ea typeface="微软雅黑" panose="020B0503020204020204" pitchFamily="34" charset="-122"/>
              </a:rPr>
              <a:t>@Controller annotation to identify the processor class (also known as the controller class) of Spring MVC. </a:t>
            </a:r>
            <a:r>
              <a:rPr lang="zh-CN" altLang="zh-CN" dirty="0">
                <a:solidFill>
                  <a:srgbClr val="595959"/>
                </a:solidFill>
                <a:latin typeface="微软雅黑" panose="020B0503020204020204" pitchFamily="34" charset="-122"/>
                <a:ea typeface="微软雅黑" panose="020B0503020204020204" pitchFamily="34" charset="-122"/>
              </a:rPr>
              <a:t>When the program is scanned through Spring's scanning mechanism, it can </a:t>
            </a:r>
            <a:r>
              <a:rPr lang="zh-CN" altLang="zh-CN" dirty="0">
                <a:solidFill>
                  <a:srgbClr val="0070C0"/>
                </a:solidFill>
                <a:latin typeface="微软雅黑" panose="020B0503020204020204" pitchFamily="34" charset="-122"/>
                <a:ea typeface="微软雅黑" panose="020B0503020204020204" pitchFamily="34" charset="-122"/>
              </a:rPr>
              <a:t>automatically identify and register these classes identified by the @Controller annotation, making them Spring MVC controllers for handling client requests and generating responses.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5.4.1 @Controller Annotation</a:t>
            </a:r>
          </a:p>
        </p:txBody>
      </p:sp>
      <p:sp>
        <p:nvSpPr>
          <p:cNvPr id="80" name="TextBox 35"/>
          <p:cNvSpPr txBox="1">
            <a:spLocks noChangeArrowheads="1"/>
          </p:cNvSpPr>
          <p:nvPr>
            <p:custDataLst>
              <p:tags r:id="rId1"/>
            </p:custDataLst>
          </p:nvPr>
        </p:nvSpPr>
        <p:spPr bwMode="auto">
          <a:xfrm>
            <a:off x="840527" y="1004130"/>
            <a:ext cx="10335895" cy="946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Sample code for processor classes based on the @Controller annotation is as follows.</a:t>
            </a:r>
          </a:p>
        </p:txBody>
      </p:sp>
      <p:sp>
        <p:nvSpPr>
          <p:cNvPr id="5" name="矩形 4"/>
          <p:cNvSpPr/>
          <p:nvPr>
            <p:custDataLst>
              <p:tags r:id="rId2"/>
            </p:custDataLst>
          </p:nvPr>
        </p:nvSpPr>
        <p:spPr>
          <a:xfrm>
            <a:off x="861578" y="2214568"/>
            <a:ext cx="10337800" cy="33361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3"/>
            </p:custDataLst>
          </p:nvPr>
        </p:nvSpPr>
        <p:spPr>
          <a:xfrm>
            <a:off x="1486694" y="2214568"/>
            <a:ext cx="9533890" cy="3448134"/>
          </a:xfrm>
          <a:prstGeom prst="rect">
            <a:avLst/>
          </a:prstGeom>
        </p:spPr>
        <p:txBody>
          <a:bodyPr wrap="square">
            <a:noAutofit/>
          </a:bodyPr>
          <a:lstStyle/>
          <a:p>
            <a:pPr algn="l">
              <a:lnSpc>
                <a:spcPct val="150000"/>
              </a:lnSpc>
              <a:defRPr/>
            </a:pPr>
            <a:r>
              <a:rPr dirty="0">
                <a:latin typeface="Courier New" panose="02070309020205020404" pitchFamily="49" charset="0"/>
                <a:sym typeface="+mn-ea"/>
              </a:rPr>
              <a:t>import </a:t>
            </a:r>
            <a:r>
              <a:rPr dirty="0" err="1">
                <a:latin typeface="Courier New" panose="02070309020205020404" pitchFamily="49" charset="0"/>
                <a:sym typeface="+mn-ea"/>
              </a:rPr>
              <a:t>org.springframework.stereotype.Controller</a:t>
            </a:r>
            <a:r>
              <a:rPr dirty="0">
                <a:latin typeface="Courier New" panose="02070309020205020404" pitchFamily="49" charset="0"/>
                <a:sym typeface="+mn-ea"/>
              </a:rPr>
              <a:t>;</a:t>
            </a:r>
          </a:p>
          <a:p>
            <a:pPr algn="l">
              <a:lnSpc>
                <a:spcPct val="150000"/>
              </a:lnSpc>
              <a:defRPr/>
            </a:pPr>
            <a:r>
              <a:rPr dirty="0">
                <a:latin typeface="Courier New" panose="02070309020205020404" pitchFamily="49" charset="0"/>
                <a:sym typeface="+mn-ea"/>
              </a:rPr>
              <a:t>...</a:t>
            </a:r>
          </a:p>
          <a:p>
            <a:pPr algn="l">
              <a:lnSpc>
                <a:spcPct val="150000"/>
              </a:lnSpc>
              <a:defRPr/>
            </a:pPr>
            <a:r>
              <a:rPr dirty="0">
                <a:latin typeface="Courier New" panose="02070309020205020404" pitchFamily="49" charset="0"/>
                <a:sym typeface="+mn-ea"/>
              </a:rPr>
              <a:t>@Controller // annotate @Controller annotations</a:t>
            </a:r>
          </a:p>
          <a:p>
            <a:pPr algn="l">
              <a:lnSpc>
                <a:spcPct val="150000"/>
              </a:lnSpc>
              <a:defRPr/>
            </a:pPr>
            <a:r>
              <a:rPr dirty="0">
                <a:latin typeface="Courier New" panose="02070309020205020404" pitchFamily="49" charset="0"/>
                <a:sym typeface="+mn-ea"/>
              </a:rPr>
              <a:t>public class </a:t>
            </a:r>
            <a:r>
              <a:rPr dirty="0" err="1">
                <a:latin typeface="Courier New" panose="02070309020205020404" pitchFamily="49" charset="0"/>
                <a:sym typeface="+mn-ea"/>
              </a:rPr>
              <a:t>FirstController</a:t>
            </a:r>
            <a:r>
              <a:rPr dirty="0">
                <a:latin typeface="Courier New" panose="02070309020205020404" pitchFamily="49" charset="0"/>
                <a:sym typeface="+mn-ea"/>
              </a:rPr>
              <a:t>{</a:t>
            </a:r>
          </a:p>
          <a:p>
            <a:pPr algn="l">
              <a:lnSpc>
                <a:spcPct val="150000"/>
              </a:lnSpc>
              <a:defRPr/>
            </a:pPr>
            <a:r>
              <a:rPr dirty="0">
                <a:latin typeface="Courier New" panose="02070309020205020404" pitchFamily="49" charset="0"/>
                <a:sym typeface="+mn-ea"/>
              </a:rPr>
              <a:t>     ...</a:t>
            </a:r>
          </a:p>
          <a:p>
            <a:pPr algn="l">
              <a:lnSpc>
                <a:spcPct val="150000"/>
              </a:lnSpc>
              <a:defRPr/>
            </a:pPr>
            <a:r>
              <a:rPr dirty="0">
                <a:latin typeface="Courier New" panose="02070309020205020404" pitchFamily="49" charset="0"/>
                <a:sym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5.4.1 @Controller Annotation</a:t>
            </a:r>
          </a:p>
        </p:txBody>
      </p:sp>
      <p:sp>
        <p:nvSpPr>
          <p:cNvPr id="80" name="TextBox 35"/>
          <p:cNvSpPr txBox="1">
            <a:spLocks noChangeArrowheads="1"/>
          </p:cNvSpPr>
          <p:nvPr>
            <p:custDataLst>
              <p:tags r:id="rId1"/>
            </p:custDataLst>
          </p:nvPr>
        </p:nvSpPr>
        <p:spPr bwMode="auto">
          <a:xfrm>
            <a:off x="927258" y="1000290"/>
            <a:ext cx="10335895" cy="4218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To ensure that Spring MVC can find the processor class, it is usually necessary to add the corresponding component scanning configuration information in the configuration file of Spring MVC. </a:t>
            </a:r>
            <a:r>
              <a:rPr lang="zh-CN" altLang="zh-CN" sz="2000" dirty="0">
                <a:solidFill>
                  <a:srgbClr val="0070C0"/>
                </a:solidFill>
                <a:latin typeface="微软雅黑" panose="020B0503020204020204" pitchFamily="34" charset="-122"/>
                <a:ea typeface="微软雅黑" panose="020B0503020204020204" pitchFamily="34" charset="-122"/>
              </a:rPr>
              <a:t>First, a spring-context declaration needs to be introduced into the namespace of the configuration file to support the use of the &lt;context:component-scan&gt; tag in the configuration file; </a:t>
            </a:r>
            <a:r>
              <a:rPr lang="zh-CN" altLang="zh-CN" sz="2000" dirty="0">
                <a:solidFill>
                  <a:srgbClr val="595959"/>
                </a:solidFill>
                <a:latin typeface="微软雅黑" panose="020B0503020204020204" pitchFamily="34" charset="-122"/>
                <a:ea typeface="微软雅黑" panose="020B0503020204020204" pitchFamily="34" charset="-122"/>
              </a:rPr>
              <a:t>Then specify the class package to be scanned by Spring through the &lt;context:component-scan&gt; tag. </a:t>
            </a:r>
            <a:r>
              <a:rPr lang="zh-CN" altLang="zh-CN" sz="2000" dirty="0">
                <a:solidFill>
                  <a:srgbClr val="0070C0"/>
                </a:solidFill>
                <a:latin typeface="微软雅黑" panose="020B0503020204020204" pitchFamily="34" charset="-122"/>
                <a:ea typeface="微软雅黑" panose="020B0503020204020204" pitchFamily="34" charset="-122"/>
              </a:rPr>
              <a:t>This ensures that Spring MVC can correctly scan and register the controller classes in the application so that they can be properly managed and invoked by the framework, as shown below.</a:t>
            </a:r>
          </a:p>
        </p:txBody>
      </p:sp>
      <p:sp>
        <p:nvSpPr>
          <p:cNvPr id="2" name="矩形 1"/>
          <p:cNvSpPr/>
          <p:nvPr>
            <p:custDataLst>
              <p:tags r:id="rId2"/>
            </p:custDataLst>
          </p:nvPr>
        </p:nvSpPr>
        <p:spPr>
          <a:xfrm>
            <a:off x="1052830" y="5446018"/>
            <a:ext cx="10337800" cy="7200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矩形 2"/>
          <p:cNvSpPr/>
          <p:nvPr>
            <p:custDataLst>
              <p:tags r:id="rId3"/>
            </p:custDataLst>
          </p:nvPr>
        </p:nvSpPr>
        <p:spPr>
          <a:xfrm>
            <a:off x="1270670" y="5478403"/>
            <a:ext cx="10119960" cy="586105"/>
          </a:xfrm>
          <a:prstGeom prst="rect">
            <a:avLst/>
          </a:prstGeom>
        </p:spPr>
        <p:txBody>
          <a:bodyPr wrap="square">
            <a:noAutofit/>
          </a:bodyPr>
          <a:lstStyle/>
          <a:p>
            <a:pPr algn="l">
              <a:lnSpc>
                <a:spcPct val="150000"/>
              </a:lnSpc>
              <a:defRPr/>
            </a:pPr>
            <a:r>
              <a:rPr dirty="0">
                <a:latin typeface="Courier New" panose="02070309020205020404" pitchFamily="49" charset="0"/>
                <a:sym typeface="+mn-ea"/>
              </a:rPr>
              <a:t>&lt;</a:t>
            </a:r>
            <a:r>
              <a:rPr dirty="0" err="1">
                <a:latin typeface="Courier New" panose="02070309020205020404" pitchFamily="49" charset="0"/>
                <a:sym typeface="+mn-ea"/>
              </a:rPr>
              <a:t>context:component-scan</a:t>
            </a:r>
            <a:r>
              <a:rPr dirty="0">
                <a:latin typeface="Courier New" panose="02070309020205020404" pitchFamily="49" charset="0"/>
                <a:sym typeface="+mn-ea"/>
              </a:rPr>
              <a:t> base-package="</a:t>
            </a:r>
            <a:r>
              <a:rPr dirty="0" err="1">
                <a:latin typeface="Courier New" panose="02070309020205020404" pitchFamily="49" charset="0"/>
                <a:sym typeface="+mn-ea"/>
              </a:rPr>
              <a:t>com.itheima</a:t>
            </a:r>
            <a:r>
              <a:rPr dirty="0">
                <a:latin typeface="Courier New" panose="02070309020205020404" pitchFamily="49" charset="0"/>
                <a:sym typeface="+mn-ea"/>
              </a:rPr>
              <a:t>" /&gt;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4904818" y="2450924"/>
            <a:ext cx="6375408"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use of the @RequestMapping annotation, and be able to use the @RequestMapping annotation to establish the mapping relationship between the request URL and the processor</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sp>
        <p:nvSpPr>
          <p:cNvPr id="80" name="TextBox 35"/>
          <p:cNvSpPr txBox="1">
            <a:spLocks noChangeArrowheads="1"/>
          </p:cNvSpPr>
          <p:nvPr>
            <p:custDataLst>
              <p:tags r:id="rId1"/>
            </p:custDataLst>
          </p:nvPr>
        </p:nvSpPr>
        <p:spPr bwMode="auto">
          <a:xfrm>
            <a:off x="694606" y="1197546"/>
            <a:ext cx="11089231"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dirty="0">
                <a:solidFill>
                  <a:srgbClr val="595959"/>
                </a:solidFill>
                <a:latin typeface="微软雅黑" panose="020B0503020204020204" pitchFamily="34" charset="-122"/>
                <a:ea typeface="微软雅黑" panose="020B0503020204020204" pitchFamily="34" charset="-122"/>
              </a:rPr>
              <a:t>Using the @Controller annotation can declare a regular class as a Spring MVC processor class, but with only the @Controller annotation, the Spring MVC framework cannot determine which method in the processor class is handling the current Web request. For this purpose, the Spring MVC framework provides the @RequestMapping annotation, which is used to establish the mapping relationship between the request URL and the processor. The </a:t>
            </a:r>
            <a:r>
              <a:rPr lang="zh-CN" altLang="zh-CN" dirty="0">
                <a:solidFill>
                  <a:srgbClr val="0070C0"/>
                </a:solidFill>
                <a:latin typeface="微软雅黑" panose="020B0503020204020204" pitchFamily="34" charset="-122"/>
                <a:ea typeface="微软雅黑" panose="020B0503020204020204" pitchFamily="34" charset="-122"/>
              </a:rPr>
              <a:t>@RequestMapping annotation can provide the necessary mapping information for the methods of the processor class, This enables the binding of requests and processing methods.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grpSp>
        <p:nvGrpSpPr>
          <p:cNvPr id="2" name="组合 1"/>
          <p:cNvGrpSpPr/>
          <p:nvPr/>
        </p:nvGrpSpPr>
        <p:grpSpPr>
          <a:xfrm>
            <a:off x="478582" y="909514"/>
            <a:ext cx="7100639"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3"/>
              </p:custDataLst>
            </p:nvPr>
          </p:nvSpPr>
          <p:spPr>
            <a:xfrm>
              <a:off x="852276" y="1797999"/>
              <a:ext cx="2767965"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The use of 1.@RequestMapping annotations</a:t>
              </a:r>
            </a:p>
          </p:txBody>
        </p:sp>
      </p:grpSp>
      <p:sp>
        <p:nvSpPr>
          <p:cNvPr id="11" name="文本框 10"/>
          <p:cNvSpPr txBox="1"/>
          <p:nvPr>
            <p:custDataLst>
              <p:tags r:id="rId1"/>
            </p:custDataLst>
          </p:nvPr>
        </p:nvSpPr>
        <p:spPr>
          <a:xfrm>
            <a:off x="334566" y="1418476"/>
            <a:ext cx="11809312" cy="5174411"/>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 annotate on the method</a:t>
            </a: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When the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@RequestMapping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annotation is annotated on the method, </a:t>
            </a:r>
            <a:r>
              <a:rPr lang="zh-CN" altLang="en-US" sz="2000" dirty="0">
                <a:solidFill>
                  <a:srgbClr val="0070C0"/>
                </a:solidFill>
                <a:latin typeface="微软雅黑" panose="020B0503020204020204" pitchFamily="34" charset="-122"/>
                <a:ea typeface="微软雅黑" panose="020B0503020204020204" pitchFamily="34" charset="-122"/>
              </a:rPr>
              <a:t>the method becomes a processor that can handle client requests when the path of the request received by Spring MVC matches the path specified in the @RequestMapping annotation on the method</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This method is invoked and executed to handle the request.</a:t>
            </a:r>
          </a:p>
          <a:p>
            <a:pPr algn="l">
              <a:lnSpc>
                <a:spcPct val="150000"/>
              </a:lnSpc>
              <a:buClrTx/>
              <a:buSzTx/>
              <a:buFontTx/>
            </a:pPr>
            <a:r>
              <a:rPr lang="zh-CN" altLang="en-US" sz="2000" dirty="0">
                <a:solidFill>
                  <a:srgbClr val="0070C0"/>
                </a:solidFill>
                <a:latin typeface="微软雅黑" panose="020B0503020204020204" pitchFamily="34" charset="-122"/>
                <a:ea typeface="微软雅黑" panose="020B0503020204020204" pitchFamily="34" charset="-122"/>
              </a:rPr>
              <a:t>The corresponding access address of the processor in the browser consists of the project access path plus the mapping path of the method.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the sayHello() method uses the @RequestMapping annotation to specify its mapping path as "/firstController", it means that the method will handle requests that match the path "/firstController". If the project access path for http://localhost:8080/chapter05, then this method will be used to handle the request at http://localhost:8080/chapter05/firstController.</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sp>
        <p:nvSpPr>
          <p:cNvPr id="11" name="文本框 10"/>
          <p:cNvSpPr txBox="1"/>
          <p:nvPr>
            <p:custDataLst>
              <p:tags r:id="rId1"/>
            </p:custDataLst>
          </p:nvPr>
        </p:nvSpPr>
        <p:spPr>
          <a:xfrm>
            <a:off x="947261" y="1053530"/>
            <a:ext cx="10295890" cy="5472608"/>
          </a:xfrm>
          <a:prstGeom prst="rect">
            <a:avLst/>
          </a:prstGeom>
          <a:noFill/>
          <a:ln w="9525">
            <a:noFill/>
          </a:ln>
        </p:spPr>
        <p:txBody>
          <a:bodyPr wrap="square">
            <a:noAutofit/>
          </a:bodyPr>
          <a:lstStyle/>
          <a:p>
            <a:pPr algn="l">
              <a:lnSpc>
                <a:spcPct val="150000"/>
              </a:lnSpc>
              <a:buClrTx/>
              <a:buSzTx/>
              <a:buFontTx/>
            </a:pPr>
            <a:r>
              <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 annotate on the class</a:t>
            </a:r>
          </a:p>
          <a:p>
            <a:pPr algn="l">
              <a:lnSpc>
                <a:spcPct val="150000"/>
              </a:lnSpc>
              <a:buClrTx/>
              <a:buSzTx/>
              <a:buFontTx/>
            </a:pPr>
            <a:r>
              <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When the @RequestMapping annotation is annotated on a class, the mapping path specified in the @RequestMapping annotation is equivalent to the namespace of the current processor class, which is required to access any method under that processor class. When mapping paths are specified both on the class and on the method </a:t>
            </a:r>
            <a:r>
              <a:rPr lang="zh-CN" altLang="en-US"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using the @RequestMapping annotation, the access address of the processor in the browser consists of the project access path + the mapping path on the class + the mapping path on the method.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pic>
        <p:nvPicPr>
          <p:cNvPr id="12" name="图片 11" descr="图片包含 形状  描述已自动生成"/>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2249702" y="3219353"/>
            <a:ext cx="2232248" cy="2232248"/>
          </a:xfrm>
          <a:prstGeom prst="rect">
            <a:avLst/>
          </a:prstGeom>
        </p:spPr>
      </p:pic>
      <p:grpSp>
        <p:nvGrpSpPr>
          <p:cNvPr id="10" name="组合 9"/>
          <p:cNvGrpSpPr/>
          <p:nvPr/>
        </p:nvGrpSpPr>
        <p:grpSpPr>
          <a:xfrm>
            <a:off x="5519142" y="3357786"/>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5-6</a:t>
                </a:r>
              </a:p>
              <a:p>
                <a:pPr algn="ctr"/>
                <a:r>
                  <a:rPr sz="1800">
                    <a:sym typeface="+mn-ea"/>
                    <a:hlinkClick r:id="rId10"/>
                  </a:rPr>
                  <a:t>FirstController.java</a:t>
                </a:r>
                <a:endParaRPr sz="1800">
                  <a:sym typeface="+mn-ea"/>
                </a:endParaRPr>
              </a:p>
            </p:txBody>
          </p:sp>
          <p:sp>
            <p:nvSpPr>
              <p:cNvPr id="17" name="圆角矩形 16"/>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6"/>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3"/>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11" name="文本框 10"/>
          <p:cNvSpPr txBox="1"/>
          <p:nvPr>
            <p:custDataLst>
              <p:tags r:id="rId2"/>
            </p:custDataLst>
          </p:nvPr>
        </p:nvSpPr>
        <p:spPr>
          <a:xfrm>
            <a:off x="947261" y="1221228"/>
            <a:ext cx="10295890" cy="1566904"/>
          </a:xfrm>
          <a:prstGeom prst="rect">
            <a:avLst/>
          </a:prstGeom>
          <a:noFill/>
          <a:ln w="9525">
            <a:noFill/>
          </a:ln>
        </p:spPr>
        <p:txBody>
          <a:bodyPr wrap="square">
            <a:spAutoFit/>
          </a:bodyPr>
          <a:lstStyle/>
          <a:p>
            <a:pPr algn="l">
              <a:lnSpc>
                <a:spcPct val="150000"/>
              </a:lnSpc>
              <a:buClrTx/>
              <a:buSzTx/>
              <a:buFontTx/>
            </a:pPr>
            <a:r>
              <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Annotate the @RequestMapping annotation on the FirstController class, and the modified FirstController class is shown in File 5-6.</a:t>
            </a:r>
          </a:p>
          <a:p>
            <a:pPr algn="l">
              <a:lnSpc>
                <a:spcPct val="150000"/>
              </a:lnSpc>
              <a:buClrTx/>
              <a:buSzTx/>
              <a:buFontTx/>
            </a:pP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sp>
        <p:nvSpPr>
          <p:cNvPr id="11" name="文本框 10"/>
          <p:cNvSpPr txBox="1"/>
          <p:nvPr>
            <p:custDataLst>
              <p:tags r:id="rId1"/>
            </p:custDataLst>
          </p:nvPr>
        </p:nvSpPr>
        <p:spPr>
          <a:xfrm>
            <a:off x="947261" y="1368634"/>
            <a:ext cx="10295890" cy="961289"/>
          </a:xfrm>
          <a:prstGeom prst="rect">
            <a:avLst/>
          </a:prstGeom>
          <a:noFill/>
          <a:ln w="9525">
            <a:noFill/>
          </a:ln>
        </p:spPr>
        <p:txBody>
          <a:bodyPr wrap="square">
            <a:sp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Start the project, visit http://localhost:8080/chapter05/SpringMVC/firstController in the browser, the console output information as shown in the figure below.</a:t>
            </a:r>
          </a:p>
        </p:txBody>
      </p:sp>
      <p:pic>
        <p:nvPicPr>
          <p:cNvPr id="2" name="图片 1"/>
          <p:cNvPicPr>
            <a:picLocks noChangeAspect="1"/>
          </p:cNvPicPr>
          <p:nvPr>
            <p:custDataLst>
              <p:tags r:id="rId2"/>
            </p:custDataLst>
          </p:nvPr>
        </p:nvPicPr>
        <p:blipFill>
          <a:blip r:embed="rId5"/>
          <a:stretch>
            <a:fillRect/>
          </a:stretch>
        </p:blipFill>
        <p:spPr>
          <a:xfrm>
            <a:off x="1143952" y="2925763"/>
            <a:ext cx="9939610" cy="208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5.4.2@RequestMapping annotation</a:t>
            </a:r>
          </a:p>
        </p:txBody>
      </p:sp>
      <p:grpSp>
        <p:nvGrpSpPr>
          <p:cNvPr id="2" name="组合 1"/>
          <p:cNvGrpSpPr/>
          <p:nvPr/>
        </p:nvGrpSpPr>
        <p:grpSpPr>
          <a:xfrm>
            <a:off x="389176" y="980350"/>
            <a:ext cx="6912768"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Properties of the 2.@RequestMapping annotation</a:t>
              </a:r>
            </a:p>
          </p:txBody>
        </p:sp>
      </p:grpSp>
      <p:graphicFrame>
        <p:nvGraphicFramePr>
          <p:cNvPr id="5" name="表格 4"/>
          <p:cNvGraphicFramePr/>
          <p:nvPr>
            <p:custDataLst>
              <p:tags r:id="rId1"/>
            </p:custDataLst>
            <p:extLst>
              <p:ext uri="{D42A27DB-BD31-4B8C-83A1-F6EECF244321}">
                <p14:modId xmlns:p14="http://schemas.microsoft.com/office/powerpoint/2010/main" val="844483222"/>
              </p:ext>
            </p:extLst>
          </p:nvPr>
        </p:nvGraphicFramePr>
        <p:xfrm>
          <a:off x="878681" y="1989634"/>
          <a:ext cx="10433050" cy="4104456"/>
        </p:xfrm>
        <a:graphic>
          <a:graphicData uri="http://schemas.openxmlformats.org/drawingml/2006/table">
            <a:tbl>
              <a:tblPr/>
              <a:tblGrid>
                <a:gridCol w="1416685">
                  <a:extLst>
                    <a:ext uri="{9D8B030D-6E8A-4147-A177-3AD203B41FA5}">
                      <a16:colId xmlns:a16="http://schemas.microsoft.com/office/drawing/2014/main" val="20000"/>
                    </a:ext>
                  </a:extLst>
                </a:gridCol>
                <a:gridCol w="1602740">
                  <a:extLst>
                    <a:ext uri="{9D8B030D-6E8A-4147-A177-3AD203B41FA5}">
                      <a16:colId xmlns:a16="http://schemas.microsoft.com/office/drawing/2014/main" val="20001"/>
                    </a:ext>
                  </a:extLst>
                </a:gridCol>
                <a:gridCol w="7413625">
                  <a:extLst>
                    <a:ext uri="{9D8B030D-6E8A-4147-A177-3AD203B41FA5}">
                      <a16:colId xmlns:a16="http://schemas.microsoft.com/office/drawing/2014/main" val="20002"/>
                    </a:ext>
                  </a:extLst>
                </a:gridCol>
              </a:tblGrid>
              <a:tr h="702076">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Property Name</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Type</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Description</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187895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name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Optional attribute, used to provide a name for the request mapping, which is primarily used to describe the purpose or function of the request mapping and does not directly affect the processing logic of the request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910981">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value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Optional attribute used to specify the mapping path, that is, the path that matches the requested URL path</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612449">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path</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Optional property, works in the same way as the value property</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graphicFrame>
        <p:nvGraphicFramePr>
          <p:cNvPr id="6" name="表格 5"/>
          <p:cNvGraphicFramePr/>
          <p:nvPr>
            <p:custDataLst>
              <p:tags r:id="rId1"/>
            </p:custDataLst>
            <p:extLst>
              <p:ext uri="{D42A27DB-BD31-4B8C-83A1-F6EECF244321}">
                <p14:modId xmlns:p14="http://schemas.microsoft.com/office/powerpoint/2010/main" val="2966685630"/>
              </p:ext>
            </p:extLst>
          </p:nvPr>
        </p:nvGraphicFramePr>
        <p:xfrm>
          <a:off x="190550" y="767909"/>
          <a:ext cx="11809312" cy="6067110"/>
        </p:xfrm>
        <a:graphic>
          <a:graphicData uri="http://schemas.openxmlformats.org/drawingml/2006/table">
            <a:tbl>
              <a:tblPr/>
              <a:tblGrid>
                <a:gridCol w="1368152">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9001000">
                  <a:extLst>
                    <a:ext uri="{9D8B030D-6E8A-4147-A177-3AD203B41FA5}">
                      <a16:colId xmlns:a16="http://schemas.microsoft.com/office/drawing/2014/main" val="20002"/>
                    </a:ext>
                  </a:extLst>
                </a:gridCol>
              </a:tblGrid>
              <a:tr h="457835">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Property Name</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Type</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Description</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method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RequestMethod[]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Optional properties used to specify what types of HTTP requests the method can handle, including GET, POST, HEAD, OPTIONS, PUT, PATCH, DELETE, and TRACE, etc</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params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Optional attribute used to specify the condition of the request parameter, that is, to specify that the request must contain a particular parameter</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headers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Optional property used to specify the condition of the request header, specifying that certain specified header values must be included in the request for the method to process the request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consumes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Optional property used to specify the type of request content that the processor method can handle, such as application/json, text/html, etc</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0">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produces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Optional property, used to specify the type of content to be returned, the corresponding method will handle the request and return the corresponding content only if the request's Accept header contains the type specified by this property</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grpSp>
        <p:nvGrpSpPr>
          <p:cNvPr id="2" name="组合 1"/>
          <p:cNvGrpSpPr/>
          <p:nvPr/>
        </p:nvGrpSpPr>
        <p:grpSpPr>
          <a:xfrm>
            <a:off x="866914" y="1177649"/>
            <a:ext cx="3788132" cy="476905"/>
            <a:chOff x="852276" y="1797999"/>
            <a:chExt cx="2780020" cy="476905"/>
          </a:xfrm>
        </p:grpSpPr>
        <p:sp>
          <p:nvSpPr>
            <p:cNvPr id="3"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The value attribute</a:t>
              </a:r>
            </a:p>
          </p:txBody>
        </p:sp>
      </p:grpSp>
      <p:sp>
        <p:nvSpPr>
          <p:cNvPr id="11" name="文本框 10"/>
          <p:cNvSpPr txBox="1"/>
          <p:nvPr>
            <p:custDataLst>
              <p:tags r:id="rId1"/>
            </p:custDataLst>
          </p:nvPr>
        </p:nvSpPr>
        <p:spPr>
          <a:xfrm>
            <a:off x="993775" y="1739900"/>
            <a:ext cx="10295890" cy="2049934"/>
          </a:xfrm>
          <a:prstGeom prst="rect">
            <a:avLst/>
          </a:prstGeom>
          <a:noFill/>
          <a:ln w="9525">
            <a:noFill/>
          </a:ln>
        </p:spPr>
        <p:txBody>
          <a:bodyPr wrap="square">
            <a:noAutofit/>
          </a:bodyPr>
          <a:lstStyle/>
          <a:p>
            <a:pPr algn="l">
              <a:lnSpc>
                <a:spcPct val="150000"/>
              </a:lnSpc>
              <a:buClrTx/>
              <a:buSzTx/>
              <a:buFontTx/>
            </a:pPr>
            <a:r>
              <a:rPr lang="it-IT" altLang="zh-CN" sz="200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The value attribute </a:t>
            </a:r>
            <a:r>
              <a:rPr lang="it-IT" altLang="zh-CN" sz="2000" b="0" dirty="0">
                <a:solidFill>
                  <a:schemeClr val="accent3">
                    <a:lumMod val="75000"/>
                  </a:schemeClr>
                </a:solidFill>
                <a:latin typeface="微软雅黑" panose="020B0503020204020204" pitchFamily="34" charset="-122"/>
                <a:ea typeface="微软雅黑" panose="020B0503020204020204" pitchFamily="34" charset="-122"/>
                <a:cs typeface="Courier New" panose="02070309020205020404" pitchFamily="49" charset="0"/>
              </a:rPr>
              <a:t>is the default attribute for the @RequestMapping annotation. When the value attribute is the only attribute explicitly used by the @RequestMapping annotation, the attribute name of the value can be omitted. For example, the following two mapping path annotations have the same meaning.</a:t>
            </a:r>
            <a:endParaRPr lang="zh-CN" altLang="en-US" sz="2000" b="0" dirty="0">
              <a:solidFill>
                <a:schemeClr val="accent3">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custDataLst>
              <p:tags r:id="rId2"/>
            </p:custDataLst>
          </p:nvPr>
        </p:nvSpPr>
        <p:spPr>
          <a:xfrm>
            <a:off x="836006" y="4149874"/>
            <a:ext cx="10337800" cy="11391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3"/>
            </p:custDataLst>
          </p:nvPr>
        </p:nvSpPr>
        <p:spPr>
          <a:xfrm>
            <a:off x="1374775" y="4182914"/>
            <a:ext cx="9533890" cy="2710180"/>
          </a:xfrm>
          <a:prstGeom prst="rect">
            <a:avLst/>
          </a:prstGeom>
        </p:spPr>
        <p:txBody>
          <a:bodyPr wrap="square">
            <a:noAutofit/>
          </a:bodyPr>
          <a:lstStyle/>
          <a:p>
            <a:pPr algn="l">
              <a:lnSpc>
                <a:spcPct val="150000"/>
              </a:lnSpc>
              <a:defRPr/>
            </a:pPr>
            <a:r>
              <a:rPr sz="2000" dirty="0">
                <a:latin typeface="Courier New" panose="02070309020205020404" pitchFamily="49" charset="0"/>
                <a:sym typeface="+mn-ea"/>
              </a:rPr>
              <a:t>@RequestMapping(value="/firstController")</a:t>
            </a:r>
          </a:p>
          <a:p>
            <a:pPr algn="l">
              <a:lnSpc>
                <a:spcPct val="150000"/>
              </a:lnSpc>
              <a:defRPr/>
            </a:pPr>
            <a:r>
              <a:rPr sz="2000" dirty="0">
                <a:latin typeface="Courier New" panose="02070309020205020404" pitchFamily="49" charset="0"/>
                <a:sym typeface="+mn-ea"/>
              </a:rPr>
              <a:t>@RequestMapping("/firstController")</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sp>
        <p:nvSpPr>
          <p:cNvPr id="11" name="文本框 10"/>
          <p:cNvSpPr txBox="1"/>
          <p:nvPr>
            <p:custDataLst>
              <p:tags r:id="rId1"/>
            </p:custDataLst>
          </p:nvPr>
        </p:nvSpPr>
        <p:spPr>
          <a:xfrm>
            <a:off x="980083" y="981522"/>
            <a:ext cx="10295890" cy="1584176"/>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When using the value attribute, you can specify the URL path for mapping a single request, or define a list containing multiple mapping addresses for mapping the urls of multiple requests simultaneously, as shown below.</a:t>
            </a:r>
          </a:p>
        </p:txBody>
      </p:sp>
      <p:sp>
        <p:nvSpPr>
          <p:cNvPr id="5" name="矩形 4"/>
          <p:cNvSpPr/>
          <p:nvPr>
            <p:custDataLst>
              <p:tags r:id="rId2"/>
            </p:custDataLst>
          </p:nvPr>
        </p:nvSpPr>
        <p:spPr>
          <a:xfrm>
            <a:off x="972513" y="2565698"/>
            <a:ext cx="10337800" cy="36797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3"/>
            </p:custDataLst>
          </p:nvPr>
        </p:nvSpPr>
        <p:spPr>
          <a:xfrm>
            <a:off x="1243591" y="2565698"/>
            <a:ext cx="9795644" cy="3679705"/>
          </a:xfrm>
          <a:prstGeom prst="rect">
            <a:avLst/>
          </a:prstGeom>
        </p:spPr>
        <p:txBody>
          <a:bodyPr wrap="square">
            <a:noAutofit/>
          </a:bodyPr>
          <a:lstStyle/>
          <a:p>
            <a:pPr algn="l">
              <a:lnSpc>
                <a:spcPct val="150000"/>
              </a:lnSpc>
              <a:defRPr/>
            </a:pPr>
            <a:r>
              <a:rPr sz="2000" dirty="0">
                <a:latin typeface="Courier New" panose="02070309020205020404" pitchFamily="49" charset="0"/>
                <a:sym typeface="+mn-ea"/>
              </a:rPr>
              <a:t>@Controller</a:t>
            </a:r>
          </a:p>
          <a:p>
            <a:pPr algn="l">
              <a:lnSpc>
                <a:spcPct val="150000"/>
              </a:lnSpc>
              <a:defRPr/>
            </a:pPr>
            <a:r>
              <a:rPr sz="2000" dirty="0">
                <a:latin typeface="Courier New" panose="02070309020205020404" pitchFamily="49" charset="0"/>
                <a:sym typeface="+mn-ea"/>
              </a:rPr>
              <a:t>public class </a:t>
            </a:r>
            <a:r>
              <a:rPr sz="2000" dirty="0" err="1">
                <a:latin typeface="Courier New" panose="02070309020205020404" pitchFamily="49" charset="0"/>
                <a:sym typeface="+mn-ea"/>
              </a:rPr>
              <a:t>AuthController</a:t>
            </a:r>
            <a:r>
              <a:rPr sz="2000" dirty="0">
                <a:latin typeface="Courier New" panose="02070309020205020404" pitchFamily="49" charset="0"/>
                <a:sym typeface="+mn-ea"/>
              </a:rPr>
              <a:t> {</a:t>
            </a:r>
          </a:p>
          <a:p>
            <a:pPr algn="l">
              <a:lnSpc>
                <a:spcPct val="150000"/>
              </a:lnSpc>
              <a:defRPr/>
            </a:pPr>
            <a:r>
              <a:rPr sz="2000" dirty="0">
                <a:latin typeface="Courier New" panose="02070309020205020404" pitchFamily="49" charset="0"/>
                <a:sym typeface="+mn-ea"/>
              </a:rPr>
              <a:t>   // Define the list of mapping addresses</a:t>
            </a:r>
            <a:endParaRPr lang="zh-CN" altLang="en-US" sz="2000" dirty="0">
              <a:latin typeface="Courier New" panose="02070309020205020404" pitchFamily="49" charset="0"/>
              <a:sym typeface="+mn-ea"/>
            </a:endParaRPr>
          </a:p>
          <a:p>
            <a:pPr algn="l">
              <a:lnSpc>
                <a:spcPct val="150000"/>
              </a:lnSpc>
              <a:defRPr/>
            </a:pPr>
            <a:r>
              <a:rPr sz="2000" dirty="0">
                <a:latin typeface="Courier New" panose="02070309020205020404" pitchFamily="49" charset="0"/>
                <a:sym typeface="+mn-ea"/>
              </a:rPr>
              <a:t>   @RequestMapping(value = {"/</a:t>
            </a:r>
            <a:r>
              <a:rPr sz="2000" dirty="0" err="1">
                <a:latin typeface="Courier New" panose="02070309020205020404" pitchFamily="49" charset="0"/>
                <a:sym typeface="+mn-ea"/>
              </a:rPr>
              <a:t>addUser</a:t>
            </a:r>
            <a:r>
              <a:rPr sz="2000" dirty="0">
                <a:latin typeface="Courier New" panose="02070309020205020404" pitchFamily="49" charset="0"/>
                <a:sym typeface="+mn-ea"/>
              </a:rPr>
              <a:t>","/</a:t>
            </a:r>
            <a:r>
              <a:rPr sz="2000" dirty="0" err="1">
                <a:latin typeface="Courier New" panose="02070309020205020404" pitchFamily="49" charset="0"/>
                <a:sym typeface="+mn-ea"/>
              </a:rPr>
              <a:t>deleteUser</a:t>
            </a:r>
            <a:r>
              <a:rPr sz="2000" dirty="0">
                <a:latin typeface="Courier New" panose="02070309020205020404" pitchFamily="49" charset="0"/>
                <a:sym typeface="+mn-ea"/>
              </a:rPr>
              <a:t>"})</a:t>
            </a:r>
          </a:p>
          <a:p>
            <a:pPr algn="l">
              <a:lnSpc>
                <a:spcPct val="150000"/>
              </a:lnSpc>
              <a:defRPr/>
            </a:pPr>
            <a:r>
              <a:rPr sz="2000" dirty="0">
                <a:latin typeface="Courier New" panose="02070309020205020404" pitchFamily="49" charset="0"/>
                <a:sym typeface="+mn-ea"/>
              </a:rPr>
              <a:t>   public void </a:t>
            </a:r>
            <a:r>
              <a:rPr sz="2000" dirty="0" err="1">
                <a:latin typeface="Courier New" panose="02070309020205020404" pitchFamily="49" charset="0"/>
                <a:sym typeface="+mn-ea"/>
              </a:rPr>
              <a:t>checkAuth</a:t>
            </a:r>
            <a:r>
              <a:rPr sz="2000" dirty="0">
                <a:latin typeface="Courier New" panose="02070309020205020404" pitchFamily="49" charset="0"/>
                <a:sym typeface="+mn-ea"/>
              </a:rPr>
              <a:t>(){</a:t>
            </a:r>
          </a:p>
          <a:p>
            <a:pPr algn="l">
              <a:lnSpc>
                <a:spcPct val="150000"/>
              </a:lnSpc>
              <a:defRPr/>
            </a:pPr>
            <a:r>
              <a:rPr sz="2000" dirty="0">
                <a:latin typeface="Courier New" panose="02070309020205020404" pitchFamily="49" charset="0"/>
                <a:sym typeface="+mn-ea"/>
              </a:rPr>
              <a:t>      </a:t>
            </a:r>
            <a:r>
              <a:rPr sz="2000" dirty="0" err="1">
                <a:latin typeface="Courier New" panose="02070309020205020404" pitchFamily="49" charset="0"/>
                <a:sym typeface="+mn-ea"/>
              </a:rPr>
              <a:t>System.out.println</a:t>
            </a:r>
            <a:r>
              <a:rPr sz="2000" dirty="0">
                <a:latin typeface="Courier New" panose="02070309020205020404" pitchFamily="49" charset="0"/>
                <a:sym typeface="+mn-ea"/>
              </a:rPr>
              <a:t>(" add/delete operation check ");</a:t>
            </a:r>
          </a:p>
          <a:p>
            <a:pPr algn="l">
              <a:lnSpc>
                <a:spcPct val="150000"/>
              </a:lnSpc>
              <a:defRPr/>
            </a:pPr>
            <a:r>
              <a:rPr sz="2000" dirty="0">
                <a:latin typeface="Courier New" panose="02070309020205020404" pitchFamily="49" charset="0"/>
                <a:sym typeface="+mn-ea"/>
              </a:rPr>
              <a:t>   }</a:t>
            </a:r>
          </a:p>
          <a:p>
            <a:pPr algn="l">
              <a:lnSpc>
                <a:spcPct val="150000"/>
              </a:lnSpc>
              <a:defRPr/>
            </a:pPr>
            <a:r>
              <a:rPr sz="2000" dirty="0">
                <a:latin typeface="Courier New" panose="02070309020205020404" pitchFamily="49" charset="0"/>
                <a:sym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grpSp>
        <p:nvGrpSpPr>
          <p:cNvPr id="2" name="组合 1"/>
          <p:cNvGrpSpPr/>
          <p:nvPr/>
        </p:nvGrpSpPr>
        <p:grpSpPr>
          <a:xfrm>
            <a:off x="866914" y="1177649"/>
            <a:ext cx="4364196"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The method property</a:t>
              </a:r>
            </a:p>
          </p:txBody>
        </p:sp>
      </p:grpSp>
      <p:sp>
        <p:nvSpPr>
          <p:cNvPr id="11" name="文本框 10"/>
          <p:cNvSpPr txBox="1"/>
          <p:nvPr>
            <p:custDataLst>
              <p:tags r:id="rId1"/>
            </p:custDataLst>
          </p:nvPr>
        </p:nvSpPr>
        <p:spPr>
          <a:xfrm>
            <a:off x="993775" y="1811655"/>
            <a:ext cx="10295890" cy="3994403"/>
          </a:xfrm>
          <a:prstGeom prst="rect">
            <a:avLst/>
          </a:prstGeom>
          <a:noFill/>
          <a:ln w="9525">
            <a:noFill/>
          </a:ln>
        </p:spPr>
        <p:txBody>
          <a:bodyPr wrap="square">
            <a:noAutofit/>
          </a:bodyPr>
          <a:lstStyle/>
          <a:p>
            <a:pPr algn="l">
              <a:lnSpc>
                <a:spcPct val="150000"/>
              </a:lnSpc>
              <a:buClrTx/>
              <a:buSzTx/>
              <a:buFontTx/>
            </a:pPr>
            <a:r>
              <a:rPr lang="it-IT" altLang="zh-CN" dirty="0">
                <a:solidFill>
                  <a:schemeClr val="accent3">
                    <a:lumMod val="75000"/>
                  </a:schemeClr>
                </a:solidFill>
                <a:latin typeface="微软雅黑" panose="020B0503020204020204" pitchFamily="34" charset="-122"/>
                <a:ea typeface="微软雅黑" panose="020B0503020204020204" pitchFamily="34" charset="-122"/>
                <a:cs typeface="Courier New" panose="02070309020205020404" pitchFamily="49" charset="0"/>
              </a:rPr>
              <a:t>The method attribute can be used to qualify the HTTP request method of the </a:t>
            </a:r>
            <a:r>
              <a:rPr lang="it-IT" altLang="zh-CN" b="0" dirty="0">
                <a:solidFill>
                  <a:schemeClr val="accent3">
                    <a:lumMod val="75000"/>
                  </a:schemeClr>
                </a:solidFill>
                <a:latin typeface="微软雅黑" panose="020B0503020204020204" pitchFamily="34" charset="-122"/>
                <a:ea typeface="微软雅黑" panose="020B0503020204020204" pitchFamily="34" charset="-122"/>
                <a:cs typeface="Courier New" panose="02070309020205020404" pitchFamily="49" charset="0"/>
              </a:rPr>
              <a:t>request. If the requested URL is successfully mapped to the processor but the actual HTTP request method does not match the method specified by the method attribute, then the processor method will not be invoked. </a:t>
            </a:r>
            <a:r>
              <a:rPr lang="it-IT" altLang="zh-CN"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If the value of the method attribute is not specified, the processor method can handle all HTTP request methods.</a:t>
            </a:r>
            <a:endParaRPr lang="zh-CN" altLang="en-US"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sp>
        <p:nvSpPr>
          <p:cNvPr id="11" name="文本框 10"/>
          <p:cNvSpPr txBox="1"/>
          <p:nvPr>
            <p:custDataLst>
              <p:tags r:id="rId1"/>
            </p:custDataLst>
          </p:nvPr>
        </p:nvSpPr>
        <p:spPr>
          <a:xfrm>
            <a:off x="982638" y="944232"/>
            <a:ext cx="10295890" cy="2320125"/>
          </a:xfrm>
          <a:prstGeom prst="rect">
            <a:avLst/>
          </a:prstGeom>
          <a:noFill/>
          <a:ln w="9525">
            <a:noFill/>
          </a:ln>
        </p:spPr>
        <p:txBody>
          <a:bodyPr wrap="square">
            <a:noAutofit/>
          </a:bodyPr>
          <a:lstStyle/>
          <a:p>
            <a:pPr algn="l">
              <a:lnSpc>
                <a:spcPct val="150000"/>
              </a:lnSpc>
              <a:buClrTx/>
              <a:buSzTx/>
              <a:buFontTx/>
            </a:pPr>
            <a:r>
              <a:rPr lang="zh-CN" altLang="en-US"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the declaration of the HTTP request type in the method property through a case. Create the MethodController class under the controller package in chapter05 of the project, as shown in File 5-7.</a:t>
            </a:r>
          </a:p>
        </p:txBody>
      </p:sp>
      <p:pic>
        <p:nvPicPr>
          <p:cNvPr id="12" name="图片 11" descr="图片包含 形状  描述已自动生成"/>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4"/>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5-7</a:t>
                </a:r>
              </a:p>
              <a:p>
                <a:pPr algn="ctr"/>
                <a:r>
                  <a:rPr sz="1800">
                    <a:sym typeface="+mn-ea"/>
                    <a:hlinkClick r:id="rId10"/>
                  </a:rPr>
                  <a:t>MethodController.java</a:t>
                </a:r>
                <a:endParaRPr sz="1800">
                  <a:sym typeface="+mn-ea"/>
                </a:endParaRPr>
              </a:p>
            </p:txBody>
          </p:sp>
          <p:sp>
            <p:nvSpPr>
              <p:cNvPr id="17" name="圆角矩形 16"/>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6"/>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3"/>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sp>
        <p:nvSpPr>
          <p:cNvPr id="11" name="文本框 10"/>
          <p:cNvSpPr txBox="1"/>
          <p:nvPr>
            <p:custDataLst>
              <p:tags r:id="rId1"/>
            </p:custDataLst>
          </p:nvPr>
        </p:nvSpPr>
        <p:spPr>
          <a:xfrm>
            <a:off x="947261" y="981522"/>
            <a:ext cx="10295890" cy="1422954"/>
          </a:xfrm>
          <a:prstGeom prst="rect">
            <a:avLst/>
          </a:prstGeom>
          <a:noFill/>
          <a:ln w="9525">
            <a:noFill/>
          </a:ln>
        </p:spPr>
        <p:txBody>
          <a:bodyPr wrap="square">
            <a:spAutoFit/>
          </a:bodyPr>
          <a:lstStyle/>
          <a:p>
            <a:pPr algn="l">
              <a:lnSpc>
                <a:spcPct val="150000"/>
              </a:lnSpc>
              <a:buClrTx/>
              <a:buSzTx/>
              <a:buFontTx/>
            </a:pPr>
            <a:r>
              <a:rPr lang="it-IT" altLang="zh-CN" sz="2000" b="0" dirty="0">
                <a:solidFill>
                  <a:schemeClr val="accent3">
                    <a:lumMod val="75000"/>
                  </a:schemeClr>
                </a:solidFill>
                <a:latin typeface="微软雅黑" panose="020B0503020204020204" pitchFamily="34" charset="-122"/>
                <a:ea typeface="微软雅黑" panose="020B0503020204020204" pitchFamily="34" charset="-122"/>
                <a:cs typeface="Courier New" panose="02070309020205020404" pitchFamily="49" charset="0"/>
              </a:rPr>
              <a:t>Chapter05 start the project, in order to GET in the Postman, DELETE, POST and PUT methods to http://localhost:8080/chapter05/method, the console output information as shown in figure 5-12.</a:t>
            </a:r>
            <a:endParaRPr lang="zh-CN" altLang="en-US" sz="2000" b="0" dirty="0">
              <a:solidFill>
                <a:schemeClr val="accent3">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custDataLst>
              <p:tags r:id="rId2"/>
            </p:custDataLst>
          </p:nvPr>
        </p:nvPicPr>
        <p:blipFill>
          <a:blip r:embed="rId5"/>
          <a:stretch>
            <a:fillRect/>
          </a:stretch>
        </p:blipFill>
        <p:spPr>
          <a:xfrm>
            <a:off x="1162619" y="2934113"/>
            <a:ext cx="9839496" cy="3042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sp>
        <p:nvSpPr>
          <p:cNvPr id="11" name="文本框 10"/>
          <p:cNvSpPr txBox="1"/>
          <p:nvPr>
            <p:custDataLst>
              <p:tags r:id="rId1"/>
            </p:custDataLst>
          </p:nvPr>
        </p:nvSpPr>
        <p:spPr>
          <a:xfrm>
            <a:off x="947261" y="1125538"/>
            <a:ext cx="10295890" cy="1761766"/>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you need to support multiple types of HTTP request methods at the same time, you need to store the corresponding list of request methods in curly braces, assign values to the method property as an array, and separate multiple request methods with commas, as shown below.</a:t>
            </a:r>
          </a:p>
        </p:txBody>
      </p:sp>
      <p:sp>
        <p:nvSpPr>
          <p:cNvPr id="5" name="矩形 4"/>
          <p:cNvSpPr/>
          <p:nvPr>
            <p:custDataLst>
              <p:tags r:id="rId2"/>
            </p:custDataLst>
          </p:nvPr>
        </p:nvSpPr>
        <p:spPr>
          <a:xfrm>
            <a:off x="947261" y="3213770"/>
            <a:ext cx="10337800" cy="2219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3"/>
            </p:custDataLst>
          </p:nvPr>
        </p:nvSpPr>
        <p:spPr>
          <a:xfrm>
            <a:off x="1469231" y="3246155"/>
            <a:ext cx="9533890" cy="1178560"/>
          </a:xfrm>
          <a:prstGeom prst="rect">
            <a:avLst/>
          </a:prstGeom>
        </p:spPr>
        <p:txBody>
          <a:bodyPr wrap="square">
            <a:noAutofit/>
          </a:bodyPr>
          <a:lstStyle/>
          <a:p>
            <a:pPr algn="l">
              <a:lnSpc>
                <a:spcPct val="150000"/>
              </a:lnSpc>
              <a:defRPr/>
            </a:pPr>
            <a:r>
              <a:rPr sz="1800" dirty="0">
                <a:latin typeface="Courier New" panose="02070309020205020404" pitchFamily="49" charset="0"/>
                <a:sym typeface="+mn-ea"/>
              </a:rPr>
              <a:t>@RequestMapping(value = "/method",</a:t>
            </a:r>
          </a:p>
          <a:p>
            <a:pPr algn="l">
              <a:lnSpc>
                <a:spcPct val="150000"/>
              </a:lnSpc>
              <a:defRPr/>
            </a:pPr>
            <a:r>
              <a:rPr sz="1800" dirty="0">
                <a:latin typeface="Courier New" panose="02070309020205020404" pitchFamily="49" charset="0"/>
                <a:sym typeface="+mn-ea"/>
              </a:rPr>
              <a:t>method = {</a:t>
            </a:r>
            <a:r>
              <a:rPr sz="1800" dirty="0" err="1">
                <a:latin typeface="Courier New" panose="02070309020205020404" pitchFamily="49" charset="0"/>
                <a:sym typeface="+mn-ea"/>
              </a:rPr>
              <a:t>RequestMethod.GET,RequestMethod.POST</a:t>
            </a:r>
            <a:r>
              <a:rPr sz="1800" dirty="0">
                <a:latin typeface="Courier New" panose="02070309020205020404" pitchFamily="49" charset="0"/>
                <a:sym typeface="+mn-ea"/>
              </a:rPr>
              <a:t>})</a:t>
            </a:r>
          </a:p>
          <a:p>
            <a:pPr algn="l">
              <a:lnSpc>
                <a:spcPct val="150000"/>
              </a:lnSpc>
              <a:defRPr/>
            </a:pPr>
            <a:r>
              <a:rPr sz="1800" dirty="0">
                <a:latin typeface="Courier New" panose="02070309020205020404" pitchFamily="49" charset="0"/>
                <a:sym typeface="+mn-ea"/>
              </a:rPr>
              <a:t>public void </a:t>
            </a:r>
            <a:r>
              <a:rPr sz="1800" dirty="0" err="1">
                <a:latin typeface="Courier New" panose="02070309020205020404" pitchFamily="49" charset="0"/>
                <a:sym typeface="+mn-ea"/>
              </a:rPr>
              <a:t>getAndPost</a:t>
            </a:r>
            <a:r>
              <a:rPr sz="1800" dirty="0">
                <a:latin typeface="Courier New" panose="02070309020205020404" pitchFamily="49" charset="0"/>
                <a:sym typeface="+mn-ea"/>
              </a:rPr>
              <a:t>() {</a:t>
            </a:r>
          </a:p>
          <a:p>
            <a:pPr algn="l">
              <a:lnSpc>
                <a:spcPct val="150000"/>
              </a:lnSpc>
              <a:defRPr/>
            </a:pPr>
            <a:r>
              <a:rPr sz="1800" dirty="0">
                <a:latin typeface="Courier New" panose="02070309020205020404" pitchFamily="49" charset="0"/>
                <a:sym typeface="+mn-ea"/>
              </a:rPr>
              <a:t>	</a:t>
            </a:r>
            <a:r>
              <a:rPr sz="1800" dirty="0" err="1">
                <a:latin typeface="Courier New" panose="02070309020205020404" pitchFamily="49" charset="0"/>
                <a:sym typeface="+mn-ea"/>
              </a:rPr>
              <a:t>System.out.println</a:t>
            </a:r>
            <a:r>
              <a:rPr sz="1800" dirty="0">
                <a:latin typeface="Courier New" panose="02070309020205020404" pitchFamily="49" charset="0"/>
                <a:sym typeface="+mn-ea"/>
              </a:rPr>
              <a:t>("</a:t>
            </a:r>
            <a:r>
              <a:rPr sz="1800" dirty="0" err="1">
                <a:latin typeface="Courier New" panose="02070309020205020404" pitchFamily="49" charset="0"/>
                <a:sym typeface="+mn-ea"/>
              </a:rPr>
              <a:t>RequestMethod.GET+RequestMethod.POST</a:t>
            </a:r>
            <a:r>
              <a:rPr sz="1800" dirty="0">
                <a:latin typeface="Courier New" panose="02070309020205020404" pitchFamily="49" charset="0"/>
                <a:sym typeface="+mn-ea"/>
              </a:rPr>
              <a:t>");</a:t>
            </a:r>
          </a:p>
          <a:p>
            <a:pPr algn="l">
              <a:lnSpc>
                <a:spcPct val="150000"/>
              </a:lnSpc>
              <a:defRPr/>
            </a:pPr>
            <a:r>
              <a:rPr sz="1800" dirty="0">
                <a:latin typeface="Courier New" panose="02070309020205020404" pitchFamily="49" charset="0"/>
                <a:sym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5.4.2 @RequestMapping Annotation</a:t>
            </a:r>
          </a:p>
        </p:txBody>
      </p:sp>
      <p:grpSp>
        <p:nvGrpSpPr>
          <p:cNvPr id="2" name="组合 1"/>
          <p:cNvGrpSpPr/>
          <p:nvPr/>
        </p:nvGrpSpPr>
        <p:grpSpPr>
          <a:xfrm>
            <a:off x="838622" y="924671"/>
            <a:ext cx="3212068" cy="476905"/>
            <a:chOff x="852276" y="1797999"/>
            <a:chExt cx="2780020" cy="476905"/>
          </a:xfrm>
        </p:grpSpPr>
        <p:sp>
          <p:nvSpPr>
            <p:cNvPr id="3"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852276" y="1797999"/>
              <a:ext cx="2767965"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(3)params attribute</a:t>
              </a:r>
            </a:p>
          </p:txBody>
        </p:sp>
      </p:grpSp>
      <p:sp>
        <p:nvSpPr>
          <p:cNvPr id="11" name="文本框 10"/>
          <p:cNvSpPr txBox="1"/>
          <p:nvPr>
            <p:custDataLst>
              <p:tags r:id="rId1"/>
            </p:custDataLst>
          </p:nvPr>
        </p:nvSpPr>
        <p:spPr>
          <a:xfrm>
            <a:off x="694606" y="1372453"/>
            <a:ext cx="11017223" cy="2201357"/>
          </a:xfrm>
          <a:prstGeom prst="rect">
            <a:avLst/>
          </a:prstGeom>
          <a:noFill/>
          <a:ln w="9525">
            <a:noFill/>
          </a:ln>
        </p:spPr>
        <p:txBody>
          <a:bodyPr wrap="square">
            <a:noAutofit/>
          </a:bodyPr>
          <a:lstStyle/>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Values defined in the params attribute can narrow down the location range of the request mapping. When the client makes a request, if the value of the request parameter is equal to the value defined by the params attribute, the mapped method can be executed normally; otherwise, the mapped method does not execute. An example of how params attribute values are defined is shown.</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custDataLst>
              <p:tags r:id="rId2"/>
            </p:custDataLst>
          </p:nvPr>
        </p:nvSpPr>
        <p:spPr>
          <a:xfrm>
            <a:off x="964787" y="3613433"/>
            <a:ext cx="10337800" cy="3103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3"/>
            </p:custDataLst>
          </p:nvPr>
        </p:nvSpPr>
        <p:spPr>
          <a:xfrm>
            <a:off x="1486757" y="3645818"/>
            <a:ext cx="9533890" cy="1178560"/>
          </a:xfrm>
          <a:prstGeom prst="rect">
            <a:avLst/>
          </a:prstGeom>
        </p:spPr>
        <p:txBody>
          <a:bodyPr wrap="square">
            <a:noAutofit/>
          </a:bodyPr>
          <a:lstStyle/>
          <a:p>
            <a:pPr algn="l">
              <a:lnSpc>
                <a:spcPct val="150000"/>
              </a:lnSpc>
              <a:defRPr/>
            </a:pPr>
            <a:r>
              <a:rPr sz="1800" dirty="0">
                <a:latin typeface="Courier New" panose="02070309020205020404" pitchFamily="49" charset="0"/>
                <a:sym typeface="+mn-ea"/>
              </a:rPr>
              <a:t>1@Controller</a:t>
            </a:r>
          </a:p>
          <a:p>
            <a:pPr algn="l">
              <a:lnSpc>
                <a:spcPct val="150000"/>
              </a:lnSpc>
              <a:defRPr/>
            </a:pPr>
            <a:r>
              <a:rPr sz="1800" dirty="0">
                <a:latin typeface="Courier New" panose="02070309020205020404" pitchFamily="49" charset="0"/>
                <a:sym typeface="+mn-ea"/>
              </a:rPr>
              <a:t>2public class </a:t>
            </a:r>
            <a:r>
              <a:rPr sz="1800" dirty="0" err="1">
                <a:latin typeface="Courier New" panose="02070309020205020404" pitchFamily="49" charset="0"/>
                <a:sym typeface="+mn-ea"/>
              </a:rPr>
              <a:t>ParamsController</a:t>
            </a:r>
            <a:r>
              <a:rPr sz="1800" dirty="0">
                <a:latin typeface="Courier New" panose="02070309020205020404" pitchFamily="49" charset="0"/>
                <a:sym typeface="+mn-ea"/>
              </a:rPr>
              <a:t> {</a:t>
            </a:r>
          </a:p>
          <a:p>
            <a:pPr algn="l">
              <a:lnSpc>
                <a:spcPct val="150000"/>
              </a:lnSpc>
              <a:defRPr/>
            </a:pPr>
            <a:r>
              <a:rPr sz="1800" dirty="0">
                <a:latin typeface="Courier New" panose="02070309020205020404" pitchFamily="49" charset="0"/>
                <a:sym typeface="+mn-ea"/>
              </a:rPr>
              <a:t>3    @RequestMapping(value = "/</a:t>
            </a:r>
            <a:r>
              <a:rPr sz="1800" dirty="0" err="1">
                <a:latin typeface="Courier New" panose="02070309020205020404" pitchFamily="49" charset="0"/>
                <a:sym typeface="+mn-ea"/>
              </a:rPr>
              <a:t>params",params</a:t>
            </a:r>
            <a:r>
              <a:rPr sz="1800" dirty="0">
                <a:latin typeface="Courier New" panose="02070309020205020404" pitchFamily="49" charset="0"/>
                <a:sym typeface="+mn-ea"/>
              </a:rPr>
              <a:t> = "id=1")</a:t>
            </a:r>
          </a:p>
          <a:p>
            <a:pPr algn="l">
              <a:lnSpc>
                <a:spcPct val="150000"/>
              </a:lnSpc>
              <a:defRPr/>
            </a:pPr>
            <a:r>
              <a:rPr sz="1800" dirty="0">
                <a:latin typeface="Courier New" panose="02070309020205020404" pitchFamily="49" charset="0"/>
                <a:sym typeface="+mn-ea"/>
              </a:rPr>
              <a:t>4    public void </a:t>
            </a:r>
            <a:r>
              <a:rPr sz="1800" dirty="0" err="1">
                <a:latin typeface="Courier New" panose="02070309020205020404" pitchFamily="49" charset="0"/>
                <a:sym typeface="+mn-ea"/>
              </a:rPr>
              <a:t>findById</a:t>
            </a:r>
            <a:r>
              <a:rPr sz="1800" dirty="0">
                <a:latin typeface="Courier New" panose="02070309020205020404" pitchFamily="49" charset="0"/>
                <a:sym typeface="+mn-ea"/>
              </a:rPr>
              <a:t>(String id) {</a:t>
            </a:r>
          </a:p>
          <a:p>
            <a:pPr algn="l">
              <a:lnSpc>
                <a:spcPct val="150000"/>
              </a:lnSpc>
              <a:defRPr/>
            </a:pPr>
            <a:r>
              <a:rPr sz="1800" dirty="0">
                <a:latin typeface="Courier New" panose="02070309020205020404" pitchFamily="49" charset="0"/>
                <a:sym typeface="+mn-ea"/>
              </a:rPr>
              <a:t>5        </a:t>
            </a:r>
            <a:r>
              <a:rPr sz="1800" dirty="0" err="1">
                <a:latin typeface="Courier New" panose="02070309020205020404" pitchFamily="49" charset="0"/>
                <a:sym typeface="+mn-ea"/>
              </a:rPr>
              <a:t>System.out.println</a:t>
            </a:r>
            <a:r>
              <a:rPr sz="1800" dirty="0">
                <a:latin typeface="Courier New" panose="02070309020205020404" pitchFamily="49" charset="0"/>
                <a:sym typeface="+mn-ea"/>
              </a:rPr>
              <a:t>("id="+id);</a:t>
            </a:r>
          </a:p>
          <a:p>
            <a:pPr algn="l">
              <a:lnSpc>
                <a:spcPct val="150000"/>
              </a:lnSpc>
              <a:defRPr/>
            </a:pPr>
            <a:r>
              <a:rPr sz="1800" dirty="0">
                <a:latin typeface="Courier New" panose="02070309020205020404" pitchFamily="49" charset="0"/>
                <a:sym typeface="+mn-ea"/>
              </a:rPr>
              <a:t>6}</a:t>
            </a:r>
          </a:p>
          <a:p>
            <a:pPr algn="l">
              <a:lnSpc>
                <a:spcPct val="150000"/>
              </a:lnSpc>
              <a:defRPr/>
            </a:pPr>
            <a:r>
              <a:rPr lang="en-US" sz="1800" dirty="0">
                <a:latin typeface="Courier New" panose="02070309020205020404" pitchFamily="49" charset="0"/>
                <a:sym typeface="+mn-ea"/>
              </a:rPr>
              <a:t>7}</a:t>
            </a:r>
            <a:endParaRPr sz="1800" dirty="0">
              <a:latin typeface="Courier New" panose="02070309020205020404" pitchFamily="49" charset="0"/>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5.4.3 URL path mapping methods</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5000"/>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target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132573" y="2569210"/>
            <a:ext cx="6129152" cy="251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definition of URL path mapping, be able to define URL path mapping based on request methods, URL path mapping based on Ant style, and mapping for defining Spring MVC controllers based on REST style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5.4.3 URL Path Mapping methods</a:t>
            </a:r>
          </a:p>
        </p:txBody>
      </p:sp>
      <p:sp>
        <p:nvSpPr>
          <p:cNvPr id="80" name="TextBox 35"/>
          <p:cNvSpPr txBox="1">
            <a:spLocks noChangeArrowheads="1"/>
          </p:cNvSpPr>
          <p:nvPr>
            <p:custDataLst>
              <p:tags r:id="rId1"/>
            </p:custDataLst>
          </p:nvPr>
        </p:nvSpPr>
        <p:spPr bwMode="auto">
          <a:xfrm>
            <a:off x="284259" y="1386419"/>
            <a:ext cx="11809311" cy="5729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In addition to limiting the requested method through the method property of the @RequestMapping annotation, starting from Spring 4.3, you can also use composite annotations to limit the requested method. Composite annotations simplify the mapping of commonly used HTTP request methods and better express the semantics of the annotated methods.</a:t>
            </a: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The combined annotations used by Spring MVC to handle requests and qualify the requested methods are as follows.</a:t>
            </a: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①@GetMapping: Requests that match HTTP-based GET methods</a:t>
            </a: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②@PostMapping: A request that matches the HTTP-based POST method</a:t>
            </a: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③@PutMapping: Matching requests for HTTP-based PUT methods</a:t>
            </a: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④@DeleteMapping: A request that matches an HTTP-based DELETE method</a:t>
            </a: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⑤@PatchMapping: Matches requests for the HTTP-based PATCH method</a:t>
            </a:r>
          </a:p>
        </p:txBody>
      </p:sp>
      <p:grpSp>
        <p:nvGrpSpPr>
          <p:cNvPr id="2" name="组合 1"/>
          <p:cNvGrpSpPr/>
          <p:nvPr/>
        </p:nvGrpSpPr>
        <p:grpSpPr>
          <a:xfrm>
            <a:off x="284259" y="909514"/>
            <a:ext cx="7820719" cy="796290"/>
            <a:chOff x="852276" y="1797999"/>
            <a:chExt cx="2780020" cy="796290"/>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3"/>
              </p:custDataLst>
            </p:nvPr>
          </p:nvSpPr>
          <p:spPr>
            <a:xfrm>
              <a:off x="852276" y="1797999"/>
              <a:ext cx="2767965" cy="796290"/>
            </a:xfrm>
            <a:prstGeom prst="rect">
              <a:avLst/>
            </a:prstGeom>
            <a:noFill/>
          </p:spPr>
          <p:txBody>
            <a:bodyPr wrap="square" rtlCol="0">
              <a:normAutofit fontScale="97513"/>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URL path mapping based on the request method</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5.4.3 URL path mapping methods</a:t>
            </a:r>
          </a:p>
        </p:txBody>
      </p:sp>
      <p:sp>
        <p:nvSpPr>
          <p:cNvPr id="11" name="文本框 10"/>
          <p:cNvSpPr txBox="1"/>
          <p:nvPr>
            <p:custDataLst>
              <p:tags r:id="rId1"/>
            </p:custDataLst>
          </p:nvPr>
        </p:nvSpPr>
        <p:spPr>
          <a:xfrm>
            <a:off x="947260" y="757246"/>
            <a:ext cx="10476537" cy="2888571"/>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Using a combined annotation instead of the @RequestMapping annotation can simplify the code by omitting the method attribute. The following uses @GetMapping as an example to explain how to use the combined annotation. @GetMapping is an abbreviation for @RequestMapping(method = RequestMethod.GET), and an example of using the @GetMapping annotation is shown below.</a:t>
            </a:r>
          </a:p>
        </p:txBody>
      </p:sp>
      <p:sp>
        <p:nvSpPr>
          <p:cNvPr id="5" name="矩形 4"/>
          <p:cNvSpPr/>
          <p:nvPr>
            <p:custDataLst>
              <p:tags r:id="rId2"/>
            </p:custDataLst>
          </p:nvPr>
        </p:nvSpPr>
        <p:spPr>
          <a:xfrm>
            <a:off x="926306" y="3645818"/>
            <a:ext cx="10337800" cy="19177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3"/>
            </p:custDataLst>
          </p:nvPr>
        </p:nvSpPr>
        <p:spPr>
          <a:xfrm>
            <a:off x="1448276" y="3678202"/>
            <a:ext cx="9533890" cy="1885315"/>
          </a:xfrm>
          <a:prstGeom prst="rect">
            <a:avLst/>
          </a:prstGeom>
        </p:spPr>
        <p:txBody>
          <a:bodyPr wrap="square">
            <a:noAutofit/>
          </a:bodyPr>
          <a:lstStyle/>
          <a:p>
            <a:pPr algn="l">
              <a:lnSpc>
                <a:spcPct val="150000"/>
              </a:lnSpc>
              <a:defRPr/>
            </a:pPr>
            <a:r>
              <a:rPr sz="2000" dirty="0">
                <a:latin typeface="Courier New" panose="02070309020205020404" pitchFamily="49" charset="0"/>
                <a:sym typeface="+mn-ea"/>
              </a:rPr>
              <a:t>1@GetMapping(value="/</a:t>
            </a:r>
            <a:r>
              <a:rPr sz="2000" dirty="0" err="1">
                <a:latin typeface="Courier New" panose="02070309020205020404" pitchFamily="49" charset="0"/>
                <a:sym typeface="+mn-ea"/>
              </a:rPr>
              <a:t>firstController</a:t>
            </a:r>
            <a:r>
              <a:rPr sz="2000" dirty="0">
                <a:latin typeface="Courier New" panose="02070309020205020404" pitchFamily="49" charset="0"/>
                <a:sym typeface="+mn-ea"/>
              </a:rPr>
              <a:t>")</a:t>
            </a:r>
          </a:p>
          <a:p>
            <a:pPr algn="l">
              <a:lnSpc>
                <a:spcPct val="150000"/>
              </a:lnSpc>
              <a:defRPr/>
            </a:pPr>
            <a:r>
              <a:rPr sz="2000" dirty="0">
                <a:latin typeface="Courier New" panose="02070309020205020404" pitchFamily="49" charset="0"/>
                <a:sym typeface="+mn-ea"/>
              </a:rPr>
              <a:t>2public void </a:t>
            </a:r>
            <a:r>
              <a:rPr sz="2000" dirty="0" err="1">
                <a:latin typeface="Courier New" panose="02070309020205020404" pitchFamily="49" charset="0"/>
                <a:sym typeface="+mn-ea"/>
              </a:rPr>
              <a:t>sayHello</a:t>
            </a:r>
            <a:r>
              <a:rPr sz="2000" dirty="0">
                <a:latin typeface="Courier New" panose="02070309020205020404" pitchFamily="49" charset="0"/>
                <a:sym typeface="+mn-ea"/>
              </a:rPr>
              <a:t>(){</a:t>
            </a:r>
          </a:p>
          <a:p>
            <a:pPr algn="l">
              <a:lnSpc>
                <a:spcPct val="150000"/>
              </a:lnSpc>
              <a:defRPr/>
            </a:pPr>
            <a:r>
              <a:rPr sz="2000" dirty="0">
                <a:latin typeface="Courier New" panose="02070309020205020404" pitchFamily="49" charset="0"/>
                <a:sym typeface="+mn-ea"/>
              </a:rPr>
              <a:t>3 // logical code</a:t>
            </a:r>
          </a:p>
          <a:p>
            <a:pPr algn="l">
              <a:lnSpc>
                <a:spcPct val="150000"/>
              </a:lnSpc>
              <a:defRPr/>
            </a:pPr>
            <a:r>
              <a:rPr sz="2000" dirty="0">
                <a:latin typeface="Courier New" panose="02070309020205020404" pitchFamily="49" charset="0"/>
                <a:sym typeface="+mn-ea"/>
              </a:rPr>
              <a:t>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5.4.3 URL path mapping methods</a:t>
            </a:r>
          </a:p>
        </p:txBody>
      </p:sp>
      <p:sp>
        <p:nvSpPr>
          <p:cNvPr id="80" name="TextBox 35"/>
          <p:cNvSpPr txBox="1">
            <a:spLocks noChangeArrowheads="1"/>
          </p:cNvSpPr>
          <p:nvPr>
            <p:custDataLst>
              <p:tags r:id="rId1"/>
            </p:custDataLst>
          </p:nvPr>
        </p:nvSpPr>
        <p:spPr bwMode="auto">
          <a:xfrm>
            <a:off x="1054735" y="1892300"/>
            <a:ext cx="1033589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Spring MVC supports Ant-style URL path mapping, which is essentially a wildcard style that associates accessed URL paths using wildcards in processor-mapped paths. There are three types of Ant-style wildcards.</a:t>
            </a: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(1)? : Match any single character.</a:t>
            </a: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②* : Matches any number of characters.</a:t>
            </a: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③** : Match any number of directory levels.</a:t>
            </a:r>
          </a:p>
        </p:txBody>
      </p:sp>
      <p:grpSp>
        <p:nvGrpSpPr>
          <p:cNvPr id="2" name="组合 1"/>
          <p:cNvGrpSpPr/>
          <p:nvPr/>
        </p:nvGrpSpPr>
        <p:grpSpPr>
          <a:xfrm>
            <a:off x="866775" y="1177925"/>
            <a:ext cx="5948511"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URL path mapping based on Ant style</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5.4.3 URL path mapping methods</a:t>
            </a:r>
          </a:p>
        </p:txBody>
      </p:sp>
      <p:sp>
        <p:nvSpPr>
          <p:cNvPr id="80" name="TextBox 35"/>
          <p:cNvSpPr txBox="1">
            <a:spLocks noChangeArrowheads="1"/>
          </p:cNvSpPr>
          <p:nvPr>
            <p:custDataLst>
              <p:tags r:id="rId1"/>
            </p:custDataLst>
          </p:nvPr>
        </p:nvSpPr>
        <p:spPr bwMode="auto">
          <a:xfrm>
            <a:off x="2710830" y="956944"/>
            <a:ext cx="6048672"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Path matching for Ant-style wildcards</a:t>
            </a:r>
          </a:p>
        </p:txBody>
      </p:sp>
      <p:graphicFrame>
        <p:nvGraphicFramePr>
          <p:cNvPr id="5" name="表格 4"/>
          <p:cNvGraphicFramePr/>
          <p:nvPr>
            <p:custDataLst>
              <p:tags r:id="rId2"/>
            </p:custDataLst>
            <p:extLst>
              <p:ext uri="{D42A27DB-BD31-4B8C-83A1-F6EECF244321}">
                <p14:modId xmlns:p14="http://schemas.microsoft.com/office/powerpoint/2010/main" val="248074460"/>
              </p:ext>
            </p:extLst>
          </p:nvPr>
        </p:nvGraphicFramePr>
        <p:xfrm>
          <a:off x="694606" y="1723388"/>
          <a:ext cx="10556875" cy="3674746"/>
        </p:xfrm>
        <a:graphic>
          <a:graphicData uri="http://schemas.openxmlformats.org/drawingml/2006/table">
            <a:tbl>
              <a:tblPr/>
              <a:tblGrid>
                <a:gridCol w="1424305">
                  <a:extLst>
                    <a:ext uri="{9D8B030D-6E8A-4147-A177-3AD203B41FA5}">
                      <a16:colId xmlns:a16="http://schemas.microsoft.com/office/drawing/2014/main" val="20000"/>
                    </a:ext>
                  </a:extLst>
                </a:gridCol>
                <a:gridCol w="2326640">
                  <a:extLst>
                    <a:ext uri="{9D8B030D-6E8A-4147-A177-3AD203B41FA5}">
                      <a16:colId xmlns:a16="http://schemas.microsoft.com/office/drawing/2014/main" val="20001"/>
                    </a:ext>
                  </a:extLst>
                </a:gridCol>
                <a:gridCol w="6805930">
                  <a:extLst>
                    <a:ext uri="{9D8B030D-6E8A-4147-A177-3AD203B41FA5}">
                      <a16:colId xmlns:a16="http://schemas.microsoft.com/office/drawing/2014/main" val="20002"/>
                    </a:ext>
                  </a:extLst>
                </a:gridCol>
              </a:tblGrid>
              <a:tr h="736600">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Wildcards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微软雅黑" panose="020B0503020204020204" pitchFamily="34" charset="-122"/>
                        </a:rPr>
                        <a:t>URL path example</a:t>
                      </a:r>
                      <a:endParaRPr lang="en-US" altLang="en-US" sz="1800" b="1">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Example Instructions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976630">
                <a:tc>
                  <a:txBody>
                    <a:bodyPr/>
                    <a:lstStyle/>
                    <a:p>
                      <a:pPr algn="ctr">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/ant1?</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Match the /ant1[anyone] path under the project root path, where [anyone] can be any single character, that is, there is exactly one character after /ant1, such as /ant12, /ant1a</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976630">
                <a:tc>
                  <a:txBody>
                    <a:bodyPr/>
                    <a:lstStyle/>
                    <a:p>
                      <a:pPr algn="ctr">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/ant2/*.do</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Match the /ant2/[any].do path under the project root path, where [any] can be any number of characters such as /ant2/findAll.do, /ant2/a.do</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5.4.3 URL path mapping methods</a:t>
            </a:r>
          </a:p>
        </p:txBody>
      </p:sp>
      <p:graphicFrame>
        <p:nvGraphicFramePr>
          <p:cNvPr id="5" name="表格 4"/>
          <p:cNvGraphicFramePr/>
          <p:nvPr>
            <p:custDataLst>
              <p:tags r:id="rId1"/>
            </p:custDataLst>
          </p:nvPr>
        </p:nvGraphicFramePr>
        <p:xfrm>
          <a:off x="958215" y="1454785"/>
          <a:ext cx="10556875" cy="3257550"/>
        </p:xfrm>
        <a:graphic>
          <a:graphicData uri="http://schemas.openxmlformats.org/drawingml/2006/table">
            <a:tbl>
              <a:tblPr/>
              <a:tblGrid>
                <a:gridCol w="1424305">
                  <a:extLst>
                    <a:ext uri="{9D8B030D-6E8A-4147-A177-3AD203B41FA5}">
                      <a16:colId xmlns:a16="http://schemas.microsoft.com/office/drawing/2014/main" val="20000"/>
                    </a:ext>
                  </a:extLst>
                </a:gridCol>
                <a:gridCol w="2326640">
                  <a:extLst>
                    <a:ext uri="{9D8B030D-6E8A-4147-A177-3AD203B41FA5}">
                      <a16:colId xmlns:a16="http://schemas.microsoft.com/office/drawing/2014/main" val="20001"/>
                    </a:ext>
                  </a:extLst>
                </a:gridCol>
                <a:gridCol w="6805930">
                  <a:extLst>
                    <a:ext uri="{9D8B030D-6E8A-4147-A177-3AD203B41FA5}">
                      <a16:colId xmlns:a16="http://schemas.microsoft.com/office/drawing/2014/main" val="20002"/>
                    </a:ext>
                  </a:extLst>
                </a:gridCol>
              </a:tblGrid>
              <a:tr h="735965">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Wildcards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微软雅黑" panose="020B0503020204020204" pitchFamily="34" charset="-122"/>
                        </a:rPr>
                        <a:t>URL path example</a:t>
                      </a:r>
                      <a:endParaRPr lang="en-US" altLang="en-US" sz="1800" b="1">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Example Instructions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1261110">
                <a:tc>
                  <a:txBody>
                    <a:bodyPr/>
                    <a:lstStyle/>
                    <a:p>
                      <a:pPr algn="ctr">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/**/ant4</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Match the /[anypath]/ant4 path under the project root path, where [anypath] can be any number of directory hierarchies. Such as /ant4, /a/ant4, /a/b/ant4</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260475">
                <a:tc>
                  <a:txBody>
                    <a:bodyPr/>
                    <a:lstStyle/>
                    <a:p>
                      <a:pPr algn="ctr">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/ant5/**</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900" b="0" dirty="0" err="1">
                          <a:solidFill>
                            <a:srgbClr val="595959"/>
                          </a:solidFill>
                          <a:latin typeface="微软雅黑" panose="020B0503020204020204" pitchFamily="34" charset="-122"/>
                          <a:ea typeface="微软雅黑" panose="020B0503020204020204" pitchFamily="34" charset="-122"/>
                        </a:rPr>
                        <a:t>Match the /ant5/[anypath] path under the project root path, where [anypath] can be any number of directory hierarchies. Such as /ant5, /ant5/a, /ant5/a/b</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5.4.3 URL path mapping methods</a:t>
            </a:r>
          </a:p>
        </p:txBody>
      </p:sp>
      <p:sp>
        <p:nvSpPr>
          <p:cNvPr id="80" name="TextBox 35"/>
          <p:cNvSpPr txBox="1">
            <a:spLocks noChangeArrowheads="1"/>
          </p:cNvSpPr>
          <p:nvPr>
            <p:custDataLst>
              <p:tags r:id="rId1"/>
            </p:custDataLst>
          </p:nvPr>
        </p:nvSpPr>
        <p:spPr bwMode="auto">
          <a:xfrm>
            <a:off x="891417" y="1475409"/>
            <a:ext cx="1033589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REST (Representational State Transfer, representational state transfer) is a style of access to web resources used to standardize the way web resources are accessed. RESTful is a practice of accessing web resources in the style of REST, emphasizing the use of HTTP methods (such as GET, POST, PUT, DELETE, etc.) to manipulate resources and adhering to principles such as statelessness and a unified interface. For example, the URL format for traditional-style access is as follows.</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0590" y="991313"/>
            <a:ext cx="7460679" cy="476905"/>
            <a:chOff x="852276" y="1797999"/>
            <a:chExt cx="2780020" cy="476905"/>
          </a:xfrm>
        </p:grpSpPr>
        <p:sp>
          <p:nvSpPr>
            <p:cNvPr id="3" name="矩形: 圆角 6"/>
            <p:cNvSpPr/>
            <p:nvPr>
              <p:custDataLst>
                <p:tags r:id="rId7"/>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8"/>
              </p:custDataLst>
            </p:nvPr>
          </p:nvSpPr>
          <p:spPr>
            <a:xfrm>
              <a:off x="852276" y="1797999"/>
              <a:ext cx="2767965"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URL path mapping based on RESTful style</a:t>
              </a:r>
            </a:p>
          </p:txBody>
        </p:sp>
      </p:grpSp>
      <p:sp>
        <p:nvSpPr>
          <p:cNvPr id="5" name="矩形 4"/>
          <p:cNvSpPr/>
          <p:nvPr>
            <p:custDataLst>
              <p:tags r:id="rId2"/>
            </p:custDataLst>
          </p:nvPr>
        </p:nvSpPr>
        <p:spPr>
          <a:xfrm>
            <a:off x="967740" y="3912870"/>
            <a:ext cx="10337800" cy="6826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3"/>
            </p:custDataLst>
          </p:nvPr>
        </p:nvSpPr>
        <p:spPr>
          <a:xfrm>
            <a:off x="1489710" y="3945255"/>
            <a:ext cx="9533890" cy="618490"/>
          </a:xfrm>
          <a:prstGeom prst="rect">
            <a:avLst/>
          </a:prstGeom>
        </p:spPr>
        <p:txBody>
          <a:bodyPr wrap="square">
            <a:noAutofit/>
          </a:bodyPr>
          <a:lstStyle/>
          <a:p>
            <a:pPr algn="l">
              <a:lnSpc>
                <a:spcPct val="150000"/>
              </a:lnSpc>
              <a:defRPr/>
            </a:pPr>
            <a:r>
              <a:rPr sz="1800">
                <a:latin typeface="Courier New" panose="02070309020205020404" pitchFamily="49" charset="0"/>
                <a:sym typeface="+mn-ea"/>
              </a:rPr>
              <a:t>http://... /findUserById? id=1</a:t>
            </a:r>
          </a:p>
        </p:txBody>
      </p:sp>
      <p:sp>
        <p:nvSpPr>
          <p:cNvPr id="6" name="TextBox 35"/>
          <p:cNvSpPr txBox="1">
            <a:spLocks noChangeArrowheads="1"/>
          </p:cNvSpPr>
          <p:nvPr>
            <p:custDataLst>
              <p:tags r:id="rId4"/>
            </p:custDataLst>
          </p:nvPr>
        </p:nvSpPr>
        <p:spPr bwMode="auto">
          <a:xfrm>
            <a:off x="1039495" y="4653915"/>
            <a:ext cx="1033589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rmAutofit fontScale="99852"/>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After adopting the RESTful style, the URL format it accesses is as follows.</a:t>
            </a:r>
          </a:p>
        </p:txBody>
      </p:sp>
      <p:sp>
        <p:nvSpPr>
          <p:cNvPr id="7" name="矩形 6"/>
          <p:cNvSpPr/>
          <p:nvPr>
            <p:custDataLst>
              <p:tags r:id="rId5"/>
            </p:custDataLst>
          </p:nvPr>
        </p:nvSpPr>
        <p:spPr>
          <a:xfrm>
            <a:off x="1022985" y="5331460"/>
            <a:ext cx="10337800" cy="6826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矩形 8"/>
          <p:cNvSpPr/>
          <p:nvPr>
            <p:custDataLst>
              <p:tags r:id="rId6"/>
            </p:custDataLst>
          </p:nvPr>
        </p:nvSpPr>
        <p:spPr>
          <a:xfrm>
            <a:off x="1544955" y="5363845"/>
            <a:ext cx="9533890" cy="618490"/>
          </a:xfrm>
          <a:prstGeom prst="rect">
            <a:avLst/>
          </a:prstGeom>
        </p:spPr>
        <p:txBody>
          <a:bodyPr wrap="square">
            <a:noAutofit/>
          </a:bodyPr>
          <a:lstStyle/>
          <a:p>
            <a:pPr algn="l">
              <a:lnSpc>
                <a:spcPct val="150000"/>
              </a:lnSpc>
              <a:defRPr/>
            </a:pPr>
            <a:r>
              <a:rPr sz="1800">
                <a:latin typeface="Courier New" panose="02070309020205020404" pitchFamily="49" charset="0"/>
                <a:sym typeface="+mn-ea"/>
              </a:rPr>
              <a:t>http://... /user/id/1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sz="2400" b="1" dirty="0">
                <a:solidFill>
                  <a:srgbClr val="595959"/>
                </a:solidFill>
                <a:latin typeface="微软雅黑" panose="020B0503020204020204" pitchFamily="34" charset="-122"/>
                <a:ea typeface="微软雅黑" panose="020B0503020204020204" pitchFamily="34" charset="-122"/>
                <a:cs typeface="+mn-ea"/>
                <a:sym typeface="+mn-lt"/>
              </a:rPr>
              <a:t>5.4.3 URL path mapping methods</a:t>
            </a:r>
          </a:p>
        </p:txBody>
      </p:sp>
      <p:sp>
        <p:nvSpPr>
          <p:cNvPr id="80" name="TextBox 35"/>
          <p:cNvSpPr txBox="1">
            <a:spLocks noChangeArrowheads="1"/>
          </p:cNvSpPr>
          <p:nvPr>
            <p:custDataLst>
              <p:tags r:id="rId1"/>
            </p:custDataLst>
          </p:nvPr>
        </p:nvSpPr>
        <p:spPr bwMode="auto">
          <a:xfrm>
            <a:off x="830937" y="907951"/>
            <a:ext cx="10335895"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fontAlgn="auto">
              <a:lnSpc>
                <a:spcPct val="150000"/>
              </a:lnSpc>
              <a:buClrTx/>
              <a:buSzTx/>
              <a:buFontTx/>
            </a:pPr>
            <a:r>
              <a:rPr lang="zh-CN" altLang="en-US" sz="2000" dirty="0">
                <a:solidFill>
                  <a:srgbClr val="1369B2"/>
                </a:solidFill>
                <a:latin typeface="微软雅黑" panose="020B0503020204020204" pitchFamily="34" charset="-122"/>
                <a:ea typeface="微软雅黑" panose="020B0503020204020204" pitchFamily="34" charset="-122"/>
                <a:cs typeface="+mn-ea"/>
              </a:rPr>
              <a:t>In RESTful style HTTP requests, four basic request operations are represented by four verbs: GET, POST, PUT, and DELETE. Among them, GET is used to retrieve the resource; POST is used to create a new resource; PUT is used to update resources; DELETE is used to delete a resource.</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4403090" y="2924175"/>
            <a:ext cx="3639185" cy="506730"/>
          </a:xfrm>
          <a:prstGeom prst="rect">
            <a:avLst/>
          </a:prstGeom>
          <a:noFill/>
          <a:ln w="9525">
            <a:noFill/>
          </a:ln>
        </p:spPr>
        <p:txBody>
          <a:bodyPr wrap="square">
            <a:normAutofit fontScale="63288" lnSpcReduction="20000"/>
          </a:bodyPr>
          <a:lstStyle/>
          <a:p>
            <a:pPr algn="just">
              <a:lnSpc>
                <a:spcPct val="150000"/>
              </a:lnSpc>
              <a:buClrTx/>
              <a:buSzTx/>
              <a:buFontTx/>
            </a:pPr>
            <a:r>
              <a:rPr lang="en-US" sz="1800" b="0">
                <a:latin typeface="Times New Roman" panose="02020603050405020304" charset="0"/>
                <a:ea typeface="宋体" panose="02010600030101010101" pitchFamily="2" charset="-122"/>
                <a:cs typeface="Times New Roman" panose="02020603050405020304" charset="0"/>
              </a:rPr>
              <a:t> Four agreed-upon ways of making requests in the RESTful style</a:t>
            </a:r>
            <a:endParaRPr lang="zh-CN" altLang="zh-CN" sz="1800" b="0" dirty="0">
              <a:solidFill>
                <a:srgbClr val="595959"/>
              </a:solidFill>
              <a:latin typeface="微软雅黑" panose="020B0503020204020204" pitchFamily="34" charset="-122"/>
              <a:ea typeface="微软雅黑" panose="020B0503020204020204" pitchFamily="34" charset="-122"/>
            </a:endParaRPr>
          </a:p>
        </p:txBody>
      </p:sp>
      <p:graphicFrame>
        <p:nvGraphicFramePr>
          <p:cNvPr id="10" name="表格 9"/>
          <p:cNvGraphicFramePr/>
          <p:nvPr>
            <p:custDataLst>
              <p:tags r:id="rId2"/>
            </p:custDataLst>
            <p:extLst>
              <p:ext uri="{D42A27DB-BD31-4B8C-83A1-F6EECF244321}">
                <p14:modId xmlns:p14="http://schemas.microsoft.com/office/powerpoint/2010/main" val="3470137766"/>
              </p:ext>
            </p:extLst>
          </p:nvPr>
        </p:nvGraphicFramePr>
        <p:xfrm>
          <a:off x="910630" y="2924175"/>
          <a:ext cx="10176510" cy="3235200"/>
        </p:xfrm>
        <a:graphic>
          <a:graphicData uri="http://schemas.openxmlformats.org/drawingml/2006/table">
            <a:tbl>
              <a:tblPr/>
              <a:tblGrid>
                <a:gridCol w="4712335">
                  <a:extLst>
                    <a:ext uri="{9D8B030D-6E8A-4147-A177-3AD203B41FA5}">
                      <a16:colId xmlns:a16="http://schemas.microsoft.com/office/drawing/2014/main" val="20000"/>
                    </a:ext>
                  </a:extLst>
                </a:gridCol>
                <a:gridCol w="1772285">
                  <a:extLst>
                    <a:ext uri="{9D8B030D-6E8A-4147-A177-3AD203B41FA5}">
                      <a16:colId xmlns:a16="http://schemas.microsoft.com/office/drawing/2014/main" val="20001"/>
                    </a:ext>
                  </a:extLst>
                </a:gridCol>
                <a:gridCol w="3691890">
                  <a:extLst>
                    <a:ext uri="{9D8B030D-6E8A-4147-A177-3AD203B41FA5}">
                      <a16:colId xmlns:a16="http://schemas.microsoft.com/office/drawing/2014/main" val="20002"/>
                    </a:ext>
                  </a:extLst>
                </a:gridCol>
              </a:tblGrid>
              <a:tr h="274320">
                <a:tc>
                  <a:txBody>
                    <a:bodyPr/>
                    <a:lstStyle/>
                    <a:p>
                      <a:pPr indent="0" algn="ctr">
                        <a:buNone/>
                      </a:pPr>
                      <a:r>
                        <a:rPr lang="en-US" sz="1800" b="1">
                          <a:latin typeface="微软雅黑" panose="020B0503020204020204" pitchFamily="34" charset="-122"/>
                          <a:ea typeface="微软雅黑" panose="020B0503020204020204" pitchFamily="34" charset="-122"/>
                          <a:cs typeface="微软雅黑" panose="020B0503020204020204" pitchFamily="34" charset="-122"/>
                        </a:rPr>
                        <a:t>URL path</a:t>
                      </a:r>
                      <a:endParaRPr lang="en-US" altLang="en-US" sz="1800" b="1">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lnL>
                      <a:noFill/>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9D9D9"/>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Request Method</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9D9D9"/>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cap="flat">
                      <a:noFill/>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0">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http://localhost:8080/chapter05/user/1</a:t>
                      </a: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HTTP GET</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Get parameter 1 to perform the query user operation</a:t>
                      </a: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http://localhost:8080/chapter05/user/1</a:t>
                      </a: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HTTP DELETE</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Get parameter 1 to delete the user</a:t>
                      </a: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http://localhost:8080/chapter05/user/1</a:t>
                      </a: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HTTP PUT</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Get parameter 1 to update the user operation</a:t>
                      </a: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http://localhost:8080/chapter05/user</a:t>
                      </a: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HTTP POST</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Add user operations</a:t>
                      </a: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rmAutofit fontScale="96476"/>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Summary of this chapter</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198403" y="1413570"/>
            <a:ext cx="9793605"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This chapter provides an overall overview of the basics of Spring MVC. A brief introduction to the Spring MVC framework is given first; Then the Spring MVC starter program was explained; Then a detailed explanation of the Spring MVC execution process through the starter program; Finally, the request mapping of Spring MVC was explained. Through the study of this chapter, readers can have a general understanding of the Spring MVC framework and lay the foundation for further study of Spring MVC.</a:t>
            </a:r>
          </a:p>
        </p:txBody>
      </p:sp>
      <p:sp>
        <p:nvSpPr>
          <p:cNvPr id="27" name="圆角矩形 26"/>
          <p:cNvSpPr/>
          <p:nvPr/>
        </p:nvSpPr>
        <p:spPr>
          <a:xfrm>
            <a:off x="839470" y="1269554"/>
            <a:ext cx="10511790" cy="5184576"/>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3f15e6573a385e41c33bb97e7105a62faa5c484"/>
  <p:tag name="COMMONDATA" val="eyJoZGlkIjoiNTQwODNlZjBiNzRkNjZmNWIwNWFhMDg5ODM5YzE3ZjIifQ=="/>
  <p:tag name="KSO_WPP_MARK_KEY" val="982352ae-fb85-4723-8ca9-7b0b57b9b06c"/>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16.1,&quot;left&quot;:122.65,&quot;top&quot;:156.8,&quot;width&quot;:709.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16.1,&quot;left&quot;:122.65,&quot;top&quot;:156.8,&quot;width&quot;:709.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16.1,&quot;left&quot;:122.65,&quot;top&quot;:156.8,&quot;width&quot;:709.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16.1,&quot;left&quot;:122.65,&quot;top&quot;:156.8,&quot;width&quot;:709.8}"/>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6.1,&quot;left&quot;:122.65,&quot;top&quot;:156.8,&quot;width&quot;:709.8}"/>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16.1,&quot;left&quot;:122.65,&quot;top&quot;:156.8,&quot;width&quot;:709.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16.1,&quot;left&quot;:122.65,&quot;top&quot;:156.8,&quot;width&quot;:709.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16.1,&quot;left&quot;:122.65,&quot;top&quot;:156.8,&quot;width&quot;:709.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16.1,&quot;left&quot;:122.65,&quot;top&quot;:156.8,&quot;width&quot;:709.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16.1,&quot;left&quot;:122.65,&quot;top&quot;:156.8,&quot;width&quot;:709.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16.1,&quot;left&quot;:122.65,&quot;top&quot;:156.8,&quot;width&quot;:709.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16.1,&quot;left&quot;:122.65,&quot;top&quot;:156.8,&quot;width&quot;:709.8}"/>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UNIT_TABLE_BEAUTIFY" val="smartTable{ce233ec2-62ec-44ba-a813-dd3baf9d8ed0}"/>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UNIT_TABLE_BEAUTIFY" val="smartTable{8218807e-a92a-42c7-b8f0-96095a05085d}"/>
  <p:tag name="TABLE_ENDDRAG_ORIGIN_RECT" val="821*210"/>
  <p:tag name="TABLE_ENDDRAG_RECT" val="73*197*821*210"/>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UNIT_TABLE_BEAUTIFY" val="smartTable{8edf21cd-a6f3-4a9e-a5f4-9b5c335a1d4c}"/>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UNIT_TABLE_BEAUTIFY" val="smartTable{f2ce7a6e-f7ec-4a0e-80bd-72feb08ff081}"/>
  <p:tag name="TABLE_ENDDRAG_ORIGIN_RECT" val="831*365"/>
  <p:tag name="TABLE_ENDDRAG_RECT" val="75*141*831*365"/>
</p:tagLst>
</file>

<file path=ppt/tags/tag240.xml><?xml version="1.0" encoding="utf-8"?>
<p:tagLst xmlns:a="http://schemas.openxmlformats.org/drawingml/2006/main" xmlns:r="http://schemas.openxmlformats.org/officeDocument/2006/relationships" xmlns:p="http://schemas.openxmlformats.org/presentationml/2006/main">
  <p:tag name="KSO_WM_UNIT_TABLE_BEAUTIFY" val="smartTable{10187f9b-094d-467d-9a9e-54960e5060ad}"/>
  <p:tag name="TABLE_ENDDRAG_ORIGIN_RECT" val="831*229"/>
  <p:tag name="TABLE_ENDDRAG_RECT" val="75*141*831*229"/>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UNIT_TABLE_BEAUTIFY" val="smartTable{6a2f6e92-c0f6-4a09-9780-fd3c7615c7f0}"/>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TotalTime>
  <Words>4365</Words>
  <Application>Microsoft Office PowerPoint</Application>
  <PresentationFormat>自定义</PresentationFormat>
  <Paragraphs>375</Paragraphs>
  <Slides>57</Slides>
  <Notes>57</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57</vt:i4>
      </vt:variant>
    </vt:vector>
  </HeadingPairs>
  <TitlesOfParts>
    <vt:vector size="65" baseType="lpstr">
      <vt:lpstr>Source Han Sans K Bold</vt:lpstr>
      <vt:lpstr>微软雅黑</vt:lpstr>
      <vt:lpstr>Arial</vt:lpstr>
      <vt:lpstr>Calibri</vt:lpstr>
      <vt:lpstr>Courier New</vt:lpstr>
      <vt:lpstr>Times New Roman</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 QinRu</cp:lastModifiedBy>
  <cp:revision>1358</cp:revision>
  <dcterms:created xsi:type="dcterms:W3CDTF">2020-11-11T09:29:00Z</dcterms:created>
  <dcterms:modified xsi:type="dcterms:W3CDTF">2026-04-29T07:34:30Z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69DB4B6826B6494390E926BE37E6C64D</vt:lpwstr>
  </property>
</Properties>
</file>