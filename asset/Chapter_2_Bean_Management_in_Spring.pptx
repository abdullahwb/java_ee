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9.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0.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1.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15.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17.xml" ContentType="application/vnd.openxmlformats-officedocument.presentationml.notesSlide+xml"/>
  <Override PartName="/ppt/tags/tag84.xml" ContentType="application/vnd.openxmlformats-officedocument.presentationml.tags+xml"/>
  <Override PartName="/ppt/notesSlides/notesSlide18.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20.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21.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22.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23.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24.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25.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26.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27.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notesSlides/notesSlide28.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notesSlides/notesSlide29.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32.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notesSlides/notesSlide33.xml" ContentType="application/vnd.openxmlformats-officedocument.presentationml.notesSlide+xml"/>
  <Override PartName="/ppt/tags/tag136.xml" ContentType="application/vnd.openxmlformats-officedocument.presentationml.tags+xml"/>
  <Override PartName="/ppt/notesSlides/notesSlide3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notesSlides/notesSlide35.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36.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37.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38.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39.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40.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43.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44.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notesSlides/notesSlide45.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46.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notesSlides/notesSlide47.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48.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notesSlides/notesSlide49.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50.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51.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notesSlides/notesSlide52.xml" ContentType="application/vnd.openxmlformats-officedocument.presentationml.notesSlide+xml"/>
  <Override PartName="/ppt/tags/tag245.xml" ContentType="application/vnd.openxmlformats-officedocument.presentationml.tags+xml"/>
  <Override PartName="/ppt/notesSlides/notesSlide53.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notesSlides/notesSlide54.xml" ContentType="application/vnd.openxmlformats-officedocument.presentationml.notesSlid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notesSlides/notesSlide55.xml" ContentType="application/vnd.openxmlformats-officedocument.presentationml.notesSlide+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56.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notesSlides/notesSlide57.xml" ContentType="application/vnd.openxmlformats-officedocument.presentationml.notesSlide+xml"/>
  <Override PartName="/ppt/tags/tag275.xml" ContentType="application/vnd.openxmlformats-officedocument.presentationml.tags+xml"/>
  <Override PartName="/ppt/tags/tag276.xml" ContentType="application/vnd.openxmlformats-officedocument.presentationml.tags+xml"/>
  <Override PartName="/ppt/notesSlides/notesSlide58.xml" ContentType="application/vnd.openxmlformats-officedocument.presentationml.notesSlide+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notesSlides/notesSlide59.xml" ContentType="application/vnd.openxmlformats-officedocument.presentationml.notesSlide+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notesSlides/notesSlide60.xml" ContentType="application/vnd.openxmlformats-officedocument.presentationml.notesSlide+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63.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notesSlides/notesSlide64.xml" ContentType="application/vnd.openxmlformats-officedocument.presentationml.notesSlide+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65.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notesSlides/notesSlide66.xml" ContentType="application/vnd.openxmlformats-officedocument.presentationml.notesSlide+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notesSlides/notesSlide67.xml" ContentType="application/vnd.openxmlformats-officedocument.presentationml.notesSlide+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notesSlides/notesSlide68.xml" ContentType="application/vnd.openxmlformats-officedocument.presentationml.notesSlide+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notesSlides/notesSlide69.xml" ContentType="application/vnd.openxmlformats-officedocument.presentationml.notesSlide+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notesSlides/notesSlide70.xml" ContentType="application/vnd.openxmlformats-officedocument.presentationml.notesSlide+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notesSlides/notesSlide71.xml" ContentType="application/vnd.openxmlformats-officedocument.presentationml.notesSlide+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notesSlides/notesSlide72.xml" ContentType="application/vnd.openxmlformats-officedocument.presentationml.notesSlide+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notesSlides/notesSlide73.xml" ContentType="application/vnd.openxmlformats-officedocument.presentationml.notesSlide+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notesSlides/notesSlide74.xml" ContentType="application/vnd.openxmlformats-officedocument.presentationml.notesSlide+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notesSlides/notesSlide75.xml" ContentType="application/vnd.openxmlformats-officedocument.presentationml.notesSlide+xml"/>
  <Override PartName="/ppt/tags/tag375.xml" ContentType="application/vnd.openxmlformats-officedocument.presentationml.tags+xml"/>
  <Override PartName="/ppt/tags/tag376.xml" ContentType="application/vnd.openxmlformats-officedocument.presentationml.tags+xml"/>
  <Override PartName="/ppt/notesSlides/notesSlide76.xml" ContentType="application/vnd.openxmlformats-officedocument.presentationml.notesSlide+xml"/>
  <Override PartName="/ppt/tags/tag377.xml" ContentType="application/vnd.openxmlformats-officedocument.presentationml.tags+xml"/>
  <Override PartName="/ppt/notesSlides/notesSlide77.xml" ContentType="application/vnd.openxmlformats-officedocument.presentationml.notesSlide+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notesSlides/notesSlide78.xml" ContentType="application/vnd.openxmlformats-officedocument.presentationml.notesSlide+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79.xml" ContentType="application/vnd.openxmlformats-officedocument.presentationml.notesSlid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notesSlides/notesSlide80.xml" ContentType="application/vnd.openxmlformats-officedocument.presentationml.notesSlide+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notesSlides/notesSlide81.xml" ContentType="application/vnd.openxmlformats-officedocument.presentationml.notesSlide+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notesSlides/notesSlide82.xml" ContentType="application/vnd.openxmlformats-officedocument.presentationml.notesSlide+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83.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notesSlides/notesSlide86.xml" ContentType="application/vnd.openxmlformats-officedocument.presentationml.notesSlide+xml"/>
  <Override PartName="/ppt/tags/tag425.xml" ContentType="application/vnd.openxmlformats-officedocument.presentationml.tags+xml"/>
  <Override PartName="/ppt/tags/tag426.xml" ContentType="application/vnd.openxmlformats-officedocument.presentationml.tags+xml"/>
  <Override PartName="/ppt/notesSlides/notesSlide87.xml" ContentType="application/vnd.openxmlformats-officedocument.presentationml.notesSlide+xml"/>
  <Override PartName="/ppt/tags/tag427.xml" ContentType="application/vnd.openxmlformats-officedocument.presentationml.tags+xml"/>
  <Override PartName="/ppt/tags/tag428.xml" ContentType="application/vnd.openxmlformats-officedocument.presentationml.tags+xml"/>
  <Override PartName="/ppt/notesSlides/notesSlide88.xml" ContentType="application/vnd.openxmlformats-officedocument.presentationml.notesSlide+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notesSlides/notesSlide89.xml" ContentType="application/vnd.openxmlformats-officedocument.presentationml.notesSlide+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notesSlides/notesSlide90.xml" ContentType="application/vnd.openxmlformats-officedocument.presentationml.notesSlide+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notesSlides/notesSlide91.xml" ContentType="application/vnd.openxmlformats-officedocument.presentationml.notesSlide+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notesSlides/notesSlide92.xml" ContentType="application/vnd.openxmlformats-officedocument.presentationml.notesSlide+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notesSlides/notesSlide93.xml" ContentType="application/vnd.openxmlformats-officedocument.presentationml.notesSlide+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notesSlides/notesSlide94.xml" ContentType="application/vnd.openxmlformats-officedocument.presentationml.notesSlide+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notesSlides/notesSlide95.xml" ContentType="application/vnd.openxmlformats-officedocument.presentationml.notesSlide+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notesSlides/notesSlide96.xml" ContentType="application/vnd.openxmlformats-officedocument.presentationml.notesSlide+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notesSlides/notesSlide97.xml" ContentType="application/vnd.openxmlformats-officedocument.presentationml.notesSlide+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notesSlides/notesSlide98.xml" ContentType="application/vnd.openxmlformats-officedocument.presentationml.notesSlide+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notesSlides/notesSlide99.xml" ContentType="application/vnd.openxmlformats-officedocument.presentationml.notesSlide+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105"/>
  </p:notesMasterIdLst>
  <p:handoutMasterIdLst>
    <p:handoutMasterId r:id="rId106"/>
  </p:handoutMasterIdLst>
  <p:sldIdLst>
    <p:sldId id="583" r:id="rId3"/>
    <p:sldId id="1124" r:id="rId4"/>
    <p:sldId id="584" r:id="rId5"/>
    <p:sldId id="586" r:id="rId6"/>
    <p:sldId id="587" r:id="rId7"/>
    <p:sldId id="1125" r:id="rId8"/>
    <p:sldId id="309" r:id="rId9"/>
    <p:sldId id="899" r:id="rId10"/>
    <p:sldId id="776" r:id="rId11"/>
    <p:sldId id="995" r:id="rId12"/>
    <p:sldId id="1126" r:id="rId13"/>
    <p:sldId id="1127" r:id="rId14"/>
    <p:sldId id="1128" r:id="rId15"/>
    <p:sldId id="1129" r:id="rId16"/>
    <p:sldId id="1130" r:id="rId17"/>
    <p:sldId id="1131" r:id="rId18"/>
    <p:sldId id="1096" r:id="rId19"/>
    <p:sldId id="1132" r:id="rId20"/>
    <p:sldId id="1097" r:id="rId21"/>
    <p:sldId id="1133" r:id="rId22"/>
    <p:sldId id="1134" r:id="rId23"/>
    <p:sldId id="1135" r:id="rId24"/>
    <p:sldId id="1136" r:id="rId25"/>
    <p:sldId id="1137" r:id="rId26"/>
    <p:sldId id="1138" r:id="rId27"/>
    <p:sldId id="1139" r:id="rId28"/>
    <p:sldId id="1140" r:id="rId29"/>
    <p:sldId id="1141" r:id="rId30"/>
    <p:sldId id="1142" r:id="rId31"/>
    <p:sldId id="1143" r:id="rId32"/>
    <p:sldId id="1144" r:id="rId33"/>
    <p:sldId id="1145" r:id="rId34"/>
    <p:sldId id="1098" r:id="rId35"/>
    <p:sldId id="1146" r:id="rId36"/>
    <p:sldId id="1099" r:id="rId37"/>
    <p:sldId id="1147" r:id="rId38"/>
    <p:sldId id="1148" r:id="rId39"/>
    <p:sldId id="1149" r:id="rId40"/>
    <p:sldId id="1150" r:id="rId41"/>
    <p:sldId id="1151" r:id="rId42"/>
    <p:sldId id="1152" r:id="rId43"/>
    <p:sldId id="1153" r:id="rId44"/>
    <p:sldId id="1155" r:id="rId45"/>
    <p:sldId id="1154" r:id="rId46"/>
    <p:sldId id="1156" r:id="rId47"/>
    <p:sldId id="1157" r:id="rId48"/>
    <p:sldId id="1193" r:id="rId49"/>
    <p:sldId id="1194" r:id="rId50"/>
    <p:sldId id="1195" r:id="rId51"/>
    <p:sldId id="1196" r:id="rId52"/>
    <p:sldId id="1197" r:id="rId53"/>
    <p:sldId id="1198" r:id="rId54"/>
    <p:sldId id="1271" r:id="rId55"/>
    <p:sldId id="1199" r:id="rId56"/>
    <p:sldId id="1200" r:id="rId57"/>
    <p:sldId id="1201" r:id="rId58"/>
    <p:sldId id="1202" r:id="rId59"/>
    <p:sldId id="1203" r:id="rId60"/>
    <p:sldId id="1204" r:id="rId61"/>
    <p:sldId id="1205" r:id="rId62"/>
    <p:sldId id="1206" r:id="rId63"/>
    <p:sldId id="1207" r:id="rId64"/>
    <p:sldId id="1208" r:id="rId65"/>
    <p:sldId id="1209" r:id="rId66"/>
    <p:sldId id="1210" r:id="rId67"/>
    <p:sldId id="1235" r:id="rId68"/>
    <p:sldId id="1236" r:id="rId69"/>
    <p:sldId id="1238" r:id="rId70"/>
    <p:sldId id="1239" r:id="rId71"/>
    <p:sldId id="1272" r:id="rId72"/>
    <p:sldId id="1240" r:id="rId73"/>
    <p:sldId id="1241" r:id="rId74"/>
    <p:sldId id="1242" r:id="rId75"/>
    <p:sldId id="1243" r:id="rId76"/>
    <p:sldId id="1244" r:id="rId77"/>
    <p:sldId id="1245" r:id="rId78"/>
    <p:sldId id="1246" r:id="rId79"/>
    <p:sldId id="1247" r:id="rId80"/>
    <p:sldId id="1248" r:id="rId81"/>
    <p:sldId id="1249" r:id="rId82"/>
    <p:sldId id="1250" r:id="rId83"/>
    <p:sldId id="1251" r:id="rId84"/>
    <p:sldId id="1252" r:id="rId85"/>
    <p:sldId id="1253" r:id="rId86"/>
    <p:sldId id="1254" r:id="rId87"/>
    <p:sldId id="1255" r:id="rId88"/>
    <p:sldId id="1257" r:id="rId89"/>
    <p:sldId id="1256" r:id="rId90"/>
    <p:sldId id="1258" r:id="rId91"/>
    <p:sldId id="1259" r:id="rId92"/>
    <p:sldId id="1260" r:id="rId93"/>
    <p:sldId id="1261" r:id="rId94"/>
    <p:sldId id="1262" r:id="rId95"/>
    <p:sldId id="1263" r:id="rId96"/>
    <p:sldId id="1264" r:id="rId97"/>
    <p:sldId id="1265" r:id="rId98"/>
    <p:sldId id="1266" r:id="rId99"/>
    <p:sldId id="1267" r:id="rId100"/>
    <p:sldId id="1268" r:id="rId101"/>
    <p:sldId id="1269" r:id="rId102"/>
    <p:sldId id="1270" r:id="rId103"/>
    <p:sldId id="889" r:id="rId104"/>
  </p:sldIdLst>
  <p:sldSz cx="12190413" cy="6859588"/>
  <p:notesSz cx="6858000" cy="9144000"/>
  <p:custDataLst>
    <p:tags r:id="rId107"/>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2" userDrawn="1">
          <p15:clr>
            <a:srgbClr val="A4A3A4"/>
          </p15:clr>
        </p15:guide>
        <p15:guide id="2" pos="664" userDrawn="1">
          <p15:clr>
            <a:srgbClr val="A4A3A4"/>
          </p15:clr>
        </p15:guide>
        <p15:guide id="3" pos="6996" userDrawn="1">
          <p15:clr>
            <a:srgbClr val="A4A3A4"/>
          </p15:clr>
        </p15:guide>
      </p15:sldGuideLst>
    </p:ext>
    <p:ext uri="{2D200454-40CA-4A62-9FC3-DE9A4176ACB9}">
      <p15:notesGuideLst xmlns:p15="http://schemas.microsoft.com/office/powerpoint/2012/main">
        <p15:guide id="1" orient="horz" pos="2685">
          <p15:clr>
            <a:srgbClr val="A4A3A4"/>
          </p15:clr>
        </p15:guide>
        <p15:guide id="2" pos="219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005DA2"/>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72" autoAdjust="0"/>
    <p:restoredTop sz="67380" autoAdjust="0"/>
  </p:normalViewPr>
  <p:slideViewPr>
    <p:cSldViewPr showGuides="1">
      <p:cViewPr varScale="1">
        <p:scale>
          <a:sx n="71" d="100"/>
          <a:sy n="71" d="100"/>
        </p:scale>
        <p:origin x="1542" y="78"/>
      </p:cViewPr>
      <p:guideLst>
        <p:guide orient="horz" pos="982"/>
        <p:guide pos="664"/>
        <p:guide pos="699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685"/>
        <p:guide pos="219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tags" Target="tags/tag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commentAuthors" Target="commentAuthor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2026/3/25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2026/3/25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CEE6F-1F4A-39A7-84F7-9BB79845B2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D400DA-6E74-E38F-6FCE-F2326BA8AACF}"/>
              </a:ext>
            </a:extLst>
          </p:cNvPr>
          <p:cNvSpPr>
            <a:spLocks noGrp="1" noRot="1" noChangeAspect="1"/>
          </p:cNvSpPr>
          <p:nvPr>
            <p:ph type="sldImg"/>
          </p:nvPr>
        </p:nvSpPr>
        <p:spPr>
          <a:xfrm>
            <a:off x="382588" y="685800"/>
            <a:ext cx="6092825" cy="3429000"/>
          </a:xfrm>
        </p:spPr>
      </p:sp>
      <p:sp>
        <p:nvSpPr>
          <p:cNvPr id="3" name="备注占位符 2">
            <a:extLst>
              <a:ext uri="{FF2B5EF4-FFF2-40B4-BE49-F238E27FC236}">
                <a16:creationId xmlns:a16="http://schemas.microsoft.com/office/drawing/2014/main" id="{5781BFEE-7B9A-FA66-7B3E-E7A0C865208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70C438D-05F9-52A1-CD20-EB8FF5CA9F3A}"/>
              </a:ext>
            </a:extLst>
          </p:cNvPr>
          <p:cNvSpPr>
            <a:spLocks noGrp="1"/>
          </p:cNvSpPr>
          <p:nvPr>
            <p:ph type="sldNum" sz="quarter" idx="10"/>
          </p:nvPr>
        </p:nvSpPr>
        <p:spPr/>
        <p:txBody>
          <a:bodyPr/>
          <a:lstStyle/>
          <a:p>
            <a:fld id="{7392B679-AE23-4750-8FB0-6513430B8953}" type="slidenum">
              <a:rPr lang="zh-CN" altLang="en-US" smtClean="0"/>
              <a:t>53</a:t>
            </a:fld>
            <a:endParaRPr lang="zh-CN" altLang="en-US"/>
          </a:p>
        </p:txBody>
      </p:sp>
    </p:spTree>
    <p:extLst>
      <p:ext uri="{BB962C8B-B14F-4D97-AF65-F5344CB8AC3E}">
        <p14:creationId xmlns:p14="http://schemas.microsoft.com/office/powerpoint/2010/main" val="18317376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71</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78</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79</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80</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81</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90</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91</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97</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98</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99</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100</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101</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2026/3/25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t>2026/3/25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4.xml"/><Relationship Id="rId4"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slideLayout" Target="../slideLayouts/slideLayout19.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slideLayout" Target="../slideLayouts/slideLayout19.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1.xml"/><Relationship Id="rId7" Type="http://schemas.openxmlformats.org/officeDocument/2006/relationships/notesSlide" Target="../notesSlides/notesSlide8.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Layout" Target="../slideLayouts/slideLayout10.xml"/><Relationship Id="rId5" Type="http://schemas.openxmlformats.org/officeDocument/2006/relationships/tags" Target="../tags/tag33.xml"/><Relationship Id="rId4" Type="http://schemas.openxmlformats.org/officeDocument/2006/relationships/tags" Target="../tags/tag32.xml"/></Relationships>
</file>

<file path=ppt/slides/_rels/slide9.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notesSlide" Target="../notesSlides/notesSlide9.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Layout" Target="../slideLayouts/slideLayout10.xml"/><Relationship Id="rId5" Type="http://schemas.openxmlformats.org/officeDocument/2006/relationships/tags" Target="../tags/tag38.xml"/><Relationship Id="rId4" Type="http://schemas.openxmlformats.org/officeDocument/2006/relationships/tags" Target="../tags/tag37.xml"/></Relationships>
</file>

<file path=ppt/slides/_rels/slide10.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notesSlide" Target="../notesSlides/notesSlide10.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slideLayout" Target="../slideLayouts/slideLayout10.xml"/><Relationship Id="rId5" Type="http://schemas.openxmlformats.org/officeDocument/2006/relationships/tags" Target="../tags/tag43.xml"/><Relationship Id="rId4" Type="http://schemas.openxmlformats.org/officeDocument/2006/relationships/tags" Target="../tags/tag4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5.xml"/><Relationship Id="rId1" Type="http://schemas.openxmlformats.org/officeDocument/2006/relationships/tags" Target="../tags/tag4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notesSlide" Target="../notesSlides/notesSlide1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slideLayout" Target="../slideLayouts/slideLayout10.xml"/><Relationship Id="rId5" Type="http://schemas.openxmlformats.org/officeDocument/2006/relationships/tags" Target="../tags/tag50.xml"/><Relationship Id="rId4" Type="http://schemas.openxmlformats.org/officeDocument/2006/relationships/tags" Target="../tags/tag49.xml"/></Relationships>
</file>

<file path=ppt/slides/_rels/slide13.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tags" Target="../tags/tag71.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notesSlide" Target="../notesSlides/notesSlide13.xml"/><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74.xml"/><Relationship Id="rId7" Type="http://schemas.openxmlformats.org/officeDocument/2006/relationships/notesSlide" Target="../notesSlides/notesSlide15.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slideLayout" Target="../slideLayouts/slideLayout10.xml"/><Relationship Id="rId5" Type="http://schemas.openxmlformats.org/officeDocument/2006/relationships/tags" Target="../tags/tag76.xml"/><Relationship Id="rId4" Type="http://schemas.openxmlformats.org/officeDocument/2006/relationships/tags" Target="../tags/tag75.xml"/></Relationships>
</file>

<file path=ppt/slides/_rels/slide16.xml.rels><?xml version="1.0" encoding="UTF-8" standalone="yes"?>
<Relationships xmlns="http://schemas.openxmlformats.org/package/2006/relationships"><Relationship Id="rId3" Type="http://schemas.openxmlformats.org/officeDocument/2006/relationships/tags" Target="../tags/tag79.xml"/><Relationship Id="rId7" Type="http://schemas.openxmlformats.org/officeDocument/2006/relationships/notesSlide" Target="../notesSlides/notesSlide16.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Layout" Target="../slideLayouts/slideLayout10.xml"/><Relationship Id="rId5" Type="http://schemas.openxmlformats.org/officeDocument/2006/relationships/tags" Target="../tags/tag81.xml"/><Relationship Id="rId4" Type="http://schemas.openxmlformats.org/officeDocument/2006/relationships/tags" Target="../tags/tag8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84.xml"/></Relationships>
</file>

<file path=ppt/slides/_rels/slide19.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19.xml"/><Relationship Id="rId5" Type="http://schemas.openxmlformats.org/officeDocument/2006/relationships/slideLayout" Target="../slideLayouts/slideLayout10.xml"/><Relationship Id="rId4" Type="http://schemas.openxmlformats.org/officeDocument/2006/relationships/tags" Target="../tags/tag88.xml"/></Relationships>
</file>

<file path=ppt/slides/_rels/slide20.xml.rels><?xml version="1.0" encoding="UTF-8" standalone="yes"?>
<Relationships xmlns="http://schemas.openxmlformats.org/package/2006/relationships"><Relationship Id="rId3" Type="http://schemas.openxmlformats.org/officeDocument/2006/relationships/tags" Target="../tags/tag91.xml"/><Relationship Id="rId7" Type="http://schemas.openxmlformats.org/officeDocument/2006/relationships/notesSlide" Target="../notesSlides/notesSlide20.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slideLayout" Target="../slideLayouts/slideLayout10.xml"/><Relationship Id="rId5" Type="http://schemas.openxmlformats.org/officeDocument/2006/relationships/tags" Target="../tags/tag93.xml"/><Relationship Id="rId4" Type="http://schemas.openxmlformats.org/officeDocument/2006/relationships/tags" Target="../tags/tag92.xml"/></Relationships>
</file>

<file path=ppt/slides/_rels/slide21.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notesSlide" Target="../notesSlides/notesSlide21.xml"/><Relationship Id="rId5" Type="http://schemas.openxmlformats.org/officeDocument/2006/relationships/slideLayout" Target="../slideLayouts/slideLayout10.xml"/><Relationship Id="rId4" Type="http://schemas.openxmlformats.org/officeDocument/2006/relationships/tags" Target="../tags/tag97.xml"/></Relationships>
</file>

<file path=ppt/slides/_rels/slide22.xml.rels><?xml version="1.0" encoding="UTF-8" standalone="yes"?>
<Relationships xmlns="http://schemas.openxmlformats.org/package/2006/relationships"><Relationship Id="rId3" Type="http://schemas.openxmlformats.org/officeDocument/2006/relationships/tags" Target="../tags/tag100.xml"/><Relationship Id="rId7" Type="http://schemas.openxmlformats.org/officeDocument/2006/relationships/notesSlide" Target="../notesSlides/notesSlide22.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slideLayout" Target="../slideLayouts/slideLayout10.xml"/><Relationship Id="rId5" Type="http://schemas.openxmlformats.org/officeDocument/2006/relationships/tags" Target="../tags/tag102.xml"/><Relationship Id="rId4" Type="http://schemas.openxmlformats.org/officeDocument/2006/relationships/tags" Target="../tags/tag101.xml"/></Relationships>
</file>

<file path=ppt/slides/_rels/slide23.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notesSlide" Target="../notesSlides/notesSlide23.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Layout" Target="../slideLayouts/slideLayout10.xml"/><Relationship Id="rId5" Type="http://schemas.openxmlformats.org/officeDocument/2006/relationships/tags" Target="../tags/tag107.xml"/><Relationship Id="rId4" Type="http://schemas.openxmlformats.org/officeDocument/2006/relationships/tags" Target="../tags/tag106.xml"/></Relationships>
</file>

<file path=ppt/slides/_rels/slide24.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notesSlide" Target="../notesSlides/notesSlide24.xml"/><Relationship Id="rId4"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113.xml"/><Relationship Id="rId7" Type="http://schemas.openxmlformats.org/officeDocument/2006/relationships/slideLayout" Target="../slideLayouts/slideLayout10.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18.xml"/><Relationship Id="rId1" Type="http://schemas.openxmlformats.org/officeDocument/2006/relationships/tags" Target="../tags/tag117.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0.xml"/><Relationship Id="rId1" Type="http://schemas.openxmlformats.org/officeDocument/2006/relationships/tags" Target="../tags/tag119.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4.xml"/><Relationship Id="rId1" Type="http://schemas.openxmlformats.org/officeDocument/2006/relationships/tags" Target="../tags/tag12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notesSlide" Target="../notesSlides/notesSlide30.xml"/><Relationship Id="rId5" Type="http://schemas.openxmlformats.org/officeDocument/2006/relationships/slideLayout" Target="../slideLayouts/slideLayout10.xml"/><Relationship Id="rId4" Type="http://schemas.openxmlformats.org/officeDocument/2006/relationships/tags" Target="../tags/tag1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31.xml"/><Relationship Id="rId7" Type="http://schemas.openxmlformats.org/officeDocument/2006/relationships/notesSlide" Target="../notesSlides/notesSlide32.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slideLayout" Target="../slideLayouts/slideLayout10.xml"/><Relationship Id="rId5" Type="http://schemas.openxmlformats.org/officeDocument/2006/relationships/tags" Target="../tags/tag133.xml"/><Relationship Id="rId4" Type="http://schemas.openxmlformats.org/officeDocument/2006/relationships/tags" Target="../tags/tag1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35.xml"/><Relationship Id="rId1" Type="http://schemas.openxmlformats.org/officeDocument/2006/relationships/tags" Target="../tags/tag13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136.xml"/></Relationships>
</file>

<file path=ppt/slides/_rels/slide35.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notesSlide" Target="../notesSlides/notesSlide35.xml"/><Relationship Id="rId5" Type="http://schemas.openxmlformats.org/officeDocument/2006/relationships/tags" Target="../tags/tag141.xml"/><Relationship Id="rId10" Type="http://schemas.openxmlformats.org/officeDocument/2006/relationships/slideLayout" Target="../slideLayouts/slideLayout10.xml"/><Relationship Id="rId4" Type="http://schemas.openxmlformats.org/officeDocument/2006/relationships/tags" Target="../tags/tag140.xml"/><Relationship Id="rId9" Type="http://schemas.openxmlformats.org/officeDocument/2006/relationships/tags" Target="../tags/tag145.xml"/></Relationships>
</file>

<file path=ppt/slides/_rels/slide36.xml.rels><?xml version="1.0" encoding="UTF-8" standalone="yes"?>
<Relationships xmlns="http://schemas.openxmlformats.org/package/2006/relationships"><Relationship Id="rId3" Type="http://schemas.openxmlformats.org/officeDocument/2006/relationships/tags" Target="../tags/tag148.xml"/><Relationship Id="rId7" Type="http://schemas.openxmlformats.org/officeDocument/2006/relationships/notesSlide" Target="../notesSlides/notesSlide36.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slideLayout" Target="../slideLayouts/slideLayout10.xml"/><Relationship Id="rId5" Type="http://schemas.openxmlformats.org/officeDocument/2006/relationships/tags" Target="../tags/tag150.xml"/><Relationship Id="rId4" Type="http://schemas.openxmlformats.org/officeDocument/2006/relationships/tags" Target="../tags/tag149.xml"/></Relationships>
</file>

<file path=ppt/slides/_rels/slide37.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image" Target="../media/image2.png"/><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hyperlink" Target="http://stu.ityxb.com/ebookview/636d352388afc23e51f0a6e8501cff14" TargetMode="Externa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notesSlide" Target="../notesSlides/notesSlide37.xml"/><Relationship Id="rId5" Type="http://schemas.openxmlformats.org/officeDocument/2006/relationships/tags" Target="../tags/tag155.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154.xml"/><Relationship Id="rId9" Type="http://schemas.openxmlformats.org/officeDocument/2006/relationships/tags" Target="../tags/tag159.xml"/><Relationship Id="rId1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image" Target="../media/image2.png"/><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hyperlink" Target="http://stu.ityxb.com/ebookview/4241daad6d2a43b6aea218ecf161b8d0" TargetMode="Externa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notesSlide" Target="../notesSlides/notesSlide38.xml"/><Relationship Id="rId5" Type="http://schemas.openxmlformats.org/officeDocument/2006/relationships/tags" Target="../tags/tag164.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tags" Target="../tags/tag176.xml"/><Relationship Id="rId13" Type="http://schemas.openxmlformats.org/officeDocument/2006/relationships/image" Target="../media/image2.png"/><Relationship Id="rId3" Type="http://schemas.openxmlformats.org/officeDocument/2006/relationships/tags" Target="../tags/tag171.xml"/><Relationship Id="rId7" Type="http://schemas.openxmlformats.org/officeDocument/2006/relationships/tags" Target="../tags/tag175.xml"/><Relationship Id="rId12" Type="http://schemas.openxmlformats.org/officeDocument/2006/relationships/hyperlink" Target="http://stu.ityxb.com/ebookview/243d925dcf4c7e6d07c246ca80dc4bad" TargetMode="Externa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notesSlide" Target="../notesSlides/notesSlide39.xml"/><Relationship Id="rId5" Type="http://schemas.openxmlformats.org/officeDocument/2006/relationships/tags" Target="../tags/tag173.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172.xml"/><Relationship Id="rId9" Type="http://schemas.openxmlformats.org/officeDocument/2006/relationships/tags" Target="../tags/tag177.xml"/><Relationship Id="rId14" Type="http://schemas.openxmlformats.org/officeDocument/2006/relationships/image" Target="../media/image3.png"/></Relationships>
</file>

<file path=ppt/slides/_rels/slide4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80.xml"/><Relationship Id="rId7" Type="http://schemas.openxmlformats.org/officeDocument/2006/relationships/notesSlide" Target="../notesSlides/notesSlide40.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slideLayout" Target="../slideLayouts/slideLayout10.xml"/><Relationship Id="rId5" Type="http://schemas.openxmlformats.org/officeDocument/2006/relationships/tags" Target="../tags/tag182.xml"/><Relationship Id="rId4" Type="http://schemas.openxmlformats.org/officeDocument/2006/relationships/tags" Target="../tags/tag181.xml"/></Relationships>
</file>

<file path=ppt/slides/_rels/slide4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85.xml"/><Relationship Id="rId7" Type="http://schemas.openxmlformats.org/officeDocument/2006/relationships/notesSlide" Target="../notesSlides/notesSlide41.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slideLayout" Target="../slideLayouts/slideLayout10.xml"/><Relationship Id="rId5" Type="http://schemas.openxmlformats.org/officeDocument/2006/relationships/tags" Target="../tags/tag187.xml"/><Relationship Id="rId4" Type="http://schemas.openxmlformats.org/officeDocument/2006/relationships/tags" Target="../tags/tag18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tags" Target="../tags/tag190.xml"/><Relationship Id="rId7" Type="http://schemas.openxmlformats.org/officeDocument/2006/relationships/notesSlide" Target="../notesSlides/notesSlide43.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slideLayout" Target="../slideLayouts/slideLayout10.xml"/><Relationship Id="rId5" Type="http://schemas.openxmlformats.org/officeDocument/2006/relationships/tags" Target="../tags/tag192.xml"/><Relationship Id="rId4" Type="http://schemas.openxmlformats.org/officeDocument/2006/relationships/tags" Target="../tags/tag191.xml"/></Relationships>
</file>

<file path=ppt/slides/_rels/slide4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195.xml"/><Relationship Id="rId7" Type="http://schemas.openxmlformats.org/officeDocument/2006/relationships/notesSlide" Target="../notesSlides/notesSlide44.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slideLayout" Target="../slideLayouts/slideLayout10.xml"/><Relationship Id="rId5" Type="http://schemas.openxmlformats.org/officeDocument/2006/relationships/tags" Target="../tags/tag197.xml"/><Relationship Id="rId4" Type="http://schemas.openxmlformats.org/officeDocument/2006/relationships/tags" Target="../tags/tag196.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99.xml"/><Relationship Id="rId1" Type="http://schemas.openxmlformats.org/officeDocument/2006/relationships/tags" Target="../tags/tag198.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8" Type="http://schemas.openxmlformats.org/officeDocument/2006/relationships/tags" Target="../tags/tag207.xml"/><Relationship Id="rId13" Type="http://schemas.openxmlformats.org/officeDocument/2006/relationships/hyperlink" Target="http://stu.ityxb.com/ebookview/435dab73769a2f0f6b8e0273cf61f044" TargetMode="External"/><Relationship Id="rId3" Type="http://schemas.openxmlformats.org/officeDocument/2006/relationships/tags" Target="../tags/tag202.xml"/><Relationship Id="rId7" Type="http://schemas.openxmlformats.org/officeDocument/2006/relationships/tags" Target="../tags/tag206.xml"/><Relationship Id="rId12" Type="http://schemas.openxmlformats.org/officeDocument/2006/relationships/notesSlide" Target="../notesSlides/notesSlide46.xml"/><Relationship Id="rId2" Type="http://schemas.openxmlformats.org/officeDocument/2006/relationships/tags" Target="../tags/tag201.xml"/><Relationship Id="rId16" Type="http://schemas.openxmlformats.org/officeDocument/2006/relationships/image" Target="../media/image4.svg"/><Relationship Id="rId1" Type="http://schemas.openxmlformats.org/officeDocument/2006/relationships/tags" Target="../tags/tag200.xml"/><Relationship Id="rId6" Type="http://schemas.openxmlformats.org/officeDocument/2006/relationships/tags" Target="../tags/tag205.xml"/><Relationship Id="rId11" Type="http://schemas.openxmlformats.org/officeDocument/2006/relationships/slideLayout" Target="../slideLayouts/slideLayout10.xml"/><Relationship Id="rId5" Type="http://schemas.openxmlformats.org/officeDocument/2006/relationships/tags" Target="../tags/tag204.xml"/><Relationship Id="rId15" Type="http://schemas.openxmlformats.org/officeDocument/2006/relationships/image" Target="../media/image3.png"/><Relationship Id="rId10" Type="http://schemas.openxmlformats.org/officeDocument/2006/relationships/tags" Target="../tags/tag209.xml"/><Relationship Id="rId4" Type="http://schemas.openxmlformats.org/officeDocument/2006/relationships/tags" Target="../tags/tag203.xml"/><Relationship Id="rId9" Type="http://schemas.openxmlformats.org/officeDocument/2006/relationships/tags" Target="../tags/tag208.xml"/><Relationship Id="rId14" Type="http://schemas.openxmlformats.org/officeDocument/2006/relationships/image" Target="../media/image2.png"/></Relationships>
</file>

<file path=ppt/slides/_rels/slide47.xml.rels><?xml version="1.0" encoding="UTF-8" standalone="yes"?>
<Relationships xmlns="http://schemas.openxmlformats.org/package/2006/relationships"><Relationship Id="rId8" Type="http://schemas.openxmlformats.org/officeDocument/2006/relationships/tags" Target="../tags/tag217.xml"/><Relationship Id="rId13" Type="http://schemas.openxmlformats.org/officeDocument/2006/relationships/image" Target="../media/image2.png"/><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hyperlink" Target="http://stu.ityxb.com/ebookview/7d10f38a4ed1f88c8791150be9002237" TargetMode="Externa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notesSlide" Target="../notesSlides/notesSlide47.xml"/><Relationship Id="rId5" Type="http://schemas.openxmlformats.org/officeDocument/2006/relationships/tags" Target="../tags/tag214.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213.xml"/><Relationship Id="rId9" Type="http://schemas.openxmlformats.org/officeDocument/2006/relationships/tags" Target="../tags/tag218.xml"/><Relationship Id="rId14" Type="http://schemas.openxmlformats.org/officeDocument/2006/relationships/image" Target="../media/image3.png"/></Relationships>
</file>

<file path=ppt/slides/_rels/slide4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21.xml"/><Relationship Id="rId7" Type="http://schemas.openxmlformats.org/officeDocument/2006/relationships/notesSlide" Target="../notesSlides/notesSlide48.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slideLayout" Target="../slideLayouts/slideLayout10.xml"/><Relationship Id="rId5" Type="http://schemas.openxmlformats.org/officeDocument/2006/relationships/tags" Target="../tags/tag223.xml"/><Relationship Id="rId4" Type="http://schemas.openxmlformats.org/officeDocument/2006/relationships/tags" Target="../tags/tag222.xml"/></Relationships>
</file>

<file path=ppt/slides/_rels/slide49.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image" Target="../media/image2.png"/><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hyperlink" Target="http://stu.ityxb.com/ebookview/372f53f12ce7582778654857bba430e1" TargetMode="External"/><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notesSlide" Target="../notesSlides/notesSlide49.xml"/><Relationship Id="rId5" Type="http://schemas.openxmlformats.org/officeDocument/2006/relationships/tags" Target="../tags/tag228.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227.xml"/><Relationship Id="rId9" Type="http://schemas.openxmlformats.org/officeDocument/2006/relationships/tags" Target="../tags/tag232.xml"/><Relationship Id="rId14" Type="http://schemas.openxmlformats.org/officeDocument/2006/relationships/image" Target="../media/image3.png"/></Relationships>
</file>

<file path=ppt/slides/_rels/slide5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35.xml"/><Relationship Id="rId7" Type="http://schemas.openxmlformats.org/officeDocument/2006/relationships/notesSlide" Target="../notesSlides/notesSlide50.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slideLayout" Target="../slideLayouts/slideLayout10.xml"/><Relationship Id="rId5" Type="http://schemas.openxmlformats.org/officeDocument/2006/relationships/tags" Target="../tags/tag237.xml"/><Relationship Id="rId4" Type="http://schemas.openxmlformats.org/officeDocument/2006/relationships/tags" Target="../tags/tag236.xml"/></Relationships>
</file>

<file path=ppt/slides/_rels/slide5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40.xml"/><Relationship Id="rId7" Type="http://schemas.openxmlformats.org/officeDocument/2006/relationships/notesSlide" Target="../notesSlides/notesSlide51.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slideLayout" Target="../slideLayouts/slideLayout10.xml"/><Relationship Id="rId5" Type="http://schemas.openxmlformats.org/officeDocument/2006/relationships/tags" Target="../tags/tag242.xml"/><Relationship Id="rId4" Type="http://schemas.openxmlformats.org/officeDocument/2006/relationships/tags" Target="../tags/tag24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44.xml"/><Relationship Id="rId1" Type="http://schemas.openxmlformats.org/officeDocument/2006/relationships/tags" Target="../tags/tag243.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245.xml"/></Relationships>
</file>

<file path=ppt/slides/_rels/slide54.xml.rels><?xml version="1.0" encoding="UTF-8" standalone="yes"?>
<Relationships xmlns="http://schemas.openxmlformats.org/package/2006/relationships"><Relationship Id="rId8" Type="http://schemas.openxmlformats.org/officeDocument/2006/relationships/tags" Target="../tags/tag253.xml"/><Relationship Id="rId13" Type="http://schemas.openxmlformats.org/officeDocument/2006/relationships/hyperlink" Target="http://stu.ityxb.com/ebookview/d348de2d7e770824ef05414d5442a5b7" TargetMode="External"/><Relationship Id="rId3" Type="http://schemas.openxmlformats.org/officeDocument/2006/relationships/tags" Target="../tags/tag248.xml"/><Relationship Id="rId7" Type="http://schemas.openxmlformats.org/officeDocument/2006/relationships/tags" Target="../tags/tag252.xml"/><Relationship Id="rId12" Type="http://schemas.openxmlformats.org/officeDocument/2006/relationships/notesSlide" Target="../notesSlides/notesSlide54.xml"/><Relationship Id="rId2" Type="http://schemas.openxmlformats.org/officeDocument/2006/relationships/tags" Target="../tags/tag247.xml"/><Relationship Id="rId16" Type="http://schemas.openxmlformats.org/officeDocument/2006/relationships/image" Target="../media/image4.svg"/><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slideLayout" Target="../slideLayouts/slideLayout10.xml"/><Relationship Id="rId5" Type="http://schemas.openxmlformats.org/officeDocument/2006/relationships/tags" Target="../tags/tag250.xml"/><Relationship Id="rId15" Type="http://schemas.openxmlformats.org/officeDocument/2006/relationships/image" Target="../media/image3.png"/><Relationship Id="rId10" Type="http://schemas.openxmlformats.org/officeDocument/2006/relationships/tags" Target="../tags/tag255.xml"/><Relationship Id="rId4" Type="http://schemas.openxmlformats.org/officeDocument/2006/relationships/tags" Target="../tags/tag249.xml"/><Relationship Id="rId9" Type="http://schemas.openxmlformats.org/officeDocument/2006/relationships/tags" Target="../tags/tag254.xml"/><Relationship Id="rId14" Type="http://schemas.openxmlformats.org/officeDocument/2006/relationships/image" Target="../media/image2.png"/></Relationships>
</file>

<file path=ppt/slides/_rels/slide55.xml.rels><?xml version="1.0" encoding="UTF-8" standalone="yes"?>
<Relationships xmlns="http://schemas.openxmlformats.org/package/2006/relationships"><Relationship Id="rId8" Type="http://schemas.openxmlformats.org/officeDocument/2006/relationships/tags" Target="../tags/tag263.xml"/><Relationship Id="rId13" Type="http://schemas.openxmlformats.org/officeDocument/2006/relationships/image" Target="../media/image2.png"/><Relationship Id="rId3" Type="http://schemas.openxmlformats.org/officeDocument/2006/relationships/tags" Target="../tags/tag258.xml"/><Relationship Id="rId7" Type="http://schemas.openxmlformats.org/officeDocument/2006/relationships/tags" Target="../tags/tag262.xml"/><Relationship Id="rId12" Type="http://schemas.openxmlformats.org/officeDocument/2006/relationships/hyperlink" Target="http://stu.ityxb.com/ebookview/29071191f192652224bfe5b86f4d0497" TargetMode="External"/><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notesSlide" Target="../notesSlides/notesSlide55.xml"/><Relationship Id="rId5" Type="http://schemas.openxmlformats.org/officeDocument/2006/relationships/tags" Target="../tags/tag260.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259.xml"/><Relationship Id="rId9" Type="http://schemas.openxmlformats.org/officeDocument/2006/relationships/tags" Target="../tags/tag264.xml"/><Relationship Id="rId14" Type="http://schemas.openxmlformats.org/officeDocument/2006/relationships/image" Target="../media/image3.png"/></Relationships>
</file>

<file path=ppt/slides/_rels/slide5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267.xml"/><Relationship Id="rId7" Type="http://schemas.openxmlformats.org/officeDocument/2006/relationships/notesSlide" Target="../notesSlides/notesSlide56.xml"/><Relationship Id="rId2" Type="http://schemas.openxmlformats.org/officeDocument/2006/relationships/tags" Target="../tags/tag266.xml"/><Relationship Id="rId1" Type="http://schemas.openxmlformats.org/officeDocument/2006/relationships/tags" Target="../tags/tag265.xml"/><Relationship Id="rId6" Type="http://schemas.openxmlformats.org/officeDocument/2006/relationships/slideLayout" Target="../slideLayouts/slideLayout10.xml"/><Relationship Id="rId5" Type="http://schemas.openxmlformats.org/officeDocument/2006/relationships/tags" Target="../tags/tag269.xml"/><Relationship Id="rId4" Type="http://schemas.openxmlformats.org/officeDocument/2006/relationships/tags" Target="../tags/tag268.xml"/></Relationships>
</file>

<file path=ppt/slides/_rels/slide5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72.xml"/><Relationship Id="rId7" Type="http://schemas.openxmlformats.org/officeDocument/2006/relationships/notesSlide" Target="../notesSlides/notesSlide57.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slideLayout" Target="../slideLayouts/slideLayout10.xml"/><Relationship Id="rId5" Type="http://schemas.openxmlformats.org/officeDocument/2006/relationships/tags" Target="../tags/tag274.xml"/><Relationship Id="rId4" Type="http://schemas.openxmlformats.org/officeDocument/2006/relationships/tags" Target="../tags/tag273.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76.xml"/><Relationship Id="rId1" Type="http://schemas.openxmlformats.org/officeDocument/2006/relationships/tags" Target="../tags/tag275.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hyperlink" Target="http://stu.ityxb.com/ebookview/d4ae3a1e58bfdc05b129502860704d4e" TargetMode="External"/><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notesSlide" Target="../notesSlides/notesSlide59.xml"/><Relationship Id="rId2" Type="http://schemas.openxmlformats.org/officeDocument/2006/relationships/tags" Target="../tags/tag278.xml"/><Relationship Id="rId16" Type="http://schemas.openxmlformats.org/officeDocument/2006/relationships/image" Target="../media/image4.svg"/><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slideLayout" Target="../slideLayouts/slideLayout10.xml"/><Relationship Id="rId5" Type="http://schemas.openxmlformats.org/officeDocument/2006/relationships/tags" Target="../tags/tag281.xml"/><Relationship Id="rId15" Type="http://schemas.openxmlformats.org/officeDocument/2006/relationships/image" Target="../media/image3.png"/><Relationship Id="rId10" Type="http://schemas.openxmlformats.org/officeDocument/2006/relationships/tags" Target="../tags/tag286.xml"/><Relationship Id="rId4" Type="http://schemas.openxmlformats.org/officeDocument/2006/relationships/tags" Target="../tags/tag280.xml"/><Relationship Id="rId9" Type="http://schemas.openxmlformats.org/officeDocument/2006/relationships/tags" Target="../tags/tag285.xml"/><Relationship Id="rId14" Type="http://schemas.openxmlformats.org/officeDocument/2006/relationships/image" Target="../media/image2.png"/></Relationships>
</file>

<file path=ppt/slides/_rels/slide60.xml.rels><?xml version="1.0" encoding="UTF-8" standalone="yes"?>
<Relationships xmlns="http://schemas.openxmlformats.org/package/2006/relationships"><Relationship Id="rId8" Type="http://schemas.openxmlformats.org/officeDocument/2006/relationships/tags" Target="../tags/tag294.xml"/><Relationship Id="rId13" Type="http://schemas.openxmlformats.org/officeDocument/2006/relationships/image" Target="../media/image2.png"/><Relationship Id="rId3" Type="http://schemas.openxmlformats.org/officeDocument/2006/relationships/tags" Target="../tags/tag289.xml"/><Relationship Id="rId7" Type="http://schemas.openxmlformats.org/officeDocument/2006/relationships/tags" Target="../tags/tag293.xml"/><Relationship Id="rId12" Type="http://schemas.openxmlformats.org/officeDocument/2006/relationships/hyperlink" Target="http://stu.ityxb.com/ebookview/a9778bebb7c0e2a29db603a7b58db8e8" TargetMode="Externa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tags" Target="../tags/tag292.xml"/><Relationship Id="rId11" Type="http://schemas.openxmlformats.org/officeDocument/2006/relationships/notesSlide" Target="../notesSlides/notesSlide60.xml"/><Relationship Id="rId5" Type="http://schemas.openxmlformats.org/officeDocument/2006/relationships/tags" Target="../tags/tag291.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290.xml"/><Relationship Id="rId9" Type="http://schemas.openxmlformats.org/officeDocument/2006/relationships/tags" Target="../tags/tag295.xml"/><Relationship Id="rId14" Type="http://schemas.openxmlformats.org/officeDocument/2006/relationships/image" Target="../media/image3.png"/></Relationships>
</file>

<file path=ppt/slides/_rels/slide6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98.xml"/><Relationship Id="rId7" Type="http://schemas.openxmlformats.org/officeDocument/2006/relationships/notesSlide" Target="../notesSlides/notesSlide61.xml"/><Relationship Id="rId2" Type="http://schemas.openxmlformats.org/officeDocument/2006/relationships/tags" Target="../tags/tag297.xml"/><Relationship Id="rId1" Type="http://schemas.openxmlformats.org/officeDocument/2006/relationships/tags" Target="../tags/tag296.xml"/><Relationship Id="rId6" Type="http://schemas.openxmlformats.org/officeDocument/2006/relationships/slideLayout" Target="../slideLayouts/slideLayout10.xml"/><Relationship Id="rId5" Type="http://schemas.openxmlformats.org/officeDocument/2006/relationships/tags" Target="../tags/tag300.xml"/><Relationship Id="rId4" Type="http://schemas.openxmlformats.org/officeDocument/2006/relationships/tags" Target="../tags/tag29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tags" Target="../tags/tag303.xml"/><Relationship Id="rId7" Type="http://schemas.openxmlformats.org/officeDocument/2006/relationships/notesSlide" Target="../notesSlides/notesSlide63.xml"/><Relationship Id="rId2" Type="http://schemas.openxmlformats.org/officeDocument/2006/relationships/tags" Target="../tags/tag302.xml"/><Relationship Id="rId1" Type="http://schemas.openxmlformats.org/officeDocument/2006/relationships/tags" Target="../tags/tag301.xml"/><Relationship Id="rId6" Type="http://schemas.openxmlformats.org/officeDocument/2006/relationships/slideLayout" Target="../slideLayouts/slideLayout10.xml"/><Relationship Id="rId5" Type="http://schemas.openxmlformats.org/officeDocument/2006/relationships/tags" Target="../tags/tag305.xml"/><Relationship Id="rId4" Type="http://schemas.openxmlformats.org/officeDocument/2006/relationships/tags" Target="../tags/tag304.xml"/></Relationships>
</file>

<file path=ppt/slides/_rels/slide6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08.xml"/><Relationship Id="rId7" Type="http://schemas.openxmlformats.org/officeDocument/2006/relationships/notesSlide" Target="../notesSlides/notesSlide64.xml"/><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slideLayout" Target="../slideLayouts/slideLayout10.xml"/><Relationship Id="rId5" Type="http://schemas.openxmlformats.org/officeDocument/2006/relationships/tags" Target="../tags/tag310.xml"/><Relationship Id="rId4" Type="http://schemas.openxmlformats.org/officeDocument/2006/relationships/tags" Target="../tags/tag309.xml"/></Relationships>
</file>

<file path=ppt/slides/_rels/slide65.xml.rels><?xml version="1.0" encoding="UTF-8" standalone="yes"?>
<Relationships xmlns="http://schemas.openxmlformats.org/package/2006/relationships"><Relationship Id="rId3" Type="http://schemas.openxmlformats.org/officeDocument/2006/relationships/tags" Target="../tags/tag313.xml"/><Relationship Id="rId2" Type="http://schemas.openxmlformats.org/officeDocument/2006/relationships/tags" Target="../tags/tag312.xml"/><Relationship Id="rId1" Type="http://schemas.openxmlformats.org/officeDocument/2006/relationships/tags" Target="../tags/tag311.xml"/><Relationship Id="rId5" Type="http://schemas.openxmlformats.org/officeDocument/2006/relationships/notesSlide" Target="../notesSlides/notesSlide65.xml"/><Relationship Id="rId4"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8" Type="http://schemas.openxmlformats.org/officeDocument/2006/relationships/tags" Target="../tags/tag321.xml"/><Relationship Id="rId13" Type="http://schemas.openxmlformats.org/officeDocument/2006/relationships/image" Target="../media/image3.png"/><Relationship Id="rId3" Type="http://schemas.openxmlformats.org/officeDocument/2006/relationships/tags" Target="../tags/tag316.xml"/><Relationship Id="rId7" Type="http://schemas.openxmlformats.org/officeDocument/2006/relationships/tags" Target="../tags/tag320.xml"/><Relationship Id="rId12" Type="http://schemas.openxmlformats.org/officeDocument/2006/relationships/image" Target="../media/image2.png"/><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tags" Target="../tags/tag319.xml"/><Relationship Id="rId11" Type="http://schemas.openxmlformats.org/officeDocument/2006/relationships/notesSlide" Target="../notesSlides/notesSlide66.xml"/><Relationship Id="rId5" Type="http://schemas.openxmlformats.org/officeDocument/2006/relationships/tags" Target="../tags/tag318.xml"/><Relationship Id="rId10" Type="http://schemas.openxmlformats.org/officeDocument/2006/relationships/slideLayout" Target="../slideLayouts/slideLayout10.xml"/><Relationship Id="rId4" Type="http://schemas.openxmlformats.org/officeDocument/2006/relationships/tags" Target="../tags/tag317.xml"/><Relationship Id="rId9" Type="http://schemas.openxmlformats.org/officeDocument/2006/relationships/tags" Target="../tags/tag322.xml"/><Relationship Id="rId14" Type="http://schemas.openxmlformats.org/officeDocument/2006/relationships/image" Target="../media/image4.svg"/></Relationships>
</file>

<file path=ppt/slides/_rels/slide67.xml.rels><?xml version="1.0" encoding="UTF-8" standalone="yes"?>
<Relationships xmlns="http://schemas.openxmlformats.org/package/2006/relationships"><Relationship Id="rId8" Type="http://schemas.openxmlformats.org/officeDocument/2006/relationships/tags" Target="../tags/tag330.xml"/><Relationship Id="rId13" Type="http://schemas.openxmlformats.org/officeDocument/2006/relationships/image" Target="../media/image3.png"/><Relationship Id="rId3" Type="http://schemas.openxmlformats.org/officeDocument/2006/relationships/tags" Target="../tags/tag325.xml"/><Relationship Id="rId7" Type="http://schemas.openxmlformats.org/officeDocument/2006/relationships/tags" Target="../tags/tag329.xml"/><Relationship Id="rId12" Type="http://schemas.openxmlformats.org/officeDocument/2006/relationships/image" Target="../media/image2.png"/><Relationship Id="rId2" Type="http://schemas.openxmlformats.org/officeDocument/2006/relationships/tags" Target="../tags/tag324.xml"/><Relationship Id="rId1" Type="http://schemas.openxmlformats.org/officeDocument/2006/relationships/tags" Target="../tags/tag323.xml"/><Relationship Id="rId6" Type="http://schemas.openxmlformats.org/officeDocument/2006/relationships/tags" Target="../tags/tag328.xml"/><Relationship Id="rId11" Type="http://schemas.openxmlformats.org/officeDocument/2006/relationships/hyperlink" Target="http://stu.ityxb.com/ebookview/dcc2691ddb650945b7620e2f4098f598" TargetMode="External"/><Relationship Id="rId5" Type="http://schemas.openxmlformats.org/officeDocument/2006/relationships/tags" Target="../tags/tag327.xml"/><Relationship Id="rId10" Type="http://schemas.openxmlformats.org/officeDocument/2006/relationships/notesSlide" Target="../notesSlides/notesSlide67.xml"/><Relationship Id="rId4" Type="http://schemas.openxmlformats.org/officeDocument/2006/relationships/tags" Target="../tags/tag326.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68.xml.rels><?xml version="1.0" encoding="UTF-8" standalone="yes"?>
<Relationships xmlns="http://schemas.openxmlformats.org/package/2006/relationships"><Relationship Id="rId8" Type="http://schemas.openxmlformats.org/officeDocument/2006/relationships/tags" Target="../tags/tag338.xml"/><Relationship Id="rId13" Type="http://schemas.openxmlformats.org/officeDocument/2006/relationships/image" Target="../media/image3.png"/><Relationship Id="rId3" Type="http://schemas.openxmlformats.org/officeDocument/2006/relationships/tags" Target="../tags/tag333.xml"/><Relationship Id="rId7" Type="http://schemas.openxmlformats.org/officeDocument/2006/relationships/tags" Target="../tags/tag337.xml"/><Relationship Id="rId12" Type="http://schemas.openxmlformats.org/officeDocument/2006/relationships/image" Target="../media/image2.png"/><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tags" Target="../tags/tag336.xml"/><Relationship Id="rId11" Type="http://schemas.openxmlformats.org/officeDocument/2006/relationships/hyperlink" Target="http://stu.ityxb.com/ebookview/7e3dfbf479575c9b824a4de6675ce95b" TargetMode="External"/><Relationship Id="rId5" Type="http://schemas.openxmlformats.org/officeDocument/2006/relationships/tags" Target="../tags/tag335.xml"/><Relationship Id="rId10" Type="http://schemas.openxmlformats.org/officeDocument/2006/relationships/notesSlide" Target="../notesSlides/notesSlide68.xml"/><Relationship Id="rId4" Type="http://schemas.openxmlformats.org/officeDocument/2006/relationships/tags" Target="../tags/tag334.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69.xml.rels><?xml version="1.0" encoding="UTF-8" standalone="yes"?>
<Relationships xmlns="http://schemas.openxmlformats.org/package/2006/relationships"><Relationship Id="rId3" Type="http://schemas.openxmlformats.org/officeDocument/2006/relationships/tags" Target="../tags/tag341.xml"/><Relationship Id="rId7" Type="http://schemas.openxmlformats.org/officeDocument/2006/relationships/image" Target="../media/image11.png"/><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notesSlide" Target="../notesSlides/notesSlide69.xml"/><Relationship Id="rId5" Type="http://schemas.openxmlformats.org/officeDocument/2006/relationships/slideLayout" Target="../slideLayouts/slideLayout10.xml"/><Relationship Id="rId4" Type="http://schemas.openxmlformats.org/officeDocument/2006/relationships/tags" Target="../tags/tag34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tags" Target="../tags/tag345.xml"/><Relationship Id="rId2" Type="http://schemas.openxmlformats.org/officeDocument/2006/relationships/tags" Target="../tags/tag344.xml"/><Relationship Id="rId1" Type="http://schemas.openxmlformats.org/officeDocument/2006/relationships/tags" Target="../tags/tag343.xml"/><Relationship Id="rId5" Type="http://schemas.openxmlformats.org/officeDocument/2006/relationships/notesSlide" Target="../notesSlides/notesSlide70.xml"/><Relationship Id="rId4"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8" Type="http://schemas.openxmlformats.org/officeDocument/2006/relationships/tags" Target="../tags/tag353.xml"/><Relationship Id="rId13" Type="http://schemas.openxmlformats.org/officeDocument/2006/relationships/image" Target="../media/image2.png"/><Relationship Id="rId3" Type="http://schemas.openxmlformats.org/officeDocument/2006/relationships/tags" Target="../tags/tag348.xml"/><Relationship Id="rId7" Type="http://schemas.openxmlformats.org/officeDocument/2006/relationships/tags" Target="../tags/tag352.xml"/><Relationship Id="rId12" Type="http://schemas.openxmlformats.org/officeDocument/2006/relationships/hyperlink" Target="http://stu.ityxb.com/ebookview/a2a509ac26cb6eb0dcc771e131c4409a" TargetMode="Externa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tags" Target="../tags/tag351.xml"/><Relationship Id="rId11" Type="http://schemas.openxmlformats.org/officeDocument/2006/relationships/notesSlide" Target="../notesSlides/notesSlide71.xml"/><Relationship Id="rId5" Type="http://schemas.openxmlformats.org/officeDocument/2006/relationships/tags" Target="../tags/tag350.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349.xml"/><Relationship Id="rId9" Type="http://schemas.openxmlformats.org/officeDocument/2006/relationships/tags" Target="../tags/tag354.xml"/><Relationship Id="rId14" Type="http://schemas.openxmlformats.org/officeDocument/2006/relationships/image" Target="../media/image3.png"/></Relationships>
</file>

<file path=ppt/slides/_rels/slide73.xml.rels><?xml version="1.0" encoding="UTF-8" standalone="yes"?>
<Relationships xmlns="http://schemas.openxmlformats.org/package/2006/relationships"><Relationship Id="rId8" Type="http://schemas.openxmlformats.org/officeDocument/2006/relationships/tags" Target="../tags/tag362.xml"/><Relationship Id="rId13" Type="http://schemas.openxmlformats.org/officeDocument/2006/relationships/image" Target="../media/image3.png"/><Relationship Id="rId3" Type="http://schemas.openxmlformats.org/officeDocument/2006/relationships/tags" Target="../tags/tag357.xml"/><Relationship Id="rId7" Type="http://schemas.openxmlformats.org/officeDocument/2006/relationships/tags" Target="../tags/tag361.xml"/><Relationship Id="rId12" Type="http://schemas.openxmlformats.org/officeDocument/2006/relationships/image" Target="../media/image2.png"/><Relationship Id="rId2" Type="http://schemas.openxmlformats.org/officeDocument/2006/relationships/tags" Target="../tags/tag356.xml"/><Relationship Id="rId1" Type="http://schemas.openxmlformats.org/officeDocument/2006/relationships/tags" Target="../tags/tag355.xml"/><Relationship Id="rId6" Type="http://schemas.openxmlformats.org/officeDocument/2006/relationships/tags" Target="../tags/tag360.xml"/><Relationship Id="rId11" Type="http://schemas.openxmlformats.org/officeDocument/2006/relationships/hyperlink" Target="http://stu.ityxb.com/ebookview/81b64cc1227a6fdece692f0d9d78a29d" TargetMode="External"/><Relationship Id="rId5" Type="http://schemas.openxmlformats.org/officeDocument/2006/relationships/tags" Target="../tags/tag359.xml"/><Relationship Id="rId10" Type="http://schemas.openxmlformats.org/officeDocument/2006/relationships/notesSlide" Target="../notesSlides/notesSlide72.xml"/><Relationship Id="rId4" Type="http://schemas.openxmlformats.org/officeDocument/2006/relationships/tags" Target="../tags/tag358.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74.xml.rels><?xml version="1.0" encoding="UTF-8" standalone="yes"?>
<Relationships xmlns="http://schemas.openxmlformats.org/package/2006/relationships"><Relationship Id="rId3" Type="http://schemas.openxmlformats.org/officeDocument/2006/relationships/tags" Target="../tags/tag365.xml"/><Relationship Id="rId7" Type="http://schemas.openxmlformats.org/officeDocument/2006/relationships/image" Target="../media/image11.png"/><Relationship Id="rId2" Type="http://schemas.openxmlformats.org/officeDocument/2006/relationships/tags" Target="../tags/tag364.xml"/><Relationship Id="rId1" Type="http://schemas.openxmlformats.org/officeDocument/2006/relationships/tags" Target="../tags/tag363.xml"/><Relationship Id="rId6" Type="http://schemas.openxmlformats.org/officeDocument/2006/relationships/notesSlide" Target="../notesSlides/notesSlide73.xml"/><Relationship Id="rId5" Type="http://schemas.openxmlformats.org/officeDocument/2006/relationships/slideLayout" Target="../slideLayouts/slideLayout10.xml"/><Relationship Id="rId4" Type="http://schemas.openxmlformats.org/officeDocument/2006/relationships/tags" Target="../tags/tag366.xml"/></Relationships>
</file>

<file path=ppt/slides/_rels/slide7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69.xml"/><Relationship Id="rId7" Type="http://schemas.openxmlformats.org/officeDocument/2006/relationships/notesSlide" Target="../notesSlides/notesSlide74.xml"/><Relationship Id="rId2" Type="http://schemas.openxmlformats.org/officeDocument/2006/relationships/tags" Target="../tags/tag368.xml"/><Relationship Id="rId1" Type="http://schemas.openxmlformats.org/officeDocument/2006/relationships/tags" Target="../tags/tag367.xml"/><Relationship Id="rId6" Type="http://schemas.openxmlformats.org/officeDocument/2006/relationships/slideLayout" Target="../slideLayouts/slideLayout10.xml"/><Relationship Id="rId5" Type="http://schemas.openxmlformats.org/officeDocument/2006/relationships/tags" Target="../tags/tag371.xml"/><Relationship Id="rId4" Type="http://schemas.openxmlformats.org/officeDocument/2006/relationships/tags" Target="../tags/tag370.xml"/></Relationships>
</file>

<file path=ppt/slides/_rels/slide76.xml.rels><?xml version="1.0" encoding="UTF-8" standalone="yes"?>
<Relationships xmlns="http://schemas.openxmlformats.org/package/2006/relationships"><Relationship Id="rId3" Type="http://schemas.openxmlformats.org/officeDocument/2006/relationships/tags" Target="../tags/tag374.xml"/><Relationship Id="rId2" Type="http://schemas.openxmlformats.org/officeDocument/2006/relationships/tags" Target="../tags/tag373.xml"/><Relationship Id="rId1" Type="http://schemas.openxmlformats.org/officeDocument/2006/relationships/tags" Target="../tags/tag372.xml"/><Relationship Id="rId5" Type="http://schemas.openxmlformats.org/officeDocument/2006/relationships/notesSlide" Target="../notesSlides/notesSlide75.xml"/><Relationship Id="rId4"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76.xml"/><Relationship Id="rId1" Type="http://schemas.openxmlformats.org/officeDocument/2006/relationships/tags" Target="../tags/tag375.xml"/><Relationship Id="rId4"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377.xml"/></Relationships>
</file>

<file path=ppt/slides/_rels/slide79.xml.rels><?xml version="1.0" encoding="UTF-8" standalone="yes"?>
<Relationships xmlns="http://schemas.openxmlformats.org/package/2006/relationships"><Relationship Id="rId3" Type="http://schemas.openxmlformats.org/officeDocument/2006/relationships/tags" Target="../tags/tag380.xml"/><Relationship Id="rId7" Type="http://schemas.openxmlformats.org/officeDocument/2006/relationships/notesSlide" Target="../notesSlides/notesSlide78.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slideLayout" Target="../slideLayouts/slideLayout10.xml"/><Relationship Id="rId5" Type="http://schemas.openxmlformats.org/officeDocument/2006/relationships/tags" Target="../tags/tag382.xml"/><Relationship Id="rId4" Type="http://schemas.openxmlformats.org/officeDocument/2006/relationships/tags" Target="../tags/tag381.xml"/></Relationships>
</file>

<file path=ppt/slides/_rels/slide80.xml.rels><?xml version="1.0" encoding="UTF-8" standalone="yes"?>
<Relationships xmlns="http://schemas.openxmlformats.org/package/2006/relationships"><Relationship Id="rId3" Type="http://schemas.openxmlformats.org/officeDocument/2006/relationships/tags" Target="../tags/tag385.xml"/><Relationship Id="rId2" Type="http://schemas.openxmlformats.org/officeDocument/2006/relationships/tags" Target="../tags/tag384.xml"/><Relationship Id="rId1" Type="http://schemas.openxmlformats.org/officeDocument/2006/relationships/tags" Target="../tags/tag383.xml"/><Relationship Id="rId6" Type="http://schemas.openxmlformats.org/officeDocument/2006/relationships/notesSlide" Target="../notesSlides/notesSlide79.xml"/><Relationship Id="rId5" Type="http://schemas.openxmlformats.org/officeDocument/2006/relationships/slideLayout" Target="../slideLayouts/slideLayout10.xml"/><Relationship Id="rId4" Type="http://schemas.openxmlformats.org/officeDocument/2006/relationships/tags" Target="../tags/tag386.xml"/></Relationships>
</file>

<file path=ppt/slides/_rels/slide81.xml.rels><?xml version="1.0" encoding="UTF-8" standalone="yes"?>
<Relationships xmlns="http://schemas.openxmlformats.org/package/2006/relationships"><Relationship Id="rId3" Type="http://schemas.openxmlformats.org/officeDocument/2006/relationships/tags" Target="../tags/tag389.xml"/><Relationship Id="rId2" Type="http://schemas.openxmlformats.org/officeDocument/2006/relationships/tags" Target="../tags/tag388.xml"/><Relationship Id="rId1" Type="http://schemas.openxmlformats.org/officeDocument/2006/relationships/tags" Target="../tags/tag387.xml"/><Relationship Id="rId6" Type="http://schemas.openxmlformats.org/officeDocument/2006/relationships/notesSlide" Target="../notesSlides/notesSlide80.xml"/><Relationship Id="rId5" Type="http://schemas.openxmlformats.org/officeDocument/2006/relationships/slideLayout" Target="../slideLayouts/slideLayout10.xml"/><Relationship Id="rId4" Type="http://schemas.openxmlformats.org/officeDocument/2006/relationships/tags" Target="../tags/tag390.xml"/></Relationships>
</file>

<file path=ppt/slides/_rels/slide82.xml.rels><?xml version="1.0" encoding="UTF-8" standalone="yes"?>
<Relationships xmlns="http://schemas.openxmlformats.org/package/2006/relationships"><Relationship Id="rId8" Type="http://schemas.openxmlformats.org/officeDocument/2006/relationships/tags" Target="../tags/tag398.xml"/><Relationship Id="rId13" Type="http://schemas.openxmlformats.org/officeDocument/2006/relationships/image" Target="../media/image2.png"/><Relationship Id="rId3" Type="http://schemas.openxmlformats.org/officeDocument/2006/relationships/tags" Target="../tags/tag393.xml"/><Relationship Id="rId7" Type="http://schemas.openxmlformats.org/officeDocument/2006/relationships/tags" Target="../tags/tag397.xml"/><Relationship Id="rId12" Type="http://schemas.openxmlformats.org/officeDocument/2006/relationships/hyperlink" Target="http://stu.ityxb.com/ebookview/3865c1d88ad196fb3bcfd13241b2d97b" TargetMode="External"/><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tags" Target="../tags/tag396.xml"/><Relationship Id="rId11" Type="http://schemas.openxmlformats.org/officeDocument/2006/relationships/notesSlide" Target="../notesSlides/notesSlide81.xml"/><Relationship Id="rId5" Type="http://schemas.openxmlformats.org/officeDocument/2006/relationships/tags" Target="../tags/tag395.xml"/><Relationship Id="rId15" Type="http://schemas.openxmlformats.org/officeDocument/2006/relationships/image" Target="../media/image4.svg"/><Relationship Id="rId10" Type="http://schemas.openxmlformats.org/officeDocument/2006/relationships/slideLayout" Target="../slideLayouts/slideLayout10.xml"/><Relationship Id="rId4" Type="http://schemas.openxmlformats.org/officeDocument/2006/relationships/tags" Target="../tags/tag394.xml"/><Relationship Id="rId9" Type="http://schemas.openxmlformats.org/officeDocument/2006/relationships/tags" Target="../tags/tag399.xml"/><Relationship Id="rId14" Type="http://schemas.openxmlformats.org/officeDocument/2006/relationships/image" Target="../media/image3.png"/></Relationships>
</file>

<file path=ppt/slides/_rels/slide83.xml.rels><?xml version="1.0" encoding="UTF-8" standalone="yes"?>
<Relationships xmlns="http://schemas.openxmlformats.org/package/2006/relationships"><Relationship Id="rId8" Type="http://schemas.openxmlformats.org/officeDocument/2006/relationships/tags" Target="../tags/tag407.xml"/><Relationship Id="rId13" Type="http://schemas.openxmlformats.org/officeDocument/2006/relationships/image" Target="../media/image3.png"/><Relationship Id="rId3" Type="http://schemas.openxmlformats.org/officeDocument/2006/relationships/tags" Target="../tags/tag402.xml"/><Relationship Id="rId7" Type="http://schemas.openxmlformats.org/officeDocument/2006/relationships/tags" Target="../tags/tag406.xml"/><Relationship Id="rId12" Type="http://schemas.openxmlformats.org/officeDocument/2006/relationships/image" Target="../media/image2.png"/><Relationship Id="rId2" Type="http://schemas.openxmlformats.org/officeDocument/2006/relationships/tags" Target="../tags/tag401.xml"/><Relationship Id="rId1" Type="http://schemas.openxmlformats.org/officeDocument/2006/relationships/tags" Target="../tags/tag400.xml"/><Relationship Id="rId6" Type="http://schemas.openxmlformats.org/officeDocument/2006/relationships/tags" Target="../tags/tag405.xml"/><Relationship Id="rId11" Type="http://schemas.openxmlformats.org/officeDocument/2006/relationships/hyperlink" Target="http://stu.ityxb.com/ebookview/4e7c2f41cf452e7bf589794c9fda90b0" TargetMode="External"/><Relationship Id="rId5" Type="http://schemas.openxmlformats.org/officeDocument/2006/relationships/tags" Target="../tags/tag404.xml"/><Relationship Id="rId10" Type="http://schemas.openxmlformats.org/officeDocument/2006/relationships/notesSlide" Target="../notesSlides/notesSlide82.xml"/><Relationship Id="rId4" Type="http://schemas.openxmlformats.org/officeDocument/2006/relationships/tags" Target="../tags/tag403.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84.xml.rels><?xml version="1.0" encoding="UTF-8" standalone="yes"?>
<Relationships xmlns="http://schemas.openxmlformats.org/package/2006/relationships"><Relationship Id="rId8" Type="http://schemas.openxmlformats.org/officeDocument/2006/relationships/tags" Target="../tags/tag415.xml"/><Relationship Id="rId13" Type="http://schemas.openxmlformats.org/officeDocument/2006/relationships/image" Target="../media/image3.png"/><Relationship Id="rId3" Type="http://schemas.openxmlformats.org/officeDocument/2006/relationships/tags" Target="../tags/tag410.xml"/><Relationship Id="rId7" Type="http://schemas.openxmlformats.org/officeDocument/2006/relationships/tags" Target="../tags/tag414.xml"/><Relationship Id="rId12" Type="http://schemas.openxmlformats.org/officeDocument/2006/relationships/image" Target="../media/image2.png"/><Relationship Id="rId2" Type="http://schemas.openxmlformats.org/officeDocument/2006/relationships/tags" Target="../tags/tag409.xml"/><Relationship Id="rId1" Type="http://schemas.openxmlformats.org/officeDocument/2006/relationships/tags" Target="../tags/tag408.xml"/><Relationship Id="rId6" Type="http://schemas.openxmlformats.org/officeDocument/2006/relationships/tags" Target="../tags/tag413.xml"/><Relationship Id="rId11" Type="http://schemas.openxmlformats.org/officeDocument/2006/relationships/hyperlink" Target="http://stu.ityxb.com/ebookview/230f3c933d3c43ac0d75c4fcde162147" TargetMode="External"/><Relationship Id="rId5" Type="http://schemas.openxmlformats.org/officeDocument/2006/relationships/tags" Target="../tags/tag412.xml"/><Relationship Id="rId10" Type="http://schemas.openxmlformats.org/officeDocument/2006/relationships/notesSlide" Target="../notesSlides/notesSlide83.xml"/><Relationship Id="rId4" Type="http://schemas.openxmlformats.org/officeDocument/2006/relationships/tags" Target="../tags/tag411.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85.xml.rels><?xml version="1.0" encoding="UTF-8" standalone="yes"?>
<Relationships xmlns="http://schemas.openxmlformats.org/package/2006/relationships"><Relationship Id="rId3" Type="http://schemas.openxmlformats.org/officeDocument/2006/relationships/tags" Target="../tags/tag418.xml"/><Relationship Id="rId7" Type="http://schemas.openxmlformats.org/officeDocument/2006/relationships/image" Target="../media/image12.png"/><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notesSlide" Target="../notesSlides/notesSlide84.xml"/><Relationship Id="rId5" Type="http://schemas.openxmlformats.org/officeDocument/2006/relationships/slideLayout" Target="../slideLayouts/slideLayout10.xml"/><Relationship Id="rId4" Type="http://schemas.openxmlformats.org/officeDocument/2006/relationships/tags" Target="../tags/tag41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422.xml"/><Relationship Id="rId7" Type="http://schemas.openxmlformats.org/officeDocument/2006/relationships/notesSlide" Target="../notesSlides/notesSlide86.xml"/><Relationship Id="rId2" Type="http://schemas.openxmlformats.org/officeDocument/2006/relationships/tags" Target="../tags/tag421.xml"/><Relationship Id="rId1" Type="http://schemas.openxmlformats.org/officeDocument/2006/relationships/tags" Target="../tags/tag420.xml"/><Relationship Id="rId6" Type="http://schemas.openxmlformats.org/officeDocument/2006/relationships/slideLayout" Target="../slideLayouts/slideLayout10.xml"/><Relationship Id="rId5" Type="http://schemas.openxmlformats.org/officeDocument/2006/relationships/tags" Target="../tags/tag424.xml"/><Relationship Id="rId4" Type="http://schemas.openxmlformats.org/officeDocument/2006/relationships/tags" Target="../tags/tag423.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26.xml"/><Relationship Id="rId1" Type="http://schemas.openxmlformats.org/officeDocument/2006/relationships/tags" Target="../tags/tag425.xml"/><Relationship Id="rId4"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28.xml"/><Relationship Id="rId1" Type="http://schemas.openxmlformats.org/officeDocument/2006/relationships/tags" Target="../tags/tag427.xml"/><Relationship Id="rId4"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tags" Target="../tags/tag431.xml"/><Relationship Id="rId7" Type="http://schemas.openxmlformats.org/officeDocument/2006/relationships/tags" Target="../tags/tag435.xml"/><Relationship Id="rId2" Type="http://schemas.openxmlformats.org/officeDocument/2006/relationships/tags" Target="../tags/tag430.xml"/><Relationship Id="rId1" Type="http://schemas.openxmlformats.org/officeDocument/2006/relationships/tags" Target="../tags/tag429.xml"/><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tags" Target="../tags/tag432.xml"/><Relationship Id="rId9"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3" Type="http://schemas.openxmlformats.org/officeDocument/2006/relationships/tags" Target="../tags/tag438.xml"/><Relationship Id="rId2" Type="http://schemas.openxmlformats.org/officeDocument/2006/relationships/tags" Target="../tags/tag437.xml"/><Relationship Id="rId1" Type="http://schemas.openxmlformats.org/officeDocument/2006/relationships/tags" Target="../tags/tag436.xml"/><Relationship Id="rId6" Type="http://schemas.openxmlformats.org/officeDocument/2006/relationships/notesSlide" Target="../notesSlides/notesSlide90.xml"/><Relationship Id="rId5" Type="http://schemas.openxmlformats.org/officeDocument/2006/relationships/slideLayout" Target="../slideLayouts/slideLayout10.xml"/><Relationship Id="rId4" Type="http://schemas.openxmlformats.org/officeDocument/2006/relationships/tags" Target="../tags/tag439.xml"/></Relationships>
</file>

<file path=ppt/slides/_rels/slide92.xml.rels><?xml version="1.0" encoding="UTF-8" standalone="yes"?>
<Relationships xmlns="http://schemas.openxmlformats.org/package/2006/relationships"><Relationship Id="rId3" Type="http://schemas.openxmlformats.org/officeDocument/2006/relationships/tags" Target="../tags/tag442.xml"/><Relationship Id="rId2" Type="http://schemas.openxmlformats.org/officeDocument/2006/relationships/tags" Target="../tags/tag441.xml"/><Relationship Id="rId1" Type="http://schemas.openxmlformats.org/officeDocument/2006/relationships/tags" Target="../tags/tag440.xml"/><Relationship Id="rId6" Type="http://schemas.openxmlformats.org/officeDocument/2006/relationships/notesSlide" Target="../notesSlides/notesSlide91.xml"/><Relationship Id="rId5" Type="http://schemas.openxmlformats.org/officeDocument/2006/relationships/slideLayout" Target="../slideLayouts/slideLayout10.xml"/><Relationship Id="rId4" Type="http://schemas.openxmlformats.org/officeDocument/2006/relationships/tags" Target="../tags/tag443.xml"/></Relationships>
</file>

<file path=ppt/slides/_rels/slide93.xml.rels><?xml version="1.0" encoding="UTF-8" standalone="yes"?>
<Relationships xmlns="http://schemas.openxmlformats.org/package/2006/relationships"><Relationship Id="rId3" Type="http://schemas.openxmlformats.org/officeDocument/2006/relationships/tags" Target="../tags/tag446.xml"/><Relationship Id="rId2" Type="http://schemas.openxmlformats.org/officeDocument/2006/relationships/tags" Target="../tags/tag445.xml"/><Relationship Id="rId1" Type="http://schemas.openxmlformats.org/officeDocument/2006/relationships/tags" Target="../tags/tag444.xml"/><Relationship Id="rId6" Type="http://schemas.openxmlformats.org/officeDocument/2006/relationships/notesSlide" Target="../notesSlides/notesSlide92.xml"/><Relationship Id="rId5" Type="http://schemas.openxmlformats.org/officeDocument/2006/relationships/slideLayout" Target="../slideLayouts/slideLayout10.xml"/><Relationship Id="rId4" Type="http://schemas.openxmlformats.org/officeDocument/2006/relationships/tags" Target="../tags/tag447.xml"/></Relationships>
</file>

<file path=ppt/slides/_rels/slide94.xml.rels><?xml version="1.0" encoding="UTF-8" standalone="yes"?>
<Relationships xmlns="http://schemas.openxmlformats.org/package/2006/relationships"><Relationship Id="rId8" Type="http://schemas.openxmlformats.org/officeDocument/2006/relationships/notesSlide" Target="../notesSlides/notesSlide93.xml"/><Relationship Id="rId3" Type="http://schemas.openxmlformats.org/officeDocument/2006/relationships/tags" Target="../tags/tag450.xml"/><Relationship Id="rId7" Type="http://schemas.openxmlformats.org/officeDocument/2006/relationships/slideLayout" Target="../slideLayouts/slideLayout10.xml"/><Relationship Id="rId2" Type="http://schemas.openxmlformats.org/officeDocument/2006/relationships/tags" Target="../tags/tag449.xml"/><Relationship Id="rId1" Type="http://schemas.openxmlformats.org/officeDocument/2006/relationships/tags" Target="../tags/tag448.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s>
</file>

<file path=ppt/slides/_rels/slide95.xml.rels><?xml version="1.0" encoding="UTF-8" standalone="yes"?>
<Relationships xmlns="http://schemas.openxmlformats.org/package/2006/relationships"><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 Id="rId6" Type="http://schemas.openxmlformats.org/officeDocument/2006/relationships/notesSlide" Target="../notesSlides/notesSlide94.xml"/><Relationship Id="rId5" Type="http://schemas.openxmlformats.org/officeDocument/2006/relationships/slideLayout" Target="../slideLayouts/slideLayout10.xml"/><Relationship Id="rId4" Type="http://schemas.openxmlformats.org/officeDocument/2006/relationships/tags" Target="../tags/tag457.xml"/></Relationships>
</file>

<file path=ppt/slides/_rels/slide96.xml.rels><?xml version="1.0" encoding="UTF-8" standalone="yes"?>
<Relationships xmlns="http://schemas.openxmlformats.org/package/2006/relationships"><Relationship Id="rId3" Type="http://schemas.openxmlformats.org/officeDocument/2006/relationships/tags" Target="../tags/tag460.xml"/><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notesSlide" Target="../notesSlides/notesSlide95.xml"/><Relationship Id="rId5" Type="http://schemas.openxmlformats.org/officeDocument/2006/relationships/slideLayout" Target="../slideLayouts/slideLayout10.xml"/><Relationship Id="rId4" Type="http://schemas.openxmlformats.org/officeDocument/2006/relationships/tags" Target="../tags/tag461.xml"/></Relationships>
</file>

<file path=ppt/slides/_rels/slide97.xml.rels><?xml version="1.0" encoding="UTF-8" standalone="yes"?>
<Relationships xmlns="http://schemas.openxmlformats.org/package/2006/relationships"><Relationship Id="rId3" Type="http://schemas.openxmlformats.org/officeDocument/2006/relationships/tags" Target="../tags/tag464.xml"/><Relationship Id="rId2" Type="http://schemas.openxmlformats.org/officeDocument/2006/relationships/tags" Target="../tags/tag463.xml"/><Relationship Id="rId1" Type="http://schemas.openxmlformats.org/officeDocument/2006/relationships/tags" Target="../tags/tag462.xml"/><Relationship Id="rId6" Type="http://schemas.openxmlformats.org/officeDocument/2006/relationships/notesSlide" Target="../notesSlides/notesSlide96.xml"/><Relationship Id="rId5" Type="http://schemas.openxmlformats.org/officeDocument/2006/relationships/slideLayout" Target="../slideLayouts/slideLayout10.xml"/><Relationship Id="rId4" Type="http://schemas.openxmlformats.org/officeDocument/2006/relationships/tags" Target="../tags/tag465.xml"/></Relationships>
</file>

<file path=ppt/slides/_rels/slide98.xml.rels><?xml version="1.0" encoding="UTF-8" standalone="yes"?>
<Relationships xmlns="http://schemas.openxmlformats.org/package/2006/relationships"><Relationship Id="rId8" Type="http://schemas.openxmlformats.org/officeDocument/2006/relationships/notesSlide" Target="../notesSlides/notesSlide97.xml"/><Relationship Id="rId3" Type="http://schemas.openxmlformats.org/officeDocument/2006/relationships/tags" Target="../tags/tag468.xml"/><Relationship Id="rId7" Type="http://schemas.openxmlformats.org/officeDocument/2006/relationships/slideLayout" Target="../slideLayouts/slideLayout10.xml"/><Relationship Id="rId2" Type="http://schemas.openxmlformats.org/officeDocument/2006/relationships/tags" Target="../tags/tag467.xml"/><Relationship Id="rId1" Type="http://schemas.openxmlformats.org/officeDocument/2006/relationships/tags" Target="../tags/tag466.xml"/><Relationship Id="rId6" Type="http://schemas.openxmlformats.org/officeDocument/2006/relationships/tags" Target="../tags/tag471.xml"/><Relationship Id="rId5" Type="http://schemas.openxmlformats.org/officeDocument/2006/relationships/tags" Target="../tags/tag470.xml"/><Relationship Id="rId4" Type="http://schemas.openxmlformats.org/officeDocument/2006/relationships/tags" Target="../tags/tag469.xml"/></Relationships>
</file>

<file path=ppt/slides/_rels/slide99.xml.rels><?xml version="1.0" encoding="UTF-8" standalone="yes"?>
<Relationships xmlns="http://schemas.openxmlformats.org/package/2006/relationships"><Relationship Id="rId8" Type="http://schemas.openxmlformats.org/officeDocument/2006/relationships/tags" Target="../tags/tag479.xml"/><Relationship Id="rId13" Type="http://schemas.openxmlformats.org/officeDocument/2006/relationships/image" Target="../media/image3.png"/><Relationship Id="rId3" Type="http://schemas.openxmlformats.org/officeDocument/2006/relationships/tags" Target="../tags/tag474.xml"/><Relationship Id="rId7" Type="http://schemas.openxmlformats.org/officeDocument/2006/relationships/tags" Target="../tags/tag478.xml"/><Relationship Id="rId12" Type="http://schemas.openxmlformats.org/officeDocument/2006/relationships/image" Target="../media/image2.png"/><Relationship Id="rId2" Type="http://schemas.openxmlformats.org/officeDocument/2006/relationships/tags" Target="../tags/tag473.xml"/><Relationship Id="rId1" Type="http://schemas.openxmlformats.org/officeDocument/2006/relationships/tags" Target="../tags/tag472.xml"/><Relationship Id="rId6" Type="http://schemas.openxmlformats.org/officeDocument/2006/relationships/tags" Target="../tags/tag477.xml"/><Relationship Id="rId11" Type="http://schemas.openxmlformats.org/officeDocument/2006/relationships/hyperlink" Target="http://stu.ityxb.com/ebookview/463367c18ddac390757f0ba1995d9ba8" TargetMode="External"/><Relationship Id="rId5" Type="http://schemas.openxmlformats.org/officeDocument/2006/relationships/tags" Target="../tags/tag476.xml"/><Relationship Id="rId10" Type="http://schemas.openxmlformats.org/officeDocument/2006/relationships/notesSlide" Target="../notesSlides/notesSlide98.xml"/><Relationship Id="rId4" Type="http://schemas.openxmlformats.org/officeDocument/2006/relationships/tags" Target="../tags/tag475.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100.xml.rels><?xml version="1.0" encoding="UTF-8" standalone="yes"?>
<Relationships xmlns="http://schemas.openxmlformats.org/package/2006/relationships"><Relationship Id="rId8" Type="http://schemas.openxmlformats.org/officeDocument/2006/relationships/tags" Target="../tags/tag487.xml"/><Relationship Id="rId13" Type="http://schemas.openxmlformats.org/officeDocument/2006/relationships/image" Target="../media/image3.png"/><Relationship Id="rId3" Type="http://schemas.openxmlformats.org/officeDocument/2006/relationships/tags" Target="../tags/tag482.xml"/><Relationship Id="rId7" Type="http://schemas.openxmlformats.org/officeDocument/2006/relationships/tags" Target="../tags/tag486.xml"/><Relationship Id="rId12" Type="http://schemas.openxmlformats.org/officeDocument/2006/relationships/image" Target="../media/image2.png"/><Relationship Id="rId2" Type="http://schemas.openxmlformats.org/officeDocument/2006/relationships/tags" Target="../tags/tag481.xml"/><Relationship Id="rId1" Type="http://schemas.openxmlformats.org/officeDocument/2006/relationships/tags" Target="../tags/tag480.xml"/><Relationship Id="rId6" Type="http://schemas.openxmlformats.org/officeDocument/2006/relationships/tags" Target="../tags/tag485.xml"/><Relationship Id="rId11" Type="http://schemas.openxmlformats.org/officeDocument/2006/relationships/hyperlink" Target="http://stu.ityxb.com/ebookview/116927560661b4c401fa0c27b7109689" TargetMode="External"/><Relationship Id="rId5" Type="http://schemas.openxmlformats.org/officeDocument/2006/relationships/tags" Target="../tags/tag484.xml"/><Relationship Id="rId10" Type="http://schemas.openxmlformats.org/officeDocument/2006/relationships/notesSlide" Target="../notesSlides/notesSlide99.xml"/><Relationship Id="rId4" Type="http://schemas.openxmlformats.org/officeDocument/2006/relationships/tags" Target="../tags/tag483.xml"/><Relationship Id="rId9" Type="http://schemas.openxmlformats.org/officeDocument/2006/relationships/slideLayout" Target="../slideLayouts/slideLayout10.xml"/><Relationship Id="rId14" Type="http://schemas.openxmlformats.org/officeDocument/2006/relationships/image" Target="../media/image4.svg"/></Relationships>
</file>

<file path=ppt/slides/_rels/slide101.xml.rels><?xml version="1.0" encoding="UTF-8" standalone="yes"?>
<Relationships xmlns="http://schemas.openxmlformats.org/package/2006/relationships"><Relationship Id="rId3" Type="http://schemas.openxmlformats.org/officeDocument/2006/relationships/tags" Target="../tags/tag490.xml"/><Relationship Id="rId7" Type="http://schemas.openxmlformats.org/officeDocument/2006/relationships/image" Target="../media/image13.png"/><Relationship Id="rId2" Type="http://schemas.openxmlformats.org/officeDocument/2006/relationships/tags" Target="../tags/tag489.xml"/><Relationship Id="rId1" Type="http://schemas.openxmlformats.org/officeDocument/2006/relationships/tags" Target="../tags/tag488.xml"/><Relationship Id="rId6" Type="http://schemas.openxmlformats.org/officeDocument/2006/relationships/notesSlide" Target="../notesSlides/notesSlide100.xml"/><Relationship Id="rId5" Type="http://schemas.openxmlformats.org/officeDocument/2006/relationships/slideLayout" Target="../slideLayouts/slideLayout10.xml"/><Relationship Id="rId4" Type="http://schemas.openxmlformats.org/officeDocument/2006/relationships/tags" Target="../tags/tag49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normAutofit fontScale="57368" lnSpcReduction="20000"/>
          </a:bodyPr>
          <a:lstStyle/>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Chapter 2: Management of Beans in Spring</a:t>
            </a: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 Enterprise Application Development Tutorial (Spring+Spring MVC+MyBatis) (3rd Edition)</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rmAutofit fontScale="76986"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Learning objectives/Target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8925" y="2134870"/>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4834"/>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Understand Spring's IoC container and be able to briefly describe two common IoC containers</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3395345"/>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6354"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 familiar with Bean scopes and be able to describe the characteristics of the five types of Bean scopes, as well as how scopes are configured</a:t>
              </a: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4657090"/>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365"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Bean configuration and be able to implement Bean configuration based on XML files, based on annotations, and based on Java classes</a:t>
              </a: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rmAutofit fontScale="88242"/>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Learn objectives/targets</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8925" y="2134870"/>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596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Bean instantiation and be able to instantiate beans using constructors, static factories, and instance factories</a:t>
              </a: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3395345"/>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3493"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assembly methods of Beans and be able to implement Bean assembly based on XML, annotation, and auto-assembly</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4657090"/>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92459"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use of the Bean lifecycle approach, and be able to define the initialization and destruction methods of Beans</a:t>
              </a: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6288010"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Chapter Overview/Summary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54735" y="2466340"/>
            <a:ext cx="10403840" cy="2907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In the Spring framework, </a:t>
            </a:r>
            <a:r>
              <a:rPr lang="zh-CN" altLang="zh-CN" sz="2000" dirty="0">
                <a:solidFill>
                  <a:srgbClr val="0070C0"/>
                </a:solidFill>
                <a:latin typeface="微软雅黑" panose="020B0503020204020204" pitchFamily="34" charset="-122"/>
                <a:ea typeface="微软雅黑" panose="020B0503020204020204" pitchFamily="34" charset="-122"/>
              </a:rPr>
              <a:t>implementations of inversion of control and dependency injection</a:t>
            </a:r>
            <a:r>
              <a:rPr lang="zh-CN" altLang="zh-CN" sz="2000" dirty="0">
                <a:solidFill>
                  <a:srgbClr val="595959"/>
                </a:solidFill>
                <a:latin typeface="微软雅黑" panose="020B0503020204020204" pitchFamily="34" charset="-122"/>
                <a:ea typeface="微软雅黑" panose="020B0503020204020204" pitchFamily="34" charset="-122"/>
              </a:rPr>
              <a:t> are based on Spring's Bean management. Spring's Bean management refers to the </a:t>
            </a:r>
            <a:r>
              <a:rPr lang="zh-CN" altLang="zh-CN" sz="2000" dirty="0">
                <a:solidFill>
                  <a:srgbClr val="0070C0"/>
                </a:solidFill>
                <a:latin typeface="微软雅黑" panose="020B0503020204020204" pitchFamily="34" charset="-122"/>
                <a:ea typeface="微软雅黑" panose="020B0503020204020204" pitchFamily="34" charset="-122"/>
              </a:rPr>
              <a:t>Spring framework's management of beans in an application through the IoC container</a:t>
            </a:r>
            <a:r>
              <a:rPr lang="zh-CN" altLang="zh-CN" sz="2000" dirty="0">
                <a:solidFill>
                  <a:srgbClr val="595959"/>
                </a:solidFill>
                <a:latin typeface="微软雅黑" panose="020B0503020204020204" pitchFamily="34" charset="-122"/>
                <a:ea typeface="微软雅黑" panose="020B0503020204020204" pitchFamily="34" charset="-122"/>
              </a:rPr>
              <a:t>, mainly including Bean configuration, instantiation, injection, etc. This chapter provides a detailed account of Bean management in Spring.</a:t>
            </a:r>
          </a:p>
        </p:txBody>
      </p:sp>
      <p:sp>
        <p:nvSpPr>
          <p:cNvPr id="9" name="圆角矩形 8"/>
          <p:cNvSpPr/>
          <p:nvPr>
            <p:custDataLst>
              <p:tags r:id="rId1"/>
            </p:custDataLst>
          </p:nvPr>
        </p:nvSpPr>
        <p:spPr>
          <a:xfrm>
            <a:off x="1031240" y="2238374"/>
            <a:ext cx="10427335" cy="2991619"/>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0" name="矩形 93"/>
          <p:cNvSpPr/>
          <p:nvPr>
            <p:custDataLst>
              <p:tags r:id="rId2"/>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3"/>
            </p:custDataLst>
          </p:nvPr>
        </p:nvSpPr>
        <p:spPr>
          <a:xfrm rot="10800000">
            <a:off x="11110312" y="4765172"/>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Contents/Contents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370985"/>
            <a:ext cx="1192190" cy="612775"/>
            <a:chOff x="2215144" y="982844"/>
            <a:chExt cx="1244730" cy="842780"/>
          </a:xfrm>
        </p:grpSpPr>
        <p:sp>
          <p:nvSpPr>
            <p:cNvPr id="106" name="平行四边形 105"/>
            <p:cNvSpPr/>
            <p:nvPr>
              <p:custDataLst>
                <p:tags r:id="rId1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12"/>
              </p:custDataLst>
            </p:nvPr>
          </p:nvSpPr>
          <p:spPr>
            <a:xfrm>
              <a:off x="2393075" y="1005670"/>
              <a:ext cx="1066799" cy="80260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3640074"/>
            <a:ext cx="1192190" cy="612775"/>
            <a:chOff x="2215144" y="2026500"/>
            <a:chExt cx="1244730" cy="850129"/>
          </a:xfrm>
        </p:grpSpPr>
        <p:sp>
          <p:nvSpPr>
            <p:cNvPr id="109" name="平行四边形 108"/>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10"/>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362106"/>
            <a:ext cx="5496560" cy="612775"/>
            <a:chOff x="4315150" y="953426"/>
            <a:chExt cx="4122956" cy="539804"/>
          </a:xfrm>
        </p:grpSpPr>
        <p:sp>
          <p:nvSpPr>
            <p:cNvPr id="112" name="矩形 111"/>
            <p:cNvSpPr/>
            <p:nvPr>
              <p:custDataLst>
                <p:tags r:id="rId7"/>
              </p:custDataLst>
            </p:nvPr>
          </p:nvSpPr>
          <p:spPr>
            <a:xfrm>
              <a:off x="4841196" y="1036090"/>
              <a:ext cx="2827147" cy="331154"/>
            </a:xfrm>
            <a:prstGeom prst="rect">
              <a:avLst/>
            </a:prstGeom>
            <a:ln w="15875">
              <a:noFill/>
            </a:ln>
          </p:spPr>
          <p:txBody>
            <a:bodyPr wrap="square" lIns="68580" tIns="34290" rIns="68580" bIns="34290">
              <a:spAutoFit/>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Spring's IoC container</a:t>
              </a:r>
            </a:p>
          </p:txBody>
        </p:sp>
        <p:sp>
          <p:nvSpPr>
            <p:cNvPr id="113" name="平行四边形 112"/>
            <p:cNvSpPr/>
            <p:nvPr>
              <p:custDataLst>
                <p:tags r:id="rId8"/>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3623248"/>
            <a:ext cx="5496560" cy="612775"/>
            <a:chOff x="4315150" y="1647579"/>
            <a:chExt cx="4122956" cy="539804"/>
          </a:xfrm>
        </p:grpSpPr>
        <p:sp>
          <p:nvSpPr>
            <p:cNvPr id="115" name="矩形 114"/>
            <p:cNvSpPr/>
            <p:nvPr>
              <p:custDataLst>
                <p:tags r:id="rId5"/>
              </p:custDataLst>
            </p:nvPr>
          </p:nvSpPr>
          <p:spPr>
            <a:xfrm>
              <a:off x="4840998" y="1730368"/>
              <a:ext cx="3238445" cy="331154"/>
            </a:xfrm>
            <a:prstGeom prst="rect">
              <a:avLst/>
            </a:prstGeom>
            <a:ln w="15875">
              <a:noFill/>
            </a:ln>
          </p:spPr>
          <p:txBody>
            <a:bodyPr wrap="square" lIns="68580" tIns="34290" rIns="68580" bIns="34290">
              <a:normAutofit fontScale="96649"/>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Configuration of Bean</a:t>
              </a:r>
            </a:p>
          </p:txBody>
        </p:sp>
        <p:sp>
          <p:nvSpPr>
            <p:cNvPr id="116" name="平行四边形 115"/>
            <p:cNvSpPr/>
            <p:nvPr>
              <p:custDataLst>
                <p:tags r:id="rId6"/>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4915154"/>
            <a:ext cx="1192190" cy="612775"/>
            <a:chOff x="2215144" y="2026500"/>
            <a:chExt cx="1244730" cy="850129"/>
          </a:xfrm>
        </p:grpSpPr>
        <p:sp>
          <p:nvSpPr>
            <p:cNvPr id="118" name="平行四边形 117"/>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4"/>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4898328"/>
            <a:ext cx="5496560" cy="612775"/>
            <a:chOff x="4315150" y="1647579"/>
            <a:chExt cx="4122956" cy="539804"/>
          </a:xfrm>
        </p:grpSpPr>
        <p:sp>
          <p:nvSpPr>
            <p:cNvPr id="121" name="矩形 120"/>
            <p:cNvSpPr/>
            <p:nvPr>
              <p:custDataLst>
                <p:tags r:id="rId1"/>
              </p:custDataLst>
            </p:nvPr>
          </p:nvSpPr>
          <p:spPr>
            <a:xfrm>
              <a:off x="4840998" y="1730368"/>
              <a:ext cx="3238445" cy="331154"/>
            </a:xfrm>
            <a:prstGeom prst="rect">
              <a:avLst/>
            </a:prstGeom>
            <a:ln w="15875">
              <a:noFill/>
            </a:ln>
          </p:spPr>
          <p:txBody>
            <a:bodyPr wrap="square" lIns="68580" tIns="34290" rIns="68580" bIns="34290">
              <a:normAutofit fontScale="97014"/>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scope of Bean</a:t>
              </a:r>
            </a:p>
          </p:txBody>
        </p:sp>
        <p:sp>
          <p:nvSpPr>
            <p:cNvPr id="122" name="平行四边形 121"/>
            <p:cNvSpPr/>
            <p:nvPr>
              <p:custDataLst>
                <p:tags r:id="rId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Directory/Contents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370985"/>
            <a:ext cx="1192190" cy="612775"/>
            <a:chOff x="2215144" y="982844"/>
            <a:chExt cx="1244730" cy="842780"/>
          </a:xfrm>
        </p:grpSpPr>
        <p:sp>
          <p:nvSpPr>
            <p:cNvPr id="106" name="平行四边形 105"/>
            <p:cNvSpPr/>
            <p:nvPr>
              <p:custDataLst>
                <p:tags r:id="rId1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12"/>
              </p:custDataLst>
            </p:nvPr>
          </p:nvSpPr>
          <p:spPr>
            <a:xfrm>
              <a:off x="2393075" y="1005670"/>
              <a:ext cx="1066799" cy="80260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3640074"/>
            <a:ext cx="1192190" cy="612775"/>
            <a:chOff x="2215144" y="2026500"/>
            <a:chExt cx="1244730" cy="850129"/>
          </a:xfrm>
        </p:grpSpPr>
        <p:sp>
          <p:nvSpPr>
            <p:cNvPr id="109" name="平行四边形 108"/>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10"/>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362106"/>
            <a:ext cx="5496560" cy="612775"/>
            <a:chOff x="4315150" y="953426"/>
            <a:chExt cx="4122956" cy="539804"/>
          </a:xfrm>
        </p:grpSpPr>
        <p:sp>
          <p:nvSpPr>
            <p:cNvPr id="112" name="矩形 111"/>
            <p:cNvSpPr/>
            <p:nvPr>
              <p:custDataLst>
                <p:tags r:id="rId7"/>
              </p:custDataLst>
            </p:nvPr>
          </p:nvSpPr>
          <p:spPr>
            <a:xfrm>
              <a:off x="4841196" y="1036090"/>
              <a:ext cx="2827147" cy="331154"/>
            </a:xfrm>
            <a:prstGeom prst="rect">
              <a:avLst/>
            </a:prstGeom>
            <a:ln w="15875">
              <a:noFill/>
            </a:ln>
          </p:spPr>
          <p:txBody>
            <a:bodyPr wrap="square" lIns="68580" tIns="34290" rIns="68580" bIns="34290">
              <a:normAutofit fontScale="94787"/>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Instantiation of Bean</a:t>
              </a:r>
            </a:p>
          </p:txBody>
        </p:sp>
        <p:sp>
          <p:nvSpPr>
            <p:cNvPr id="113" name="平行四边形 112"/>
            <p:cNvSpPr/>
            <p:nvPr>
              <p:custDataLst>
                <p:tags r:id="rId8"/>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3623248"/>
            <a:ext cx="5496560" cy="612775"/>
            <a:chOff x="4315150" y="1647579"/>
            <a:chExt cx="4122956" cy="539804"/>
          </a:xfrm>
        </p:grpSpPr>
        <p:sp>
          <p:nvSpPr>
            <p:cNvPr id="115" name="矩形 114"/>
            <p:cNvSpPr/>
            <p:nvPr>
              <p:custDataLst>
                <p:tags r:id="rId5"/>
              </p:custDataLst>
            </p:nvPr>
          </p:nvSpPr>
          <p:spPr>
            <a:xfrm>
              <a:off x="4840998" y="1730368"/>
              <a:ext cx="3238445" cy="331154"/>
            </a:xfrm>
            <a:prstGeom prst="rect">
              <a:avLst/>
            </a:prstGeom>
            <a:ln w="15875">
              <a:noFill/>
            </a:ln>
          </p:spPr>
          <p:txBody>
            <a:bodyPr wrap="square" lIns="68580" tIns="34290" rIns="68580" bIns="34290">
              <a:normAutofit fontScale="96649"/>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way beans are assembled</a:t>
              </a:r>
            </a:p>
          </p:txBody>
        </p:sp>
        <p:sp>
          <p:nvSpPr>
            <p:cNvPr id="116" name="平行四边形 115"/>
            <p:cNvSpPr/>
            <p:nvPr>
              <p:custDataLst>
                <p:tags r:id="rId6"/>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4915154"/>
            <a:ext cx="1192190" cy="612775"/>
            <a:chOff x="2215144" y="2026500"/>
            <a:chExt cx="1244730" cy="850129"/>
          </a:xfrm>
        </p:grpSpPr>
        <p:sp>
          <p:nvSpPr>
            <p:cNvPr id="118" name="平行四边形 117"/>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4"/>
              </p:custDataLst>
            </p:nvPr>
          </p:nvSpPr>
          <p:spPr>
            <a:xfrm>
              <a:off x="2393075" y="2026500"/>
              <a:ext cx="1066799" cy="80960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4898328"/>
            <a:ext cx="5496560" cy="612775"/>
            <a:chOff x="4315150" y="1647579"/>
            <a:chExt cx="4122956" cy="539804"/>
          </a:xfrm>
        </p:grpSpPr>
        <p:sp>
          <p:nvSpPr>
            <p:cNvPr id="121" name="矩形 120"/>
            <p:cNvSpPr/>
            <p:nvPr>
              <p:custDataLst>
                <p:tags r:id="rId1"/>
              </p:custDataLst>
            </p:nvPr>
          </p:nvSpPr>
          <p:spPr>
            <a:xfrm>
              <a:off x="4840998" y="1730368"/>
              <a:ext cx="3238445" cy="331154"/>
            </a:xfrm>
            <a:prstGeom prst="rect">
              <a:avLst/>
            </a:prstGeom>
            <a:ln w="15875">
              <a:noFill/>
            </a:ln>
          </p:spPr>
          <p:txBody>
            <a:bodyPr wrap="square" lIns="68580" tIns="34290" rIns="68580" bIns="34290">
              <a:normAutofit fontScale="92582"/>
            </a:bodyPr>
            <a:lstStyle/>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lifecycle of Bean</a:t>
              </a:r>
            </a:p>
          </p:txBody>
        </p:sp>
        <p:sp>
          <p:nvSpPr>
            <p:cNvPr id="122" name="平行四边形 121"/>
            <p:cNvSpPr/>
            <p:nvPr>
              <p:custDataLst>
                <p:tags r:id="rId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Spring's IoC container</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2.1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C9648B3-DB39-850D-4648-FB3EBF47BD52}"/>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Spring's IoC Container</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815965" y="2927985"/>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79399" lnSpcReduction="2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Get to know Spring's IoC container and be able to briefly describe two common IoC containers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custDataLst>
              <p:tags r:id="rId1"/>
            </p:custDataLst>
          </p:nvPr>
        </p:nvSpPr>
        <p:spPr>
          <a:xfrm>
            <a:off x="1198880" y="2238375"/>
            <a:ext cx="9794240" cy="208724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9" name="TextBox 38"/>
          <p:cNvSpPr txBox="1"/>
          <p:nvPr>
            <p:custDataLst>
              <p:tags r:id="rId2"/>
            </p:custDataLst>
          </p:nvPr>
        </p:nvSpPr>
        <p:spPr>
          <a:xfrm>
            <a:off x="1595755" y="2347595"/>
            <a:ext cx="9001125" cy="2013585"/>
          </a:xfrm>
          <a:prstGeom prst="rect">
            <a:avLst/>
          </a:prstGeom>
          <a:noFill/>
        </p:spPr>
        <p:txBody>
          <a:bodyPr wrap="square" lIns="0" tIns="0" rIns="0" bIns="0" rtlCol="0">
            <a:normAutofit fontScale="91254"/>
          </a:bodyPr>
          <a:lstStyle/>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The </a:t>
            </a:r>
            <a:r>
              <a:rPr lang="en-US" altLang="zh-CN" sz="2000" dirty="0" err="1">
                <a:solidFill>
                  <a:srgbClr val="0070C0"/>
                </a:solidFill>
                <a:latin typeface="微软雅黑" panose="020B0503020204020204" pitchFamily="34" charset="-122"/>
                <a:ea typeface="微软雅黑" panose="020B0503020204020204" pitchFamily="34" charset="-122"/>
                <a:sym typeface="+mn-lt"/>
              </a:rPr>
              <a:t>IoC container</a:t>
            </a:r>
            <a:r>
              <a:rPr lang="en-US" altLang="zh-CN" sz="2000" dirty="0" err="1">
                <a:solidFill>
                  <a:srgbClr val="595959"/>
                </a:solidFill>
                <a:latin typeface="微软雅黑" panose="020B0503020204020204" pitchFamily="34" charset="-122"/>
                <a:ea typeface="微软雅黑" panose="020B0503020204020204" pitchFamily="34" charset="-122"/>
                <a:sym typeface="+mn-lt"/>
              </a:rPr>
              <a:t> of the Spring framework plays an indispensable role in the management of beans, and the IoC container provides convenient </a:t>
            </a:r>
            <a:r>
              <a:rPr lang="en-US" altLang="zh-CN" sz="2000" dirty="0" err="1">
                <a:solidFill>
                  <a:srgbClr val="0070C0"/>
                </a:solidFill>
                <a:latin typeface="微软雅黑" panose="020B0503020204020204" pitchFamily="34" charset="-122"/>
                <a:ea typeface="微软雅黑" panose="020B0503020204020204" pitchFamily="34" charset="-122"/>
                <a:sym typeface="+mn-lt"/>
              </a:rPr>
              <a:t>Bean management mechanisms for applications</a:t>
            </a:r>
            <a:r>
              <a:rPr lang="en-US" altLang="zh-CN" sz="2000" dirty="0" err="1">
                <a:solidFill>
                  <a:srgbClr val="595959"/>
                </a:solidFill>
                <a:latin typeface="微软雅黑" panose="020B0503020204020204" pitchFamily="34" charset="-122"/>
                <a:ea typeface="微软雅黑" panose="020B0503020204020204" pitchFamily="34" charset="-122"/>
                <a:sym typeface="+mn-lt"/>
              </a:rPr>
              <a:t>. Common IoC containers include </a:t>
            </a:r>
            <a:r>
              <a:rPr lang="en-US" altLang="zh-CN" sz="2000" dirty="0" err="1">
                <a:solidFill>
                  <a:srgbClr val="0070C0"/>
                </a:solidFill>
                <a:latin typeface="微软雅黑" panose="020B0503020204020204" pitchFamily="34" charset="-122"/>
                <a:ea typeface="微软雅黑" panose="020B0503020204020204" pitchFamily="34" charset="-122"/>
                <a:sym typeface="+mn-lt"/>
              </a:rPr>
              <a:t>BeanFactory and ApplicationContext</a:t>
            </a:r>
            <a:r>
              <a:rPr lang="en-US" altLang="zh-CN" sz="2000" dirty="0" err="1">
                <a:solidFill>
                  <a:srgbClr val="595959"/>
                </a:solidFill>
                <a:latin typeface="微软雅黑" panose="020B0503020204020204" pitchFamily="34" charset="-122"/>
                <a:ea typeface="微软雅黑" panose="020B0503020204020204" pitchFamily="34" charset="-122"/>
                <a:sym typeface="+mn-lt"/>
              </a:rPr>
              <a:t>, which will be explained below.</a:t>
            </a:r>
          </a:p>
        </p:txBody>
      </p:sp>
      <p:sp>
        <p:nvSpPr>
          <p:cNvPr id="40" name="矩形 93"/>
          <p:cNvSpPr/>
          <p:nvPr>
            <p:custDataLst>
              <p:tags r:id="rId3"/>
            </p:custDataLst>
          </p:nvPr>
        </p:nvSpPr>
        <p:spPr>
          <a:xfrm>
            <a:off x="1148715" y="2178685"/>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0703560" y="3858260"/>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Title 1"/>
          <p:cNvSpPr txBox="1"/>
          <p:nvPr>
            <p:custDataLst>
              <p:tags r:id="rId5"/>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Spring's IoC Containers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原创设计师QQ598969553          _3"/>
          <p:cNvSpPr/>
          <p:nvPr>
            <p:custDataLst>
              <p:tags r:id="rId1"/>
            </p:custDataLst>
          </p:nvPr>
        </p:nvSpPr>
        <p:spPr>
          <a:xfrm>
            <a:off x="1145439" y="1126742"/>
            <a:ext cx="10163810" cy="3640714"/>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原创设计师QQ598969553          _4"/>
          <p:cNvSpPr/>
          <p:nvPr>
            <p:custDataLst>
              <p:tags r:id="rId2"/>
            </p:custDataLst>
          </p:nvPr>
        </p:nvSpPr>
        <p:spPr>
          <a:xfrm>
            <a:off x="1336040" y="2196465"/>
            <a:ext cx="9486265" cy="2539365"/>
          </a:xfrm>
          <a:prstGeom prst="rect">
            <a:avLst/>
          </a:prstGeom>
        </p:spPr>
        <p:txBody>
          <a:bodyPr wrap="square">
            <a:normAutofit fontScale="97012"/>
          </a:bodyPr>
          <a:lstStyle/>
          <a:p>
            <a:pPr algn="just">
              <a:lnSpc>
                <a:spcPct val="150000"/>
              </a:lnSpc>
              <a:buClrTx/>
              <a:buSzTx/>
              <a:buFontTx/>
            </a:pPr>
            <a:r>
              <a:rPr lang="zh-CN" altLang="en-US" sz="2000" dirty="0">
                <a:solidFill>
                  <a:srgbClr val="1369B2"/>
                </a:solidFill>
                <a:latin typeface="微软雅黑" panose="020B0503020204020204" pitchFamily="34" charset="-122"/>
                <a:ea typeface="微软雅黑" panose="020B0503020204020204" pitchFamily="34" charset="-122"/>
                <a:sym typeface="+mn-lt"/>
              </a:rPr>
              <a:t>BeanFactory </a:t>
            </a:r>
            <a:r>
              <a:rPr lang="zh-CN" altLang="en-US" sz="2000" dirty="0">
                <a:solidFill>
                  <a:srgbClr val="595959"/>
                </a:solidFill>
                <a:latin typeface="微软雅黑" panose="020B0503020204020204" pitchFamily="34" charset="-122"/>
                <a:ea typeface="微软雅黑" panose="020B0503020204020204" pitchFamily="34" charset="-122"/>
                <a:sym typeface="+mn-lt"/>
              </a:rPr>
              <a:t>is one of the most fundamental </a:t>
            </a:r>
            <a:r>
              <a:rPr lang="zh-CN" altLang="en-US" sz="2000" dirty="0">
                <a:solidFill>
                  <a:srgbClr val="1369B2"/>
                </a:solidFill>
                <a:latin typeface="微软雅黑" panose="020B0503020204020204" pitchFamily="34" charset="-122"/>
                <a:ea typeface="微软雅黑" panose="020B0503020204020204" pitchFamily="34" charset="-122"/>
                <a:sym typeface="+mn-lt"/>
              </a:rPr>
              <a:t>IoC containers in the Spring framework. BeanFactory creates instances of beans using </a:t>
            </a:r>
            <a:r>
              <a:rPr lang="zh-CN" altLang="en-US" sz="2000" dirty="0">
                <a:solidFill>
                  <a:srgbClr val="1369B2"/>
                </a:solidFill>
                <a:highlight>
                  <a:srgbClr val="FFFF00"/>
                </a:highlight>
                <a:latin typeface="微软雅黑" panose="020B0503020204020204" pitchFamily="34" charset="-122"/>
                <a:ea typeface="微软雅黑" panose="020B0503020204020204" pitchFamily="34" charset="-122"/>
                <a:sym typeface="+mn-lt"/>
              </a:rPr>
              <a:t>lazy loading</a:t>
            </a:r>
            <a:r>
              <a:rPr lang="zh-CN" altLang="en-US" sz="2000" dirty="0">
                <a:solidFill>
                  <a:srgbClr val="1369B2"/>
                </a:solidFill>
                <a:latin typeface="微软雅黑" panose="020B0503020204020204" pitchFamily="34" charset="-122"/>
                <a:ea typeface="微软雅黑" panose="020B0503020204020204" pitchFamily="34" charset="-122"/>
                <a:sym typeface="+mn-lt"/>
              </a:rPr>
              <a:t>, meaning that an instance of a Bean is created only when it is first requested. </a:t>
            </a:r>
            <a:r>
              <a:rPr lang="zh-CN" altLang="en-US" sz="2000" dirty="0">
                <a:solidFill>
                  <a:srgbClr val="595959"/>
                </a:solidFill>
                <a:latin typeface="微软雅黑" panose="020B0503020204020204" pitchFamily="34" charset="-122"/>
                <a:ea typeface="微软雅黑" panose="020B0503020204020204" pitchFamily="34" charset="-122"/>
                <a:sym typeface="+mn-lt"/>
              </a:rPr>
              <a:t>BeanFactory is an interface that defines the basic functions for managing and obtaining Bean objects.</a:t>
            </a:r>
            <a:endParaRPr lang="en-US" altLang="zh-CN" sz="2000" dirty="0">
              <a:solidFill>
                <a:srgbClr val="595959"/>
              </a:solidFill>
              <a:latin typeface="微软雅黑" panose="020B0503020204020204" pitchFamily="34" charset="-122"/>
              <a:ea typeface="微软雅黑" panose="020B0503020204020204" pitchFamily="34" charset="-122"/>
              <a:sym typeface="+mn-lt"/>
            </a:endParaRPr>
          </a:p>
        </p:txBody>
      </p:sp>
      <p:sp>
        <p:nvSpPr>
          <p:cNvPr id="11" name="原创设计师QQ598969553          _6"/>
          <p:cNvSpPr/>
          <p:nvPr>
            <p:custDataLst>
              <p:tags r:id="rId3"/>
            </p:custDataLst>
          </p:nvPr>
        </p:nvSpPr>
        <p:spPr>
          <a:xfrm>
            <a:off x="3984625" y="1571625"/>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custDataLst>
              <p:tags r:id="rId4"/>
            </p:custDataLst>
          </p:nvPr>
        </p:nvSpPr>
        <p:spPr>
          <a:xfrm>
            <a:off x="3984625" y="1621155"/>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BeanFactory</a:t>
            </a:r>
          </a:p>
        </p:txBody>
      </p:sp>
      <p:sp>
        <p:nvSpPr>
          <p:cNvPr id="3" name="Title 1"/>
          <p:cNvSpPr txBox="1"/>
          <p:nvPr>
            <p:custDataLst>
              <p:tags r:id="rId5"/>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Spring's IoC container</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Spring's IoC Container</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4" name="表格 3"/>
          <p:cNvGraphicFramePr/>
          <p:nvPr>
            <p:custDataLst>
              <p:tags r:id="rId2"/>
            </p:custDataLst>
            <p:extLst>
              <p:ext uri="{D42A27DB-BD31-4B8C-83A1-F6EECF244321}">
                <p14:modId xmlns:p14="http://schemas.microsoft.com/office/powerpoint/2010/main" val="1249710952"/>
              </p:ext>
            </p:extLst>
          </p:nvPr>
        </p:nvGraphicFramePr>
        <p:xfrm>
          <a:off x="334566" y="1413570"/>
          <a:ext cx="11521279" cy="4455097"/>
        </p:xfrm>
        <a:graphic>
          <a:graphicData uri="http://schemas.openxmlformats.org/drawingml/2006/table">
            <a:tbl>
              <a:tblPr/>
              <a:tblGrid>
                <a:gridCol w="4824536">
                  <a:extLst>
                    <a:ext uri="{9D8B030D-6E8A-4147-A177-3AD203B41FA5}">
                      <a16:colId xmlns:a16="http://schemas.microsoft.com/office/drawing/2014/main" val="20000"/>
                    </a:ext>
                  </a:extLst>
                </a:gridCol>
                <a:gridCol w="6696743">
                  <a:extLst>
                    <a:ext uri="{9D8B030D-6E8A-4147-A177-3AD203B41FA5}">
                      <a16:colId xmlns:a16="http://schemas.microsoft.com/office/drawing/2014/main" val="20001"/>
                    </a:ext>
                  </a:extLst>
                </a:gridCol>
              </a:tblGrid>
              <a:tr h="414020">
                <a:tc>
                  <a:txBody>
                    <a:bodyPr/>
                    <a:lstStyle/>
                    <a:p>
                      <a:pPr algn="ctr">
                        <a:lnSpc>
                          <a:spcPct val="150000"/>
                        </a:lnSpc>
                        <a:buClrTx/>
                        <a:buSzTx/>
                        <a:buFontTx/>
                        <a:buNone/>
                      </a:pPr>
                      <a:r>
                        <a:rPr lang="en-US" sz="1700" b="1" dirty="0">
                          <a:latin typeface="微软雅黑" panose="020B0503020204020204" pitchFamily="34" charset="-122"/>
                          <a:ea typeface="微软雅黑" panose="020B0503020204020204" pitchFamily="34" charset="-122"/>
                          <a:cs typeface="Times New Roman" panose="02020603050405020304" charset="0"/>
                        </a:rPr>
                        <a:t>Methods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ctr">
                        <a:lnSpc>
                          <a:spcPct val="150000"/>
                        </a:lnSpc>
                        <a:buClrTx/>
                        <a:buSzTx/>
                        <a:buFontTx/>
                        <a:buNone/>
                      </a:pPr>
                      <a:r>
                        <a:rPr lang="en-US" sz="1700" b="1">
                          <a:latin typeface="微软雅黑" panose="020B0503020204020204" pitchFamily="34" charset="-122"/>
                          <a:ea typeface="微软雅黑" panose="020B0503020204020204" pitchFamily="34" charset="-122"/>
                          <a:cs typeface="Times New Roman" panose="02020603050405020304" charset="0"/>
                        </a:rPr>
                        <a:t>Description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413385">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Object getBean (String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 the Bean based on the specified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414020">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&lt;T&gt; T getBean (String name,Class&lt;T&gt; type)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 the Bean based on the specified name and type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413385">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&lt;T&gt; T getBean (Class&lt;T&gt; requiredType)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 the Bean according to the specified type requiredType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414020">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Object getBean (String name,Object... args)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 the Bean based on the specified name and parameter args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827405">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booleanisTypeMatch (String name)</a:t>
                      </a:r>
                    </a:p>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Resolvable typeToMatch</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Determine if there is a Bean that matches the specified name and type typeToMatch</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414020">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Class&lt;? &gt;getType (String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 the type of the Bean based on the specified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413385">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getAliases (String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 an array of aliases corresponding to the specified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414020">
                <a:tc>
                  <a:txBody>
                    <a:bodyPr/>
                    <a:lstStyle/>
                    <a:p>
                      <a:pPr algn="l">
                        <a:lnSpc>
                          <a:spcPct val="150000"/>
                        </a:lnSpc>
                        <a:buClrTx/>
                        <a:buSzTx/>
                        <a:buFontTx/>
                        <a:buNone/>
                      </a:pPr>
                      <a:r>
                        <a:rPr lang="zh-CN" altLang="en-US" sz="17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containsBean (String 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l">
                        <a:lnSpc>
                          <a:spcPct val="150000"/>
                        </a:lnSpc>
                        <a:buClrTx/>
                        <a:buSzTx/>
                        <a:buFontTx/>
                        <a:buNone/>
                      </a:pPr>
                      <a:r>
                        <a:rPr lang="zh-CN" altLang="en-US" sz="17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Determine whether the Spring container contains the specified Bean based on the name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bl>
          </a:graphicData>
        </a:graphic>
      </p:graphicFrame>
      <p:sp>
        <p:nvSpPr>
          <p:cNvPr id="100" name="文本框 99"/>
          <p:cNvSpPr txBox="1"/>
          <p:nvPr/>
        </p:nvSpPr>
        <p:spPr>
          <a:xfrm>
            <a:off x="4072602" y="772795"/>
            <a:ext cx="4320480" cy="499624"/>
          </a:xfrm>
          <a:prstGeom prst="rect">
            <a:avLst/>
          </a:prstGeom>
          <a:noFill/>
          <a:ln w="9525">
            <a:noFill/>
          </a:ln>
        </p:spPr>
        <p:txBody>
          <a:bodyPr wrap="square">
            <a:sp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BeanFactory's common approach</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原创设计师QQ598969553          _3"/>
          <p:cNvSpPr/>
          <p:nvPr>
            <p:custDataLst>
              <p:tags r:id="rId1"/>
            </p:custDataLst>
          </p:nvPr>
        </p:nvSpPr>
        <p:spPr>
          <a:xfrm>
            <a:off x="1002665" y="1661289"/>
            <a:ext cx="10163810" cy="4360793"/>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原创设计师QQ598969553          _4"/>
          <p:cNvSpPr/>
          <p:nvPr>
            <p:custDataLst>
              <p:tags r:id="rId2"/>
            </p:custDataLst>
          </p:nvPr>
        </p:nvSpPr>
        <p:spPr>
          <a:xfrm>
            <a:off x="1336040" y="2052449"/>
            <a:ext cx="9486265" cy="2539365"/>
          </a:xfrm>
          <a:prstGeom prst="rect">
            <a:avLst/>
          </a:prstGeom>
        </p:spPr>
        <p:txBody>
          <a:bodyPr wrap="square">
            <a:noAutofit/>
          </a:bodyPr>
          <a:lstStyle/>
          <a:p>
            <a:pPr algn="just">
              <a:lnSpc>
                <a:spcPct val="150000"/>
              </a:lnSpc>
              <a:buClrTx/>
              <a:buSzTx/>
              <a:buFontTx/>
            </a:pPr>
            <a:r>
              <a:rPr lang="zh-CN" altLang="en-US" sz="1800" dirty="0">
                <a:solidFill>
                  <a:srgbClr val="1369B2"/>
                </a:solidFill>
                <a:latin typeface="微软雅黑" panose="020B0503020204020204" pitchFamily="34" charset="-122"/>
                <a:ea typeface="微软雅黑" panose="020B0503020204020204" pitchFamily="34" charset="-122"/>
                <a:sym typeface="+mn-lt"/>
              </a:rPr>
              <a:t>ApplicationContext </a:t>
            </a:r>
            <a:r>
              <a:rPr lang="zh-CN" altLang="en-US" sz="1800" dirty="0">
                <a:solidFill>
                  <a:srgbClr val="595959"/>
                </a:solidFill>
                <a:latin typeface="微软雅黑" panose="020B0503020204020204" pitchFamily="34" charset="-122"/>
                <a:ea typeface="微软雅黑" panose="020B0503020204020204" pitchFamily="34" charset="-122"/>
                <a:sym typeface="+mn-lt"/>
              </a:rPr>
              <a:t>is a subinterface of the BeanFactory interface.</a:t>
            </a:r>
            <a:r>
              <a:rPr lang="zh-CN" altLang="en-US" sz="1800" dirty="0">
                <a:solidFill>
                  <a:srgbClr val="1369B2"/>
                </a:solidFill>
                <a:latin typeface="微软雅黑" panose="020B0503020204020204" pitchFamily="34" charset="-122"/>
                <a:ea typeface="微软雅黑" panose="020B0503020204020204" pitchFamily="34" charset="-122"/>
                <a:sym typeface="+mn-lt"/>
              </a:rPr>
              <a:t> </a:t>
            </a:r>
            <a:r>
              <a:rPr lang="zh-CN" altLang="en-US" sz="1800" dirty="0">
                <a:solidFill>
                  <a:srgbClr val="595959"/>
                </a:solidFill>
                <a:latin typeface="微软雅黑" panose="020B0503020204020204" pitchFamily="34" charset="-122"/>
                <a:ea typeface="微软雅黑" panose="020B0503020204020204" pitchFamily="34" charset="-122"/>
                <a:sym typeface="+mn-lt"/>
              </a:rPr>
              <a:t>It inherits all the functionality of the BeanFactory interface and provides more functionality and extension points than BeanFactory. It is one of the components frequently used in Spring application development.</a:t>
            </a:r>
            <a:endParaRPr lang="en-US" altLang="zh-CN" sz="18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1800" dirty="0" err="1">
                <a:solidFill>
                  <a:srgbClr val="595959"/>
                </a:solidFill>
                <a:latin typeface="微软雅黑" panose="020B0503020204020204" pitchFamily="34" charset="-122"/>
                <a:ea typeface="微软雅黑" panose="020B0503020204020204" pitchFamily="34" charset="-122"/>
                <a:sym typeface="+mn-lt"/>
              </a:rPr>
              <a:t>ApplicationContext automatically </a:t>
            </a:r>
            <a:r>
              <a:rPr lang="en-US" altLang="zh-CN" sz="1800" dirty="0" err="1">
                <a:solidFill>
                  <a:srgbClr val="1369B2"/>
                </a:solidFill>
                <a:latin typeface="微软雅黑" panose="020B0503020204020204" pitchFamily="34" charset="-122"/>
                <a:ea typeface="微软雅黑" panose="020B0503020204020204" pitchFamily="34" charset="-122"/>
                <a:sym typeface="+mn-lt"/>
              </a:rPr>
              <a:t>loads and initializes all defined beans at startup</a:t>
            </a:r>
            <a:r>
              <a:rPr lang="en-US" altLang="zh-CN" sz="1800" dirty="0" err="1">
                <a:solidFill>
                  <a:srgbClr val="595959"/>
                </a:solidFill>
                <a:latin typeface="微软雅黑" panose="020B0503020204020204" pitchFamily="34" charset="-122"/>
                <a:ea typeface="微软雅黑" panose="020B0503020204020204" pitchFamily="34" charset="-122"/>
                <a:sym typeface="+mn-lt"/>
              </a:rPr>
              <a:t>, </a:t>
            </a:r>
            <a:r>
              <a:rPr lang="en-US" altLang="zh-CN" sz="1800" dirty="0" err="1">
                <a:solidFill>
                  <a:srgbClr val="1369B2"/>
                </a:solidFill>
                <a:latin typeface="微软雅黑" panose="020B0503020204020204" pitchFamily="34" charset="-122"/>
                <a:ea typeface="微软雅黑" panose="020B0503020204020204" pitchFamily="34" charset="-122"/>
                <a:sym typeface="+mn-lt"/>
              </a:rPr>
              <a:t>meaning that all the required beans are </a:t>
            </a:r>
            <a:r>
              <a:rPr lang="en-US" altLang="zh-CN" sz="1800" dirty="0" err="1">
                <a:solidFill>
                  <a:srgbClr val="1369B2"/>
                </a:solidFill>
                <a:highlight>
                  <a:srgbClr val="FFFF00"/>
                </a:highlight>
                <a:latin typeface="微软雅黑" panose="020B0503020204020204" pitchFamily="34" charset="-122"/>
                <a:ea typeface="微软雅黑" panose="020B0503020204020204" pitchFamily="34" charset="-122"/>
                <a:sym typeface="+mn-lt"/>
              </a:rPr>
              <a:t>ready when the application is running</a:t>
            </a:r>
            <a:r>
              <a:rPr lang="en-US" altLang="zh-CN" sz="1800" dirty="0" err="1">
                <a:solidFill>
                  <a:srgbClr val="1369B2"/>
                </a:solidFill>
                <a:latin typeface="微软雅黑" panose="020B0503020204020204" pitchFamily="34" charset="-122"/>
                <a:ea typeface="微软雅黑" panose="020B0503020204020204" pitchFamily="34" charset="-122"/>
                <a:sym typeface="+mn-lt"/>
              </a:rPr>
              <a:t>. </a:t>
            </a:r>
            <a:r>
              <a:rPr lang="en-US" altLang="zh-CN" sz="1800" dirty="0" err="1">
                <a:solidFill>
                  <a:srgbClr val="595959"/>
                </a:solidFill>
                <a:latin typeface="微软雅黑" panose="020B0503020204020204" pitchFamily="34" charset="-122"/>
                <a:ea typeface="微软雅黑" panose="020B0503020204020204" pitchFamily="34" charset="-122"/>
                <a:sym typeface="+mn-lt"/>
              </a:rPr>
              <a:t>Spring provides multiple implementation classes of the ApplicationContext interface to meet the different needs of developers, allowing them to choose the appropriate implementation based on the characteristics and requirements of the project.</a:t>
            </a:r>
            <a:endParaRPr lang="zh-CN" altLang="en-US" sz="1800" dirty="0" err="1">
              <a:solidFill>
                <a:srgbClr val="595959"/>
              </a:solidFill>
              <a:latin typeface="微软雅黑" panose="020B0503020204020204" pitchFamily="34" charset="-122"/>
              <a:ea typeface="微软雅黑" panose="020B0503020204020204" pitchFamily="34" charset="-122"/>
              <a:sym typeface="+mn-lt"/>
            </a:endParaRPr>
          </a:p>
        </p:txBody>
      </p:sp>
      <p:sp>
        <p:nvSpPr>
          <p:cNvPr id="11" name="原创设计师QQ598969553          _6"/>
          <p:cNvSpPr/>
          <p:nvPr>
            <p:custDataLst>
              <p:tags r:id="rId3"/>
            </p:custDataLst>
          </p:nvPr>
        </p:nvSpPr>
        <p:spPr>
          <a:xfrm>
            <a:off x="3984625" y="1427609"/>
            <a:ext cx="4335780"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custDataLst>
              <p:tags r:id="rId4"/>
            </p:custDataLst>
          </p:nvPr>
        </p:nvSpPr>
        <p:spPr>
          <a:xfrm>
            <a:off x="3984625" y="1477139"/>
            <a:ext cx="4098925" cy="398780"/>
          </a:xfrm>
          <a:prstGeom prst="rect">
            <a:avLst/>
          </a:prstGeom>
          <a:noFill/>
        </p:spPr>
        <p:txBody>
          <a:bodyPr wrap="square" rtlCol="0">
            <a:spAutoFit/>
          </a:bodyPr>
          <a:lstStyle/>
          <a:p>
            <a:pPr algn="ctr" defTabSz="1216660">
              <a:spcBef>
                <a:spcPct val="20000"/>
              </a:spcBef>
              <a:defRPr/>
            </a:pPr>
            <a:r>
              <a:rPr lang="zh-CN" altLang="en-US" sz="2000" b="1" dirty="0">
                <a:solidFill>
                  <a:schemeClr val="bg1"/>
                </a:solidFill>
                <a:latin typeface="微软雅黑" panose="020B0503020204020204" pitchFamily="34" charset="-122"/>
                <a:ea typeface="微软雅黑" panose="020B0503020204020204" pitchFamily="34" charset="-122"/>
                <a:cs typeface="+mn-ea"/>
                <a:sym typeface="+mn-lt"/>
              </a:rPr>
              <a:t>ApplicationContext</a:t>
            </a:r>
          </a:p>
        </p:txBody>
      </p:sp>
      <p:sp>
        <p:nvSpPr>
          <p:cNvPr id="3" name="Title 1"/>
          <p:cNvSpPr txBox="1"/>
          <p:nvPr>
            <p:custDataLst>
              <p:tags r:id="rId5"/>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Spring's IoC container</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 Spring's IoC Container</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4" name="直接连接符 41"/>
          <p:cNvCxnSpPr/>
          <p:nvPr>
            <p:custDataLst>
              <p:tags r:id="rId2"/>
            </p:custDataLst>
          </p:nvPr>
        </p:nvCxnSpPr>
        <p:spPr>
          <a:xfrm flipH="1">
            <a:off x="3142878" y="1851760"/>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2"/>
          <p:cNvCxnSpPr/>
          <p:nvPr>
            <p:custDataLst>
              <p:tags r:id="rId3"/>
            </p:custDataLst>
          </p:nvPr>
        </p:nvCxnSpPr>
        <p:spPr>
          <a:xfrm flipH="1">
            <a:off x="3142878" y="3592538"/>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43"/>
          <p:cNvCxnSpPr/>
          <p:nvPr>
            <p:custDataLst>
              <p:tags r:id="rId4"/>
            </p:custDataLst>
          </p:nvPr>
        </p:nvCxnSpPr>
        <p:spPr>
          <a:xfrm flipH="1">
            <a:off x="3142878" y="5305614"/>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7" name="直接连接符 44"/>
          <p:cNvCxnSpPr/>
          <p:nvPr>
            <p:custDataLst>
              <p:tags r:id="rId5"/>
            </p:custDataLst>
          </p:nvPr>
        </p:nvCxnSpPr>
        <p:spPr>
          <a:xfrm>
            <a:off x="3151687" y="1875441"/>
            <a:ext cx="0" cy="3434193"/>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9" name="椭圆 8"/>
          <p:cNvSpPr/>
          <p:nvPr>
            <p:custDataLst>
              <p:tags r:id="rId6"/>
            </p:custDataLst>
          </p:nvPr>
        </p:nvSpPr>
        <p:spPr>
          <a:xfrm>
            <a:off x="4336411" y="1320077"/>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0" name="椭圆 9"/>
          <p:cNvSpPr/>
          <p:nvPr>
            <p:custDataLst>
              <p:tags r:id="rId7"/>
            </p:custDataLst>
          </p:nvPr>
        </p:nvSpPr>
        <p:spPr>
          <a:xfrm>
            <a:off x="4336411" y="303866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3" name="椭圆 12"/>
          <p:cNvSpPr/>
          <p:nvPr>
            <p:custDataLst>
              <p:tags r:id="rId8"/>
            </p:custDataLst>
          </p:nvPr>
        </p:nvSpPr>
        <p:spPr>
          <a:xfrm>
            <a:off x="4336411" y="473208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4" name="椭圆 13"/>
          <p:cNvSpPr/>
          <p:nvPr>
            <p:custDataLst>
              <p:tags r:id="rId9"/>
            </p:custDataLst>
          </p:nvPr>
        </p:nvSpPr>
        <p:spPr>
          <a:xfrm>
            <a:off x="4419024" y="3130639"/>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5" name="Freeform 176"/>
          <p:cNvSpPr>
            <a:spLocks noEditPoints="1"/>
          </p:cNvSpPr>
          <p:nvPr>
            <p:custDataLst>
              <p:tags r:id="rId10"/>
            </p:custDataLst>
          </p:nvPr>
        </p:nvSpPr>
        <p:spPr bwMode="auto">
          <a:xfrm>
            <a:off x="4614060" y="3345512"/>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椭圆 15"/>
          <p:cNvSpPr/>
          <p:nvPr>
            <p:custDataLst>
              <p:tags r:id="rId11"/>
            </p:custDataLst>
          </p:nvPr>
        </p:nvSpPr>
        <p:spPr>
          <a:xfrm>
            <a:off x="4428385" y="1412051"/>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7" name="椭圆 16"/>
          <p:cNvSpPr/>
          <p:nvPr>
            <p:custDataLst>
              <p:tags r:id="rId12"/>
            </p:custDataLst>
          </p:nvPr>
        </p:nvSpPr>
        <p:spPr>
          <a:xfrm>
            <a:off x="4419023" y="4843715"/>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8" name="Freeform 175"/>
          <p:cNvSpPr>
            <a:spLocks noEditPoints="1"/>
          </p:cNvSpPr>
          <p:nvPr>
            <p:custDataLst>
              <p:tags r:id="rId13"/>
            </p:custDataLst>
          </p:nvPr>
        </p:nvSpPr>
        <p:spPr bwMode="auto">
          <a:xfrm>
            <a:off x="4643693" y="4970570"/>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9" name="Freeform 168"/>
          <p:cNvSpPr>
            <a:spLocks noEditPoints="1"/>
          </p:cNvSpPr>
          <p:nvPr>
            <p:custDataLst>
              <p:tags r:id="rId14"/>
            </p:custDataLst>
          </p:nvPr>
        </p:nvSpPr>
        <p:spPr bwMode="auto">
          <a:xfrm>
            <a:off x="4614059" y="1543784"/>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20" name="TextBox 33"/>
          <p:cNvSpPr txBox="1"/>
          <p:nvPr>
            <p:custDataLst>
              <p:tags r:id="rId15"/>
            </p:custDataLst>
          </p:nvPr>
        </p:nvSpPr>
        <p:spPr>
          <a:xfrm>
            <a:off x="5536132" y="1704797"/>
            <a:ext cx="6391722" cy="1425842"/>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defTabSz="1219200">
              <a:lnSpc>
                <a:spcPct val="130000"/>
              </a:lnSpc>
              <a:spcBef>
                <a:spcPts val="0"/>
              </a:spcBef>
              <a:spcAft>
                <a:spcPts val="0"/>
              </a:spcAft>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Used to </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load the definitions and configuration information of beans from an XML file under the classpath, </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and parse the information in the configuration file to initialize the beans defined therein</a:t>
            </a:r>
          </a:p>
        </p:txBody>
      </p:sp>
      <p:sp>
        <p:nvSpPr>
          <p:cNvPr id="21" name="文本框 9"/>
          <p:cNvSpPr txBox="1"/>
          <p:nvPr>
            <p:custDataLst>
              <p:tags r:id="rId16"/>
            </p:custDataLst>
          </p:nvPr>
        </p:nvSpPr>
        <p:spPr>
          <a:xfrm>
            <a:off x="5755582" y="1412240"/>
            <a:ext cx="428815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ClassPathXmlApplicationContext</a:t>
            </a:r>
          </a:p>
        </p:txBody>
      </p:sp>
      <p:sp>
        <p:nvSpPr>
          <p:cNvPr id="22" name="TextBox 33"/>
          <p:cNvSpPr txBox="1"/>
          <p:nvPr>
            <p:custDataLst>
              <p:tags r:id="rId17"/>
            </p:custDataLst>
          </p:nvPr>
        </p:nvSpPr>
        <p:spPr>
          <a:xfrm>
            <a:off x="5755582" y="3647723"/>
            <a:ext cx="5092152" cy="1078864"/>
          </a:xfrm>
          <a:prstGeom prst="rect">
            <a:avLst/>
          </a:prstGeom>
          <a:noFill/>
        </p:spPr>
        <p:txBody>
          <a:bodyPr wrap="square" lIns="0" tIns="0" rIns="0" bIns="0" rtlCol="0">
            <a:normAutofit fontScale="97222"/>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l" defTabSz="1219200">
              <a:lnSpc>
                <a:spcPct val="130000"/>
              </a:lnSpc>
            </a:pPr>
            <a:r>
              <a:rPr lang="zh-CN" altLang="en-US" sz="1800" dirty="0">
                <a:solidFill>
                  <a:srgbClr val="595959"/>
                </a:solidFill>
                <a:latin typeface="微软雅黑" panose="020B0503020204020204" pitchFamily="34" charset="-122"/>
                <a:ea typeface="微软雅黑" panose="020B0503020204020204" pitchFamily="34" charset="-122"/>
                <a:sym typeface="+mn-ea"/>
              </a:rPr>
              <a:t>Used to load Bean </a:t>
            </a:r>
            <a:r>
              <a:rPr lang="zh-CN" altLang="en-US" sz="1900" dirty="0">
                <a:solidFill>
                  <a:srgbClr val="0070C0"/>
                </a:solidFill>
                <a:latin typeface="微软雅黑" panose="020B0503020204020204" pitchFamily="34" charset="-122"/>
                <a:ea typeface="微软雅黑" panose="020B0503020204020204" pitchFamily="34" charset="-122"/>
                <a:sym typeface="+mn-ea"/>
              </a:rPr>
              <a:t>definitions from XML files under the file system path</a:t>
            </a:r>
          </a:p>
        </p:txBody>
      </p:sp>
      <p:sp>
        <p:nvSpPr>
          <p:cNvPr id="23" name="文本框 9"/>
          <p:cNvSpPr txBox="1"/>
          <p:nvPr>
            <p:custDataLst>
              <p:tags r:id="rId18"/>
            </p:custDataLst>
          </p:nvPr>
        </p:nvSpPr>
        <p:spPr>
          <a:xfrm>
            <a:off x="5755582" y="3225448"/>
            <a:ext cx="4352290"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FileSystemXmlApplicationContext</a:t>
            </a:r>
          </a:p>
        </p:txBody>
      </p:sp>
      <p:sp>
        <p:nvSpPr>
          <p:cNvPr id="24" name="TextBox 33"/>
          <p:cNvSpPr txBox="1"/>
          <p:nvPr>
            <p:custDataLst>
              <p:tags r:id="rId19"/>
            </p:custDataLst>
          </p:nvPr>
        </p:nvSpPr>
        <p:spPr>
          <a:xfrm>
            <a:off x="5767012" y="5274310"/>
            <a:ext cx="5008714" cy="891788"/>
          </a:xfrm>
          <a:prstGeom prst="rect">
            <a:avLst/>
          </a:prstGeom>
          <a:noFill/>
        </p:spPr>
        <p:txBody>
          <a:bodyPr wrap="square" lIns="0" tIns="0" rIns="0" bIns="0" rtlCol="0">
            <a:no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l" defTabSz="1219200">
              <a:lnSpc>
                <a:spcPct val="150000"/>
              </a:lnSpc>
              <a:spcBef>
                <a:spcPts val="0"/>
              </a:spcBef>
              <a:spcAft>
                <a:spcPts val="0"/>
              </a:spcAft>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Load defined beans based on Java classes and annotations</a:t>
            </a:r>
          </a:p>
        </p:txBody>
      </p:sp>
      <p:sp>
        <p:nvSpPr>
          <p:cNvPr id="25" name="文本框 9"/>
          <p:cNvSpPr txBox="1"/>
          <p:nvPr>
            <p:custDataLst>
              <p:tags r:id="rId20"/>
            </p:custDataLst>
          </p:nvPr>
        </p:nvSpPr>
        <p:spPr>
          <a:xfrm>
            <a:off x="5778442" y="4852035"/>
            <a:ext cx="487743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AnnotationConfigApplicationContext</a:t>
            </a:r>
          </a:p>
        </p:txBody>
      </p:sp>
      <p:sp>
        <p:nvSpPr>
          <p:cNvPr id="26" name="文本框 9"/>
          <p:cNvSpPr txBox="1"/>
          <p:nvPr>
            <p:custDataLst>
              <p:tags r:id="rId21"/>
            </p:custDataLst>
          </p:nvPr>
        </p:nvSpPr>
        <p:spPr>
          <a:xfrm>
            <a:off x="262558" y="2577733"/>
            <a:ext cx="2889129" cy="170412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rmAutofit fontScale="88576"/>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600" b="1" dirty="0">
                <a:solidFill>
                  <a:schemeClr val="tx1">
                    <a:lumMod val="75000"/>
                    <a:lumOff val="25000"/>
                  </a:schemeClr>
                </a:solidFill>
                <a:latin typeface="微软雅黑" panose="020B0503020204020204" pitchFamily="34" charset="-122"/>
                <a:ea typeface="微软雅黑" panose="020B0503020204020204" pitchFamily="34" charset="-122"/>
              </a:rPr>
              <a:t>A common implementation class for ApplicationContext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normAutofit fontScale="95691"/>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Bean configuration</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2.2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1251EF-3A96-3AD6-C6BC-5C8B0342CAFA}"/>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rmAutofit fontScale="9380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039863" y="2933905"/>
            <a:ext cx="5967873" cy="1449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Bean configuration and be able to implement Bean configuration based on XML files, annotations, and Java classes</a:t>
            </a:r>
            <a:endParaRPr lang="zh-CN" altLang="en-US"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custDataLst>
              <p:tags r:id="rId1"/>
            </p:custDataLst>
          </p:nvPr>
        </p:nvSpPr>
        <p:spPr>
          <a:xfrm>
            <a:off x="1099472" y="1767091"/>
            <a:ext cx="9794240" cy="313563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9" name="TextBox 38"/>
          <p:cNvSpPr txBox="1"/>
          <p:nvPr>
            <p:custDataLst>
              <p:tags r:id="rId2"/>
            </p:custDataLst>
          </p:nvPr>
        </p:nvSpPr>
        <p:spPr>
          <a:xfrm>
            <a:off x="1351250" y="2117084"/>
            <a:ext cx="9001125" cy="2435647"/>
          </a:xfrm>
          <a:prstGeom prst="rect">
            <a:avLst/>
          </a:prstGeom>
          <a:noFill/>
        </p:spPr>
        <p:txBody>
          <a:bodyPr wrap="square" lIns="0" tIns="0" rIns="0" bIns="0" rtlCol="0">
            <a:noAutofit/>
          </a:bodyPr>
          <a:lstStyle/>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In Spring, </a:t>
            </a:r>
            <a:r>
              <a:rPr lang="en-US" altLang="zh-CN" sz="2000" dirty="0" err="1">
                <a:solidFill>
                  <a:srgbClr val="0070C0"/>
                </a:solidFill>
                <a:latin typeface="微软雅黑" panose="020B0503020204020204" pitchFamily="34" charset="-122"/>
                <a:ea typeface="微软雅黑" panose="020B0503020204020204" pitchFamily="34" charset="-122"/>
                <a:sym typeface="+mn-lt"/>
              </a:rPr>
              <a:t>Bean configuration refers to defining and configuring the information of the beans in the application </a:t>
            </a:r>
            <a:r>
              <a:rPr lang="en-US" altLang="zh-CN" sz="2000" dirty="0" err="1">
                <a:solidFill>
                  <a:srgbClr val="595959"/>
                </a:solidFill>
                <a:latin typeface="微软雅黑" panose="020B0503020204020204" pitchFamily="34" charset="-122"/>
                <a:ea typeface="微软雅黑" panose="020B0503020204020204" pitchFamily="34" charset="-122"/>
                <a:sym typeface="+mn-lt"/>
              </a:rPr>
              <a:t>so that the IoC container can manage these Beans. </a:t>
            </a:r>
            <a:r>
              <a:rPr lang="en-US" altLang="zh-CN" sz="2000" dirty="0" err="1">
                <a:solidFill>
                  <a:srgbClr val="0070C0"/>
                </a:solidFill>
                <a:latin typeface="微软雅黑" panose="020B0503020204020204" pitchFamily="34" charset="-122"/>
                <a:ea typeface="微软雅黑" panose="020B0503020204020204" pitchFamily="34" charset="-122"/>
                <a:sym typeface="+mn-lt"/>
              </a:rPr>
              <a:t>There are XML-file-based, annotation-based, and Java class-based configurations for Bean configuration in Spring. </a:t>
            </a:r>
            <a:r>
              <a:rPr lang="en-US" altLang="zh-CN" sz="2000" dirty="0" err="1">
                <a:solidFill>
                  <a:srgbClr val="595959"/>
                </a:solidFill>
                <a:latin typeface="微软雅黑" panose="020B0503020204020204" pitchFamily="34" charset="-122"/>
                <a:ea typeface="微软雅黑" panose="020B0503020204020204" pitchFamily="34" charset="-122"/>
                <a:sym typeface="+mn-lt"/>
              </a:rPr>
              <a:t>The following explains the configuration of each of these three methods.</a:t>
            </a:r>
          </a:p>
        </p:txBody>
      </p:sp>
      <p:sp>
        <p:nvSpPr>
          <p:cNvPr id="40" name="矩形 93"/>
          <p:cNvSpPr/>
          <p:nvPr>
            <p:custDataLst>
              <p:tags r:id="rId3"/>
            </p:custDataLst>
          </p:nvPr>
        </p:nvSpPr>
        <p:spPr>
          <a:xfrm>
            <a:off x="1049307" y="1707401"/>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0559702" y="4437906"/>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Title 1"/>
          <p:cNvSpPr txBox="1"/>
          <p:nvPr>
            <p:custDataLst>
              <p:tags r:id="rId5"/>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Bean configuration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rmAutofit fontScale="9380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914" y="1105894"/>
            <a:ext cx="5084276" cy="476905"/>
            <a:chOff x="852276" y="1797999"/>
            <a:chExt cx="2819959" cy="476905"/>
          </a:xfrm>
        </p:grpSpPr>
        <p:sp>
          <p:nvSpPr>
            <p:cNvPr id="3" name="矩形: 圆角 6"/>
            <p:cNvSpPr/>
            <p:nvPr>
              <p:custDataLst>
                <p:tags r:id="rId1"/>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2"/>
              </p:custDataLst>
            </p:nvPr>
          </p:nvSpPr>
          <p:spPr>
            <a:xfrm>
              <a:off x="852276" y="1797999"/>
              <a:ext cx="2819959"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Configure beans based on XML files</a:t>
              </a:r>
            </a:p>
          </p:txBody>
        </p:sp>
      </p:grpSp>
      <p:sp>
        <p:nvSpPr>
          <p:cNvPr id="100" name="文本框 99"/>
          <p:cNvSpPr txBox="1"/>
          <p:nvPr/>
        </p:nvSpPr>
        <p:spPr>
          <a:xfrm>
            <a:off x="1250285" y="2205658"/>
            <a:ext cx="9401810" cy="3031748"/>
          </a:xfrm>
          <a:prstGeom prst="rect">
            <a:avLst/>
          </a:prstGeom>
          <a:noFill/>
          <a:ln w="9525">
            <a:noFill/>
          </a:ln>
        </p:spPr>
        <p:txBody>
          <a:bodyPr wrap="square">
            <a:noAutofit/>
          </a:bodyPr>
          <a:lstStyle/>
          <a:p>
            <a:pPr algn="just">
              <a:lnSpc>
                <a:spcPct val="150000"/>
              </a:lnSpc>
              <a:buClrTx/>
              <a:buSzTx/>
              <a:buFontTx/>
            </a:pPr>
            <a:r>
              <a:rPr sz="2000" dirty="0">
                <a:solidFill>
                  <a:schemeClr val="accent6">
                    <a:lumMod val="50000"/>
                  </a:schemeClr>
                </a:solidFill>
                <a:latin typeface="微软雅黑" panose="020B0503020204020204" pitchFamily="34" charset="-122"/>
                <a:ea typeface="微软雅黑" panose="020B0503020204020204" pitchFamily="34" charset="-122"/>
                <a:cs typeface="+mn-ea"/>
              </a:rPr>
              <a:t>XML (Extensible Markup Language) </a:t>
            </a:r>
            <a:r>
              <a:rPr sz="2000" dirty="0">
                <a:solidFill>
                  <a:srgbClr val="0070C0"/>
                </a:solidFill>
                <a:latin typeface="微软雅黑" panose="020B0503020204020204" pitchFamily="34" charset="-122"/>
                <a:ea typeface="微软雅黑" panose="020B0503020204020204" pitchFamily="34" charset="-122"/>
                <a:cs typeface="+mn-ea"/>
              </a:rPr>
              <a:t>is a standard format for data transmission and storage that is widely used in various fields</a:t>
            </a:r>
            <a:r>
              <a:rPr sz="2000" dirty="0">
                <a:solidFill>
                  <a:schemeClr val="accent6">
                    <a:lumMod val="50000"/>
                  </a:schemeClr>
                </a:solidFill>
                <a:latin typeface="微软雅黑" panose="020B0503020204020204" pitchFamily="34" charset="-122"/>
                <a:ea typeface="微软雅黑" panose="020B0503020204020204" pitchFamily="34" charset="-122"/>
                <a:cs typeface="+mn-ea"/>
              </a:rPr>
              <a:t>, including configuration files, data exchange, Web services, etc. </a:t>
            </a:r>
            <a:r>
              <a:rPr sz="2000" dirty="0">
                <a:solidFill>
                  <a:srgbClr val="0070C0"/>
                </a:solidFill>
                <a:latin typeface="微软雅黑" panose="020B0503020204020204" pitchFamily="34" charset="-122"/>
                <a:ea typeface="微软雅黑" panose="020B0503020204020204" pitchFamily="34" charset="-122"/>
                <a:cs typeface="+mn-ea"/>
              </a:rPr>
              <a:t>In Spring, configuring beans based on XML files is a common and traditional way to define and configure beans in an application by using the &lt;bean&gt; tag. </a:t>
            </a:r>
            <a:r>
              <a:rPr sz="2000" dirty="0">
                <a:solidFill>
                  <a:schemeClr val="accent6">
                    <a:lumMod val="50000"/>
                  </a:schemeClr>
                </a:solidFill>
                <a:latin typeface="微软雅黑" panose="020B0503020204020204" pitchFamily="34" charset="-122"/>
                <a:ea typeface="微软雅黑" panose="020B0503020204020204" pitchFamily="34" charset="-122"/>
                <a:cs typeface="+mn-ea"/>
              </a:rPr>
              <a:t>Each &lt;bean&gt; tag can define a Bean.</a:t>
            </a:r>
            <a:endParaRPr lang="zh-CN" altLang="en-US" sz="2000" dirty="0" err="1">
              <a:solidFill>
                <a:schemeClr val="accent6">
                  <a:lumMod val="50000"/>
                </a:schemeClr>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Bean configuration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1"/>
            </p:custDataLst>
            <p:extLst>
              <p:ext uri="{D42A27DB-BD31-4B8C-83A1-F6EECF244321}">
                <p14:modId xmlns:p14="http://schemas.microsoft.com/office/powerpoint/2010/main" val="4049766732"/>
              </p:ext>
            </p:extLst>
          </p:nvPr>
        </p:nvGraphicFramePr>
        <p:xfrm>
          <a:off x="334566" y="1548547"/>
          <a:ext cx="11521280" cy="4332732"/>
        </p:xfrm>
        <a:graphic>
          <a:graphicData uri="http://schemas.openxmlformats.org/drawingml/2006/table">
            <a:tbl>
              <a:tblPr/>
              <a:tblGrid>
                <a:gridCol w="3031177">
                  <a:extLst>
                    <a:ext uri="{9D8B030D-6E8A-4147-A177-3AD203B41FA5}">
                      <a16:colId xmlns:a16="http://schemas.microsoft.com/office/drawing/2014/main" val="20000"/>
                    </a:ext>
                  </a:extLst>
                </a:gridCol>
                <a:gridCol w="8490103">
                  <a:extLst>
                    <a:ext uri="{9D8B030D-6E8A-4147-A177-3AD203B41FA5}">
                      <a16:colId xmlns:a16="http://schemas.microsoft.com/office/drawing/2014/main" val="20001"/>
                    </a:ext>
                  </a:extLst>
                </a:gridCol>
              </a:tblGrid>
              <a:tr h="541020">
                <a:tc>
                  <a:txBody>
                    <a:bodyPr/>
                    <a:lstStyle/>
                    <a:p>
                      <a:pPr indent="0" algn="ctr" fontAlgn="t">
                        <a:lnSpc>
                          <a:spcPct val="110000"/>
                        </a:lnSpc>
                        <a:buNone/>
                      </a:pPr>
                      <a:r>
                        <a:rPr lang="en-US" sz="1700" b="1">
                          <a:latin typeface="微软雅黑" panose="020B0503020204020204" pitchFamily="34" charset="-122"/>
                          <a:ea typeface="微软雅黑" panose="020B0503020204020204" pitchFamily="34" charset="-122"/>
                          <a:cs typeface="宋体" panose="02010600030101010101" pitchFamily="2" charset="-122"/>
                        </a:rPr>
                        <a:t>Properties</a:t>
                      </a:r>
                      <a:endParaRPr lang="en-US" altLang="en-US" sz="17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fontAlgn="t">
                        <a:lnSpc>
                          <a:spcPct val="110000"/>
                        </a:lnSpc>
                        <a:buNone/>
                      </a:pPr>
                      <a:r>
                        <a:rPr lang="en-US" sz="1700" b="1" dirty="0">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17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id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specify the unique annotation of the Bean in the container</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name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specify the name of the Bean in the container</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class</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specify the specific type of the Bean, that is, the fully qualified class name of the Bean, the class that the IoC container wants to instantiate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scope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Used to specify the scope of a Bean, common values include singleton, prototype, request, session.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init-method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Specify the method that is invoked when the Bean is initialized</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0">
                <a:tc>
                  <a:txBody>
                    <a:bodyPr/>
                    <a:lstStyle/>
                    <a:p>
                      <a:pPr algn="ctr">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destroy-method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2000" b="0" dirty="0" err="1">
                          <a:solidFill>
                            <a:srgbClr val="595959"/>
                          </a:solidFill>
                          <a:latin typeface="微软雅黑" panose="020B0503020204020204" pitchFamily="34" charset="-122"/>
                          <a:ea typeface="微软雅黑" panose="020B0503020204020204" pitchFamily="34" charset="-122"/>
                        </a:rPr>
                        <a:t>Specify the method that is called when the Bean is destroyed</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bl>
          </a:graphicData>
        </a:graphic>
      </p:graphicFrame>
      <p:sp>
        <p:nvSpPr>
          <p:cNvPr id="4" name="文本框 3"/>
          <p:cNvSpPr txBox="1"/>
          <p:nvPr/>
        </p:nvSpPr>
        <p:spPr>
          <a:xfrm>
            <a:off x="3444996" y="884271"/>
            <a:ext cx="5300419" cy="553085"/>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Common properties of &lt;bean&gt; tags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原创设计师QQ598969553          _4"/>
          <p:cNvSpPr/>
          <p:nvPr>
            <p:custDataLst>
              <p:tags r:id="rId1"/>
            </p:custDataLst>
          </p:nvPr>
        </p:nvSpPr>
        <p:spPr>
          <a:xfrm>
            <a:off x="514586" y="1712278"/>
            <a:ext cx="11161240" cy="4597836"/>
          </a:xfrm>
          <a:prstGeom prst="rect">
            <a:avLst/>
          </a:prstGeom>
        </p:spPr>
        <p:txBody>
          <a:bodyPr wrap="square">
            <a:noAutofit/>
          </a:bodyPr>
          <a:lstStyle/>
          <a:p>
            <a:pPr algn="just">
              <a:lnSpc>
                <a:spcPct val="150000"/>
              </a:lnSpc>
              <a:buClrTx/>
              <a:buSzTx/>
              <a:buFontTx/>
            </a:pPr>
            <a:r>
              <a:rPr lang="zh-CN" altLang="en-US" sz="2000" dirty="0">
                <a:solidFill>
                  <a:srgbClr val="1369B2"/>
                </a:solidFill>
                <a:latin typeface="微软雅黑" panose="020B0503020204020204" pitchFamily="34" charset="-122"/>
                <a:ea typeface="微软雅黑" panose="020B0503020204020204" pitchFamily="34" charset="-122"/>
                <a:sym typeface="+mn-lt"/>
              </a:rPr>
              <a:t>The &lt;constructor-arg&gt; tag is used to set the constructor parameters of the Bean. </a:t>
            </a:r>
            <a:r>
              <a:rPr lang="zh-CN" altLang="en-US" sz="2000" dirty="0">
                <a:solidFill>
                  <a:srgbClr val="595959"/>
                </a:solidFill>
                <a:latin typeface="微软雅黑" panose="020B0503020204020204" pitchFamily="34" charset="-122"/>
                <a:ea typeface="微软雅黑" panose="020B0503020204020204" pitchFamily="34" charset="-122"/>
                <a:sym typeface="+mn-lt"/>
              </a:rPr>
              <a:t>This tag can be used to explicitly specify the constructor and its parameters when the class of the Bean has multiple constructors, or when the constructor requires parameters. </a:t>
            </a:r>
            <a:r>
              <a:rPr lang="zh-CN" altLang="en-US" sz="2000" dirty="0">
                <a:solidFill>
                  <a:srgbClr val="1369B2"/>
                </a:solidFill>
                <a:latin typeface="微软雅黑" panose="020B0503020204020204" pitchFamily="34" charset="-122"/>
                <a:ea typeface="微软雅黑" panose="020B0503020204020204" pitchFamily="34" charset="-122"/>
                <a:sym typeface="+mn-lt"/>
              </a:rPr>
              <a:t>The common properties of the &lt;constructor-arg&gt; tag are as follows.</a:t>
            </a:r>
            <a:endParaRPr lang="en-US" altLang="zh-CN" sz="2000" dirty="0" err="1">
              <a:solidFill>
                <a:srgbClr val="1369B2"/>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①index: Used to specify the parameter </a:t>
            </a:r>
            <a:r>
              <a:rPr lang="en-US" altLang="zh-CN" sz="2000" dirty="0" err="1">
                <a:solidFill>
                  <a:srgbClr val="1369B2"/>
                </a:solidFill>
                <a:latin typeface="微软雅黑" panose="020B0503020204020204" pitchFamily="34" charset="-122"/>
                <a:ea typeface="微软雅黑" panose="020B0503020204020204" pitchFamily="34" charset="-122"/>
                <a:sym typeface="+mn-lt"/>
              </a:rPr>
              <a:t>index of the constructor</a:t>
            </a:r>
            <a:r>
              <a:rPr lang="en-US" altLang="zh-CN" sz="2000" dirty="0" err="1">
                <a:solidFill>
                  <a:srgbClr val="595959"/>
                </a:solidFill>
                <a:latin typeface="微软雅黑" panose="020B0503020204020204" pitchFamily="34" charset="-122"/>
                <a:ea typeface="微软雅黑" panose="020B0503020204020204" pitchFamily="34" charset="-122"/>
                <a:sym typeface="+mn-lt"/>
              </a:rPr>
              <a:t>, with the parameter index incrementing by 1 starting from 0.</a:t>
            </a: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②type: Used to </a:t>
            </a:r>
            <a:r>
              <a:rPr lang="en-US" altLang="zh-CN" sz="2000" dirty="0" err="1">
                <a:solidFill>
                  <a:srgbClr val="1369B2"/>
                </a:solidFill>
                <a:latin typeface="微软雅黑" panose="020B0503020204020204" pitchFamily="34" charset="-122"/>
                <a:ea typeface="微软雅黑" panose="020B0503020204020204" pitchFamily="34" charset="-122"/>
                <a:sym typeface="+mn-lt"/>
              </a:rPr>
              <a:t>specify the parameter type of the constructor.</a:t>
            </a:r>
          </a:p>
          <a:p>
            <a:pPr algn="just">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sym typeface="+mn-lt"/>
              </a:rPr>
              <a:t>③name: The name of the parameter </a:t>
            </a:r>
            <a:r>
              <a:rPr lang="en-US" altLang="zh-CN" sz="2000" dirty="0" err="1">
                <a:solidFill>
                  <a:srgbClr val="1369B2"/>
                </a:solidFill>
                <a:latin typeface="微软雅黑" panose="020B0503020204020204" pitchFamily="34" charset="-122"/>
                <a:ea typeface="微软雅黑" panose="020B0503020204020204" pitchFamily="34" charset="-122"/>
                <a:sym typeface="+mn-lt"/>
              </a:rPr>
              <a:t>used to specify the constructor.</a:t>
            </a: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④value: Used to </a:t>
            </a:r>
            <a:r>
              <a:rPr lang="en-US" altLang="zh-CN" sz="2000" dirty="0" err="1">
                <a:solidFill>
                  <a:srgbClr val="1369B2"/>
                </a:solidFill>
                <a:latin typeface="微软雅黑" panose="020B0503020204020204" pitchFamily="34" charset="-122"/>
                <a:ea typeface="微软雅黑" panose="020B0503020204020204" pitchFamily="34" charset="-122"/>
                <a:sym typeface="+mn-lt"/>
              </a:rPr>
              <a:t>specify the constant value to be injected.</a:t>
            </a:r>
          </a:p>
          <a:p>
            <a:pPr algn="just">
              <a:lnSpc>
                <a:spcPct val="150000"/>
              </a:lnSpc>
              <a:buClrTx/>
              <a:buSzTx/>
              <a:buFontTx/>
            </a:pPr>
            <a:r>
              <a:rPr lang="zh-CN" altLang="en-US" sz="2000" dirty="0" err="1">
                <a:solidFill>
                  <a:srgbClr val="595959"/>
                </a:solidFill>
                <a:latin typeface="微软雅黑" panose="020B0503020204020204" pitchFamily="34" charset="-122"/>
                <a:ea typeface="微软雅黑" panose="020B0503020204020204" pitchFamily="34" charset="-122"/>
                <a:sym typeface="+mn-lt"/>
              </a:rPr>
              <a:t>⑤ ref: Used to reference another Bean.</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p:txBody>
      </p:sp>
      <p:sp>
        <p:nvSpPr>
          <p:cNvPr id="5" name="Title 1"/>
          <p:cNvSpPr txBox="1"/>
          <p:nvPr>
            <p:custDataLst>
              <p:tags r:id="rId2"/>
            </p:custDataLst>
          </p:nvPr>
        </p:nvSpPr>
        <p:spPr>
          <a:xfrm>
            <a:off x="1143691" y="266995"/>
            <a:ext cx="3895536" cy="506086"/>
          </a:xfrm>
          <a:prstGeom prst="rect">
            <a:avLst/>
          </a:prstGeom>
        </p:spPr>
        <p:txBody>
          <a:bodyPr lIns="0" tIns="60958" rIns="0" bIns="60958" anchor="ctr">
            <a:normAutofit fontScale="9380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406574" y="1095215"/>
            <a:ext cx="4776668" cy="487860"/>
            <a:chOff x="614753" y="1787044"/>
            <a:chExt cx="3192491" cy="487860"/>
          </a:xfrm>
        </p:grpSpPr>
        <p:sp>
          <p:nvSpPr>
            <p:cNvPr id="7"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614753" y="1787044"/>
              <a:ext cx="3192491"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&lt;constructor-arg&gt; label</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custDataLst>
              <p:tags r:id="rId1"/>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Bean configuration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4" y="1095215"/>
            <a:ext cx="4172454" cy="487860"/>
            <a:chOff x="852275" y="1787044"/>
            <a:chExt cx="2863170" cy="487860"/>
          </a:xfrm>
        </p:grpSpPr>
        <p:sp>
          <p:nvSpPr>
            <p:cNvPr id="7"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852275" y="1787044"/>
              <a:ext cx="2863170"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&lt;constructor-arg&gt; label</a:t>
              </a:r>
            </a:p>
          </p:txBody>
        </p:sp>
      </p:grpSp>
      <p:sp>
        <p:nvSpPr>
          <p:cNvPr id="100" name="文本框 99"/>
          <p:cNvSpPr txBox="1"/>
          <p:nvPr/>
        </p:nvSpPr>
        <p:spPr>
          <a:xfrm>
            <a:off x="967740" y="1742585"/>
            <a:ext cx="9758456" cy="553085"/>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An example of how to use the &lt;constructor-arg&gt; label is as follows.</a:t>
            </a:r>
          </a:p>
        </p:txBody>
      </p:sp>
      <p:sp>
        <p:nvSpPr>
          <p:cNvPr id="3" name="矩形 2"/>
          <p:cNvSpPr/>
          <p:nvPr>
            <p:custDataLst>
              <p:tags r:id="rId2"/>
            </p:custDataLst>
          </p:nvPr>
        </p:nvSpPr>
        <p:spPr>
          <a:xfrm>
            <a:off x="967740" y="2549525"/>
            <a:ext cx="10337800" cy="27997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489710" y="2581910"/>
            <a:ext cx="8856345" cy="2767330"/>
          </a:xfrm>
          <a:prstGeom prst="rect">
            <a:avLst/>
          </a:prstGeom>
        </p:spPr>
        <p:txBody>
          <a:bodyPr wrap="square">
            <a:noAutofit/>
          </a:bodyPr>
          <a:lstStyle/>
          <a:p>
            <a:pPr>
              <a:lnSpc>
                <a:spcPct val="150000"/>
              </a:lnSpc>
              <a:defRPr/>
            </a:pPr>
            <a:r>
              <a:rPr lang="en-US" sz="2000" dirty="0">
                <a:latin typeface="Courier New" panose="02070309020205020404" pitchFamily="49" charset="0"/>
                <a:sym typeface="+mn-ea"/>
              </a:rPr>
              <a:t>&lt;bean id="person" class="</a:t>
            </a:r>
            <a:r>
              <a:rPr lang="en-US" sz="2000" dirty="0" err="1">
                <a:latin typeface="Courier New" panose="02070309020205020404" pitchFamily="49" charset="0"/>
                <a:sym typeface="+mn-ea"/>
              </a:rPr>
              <a:t>com.itheima.Person</a:t>
            </a:r>
            <a:r>
              <a:rPr lang="en-US" sz="2000" dirty="0">
                <a:latin typeface="Courier New" panose="02070309020205020404" pitchFamily="49" charset="0"/>
                <a:sym typeface="+mn-ea"/>
              </a:rPr>
              <a:t>"&gt;  </a:t>
            </a:r>
            <a:endParaRPr lang="en-US" sz="2000" dirty="0">
              <a:latin typeface="Courier New" panose="02070309020205020404" pitchFamily="49" charset="0"/>
              <a:cs typeface="Times New Roman" panose="02020603050405020304" charset="0"/>
              <a:sym typeface="+mn-ea"/>
            </a:endParaRPr>
          </a:p>
          <a:p>
            <a:pPr>
              <a:lnSpc>
                <a:spcPct val="150000"/>
              </a:lnSpc>
              <a:defRPr/>
            </a:pPr>
            <a:r>
              <a:rPr lang="en-US" sz="2000" dirty="0">
                <a:latin typeface="Courier New" panose="02070309020205020404" pitchFamily="49" charset="0"/>
                <a:cs typeface="Times New Roman" panose="02020603050405020304" charset="0"/>
                <a:sym typeface="+mn-ea"/>
              </a:rPr>
              <a:t>    </a:t>
            </a:r>
            <a:r>
              <a:rPr lang="en-US" sz="2000" dirty="0">
                <a:latin typeface="Courier New" panose="02070309020205020404" pitchFamily="49" charset="0"/>
                <a:sym typeface="+mn-ea"/>
              </a:rPr>
              <a:t>&lt;constructor-</a:t>
            </a:r>
            <a:r>
              <a:rPr lang="en-US" sz="2000" dirty="0" err="1">
                <a:latin typeface="Courier New" panose="02070309020205020404" pitchFamily="49" charset="0"/>
                <a:sym typeface="+mn-ea"/>
              </a:rPr>
              <a:t>arg</a:t>
            </a:r>
            <a:r>
              <a:rPr lang="en-US" sz="2000" dirty="0">
                <a:latin typeface="Courier New" panose="02070309020205020404" pitchFamily="49" charset="0"/>
                <a:sym typeface="+mn-ea"/>
              </a:rPr>
              <a:t> index="0" value=“</a:t>
            </a:r>
            <a:r>
              <a:rPr lang="en-US" altLang="zh-CN" sz="2000" dirty="0">
                <a:latin typeface="Courier New" panose="02070309020205020404" pitchFamily="49" charset="0"/>
                <a:ea typeface="宋体" panose="02010600030101010101" pitchFamily="2" charset="-122"/>
                <a:sym typeface="+mn-ea"/>
              </a:rPr>
              <a:t>Zhang San</a:t>
            </a:r>
            <a:r>
              <a:rPr lang="en-US" sz="2000" dirty="0">
                <a:latin typeface="Courier New" panose="02070309020205020404" pitchFamily="49" charset="0"/>
                <a:sym typeface="+mn-ea"/>
              </a:rPr>
              <a:t>"/&gt;  </a:t>
            </a:r>
            <a:endParaRPr lang="en-US" sz="2000" dirty="0">
              <a:latin typeface="Courier New" panose="02070309020205020404" pitchFamily="49" charset="0"/>
              <a:cs typeface="Times New Roman" panose="02020603050405020304" charset="0"/>
              <a:sym typeface="+mn-ea"/>
            </a:endParaRPr>
          </a:p>
          <a:p>
            <a:pPr>
              <a:lnSpc>
                <a:spcPct val="150000"/>
              </a:lnSpc>
              <a:defRPr/>
            </a:pPr>
            <a:r>
              <a:rPr lang="en-US" sz="2000" dirty="0">
                <a:latin typeface="Courier New" panose="02070309020205020404" pitchFamily="49" charset="0"/>
                <a:cs typeface="Times New Roman" panose="02020603050405020304" charset="0"/>
                <a:sym typeface="+mn-ea"/>
              </a:rPr>
              <a:t>    </a:t>
            </a:r>
            <a:r>
              <a:rPr lang="en-US" sz="2000" dirty="0">
                <a:latin typeface="Courier New" panose="02070309020205020404" pitchFamily="49" charset="0"/>
                <a:sym typeface="+mn-ea"/>
              </a:rPr>
              <a:t>&lt;constructor-</a:t>
            </a:r>
            <a:r>
              <a:rPr lang="en-US" sz="2000" dirty="0" err="1">
                <a:latin typeface="Courier New" panose="02070309020205020404" pitchFamily="49" charset="0"/>
                <a:sym typeface="+mn-ea"/>
              </a:rPr>
              <a:t>arg</a:t>
            </a:r>
            <a:r>
              <a:rPr lang="en-US" sz="2000" dirty="0">
                <a:latin typeface="Courier New" panose="02070309020205020404" pitchFamily="49" charset="0"/>
                <a:sym typeface="+mn-ea"/>
              </a:rPr>
              <a:t> index="1" value=“</a:t>
            </a:r>
            <a:r>
              <a:rPr lang="en-US" sz="2000" dirty="0">
                <a:latin typeface="Courier New" panose="02070309020205020404" pitchFamily="49" charset="0"/>
                <a:ea typeface="宋体" panose="02010600030101010101" pitchFamily="2" charset="-122"/>
                <a:sym typeface="+mn-ea"/>
              </a:rPr>
              <a:t>Male</a:t>
            </a:r>
            <a:r>
              <a:rPr lang="en-US" sz="2000" dirty="0">
                <a:latin typeface="Courier New" panose="02070309020205020404" pitchFamily="49" charset="0"/>
                <a:sym typeface="+mn-ea"/>
              </a:rPr>
              <a:t>"/&gt;  </a:t>
            </a:r>
            <a:endParaRPr lang="en-US" sz="2000" dirty="0">
              <a:latin typeface="Courier New" panose="02070309020205020404" pitchFamily="49" charset="0"/>
              <a:cs typeface="Times New Roman" panose="02020603050405020304" charset="0"/>
              <a:sym typeface="+mn-ea"/>
            </a:endParaRPr>
          </a:p>
          <a:p>
            <a:pPr>
              <a:lnSpc>
                <a:spcPct val="150000"/>
              </a:lnSpc>
              <a:defRPr/>
            </a:pPr>
            <a:r>
              <a:rPr lang="en-US" sz="2000" dirty="0">
                <a:latin typeface="Courier New" panose="02070309020205020404" pitchFamily="49" charset="0"/>
                <a:cs typeface="Times New Roman" panose="02020603050405020304" charset="0"/>
                <a:sym typeface="+mn-ea"/>
              </a:rPr>
              <a:t>    </a:t>
            </a:r>
            <a:r>
              <a:rPr lang="en-US" sz="2000" dirty="0">
                <a:latin typeface="Courier New" panose="02070309020205020404" pitchFamily="49" charset="0"/>
                <a:sym typeface="+mn-ea"/>
              </a:rPr>
              <a:t>&lt;constructor-</a:t>
            </a:r>
            <a:r>
              <a:rPr lang="en-US" sz="2000" dirty="0" err="1">
                <a:latin typeface="Courier New" panose="02070309020205020404" pitchFamily="49" charset="0"/>
                <a:sym typeface="+mn-ea"/>
              </a:rPr>
              <a:t>arg</a:t>
            </a:r>
            <a:r>
              <a:rPr lang="en-US" sz="2000" dirty="0">
                <a:latin typeface="Courier New" panose="02070309020205020404" pitchFamily="49" charset="0"/>
                <a:sym typeface="+mn-ea"/>
              </a:rPr>
              <a:t> name="age" value="30"/&gt;  </a:t>
            </a:r>
            <a:endParaRPr lang="en-US" sz="2000" dirty="0">
              <a:latin typeface="Courier New" panose="02070309020205020404" pitchFamily="49" charset="0"/>
              <a:cs typeface="Times New Roman" panose="02020603050405020304" charset="0"/>
              <a:sym typeface="+mn-ea"/>
            </a:endParaRPr>
          </a:p>
          <a:p>
            <a:pPr>
              <a:lnSpc>
                <a:spcPct val="150000"/>
              </a:lnSpc>
              <a:defRPr/>
            </a:pPr>
            <a:r>
              <a:rPr lang="en-US" sz="2000" dirty="0">
                <a:latin typeface="Courier New" panose="02070309020205020404" pitchFamily="49" charset="0"/>
                <a:cs typeface="Times New Roman" panose="02020603050405020304" charset="0"/>
                <a:sym typeface="+mn-ea"/>
              </a:rPr>
              <a:t>    </a:t>
            </a:r>
            <a:r>
              <a:rPr lang="en-US" sz="2000" dirty="0">
                <a:latin typeface="Courier New" panose="02070309020205020404" pitchFamily="49" charset="0"/>
                <a:sym typeface="+mn-ea"/>
              </a:rPr>
              <a:t>&lt;constructor-</a:t>
            </a:r>
            <a:r>
              <a:rPr lang="en-US" sz="2000" dirty="0" err="1">
                <a:latin typeface="Courier New" panose="02070309020205020404" pitchFamily="49" charset="0"/>
                <a:sym typeface="+mn-ea"/>
              </a:rPr>
              <a:t>arg</a:t>
            </a:r>
            <a:r>
              <a:rPr lang="en-US" sz="2000" dirty="0">
                <a:latin typeface="Courier New" panose="02070309020205020404" pitchFamily="49" charset="0"/>
                <a:sym typeface="+mn-ea"/>
              </a:rPr>
              <a:t> name="address"</a:t>
            </a:r>
            <a:r>
              <a:rPr lang="en-US" sz="2000" dirty="0">
                <a:latin typeface="Courier New" panose="02070309020205020404" pitchFamily="49" charset="0"/>
                <a:cs typeface="Times New Roman" panose="02020603050405020304" charset="0"/>
                <a:sym typeface="+mn-ea"/>
              </a:rPr>
              <a:t> </a:t>
            </a:r>
            <a:r>
              <a:rPr lang="en-US" sz="2000" dirty="0">
                <a:latin typeface="Courier New" panose="02070309020205020404" pitchFamily="49" charset="0"/>
                <a:sym typeface="+mn-ea"/>
              </a:rPr>
              <a:t>ref="</a:t>
            </a:r>
            <a:r>
              <a:rPr lang="en-US" sz="2000" dirty="0" err="1">
                <a:latin typeface="Courier New" panose="02070309020205020404" pitchFamily="49" charset="0"/>
                <a:sym typeface="+mn-ea"/>
              </a:rPr>
              <a:t>addressBean</a:t>
            </a:r>
            <a:r>
              <a:rPr lang="en-US" sz="2000" dirty="0">
                <a:latin typeface="Courier New" panose="02070309020205020404" pitchFamily="49" charset="0"/>
                <a:sym typeface="+mn-ea"/>
              </a:rPr>
              <a:t>"/&gt;  </a:t>
            </a:r>
          </a:p>
          <a:p>
            <a:pPr>
              <a:lnSpc>
                <a:spcPct val="150000"/>
              </a:lnSpc>
              <a:defRPr/>
            </a:pPr>
            <a:r>
              <a:rPr lang="en-US" sz="2000" dirty="0">
                <a:latin typeface="Courier New" panose="02070309020205020404" pitchFamily="49" charset="0"/>
                <a:sym typeface="+mn-ea"/>
              </a:rPr>
              <a:t>&lt;/bean&gt;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原创设计师QQ598969553          _4"/>
          <p:cNvSpPr/>
          <p:nvPr>
            <p:custDataLst>
              <p:tags r:id="rId1"/>
            </p:custDataLst>
          </p:nvPr>
        </p:nvSpPr>
        <p:spPr>
          <a:xfrm>
            <a:off x="622598" y="1959270"/>
            <a:ext cx="10945216" cy="4041135"/>
          </a:xfrm>
          <a:prstGeom prst="rect">
            <a:avLst/>
          </a:prstGeom>
        </p:spPr>
        <p:txBody>
          <a:bodyPr wrap="square">
            <a:noAutofit/>
          </a:bodyPr>
          <a:lstStyle/>
          <a:p>
            <a:pPr algn="just">
              <a:lnSpc>
                <a:spcPct val="150000"/>
              </a:lnSpc>
              <a:buClrTx/>
              <a:buSzTx/>
              <a:buFontTx/>
            </a:pPr>
            <a:r>
              <a:rPr lang="zh-CN" altLang="en-US" dirty="0">
                <a:solidFill>
                  <a:srgbClr val="1369B2"/>
                </a:solidFill>
                <a:latin typeface="微软雅黑" panose="020B0503020204020204" pitchFamily="34" charset="-122"/>
                <a:ea typeface="微软雅黑" panose="020B0503020204020204" pitchFamily="34" charset="-122"/>
                <a:sym typeface="+mn-lt"/>
              </a:rPr>
              <a:t>The &lt;property&gt; label is used to set the property values of the Bean, </a:t>
            </a:r>
            <a:r>
              <a:rPr lang="zh-CN" altLang="en-US" dirty="0">
                <a:solidFill>
                  <a:srgbClr val="595959"/>
                </a:solidFill>
                <a:latin typeface="微软雅黑" panose="020B0503020204020204" pitchFamily="34" charset="-122"/>
                <a:ea typeface="微软雅黑" panose="020B0503020204020204" pitchFamily="34" charset="-122"/>
                <a:sym typeface="+mn-lt"/>
              </a:rPr>
              <a:t>and the corresponding Bean needs to have getter and setter methods corresponding to the property. The common properties of the &lt;property&gt; tag are as follows.</a:t>
            </a:r>
            <a:endParaRPr lang="en-US" altLang="zh-CN"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dirty="0">
                <a:solidFill>
                  <a:srgbClr val="595959"/>
                </a:solidFill>
                <a:latin typeface="微软雅黑" panose="020B0503020204020204" pitchFamily="34" charset="-122"/>
                <a:ea typeface="微软雅黑" panose="020B0503020204020204" pitchFamily="34" charset="-122"/>
                <a:sym typeface="+mn-lt"/>
              </a:rPr>
              <a:t>① name: Used to specify the </a:t>
            </a:r>
            <a:r>
              <a:rPr lang="en-US" altLang="zh-CN" dirty="0">
                <a:solidFill>
                  <a:srgbClr val="1369B2"/>
                </a:solidFill>
                <a:latin typeface="微软雅黑" panose="020B0503020204020204" pitchFamily="34" charset="-122"/>
                <a:ea typeface="微软雅黑" panose="020B0503020204020204" pitchFamily="34" charset="-122"/>
                <a:sym typeface="+mn-lt"/>
              </a:rPr>
              <a:t>name of the property.</a:t>
            </a:r>
          </a:p>
          <a:p>
            <a:pPr algn="just">
              <a:lnSpc>
                <a:spcPct val="150000"/>
              </a:lnSpc>
            </a:pPr>
            <a:r>
              <a:rPr lang="en-US" altLang="zh-CN" dirty="0">
                <a:solidFill>
                  <a:srgbClr val="595959"/>
                </a:solidFill>
                <a:latin typeface="微软雅黑" panose="020B0503020204020204" pitchFamily="34" charset="-122"/>
                <a:ea typeface="微软雅黑" panose="020B0503020204020204" pitchFamily="34" charset="-122"/>
                <a:sym typeface="+mn-lt"/>
              </a:rPr>
              <a:t>② value: Used to specify the </a:t>
            </a:r>
            <a:r>
              <a:rPr lang="en-US" altLang="zh-CN" dirty="0">
                <a:solidFill>
                  <a:srgbClr val="1369B2"/>
                </a:solidFill>
                <a:latin typeface="微软雅黑" panose="020B0503020204020204" pitchFamily="34" charset="-122"/>
                <a:ea typeface="微软雅黑" panose="020B0503020204020204" pitchFamily="34" charset="-122"/>
                <a:sym typeface="+mn-lt"/>
              </a:rPr>
              <a:t>constant value to be injected.</a:t>
            </a:r>
          </a:p>
          <a:p>
            <a:pPr algn="just">
              <a:lnSpc>
                <a:spcPct val="150000"/>
              </a:lnSpc>
              <a:buClrTx/>
              <a:buSzTx/>
              <a:buFontTx/>
            </a:pPr>
            <a:r>
              <a:rPr lang="en-US" altLang="zh-CN" dirty="0" err="1">
                <a:solidFill>
                  <a:srgbClr val="595959"/>
                </a:solidFill>
                <a:latin typeface="微软雅黑" panose="020B0503020204020204" pitchFamily="34" charset="-122"/>
                <a:ea typeface="微软雅黑" panose="020B0503020204020204" pitchFamily="34" charset="-122"/>
                <a:sym typeface="+mn-lt"/>
              </a:rPr>
              <a:t>③ ref: Used to specify another Bean that is referenced.</a:t>
            </a:r>
          </a:p>
        </p:txBody>
      </p:sp>
      <p:sp>
        <p:nvSpPr>
          <p:cNvPr id="5" name="Title 1"/>
          <p:cNvSpPr txBox="1"/>
          <p:nvPr>
            <p:custDataLst>
              <p:tags r:id="rId2"/>
            </p:custDataLst>
          </p:nvPr>
        </p:nvSpPr>
        <p:spPr>
          <a:xfrm>
            <a:off x="1143691" y="266995"/>
            <a:ext cx="3895536" cy="506086"/>
          </a:xfrm>
          <a:prstGeom prst="rect">
            <a:avLst/>
          </a:prstGeom>
        </p:spPr>
        <p:txBody>
          <a:bodyPr lIns="0" tIns="60958" rIns="0" bIns="60958" anchor="ctr">
            <a:normAutofit fontScale="9380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5" y="1106170"/>
            <a:ext cx="3298825" cy="476905"/>
            <a:chOff x="852276" y="1797999"/>
            <a:chExt cx="2780020" cy="476905"/>
          </a:xfrm>
        </p:grpSpPr>
        <p:sp>
          <p:nvSpPr>
            <p:cNvPr id="7"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&lt;property&gt; tags</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custDataLst>
              <p:tags r:id="rId1"/>
            </p:custDataLst>
          </p:nvPr>
        </p:nvSpPr>
        <p:spPr>
          <a:xfrm>
            <a:off x="1143691" y="266995"/>
            <a:ext cx="3895536" cy="506086"/>
          </a:xfrm>
          <a:prstGeom prst="rect">
            <a:avLst/>
          </a:prstGeom>
        </p:spPr>
        <p:txBody>
          <a:bodyPr lIns="0" tIns="60958" rIns="0" bIns="60958" anchor="ctr">
            <a:normAutofit fontScale="9380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5" y="1106170"/>
            <a:ext cx="3298825" cy="476905"/>
            <a:chOff x="852276" y="1797999"/>
            <a:chExt cx="2780020" cy="476905"/>
          </a:xfrm>
        </p:grpSpPr>
        <p:sp>
          <p:nvSpPr>
            <p:cNvPr id="7"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&lt;property&gt; tags</a:t>
              </a:r>
            </a:p>
          </p:txBody>
        </p:sp>
      </p:grpSp>
      <p:sp>
        <p:nvSpPr>
          <p:cNvPr id="100" name="文本框 99"/>
          <p:cNvSpPr txBox="1"/>
          <p:nvPr/>
        </p:nvSpPr>
        <p:spPr>
          <a:xfrm>
            <a:off x="1017270" y="1842135"/>
            <a:ext cx="8218805" cy="553085"/>
          </a:xfrm>
          <a:prstGeom prst="rect">
            <a:avLst/>
          </a:prstGeom>
          <a:noFill/>
          <a:ln w="9525">
            <a:noFill/>
          </a:ln>
        </p:spPr>
        <p:txBody>
          <a:bodyPr wrap="square">
            <a:noAutofit/>
          </a:bodyPr>
          <a:lstStyle/>
          <a:p>
            <a:pPr algn="just">
              <a:lnSpc>
                <a:spcPct val="150000"/>
              </a:lnSpc>
              <a:buClrTx/>
              <a:buSzTx/>
              <a:buFontTx/>
            </a:pPr>
            <a:r>
              <a:rPr lang="en-US" altLang="zh-CN" b="0" dirty="0" err="1">
                <a:solidFill>
                  <a:srgbClr val="595959"/>
                </a:solidFill>
                <a:latin typeface="微软雅黑" panose="020B0503020204020204" pitchFamily="34" charset="-122"/>
                <a:ea typeface="微软雅黑" panose="020B0503020204020204" pitchFamily="34" charset="-122"/>
              </a:rPr>
              <a:t>Here is an example of how to use the &lt;property&gt; tag.</a:t>
            </a:r>
            <a:endParaRPr lang="zh-CN" altLang="en-US" b="0" dirty="0" err="1">
              <a:solidFill>
                <a:srgbClr val="595959"/>
              </a:solidFill>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926306" y="2668814"/>
            <a:ext cx="10337800" cy="2320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667033" y="2892403"/>
            <a:ext cx="8856345" cy="1873250"/>
          </a:xfrm>
          <a:prstGeom prst="rect">
            <a:avLst/>
          </a:prstGeom>
        </p:spPr>
        <p:txBody>
          <a:bodyPr wrap="square">
            <a:noAutofit/>
          </a:bodyPr>
          <a:lstStyle/>
          <a:p>
            <a:pPr algn="l">
              <a:lnSpc>
                <a:spcPct val="150000"/>
              </a:lnSpc>
              <a:defRPr/>
            </a:pPr>
            <a:r>
              <a:rPr lang="en-US" sz="2000" dirty="0">
                <a:latin typeface="Courier New" panose="02070309020205020404" pitchFamily="49" charset="0"/>
                <a:sym typeface="+mn-ea"/>
              </a:rPr>
              <a:t>&lt;bean id="person" class="</a:t>
            </a:r>
            <a:r>
              <a:rPr lang="en-US" sz="2000" dirty="0" err="1">
                <a:latin typeface="Courier New" panose="02070309020205020404" pitchFamily="49" charset="0"/>
                <a:sym typeface="+mn-ea"/>
              </a:rPr>
              <a:t>com.itheima.Person</a:t>
            </a:r>
            <a:r>
              <a:rPr lang="en-US" sz="2000" dirty="0">
                <a:latin typeface="Courier New" panose="02070309020205020404" pitchFamily="49" charset="0"/>
                <a:sym typeface="+mn-ea"/>
              </a:rPr>
              <a:t>"&gt;</a:t>
            </a:r>
          </a:p>
          <a:p>
            <a:pPr algn="l">
              <a:lnSpc>
                <a:spcPct val="150000"/>
              </a:lnSpc>
              <a:defRPr/>
            </a:pPr>
            <a:r>
              <a:rPr lang="en-US" sz="2000" dirty="0">
                <a:latin typeface="Courier New" panose="02070309020205020404" pitchFamily="49" charset="0"/>
                <a:sym typeface="+mn-ea"/>
              </a:rPr>
              <a:t>    &lt;property name="name" value=" Zhang San "/&gt;</a:t>
            </a:r>
          </a:p>
          <a:p>
            <a:pPr algn="l">
              <a:lnSpc>
                <a:spcPct val="150000"/>
              </a:lnSpc>
              <a:defRPr/>
            </a:pPr>
            <a:r>
              <a:rPr lang="en-US" sz="2000" dirty="0">
                <a:latin typeface="Courier New" panose="02070309020205020404" pitchFamily="49" charset="0"/>
                <a:sym typeface="+mn-ea"/>
              </a:rPr>
              <a:t>    &lt;property name="address" ref="</a:t>
            </a:r>
            <a:r>
              <a:rPr lang="en-US" sz="2000" dirty="0" err="1">
                <a:latin typeface="Courier New" panose="02070309020205020404" pitchFamily="49" charset="0"/>
                <a:sym typeface="+mn-ea"/>
              </a:rPr>
              <a:t>addressBean</a:t>
            </a:r>
            <a:r>
              <a:rPr lang="en-US" sz="2000" dirty="0">
                <a:latin typeface="Courier New" panose="02070309020205020404" pitchFamily="49" charset="0"/>
                <a:sym typeface="+mn-ea"/>
              </a:rPr>
              <a:t>"/&gt;</a:t>
            </a:r>
          </a:p>
          <a:p>
            <a:pPr algn="l">
              <a:lnSpc>
                <a:spcPct val="150000"/>
              </a:lnSpc>
              <a:defRPr/>
            </a:pPr>
            <a:r>
              <a:rPr lang="en-US" sz="2000" dirty="0">
                <a:latin typeface="Courier New" panose="02070309020205020404" pitchFamily="49" charset="0"/>
                <a:sym typeface="+mn-ea"/>
              </a:rPr>
              <a:t>&lt;/bean&gt;</a:t>
            </a:r>
            <a:endParaRPr lang="en-US" altLang="zh-CN"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custDataLst>
              <p:tags r:id="rId1"/>
            </p:custDataLst>
          </p:nvPr>
        </p:nvSpPr>
        <p:spPr>
          <a:xfrm>
            <a:off x="1143691" y="266995"/>
            <a:ext cx="3895536" cy="506086"/>
          </a:xfrm>
          <a:prstGeom prst="rect">
            <a:avLst/>
          </a:prstGeom>
        </p:spPr>
        <p:txBody>
          <a:bodyPr lIns="0" tIns="60958" rIns="0" bIns="60958" anchor="ctr">
            <a:normAutofit fontScale="9380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775" y="1106170"/>
            <a:ext cx="3298825" cy="476905"/>
            <a:chOff x="852276" y="1797999"/>
            <a:chExt cx="2780020" cy="476905"/>
          </a:xfrm>
        </p:grpSpPr>
        <p:sp>
          <p:nvSpPr>
            <p:cNvPr id="7"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852276" y="1797999"/>
              <a:ext cx="2767965"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&lt;list&gt; tags</a:t>
              </a:r>
            </a:p>
          </p:txBody>
        </p:sp>
      </p:grpSp>
      <p:sp>
        <p:nvSpPr>
          <p:cNvPr id="100" name="文本框 99"/>
          <p:cNvSpPr txBox="1"/>
          <p:nvPr/>
        </p:nvSpPr>
        <p:spPr>
          <a:xfrm>
            <a:off x="478582" y="1615460"/>
            <a:ext cx="11233248" cy="1014730"/>
          </a:xfrm>
          <a:prstGeom prst="rect">
            <a:avLst/>
          </a:prstGeom>
          <a:noFill/>
          <a:ln w="9525">
            <a:noFill/>
          </a:ln>
        </p:spPr>
        <p:txBody>
          <a:bodyPr wrap="square">
            <a:noAutofit/>
          </a:bodyPr>
          <a:lstStyle/>
          <a:p>
            <a:pPr algn="just">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rPr>
              <a:t>The &lt;list&gt; tag is used to set the value of a List type property in a Bean and is typically nested within the &lt;property&gt; tag. The &lt;list&gt; tag can contain either the &lt;value&gt; tag or the &lt;ref&gt; tag to specify the value of an element in the List collection, as shown below.</a:t>
            </a:r>
            <a:endParaRPr lang="en-US" altLang="zh-CN" sz="2000" b="0" dirty="0" err="1">
              <a:solidFill>
                <a:srgbClr val="595959"/>
              </a:solidFill>
              <a:latin typeface="微软雅黑" panose="020B0503020204020204" pitchFamily="34" charset="-122"/>
              <a:ea typeface="微软雅黑" panose="020B0503020204020204" pitchFamily="34" charset="-122"/>
            </a:endParaRPr>
          </a:p>
        </p:txBody>
      </p:sp>
      <p:sp>
        <p:nvSpPr>
          <p:cNvPr id="3" name="矩形 2"/>
          <p:cNvSpPr/>
          <p:nvPr>
            <p:custDataLst>
              <p:tags r:id="rId2"/>
            </p:custDataLst>
          </p:nvPr>
        </p:nvSpPr>
        <p:spPr>
          <a:xfrm>
            <a:off x="967740" y="3051810"/>
            <a:ext cx="10337800" cy="36183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8" name="矩形 7"/>
          <p:cNvSpPr/>
          <p:nvPr>
            <p:custDataLst>
              <p:tags r:id="rId3"/>
            </p:custDataLst>
          </p:nvPr>
        </p:nvSpPr>
        <p:spPr>
          <a:xfrm>
            <a:off x="1270670" y="3084195"/>
            <a:ext cx="9721080" cy="3435350"/>
          </a:xfrm>
          <a:prstGeom prst="rect">
            <a:avLst/>
          </a:prstGeom>
        </p:spPr>
        <p:txBody>
          <a:bodyPr wrap="square">
            <a:noAutofit/>
          </a:bodyPr>
          <a:lstStyle/>
          <a:p>
            <a:pPr algn="l">
              <a:lnSpc>
                <a:spcPct val="130000"/>
              </a:lnSpc>
              <a:spcBef>
                <a:spcPts val="0"/>
              </a:spcBef>
              <a:spcAft>
                <a:spcPts val="0"/>
              </a:spcAft>
              <a:defRPr/>
            </a:pPr>
            <a:r>
              <a:rPr lang="en-US" sz="2000" dirty="0">
                <a:latin typeface="Courier New" panose="02070309020205020404" pitchFamily="49" charset="0"/>
                <a:sym typeface="+mn-ea"/>
              </a:rPr>
              <a:t>&lt;bean id="person" class="</a:t>
            </a:r>
            <a:r>
              <a:rPr lang="en-US" sz="2000" dirty="0" err="1">
                <a:latin typeface="Courier New" panose="02070309020205020404" pitchFamily="49" charset="0"/>
                <a:sym typeface="+mn-ea"/>
              </a:rPr>
              <a:t>com.itheima.Person</a:t>
            </a:r>
            <a:r>
              <a:rPr lang="en-US" sz="2000" dirty="0">
                <a:latin typeface="Courier New" panose="02070309020205020404" pitchFamily="49" charset="0"/>
                <a:sym typeface="+mn-ea"/>
              </a:rPr>
              <a:t>"&gt;</a:t>
            </a:r>
          </a:p>
          <a:p>
            <a:pPr algn="l">
              <a:lnSpc>
                <a:spcPct val="130000"/>
              </a:lnSpc>
              <a:spcBef>
                <a:spcPts val="0"/>
              </a:spcBef>
              <a:spcAft>
                <a:spcPts val="0"/>
              </a:spcAft>
              <a:defRPr/>
            </a:pPr>
            <a:r>
              <a:rPr lang="en-US" sz="2000" dirty="0">
                <a:latin typeface="Courier New" panose="02070309020205020404" pitchFamily="49" charset="0"/>
                <a:sym typeface="+mn-ea"/>
              </a:rPr>
              <a:t>    &lt;property name="hobbies"&gt;</a:t>
            </a:r>
          </a:p>
          <a:p>
            <a:pPr algn="l">
              <a:lnSpc>
                <a:spcPct val="130000"/>
              </a:lnSpc>
              <a:spcBef>
                <a:spcPts val="0"/>
              </a:spcBef>
              <a:spcAft>
                <a:spcPts val="0"/>
              </a:spcAft>
              <a:defRPr/>
            </a:pPr>
            <a:r>
              <a:rPr lang="en-US" sz="2000" dirty="0">
                <a:latin typeface="Courier New" panose="02070309020205020404" pitchFamily="49" charset="0"/>
                <a:sym typeface="+mn-ea"/>
              </a:rPr>
              <a:t>        &lt;list&gt;</a:t>
            </a:r>
          </a:p>
          <a:p>
            <a:pPr algn="l">
              <a:lnSpc>
                <a:spcPct val="130000"/>
              </a:lnSpc>
              <a:spcBef>
                <a:spcPts val="0"/>
              </a:spcBef>
              <a:spcAft>
                <a:spcPts val="0"/>
              </a:spcAft>
              <a:defRPr/>
            </a:pPr>
            <a:r>
              <a:rPr lang="en-US" sz="2000" dirty="0">
                <a:latin typeface="Courier New" panose="02070309020205020404" pitchFamily="49" charset="0"/>
                <a:sym typeface="+mn-ea"/>
              </a:rPr>
              <a:t>            &lt;value&gt;Reading&lt;/value&gt;</a:t>
            </a:r>
          </a:p>
          <a:p>
            <a:pPr algn="l">
              <a:lnSpc>
                <a:spcPct val="130000"/>
              </a:lnSpc>
              <a:spcBef>
                <a:spcPts val="0"/>
              </a:spcBef>
              <a:spcAft>
                <a:spcPts val="0"/>
              </a:spcAft>
              <a:defRPr/>
            </a:pPr>
            <a:r>
              <a:rPr lang="en-US" sz="2000" dirty="0">
                <a:latin typeface="Courier New" panose="02070309020205020404" pitchFamily="49" charset="0"/>
                <a:sym typeface="+mn-ea"/>
              </a:rPr>
              <a:t>            &lt;value&gt;Writing&lt;/value&gt;</a:t>
            </a:r>
          </a:p>
          <a:p>
            <a:pPr algn="l">
              <a:lnSpc>
                <a:spcPct val="130000"/>
              </a:lnSpc>
              <a:spcBef>
                <a:spcPts val="0"/>
              </a:spcBef>
              <a:spcAft>
                <a:spcPts val="0"/>
              </a:spcAft>
              <a:defRPr/>
            </a:pPr>
            <a:r>
              <a:rPr lang="en-US" sz="2000" dirty="0">
                <a:latin typeface="Courier New" panose="02070309020205020404" pitchFamily="49" charset="0"/>
                <a:sym typeface="+mn-ea"/>
              </a:rPr>
              <a:t>            &lt;ref bean="</a:t>
            </a:r>
            <a:r>
              <a:rPr lang="en-US" sz="2000" dirty="0" err="1">
                <a:latin typeface="Courier New" panose="02070309020205020404" pitchFamily="49" charset="0"/>
                <a:sym typeface="+mn-ea"/>
              </a:rPr>
              <a:t>hobbyBean</a:t>
            </a:r>
            <a:r>
              <a:rPr lang="en-US" sz="2000" dirty="0">
                <a:latin typeface="Courier New" panose="02070309020205020404" pitchFamily="49" charset="0"/>
                <a:sym typeface="+mn-ea"/>
              </a:rPr>
              <a:t>"/&gt;</a:t>
            </a:r>
          </a:p>
          <a:p>
            <a:pPr algn="l">
              <a:lnSpc>
                <a:spcPct val="130000"/>
              </a:lnSpc>
              <a:spcBef>
                <a:spcPts val="0"/>
              </a:spcBef>
              <a:spcAft>
                <a:spcPts val="0"/>
              </a:spcAft>
              <a:defRPr/>
            </a:pPr>
            <a:r>
              <a:rPr lang="en-US" sz="2000" dirty="0">
                <a:latin typeface="Courier New" panose="02070309020205020404" pitchFamily="49" charset="0"/>
                <a:sym typeface="+mn-ea"/>
              </a:rPr>
              <a:t>        &lt;/list&gt;</a:t>
            </a:r>
          </a:p>
          <a:p>
            <a:pPr algn="l">
              <a:lnSpc>
                <a:spcPct val="130000"/>
              </a:lnSpc>
              <a:spcBef>
                <a:spcPts val="0"/>
              </a:spcBef>
              <a:spcAft>
                <a:spcPts val="0"/>
              </a:spcAft>
              <a:defRPr/>
            </a:pPr>
            <a:r>
              <a:rPr lang="en-US" sz="2000" dirty="0">
                <a:latin typeface="Courier New" panose="02070309020205020404" pitchFamily="49" charset="0"/>
                <a:sym typeface="+mn-ea"/>
              </a:rPr>
              <a:t>    &lt;/property&gt;</a:t>
            </a:r>
          </a:p>
          <a:p>
            <a:pPr algn="l">
              <a:lnSpc>
                <a:spcPct val="130000"/>
              </a:lnSpc>
              <a:spcBef>
                <a:spcPts val="0"/>
              </a:spcBef>
              <a:spcAft>
                <a:spcPts val="0"/>
              </a:spcAft>
              <a:defRPr/>
            </a:pPr>
            <a:r>
              <a:rPr lang="en-US" sz="2000" dirty="0">
                <a:latin typeface="Courier New" panose="02070309020205020404" pitchFamily="49" charset="0"/>
                <a:sym typeface="+mn-ea"/>
              </a:rPr>
              <a:t>&lt;/bean&gt;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custDataLst>
              <p:tags r:id="rId1"/>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Bean configuration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81080" y="1046774"/>
            <a:ext cx="3284520" cy="536301"/>
            <a:chOff x="864331" y="1738603"/>
            <a:chExt cx="2767965" cy="536301"/>
          </a:xfrm>
        </p:grpSpPr>
        <p:sp>
          <p:nvSpPr>
            <p:cNvPr id="7"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3"/>
              </p:custDataLst>
            </p:nvPr>
          </p:nvSpPr>
          <p:spPr>
            <a:xfrm>
              <a:off x="864331" y="1738603"/>
              <a:ext cx="2767965" cy="53630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400" dirty="0">
                  <a:latin typeface="Arial" panose="020B0604020202020204" pitchFamily="34" charset="0"/>
                  <a:ea typeface="思源黑体 CN Normal" panose="020B0400000000000000" pitchFamily="34" charset="-122"/>
                  <a:sym typeface="Arial" panose="020B0604020202020204" pitchFamily="34" charset="0"/>
                </a:rPr>
                <a:t>(4) &lt;set&gt; tag</a:t>
              </a:r>
            </a:p>
          </p:txBody>
        </p:sp>
      </p:grpSp>
      <p:sp>
        <p:nvSpPr>
          <p:cNvPr id="100" name="文本框 99"/>
          <p:cNvSpPr txBox="1"/>
          <p:nvPr/>
        </p:nvSpPr>
        <p:spPr>
          <a:xfrm>
            <a:off x="852632" y="2133650"/>
            <a:ext cx="10271760" cy="1659920"/>
          </a:xfrm>
          <a:prstGeom prst="rect">
            <a:avLst/>
          </a:prstGeom>
          <a:noFill/>
          <a:ln w="9525">
            <a:noFill/>
          </a:ln>
        </p:spPr>
        <p:txBody>
          <a:bodyPr wrap="square">
            <a:noAutofit/>
          </a:bodyPr>
          <a:lstStyle/>
          <a:p>
            <a:pPr algn="just">
              <a:lnSpc>
                <a:spcPct val="150000"/>
              </a:lnSpc>
              <a:buClrTx/>
              <a:buSzTx/>
              <a:buFontTx/>
            </a:pPr>
            <a:r>
              <a:rPr lang="zh-CN" altLang="en-US" sz="2800" b="0" dirty="0">
                <a:solidFill>
                  <a:srgbClr val="1369B2"/>
                </a:solidFill>
                <a:latin typeface="微软雅黑" panose="020B0503020204020204" pitchFamily="34" charset="-122"/>
                <a:ea typeface="微软雅黑" panose="020B0503020204020204" pitchFamily="34" charset="-122"/>
              </a:rPr>
              <a:t>The &lt;set&gt; tag is used to Set the value of a set type attribute in a Bean, and it is used in a similar way to &lt;list&gt;.</a:t>
            </a:r>
            <a:endParaRPr lang="en-US" altLang="zh-CN" sz="2800" b="0" dirty="0" err="1">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custDataLst>
              <p:tags r:id="rId1"/>
            </p:custDataLst>
          </p:nvPr>
        </p:nvSpPr>
        <p:spPr>
          <a:xfrm>
            <a:off x="1143691" y="266995"/>
            <a:ext cx="3895536" cy="506086"/>
          </a:xfrm>
          <a:prstGeom prst="rect">
            <a:avLst/>
          </a:prstGeom>
        </p:spPr>
        <p:txBody>
          <a:bodyPr lIns="0" tIns="60958" rIns="0" bIns="60958" anchor="ctr">
            <a:normAutofit fontScale="9198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38622" y="1139613"/>
            <a:ext cx="3298825" cy="536301"/>
            <a:chOff x="852276" y="1797999"/>
            <a:chExt cx="2780020" cy="536301"/>
          </a:xfrm>
        </p:grpSpPr>
        <p:sp>
          <p:nvSpPr>
            <p:cNvPr id="4" name="矩形: 圆角 6"/>
            <p:cNvSpPr/>
            <p:nvPr>
              <p:custDataLst>
                <p:tags r:id="rId5"/>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p:cNvSpPr txBox="1"/>
            <p:nvPr>
              <p:custDataLst>
                <p:tags r:id="rId6"/>
              </p:custDataLst>
            </p:nvPr>
          </p:nvSpPr>
          <p:spPr>
            <a:xfrm>
              <a:off x="852276" y="1797999"/>
              <a:ext cx="2767965" cy="53630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400" dirty="0">
                  <a:latin typeface="Arial" panose="020B0604020202020204" pitchFamily="34" charset="0"/>
                  <a:ea typeface="思源黑体 CN Normal" panose="020B0400000000000000" pitchFamily="34" charset="-122"/>
                  <a:sym typeface="Arial" panose="020B0604020202020204" pitchFamily="34" charset="0"/>
                </a:rPr>
                <a:t>(5) &lt;map&gt; tags</a:t>
              </a:r>
            </a:p>
          </p:txBody>
        </p:sp>
      </p:grpSp>
      <p:sp>
        <p:nvSpPr>
          <p:cNvPr id="11" name="文本框 10"/>
          <p:cNvSpPr txBox="1"/>
          <p:nvPr>
            <p:custDataLst>
              <p:tags r:id="rId2"/>
            </p:custDataLst>
          </p:nvPr>
        </p:nvSpPr>
        <p:spPr>
          <a:xfrm>
            <a:off x="1000226" y="1900531"/>
            <a:ext cx="10271760" cy="1088621"/>
          </a:xfrm>
          <a:prstGeom prst="rect">
            <a:avLst/>
          </a:prstGeom>
          <a:noFill/>
          <a:ln w="9525">
            <a:noFill/>
          </a:ln>
        </p:spPr>
        <p:txBody>
          <a:bodyPr wrap="square">
            <a:noAutofit/>
          </a:bodyPr>
          <a:lstStyle/>
          <a:p>
            <a:pPr algn="just">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rPr>
              <a:t>The &lt;map&gt; tag is used to set the attribute values of the Map type in the Bean, and each key-value pair in the </a:t>
            </a:r>
            <a:r>
              <a:rPr lang="zh-CN" altLang="en-US" sz="2000" b="0" dirty="0">
                <a:solidFill>
                  <a:srgbClr val="1369B2"/>
                </a:solidFill>
                <a:highlight>
                  <a:srgbClr val="FFFF00"/>
                </a:highlight>
                <a:latin typeface="微软雅黑" panose="020B0503020204020204" pitchFamily="34" charset="-122"/>
                <a:ea typeface="微软雅黑" panose="020B0503020204020204" pitchFamily="34" charset="-122"/>
              </a:rPr>
              <a:t>Map is set through the &lt;entry&gt; tag</a:t>
            </a:r>
            <a:r>
              <a:rPr lang="zh-CN" altLang="en-US" sz="2000" b="0" dirty="0">
                <a:solidFill>
                  <a:srgbClr val="1369B2"/>
                </a:solidFill>
                <a:latin typeface="微软雅黑" panose="020B0503020204020204" pitchFamily="34" charset="-122"/>
                <a:ea typeface="微软雅黑" panose="020B0503020204020204" pitchFamily="34" charset="-122"/>
              </a:rPr>
              <a:t>, as shown below.</a:t>
            </a:r>
            <a:endParaRPr lang="en-US" altLang="zh-CN" sz="2000" b="0" dirty="0" err="1">
              <a:solidFill>
                <a:srgbClr val="595959"/>
              </a:solidFill>
              <a:latin typeface="微软雅黑" panose="020B0503020204020204" pitchFamily="34" charset="-122"/>
              <a:ea typeface="微软雅黑" panose="020B0503020204020204" pitchFamily="34" charset="-122"/>
            </a:endParaRPr>
          </a:p>
        </p:txBody>
      </p:sp>
      <p:sp>
        <p:nvSpPr>
          <p:cNvPr id="12" name="矩形 11"/>
          <p:cNvSpPr/>
          <p:nvPr>
            <p:custDataLst>
              <p:tags r:id="rId3"/>
            </p:custDataLst>
          </p:nvPr>
        </p:nvSpPr>
        <p:spPr>
          <a:xfrm>
            <a:off x="933617" y="3213770"/>
            <a:ext cx="10337800" cy="3175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3" name="矩形 12"/>
          <p:cNvSpPr/>
          <p:nvPr>
            <p:custDataLst>
              <p:tags r:id="rId4"/>
            </p:custDataLst>
          </p:nvPr>
        </p:nvSpPr>
        <p:spPr>
          <a:xfrm>
            <a:off x="1455587" y="3246154"/>
            <a:ext cx="8856345" cy="31426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&lt;bean id="person" class="</a:t>
            </a:r>
            <a:r>
              <a:rPr lang="en-US" sz="1800" dirty="0" err="1">
                <a:latin typeface="Courier New" panose="02070309020205020404" pitchFamily="49" charset="0"/>
                <a:sym typeface="+mn-ea"/>
              </a:rPr>
              <a:t>com.itheima.Person</a:t>
            </a:r>
            <a:r>
              <a:rPr lang="en-US" sz="1800" dirty="0">
                <a:latin typeface="Courier New" panose="02070309020205020404" pitchFamily="49" charset="0"/>
                <a:sym typeface="+mn-ea"/>
              </a:rPr>
              <a:t>"&gt;</a:t>
            </a:r>
          </a:p>
          <a:p>
            <a:pPr algn="l">
              <a:lnSpc>
                <a:spcPct val="130000"/>
              </a:lnSpc>
              <a:spcBef>
                <a:spcPts val="0"/>
              </a:spcBef>
              <a:spcAft>
                <a:spcPts val="0"/>
              </a:spcAft>
              <a:defRPr/>
            </a:pPr>
            <a:r>
              <a:rPr lang="en-US" sz="1800" dirty="0">
                <a:latin typeface="Courier New" panose="02070309020205020404" pitchFamily="49" charset="0"/>
                <a:sym typeface="+mn-ea"/>
              </a:rPr>
              <a:t>    &lt;property name="</a:t>
            </a:r>
            <a:r>
              <a:rPr lang="en-US" sz="1800" dirty="0" err="1">
                <a:latin typeface="Courier New" panose="02070309020205020404" pitchFamily="49" charset="0"/>
                <a:sym typeface="+mn-ea"/>
              </a:rPr>
              <a:t>OrderInfo</a:t>
            </a:r>
            <a:r>
              <a:rPr lang="en-US" sz="1800" dirty="0">
                <a:latin typeface="Courier New" panose="02070309020205020404" pitchFamily="49" charset="0"/>
                <a:sym typeface="+mn-ea"/>
              </a:rPr>
              <a:t>"&gt;</a:t>
            </a:r>
          </a:p>
          <a:p>
            <a:pPr algn="l">
              <a:lnSpc>
                <a:spcPct val="130000"/>
              </a:lnSpc>
              <a:spcBef>
                <a:spcPts val="0"/>
              </a:spcBef>
              <a:spcAft>
                <a:spcPts val="0"/>
              </a:spcAft>
              <a:defRPr/>
            </a:pPr>
            <a:r>
              <a:rPr lang="en-US" sz="1800" dirty="0">
                <a:latin typeface="Courier New" panose="02070309020205020404" pitchFamily="49" charset="0"/>
                <a:sym typeface="+mn-ea"/>
              </a:rPr>
              <a:t>        &lt;map&gt;</a:t>
            </a:r>
          </a:p>
          <a:p>
            <a:pPr algn="l">
              <a:lnSpc>
                <a:spcPct val="130000"/>
              </a:lnSpc>
              <a:spcBef>
                <a:spcPts val="0"/>
              </a:spcBef>
              <a:spcAft>
                <a:spcPts val="0"/>
              </a:spcAft>
              <a:defRPr/>
            </a:pPr>
            <a:r>
              <a:rPr lang="en-US" sz="1800" dirty="0">
                <a:latin typeface="Courier New" panose="02070309020205020404" pitchFamily="49" charset="0"/>
                <a:sym typeface="+mn-ea"/>
              </a:rPr>
              <a:t>            &lt;entry key="id" value="1"/&gt;</a:t>
            </a:r>
          </a:p>
          <a:p>
            <a:pPr algn="l">
              <a:lnSpc>
                <a:spcPct val="130000"/>
              </a:lnSpc>
              <a:spcBef>
                <a:spcPts val="0"/>
              </a:spcBef>
              <a:spcAft>
                <a:spcPts val="0"/>
              </a:spcAft>
              <a:defRPr/>
            </a:pPr>
            <a:r>
              <a:rPr lang="en-US" sz="1800" dirty="0">
                <a:latin typeface="Courier New" panose="02070309020205020404" pitchFamily="49" charset="0"/>
                <a:sym typeface="+mn-ea"/>
              </a:rPr>
              <a:t>            &lt;entry key="amount" value="100"/&gt;</a:t>
            </a:r>
          </a:p>
          <a:p>
            <a:pPr algn="l">
              <a:lnSpc>
                <a:spcPct val="130000"/>
              </a:lnSpc>
              <a:spcBef>
                <a:spcPts val="0"/>
              </a:spcBef>
              <a:spcAft>
                <a:spcPts val="0"/>
              </a:spcAft>
              <a:defRPr/>
            </a:pPr>
            <a:r>
              <a:rPr lang="en-US" sz="1800" dirty="0">
                <a:latin typeface="Courier New" panose="02070309020205020404" pitchFamily="49" charset="0"/>
                <a:sym typeface="+mn-ea"/>
              </a:rPr>
              <a:t>        &lt;/map&gt;</a:t>
            </a:r>
          </a:p>
          <a:p>
            <a:pPr algn="l">
              <a:lnSpc>
                <a:spcPct val="130000"/>
              </a:lnSpc>
              <a:spcBef>
                <a:spcPts val="0"/>
              </a:spcBef>
              <a:spcAft>
                <a:spcPts val="0"/>
              </a:spcAft>
              <a:defRPr/>
            </a:pPr>
            <a:r>
              <a:rPr lang="en-US" sz="1800" dirty="0">
                <a:latin typeface="Courier New" panose="02070309020205020404" pitchFamily="49" charset="0"/>
                <a:sym typeface="+mn-ea"/>
              </a:rPr>
              <a:t>    &lt;/property&gt;</a:t>
            </a:r>
          </a:p>
          <a:p>
            <a:pPr algn="l">
              <a:lnSpc>
                <a:spcPct val="130000"/>
              </a:lnSpc>
              <a:spcBef>
                <a:spcPts val="0"/>
              </a:spcBef>
              <a:spcAft>
                <a:spcPts val="0"/>
              </a:spcAft>
              <a:defRPr/>
            </a:pPr>
            <a:r>
              <a:rPr lang="en-US" sz="1800" dirty="0">
                <a:latin typeface="Courier New" panose="02070309020205020404" pitchFamily="49" charset="0"/>
                <a:sym typeface="+mn-ea"/>
              </a:rPr>
              <a:t>&lt;/bean&gt;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Bean configuration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84933" y="1121134"/>
            <a:ext cx="4634209" cy="483418"/>
            <a:chOff x="863947" y="1813239"/>
            <a:chExt cx="2768349" cy="483418"/>
          </a:xfrm>
        </p:grpSpPr>
        <p:sp>
          <p:nvSpPr>
            <p:cNvPr id="3" name="矩形: 圆角 6"/>
            <p:cNvSpPr/>
            <p:nvPr>
              <p:custDataLst>
                <p:tags r:id="rId1"/>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2"/>
              </p:custDataLst>
            </p:nvPr>
          </p:nvSpPr>
          <p:spPr>
            <a:xfrm>
              <a:off x="863947" y="1852792"/>
              <a:ext cx="2767965" cy="443865"/>
            </a:xfrm>
            <a:prstGeom prst="rect">
              <a:avLst/>
            </a:prstGeom>
            <a:noFill/>
          </p:spPr>
          <p:txBody>
            <a:bodyPr wrap="square" rtlCol="0">
              <a:normAutofit fontScale="94471"/>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2 Configure Beans based on annotations</a:t>
              </a:r>
            </a:p>
          </p:txBody>
        </p:sp>
      </p:grpSp>
      <p:sp>
        <p:nvSpPr>
          <p:cNvPr id="100" name="文本框 99"/>
          <p:cNvSpPr txBox="1"/>
          <p:nvPr/>
        </p:nvSpPr>
        <p:spPr>
          <a:xfrm>
            <a:off x="442578" y="1622352"/>
            <a:ext cx="11305256" cy="4970241"/>
          </a:xfrm>
          <a:prstGeom prst="rect">
            <a:avLst/>
          </a:prstGeom>
          <a:noFill/>
          <a:ln w="9525">
            <a:noFill/>
          </a:ln>
        </p:spPr>
        <p:txBody>
          <a:bodyPr wrap="square">
            <a:noAutofit/>
          </a:bodyPr>
          <a:lstStyle/>
          <a:p>
            <a:pPr algn="just">
              <a:lnSpc>
                <a:spcPct val="150000"/>
              </a:lnSpc>
              <a:buClrTx/>
              <a:buSzTx/>
              <a:buFontTx/>
            </a:pPr>
            <a:r>
              <a:rPr dirty="0">
                <a:solidFill>
                  <a:srgbClr val="595959"/>
                </a:solidFill>
                <a:latin typeface="微软雅黑" panose="020B0503020204020204" pitchFamily="34" charset="-122"/>
                <a:ea typeface="微软雅黑" panose="020B0503020204020204" pitchFamily="34" charset="-122"/>
              </a:rPr>
              <a:t>When configuring beans based on XML, </a:t>
            </a:r>
            <a:r>
              <a:rPr dirty="0">
                <a:solidFill>
                  <a:srgbClr val="0070C0"/>
                </a:solidFill>
                <a:latin typeface="微软雅黑" panose="020B0503020204020204" pitchFamily="34" charset="-122"/>
                <a:ea typeface="微软雅黑" panose="020B0503020204020204" pitchFamily="34" charset="-122"/>
              </a:rPr>
              <a:t>a large amount of XML code needs to be written manually to define and configure the beans</a:t>
            </a:r>
            <a:r>
              <a:rPr dirty="0">
                <a:solidFill>
                  <a:srgbClr val="595959"/>
                </a:solidFill>
                <a:latin typeface="微软雅黑" panose="020B0503020204020204" pitchFamily="34" charset="-122"/>
                <a:ea typeface="微软雅黑" panose="020B0503020204020204" pitchFamily="34" charset="-122"/>
              </a:rPr>
              <a:t>, which makes the configuration process cumbersome and error-prone. At the same time, </a:t>
            </a:r>
            <a:r>
              <a:rPr dirty="0">
                <a:solidFill>
                  <a:srgbClr val="0070C0"/>
                </a:solidFill>
                <a:latin typeface="微软雅黑" panose="020B0503020204020204" pitchFamily="34" charset="-122"/>
                <a:ea typeface="微软雅黑" panose="020B0503020204020204" pitchFamily="34" charset="-122"/>
              </a:rPr>
              <a:t>the XML configuration file is separated from the code</a:t>
            </a:r>
            <a:r>
              <a:rPr dirty="0">
                <a:solidFill>
                  <a:srgbClr val="595959"/>
                </a:solidFill>
                <a:latin typeface="微软雅黑" panose="020B0503020204020204" pitchFamily="34" charset="-122"/>
                <a:ea typeface="微软雅黑" panose="020B0503020204020204" pitchFamily="34" charset="-122"/>
              </a:rPr>
              <a:t>, making the configuration information loosely coupled with the code logic. As the project grows, the number and complexity of the XML configuration file increase, resulting in poor readability of the code and difficulty in maintenance. To address this issue, </a:t>
            </a:r>
            <a:r>
              <a:rPr dirty="0">
                <a:solidFill>
                  <a:srgbClr val="0070C0"/>
                </a:solidFill>
                <a:latin typeface="微软雅黑" panose="020B0503020204020204" pitchFamily="34" charset="-122"/>
                <a:ea typeface="微软雅黑" panose="020B0503020204020204" pitchFamily="34" charset="-122"/>
              </a:rPr>
              <a:t>Spring introduced an annotation-based approach to configuring beans.</a:t>
            </a:r>
            <a:endParaRPr lang="en-US" altLang="zh-CN" dirty="0" err="1">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rmAutofit fontScale="9198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54546" y="1089534"/>
            <a:ext cx="11881320" cy="4680520"/>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Starting from Spring 2.5, developers can use the </a:t>
            </a:r>
            <a:r>
              <a:rPr lang="en-US" altLang="zh-CN" sz="2000" b="0" dirty="0" err="1">
                <a:solidFill>
                  <a:srgbClr val="0070C0"/>
                </a:solidFill>
                <a:latin typeface="微软雅黑" panose="020B0503020204020204" pitchFamily="34" charset="-122"/>
                <a:ea typeface="微软雅黑" panose="020B0503020204020204" pitchFamily="34" charset="-122"/>
              </a:rPr>
              <a:t>@Component annotation or its derived annotations (such as @Service, @Repository, @Controller, etc.) on the implementation classes of Beans to label these classes as Spring container-managed Beans. </a:t>
            </a:r>
            <a:r>
              <a:rPr lang="en-US" altLang="zh-CN" sz="2000" b="0" dirty="0">
                <a:solidFill>
                  <a:srgbClr val="595959"/>
                </a:solidFill>
                <a:latin typeface="微软雅黑" panose="020B0503020204020204" pitchFamily="34" charset="-122"/>
                <a:ea typeface="微软雅黑" panose="020B0503020204020204" pitchFamily="34" charset="-122"/>
              </a:rPr>
              <a:t>Classes annotated by these annotations are treated as components within the Spring container and are managed by Spring.</a:t>
            </a:r>
          </a:p>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When configuring beans using annotations, component scanning is typically configured in the configuration file of the Spring program. Component scanning can specify where Spring performs the scanning, and during the scanning process, if classes marked with the @Component annotation or its derived annotations are found, these classes are registered as Spring Beans. </a:t>
            </a:r>
            <a:r>
              <a:rPr lang="en-US" altLang="zh-CN" sz="2000" b="0" dirty="0" err="1">
                <a:solidFill>
                  <a:srgbClr val="0070C0"/>
                </a:solidFill>
                <a:latin typeface="微软雅黑" panose="020B0503020204020204" pitchFamily="34" charset="-122"/>
                <a:ea typeface="微软雅黑" panose="020B0503020204020204" pitchFamily="34" charset="-122"/>
              </a:rPr>
              <a:t>In the Spring configuration file, developers can specify the path for component scanning by using the &lt; context: Component-scan &gt; tag</a:t>
            </a:r>
          </a:p>
        </p:txBody>
      </p:sp>
      <p:sp>
        <p:nvSpPr>
          <p:cNvPr id="12" name="矩形 11"/>
          <p:cNvSpPr/>
          <p:nvPr>
            <p:custDataLst>
              <p:tags r:id="rId1"/>
            </p:custDataLst>
          </p:nvPr>
        </p:nvSpPr>
        <p:spPr>
          <a:xfrm>
            <a:off x="926306" y="5878066"/>
            <a:ext cx="10337800" cy="5975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3" name="矩形 12"/>
          <p:cNvSpPr/>
          <p:nvPr>
            <p:custDataLst>
              <p:tags r:id="rId2"/>
            </p:custDataLst>
          </p:nvPr>
        </p:nvSpPr>
        <p:spPr>
          <a:xfrm>
            <a:off x="1448276" y="5910451"/>
            <a:ext cx="8856345" cy="467360"/>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&lt;</a:t>
            </a:r>
            <a:r>
              <a:rPr lang="en-US" sz="1800" dirty="0" err="1">
                <a:latin typeface="Courier New" panose="02070309020205020404" pitchFamily="49" charset="0"/>
                <a:sym typeface="+mn-ea"/>
              </a:rPr>
              <a:t>context:component-scan</a:t>
            </a:r>
            <a:r>
              <a:rPr lang="en-US" sz="1800" dirty="0">
                <a:latin typeface="Courier New" panose="02070309020205020404" pitchFamily="49" charset="0"/>
                <a:sym typeface="+mn-ea"/>
              </a:rPr>
              <a:t> base-package="</a:t>
            </a:r>
            <a:r>
              <a:rPr lang="en-US" sz="1800" dirty="0" err="1">
                <a:latin typeface="Courier New" panose="02070309020205020404" pitchFamily="49" charset="0"/>
                <a:sym typeface="+mn-ea"/>
              </a:rPr>
              <a:t>com.itheima</a:t>
            </a:r>
            <a:r>
              <a:rPr lang="en-US" sz="1800" dirty="0">
                <a:latin typeface="Courier New" panose="02070309020205020404" pitchFamily="49" charset="0"/>
                <a:sym typeface="+mn-ea"/>
              </a:rPr>
              <a:t>" /&gt;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Bean configuration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427163" y="1107103"/>
            <a:ext cx="5328592" cy="476905"/>
            <a:chOff x="852276" y="1797999"/>
            <a:chExt cx="2780020" cy="476905"/>
          </a:xfrm>
        </p:grpSpPr>
        <p:sp>
          <p:nvSpPr>
            <p:cNvPr id="3" name="矩形: 圆角 6"/>
            <p:cNvSpPr/>
            <p:nvPr>
              <p:custDataLst>
                <p:tags r:id="rId1"/>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2"/>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 Configure Beans based on Java classes</a:t>
              </a:r>
            </a:p>
          </p:txBody>
        </p:sp>
      </p:grpSp>
      <p:sp>
        <p:nvSpPr>
          <p:cNvPr id="100" name="文本框 99"/>
          <p:cNvSpPr txBox="1"/>
          <p:nvPr/>
        </p:nvSpPr>
        <p:spPr>
          <a:xfrm>
            <a:off x="427163" y="1999139"/>
            <a:ext cx="11068643" cy="3738106"/>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Annotation-based configuration of beans can achieve concise declarative configuration of beans, which is somewhat limited when it is necessary to call methods of other beans, perform additional setup steps, etc. during the initialization process of the Bean. For this, </a:t>
            </a:r>
            <a:r>
              <a:rPr lang="en-US" altLang="zh-CN" sz="2000" b="0" dirty="0" err="1">
                <a:solidFill>
                  <a:srgbClr val="0070C0"/>
                </a:solidFill>
                <a:latin typeface="微软雅黑" panose="020B0503020204020204" pitchFamily="34" charset="-122"/>
                <a:ea typeface="微软雅黑" panose="020B0503020204020204" pitchFamily="34" charset="-122"/>
              </a:rPr>
              <a:t>Spring offers a Java class-based way to configure Beans. Configuring Beans based on Java classes means defining and registering beans by writing Java classes and using specific annotations, which provides more flexible, explicit, and powerful configuration capabilities, especially for scenarios that require complex logic or conditional judgments.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rmAutofit fontScale="9198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550590" y="1116770"/>
            <a:ext cx="6264696" cy="476905"/>
            <a:chOff x="852276" y="1797999"/>
            <a:chExt cx="2780020" cy="476905"/>
          </a:xfrm>
        </p:grpSpPr>
        <p:sp>
          <p:nvSpPr>
            <p:cNvPr id="3" name="矩形: 圆角 6"/>
            <p:cNvSpPr/>
            <p:nvPr>
              <p:custDataLst>
                <p:tags r:id="rId1"/>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2"/>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Configure Beans based on Java classes</a:t>
              </a:r>
            </a:p>
          </p:txBody>
        </p:sp>
      </p:grpSp>
      <p:sp>
        <p:nvSpPr>
          <p:cNvPr id="100" name="文本框 99"/>
          <p:cNvSpPr txBox="1"/>
          <p:nvPr/>
        </p:nvSpPr>
        <p:spPr>
          <a:xfrm>
            <a:off x="982638" y="1773610"/>
            <a:ext cx="9937104" cy="3888432"/>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In Spring, the </a:t>
            </a:r>
            <a:r>
              <a:rPr lang="en-US" altLang="zh-CN" sz="2000" b="0" dirty="0" err="1">
                <a:solidFill>
                  <a:srgbClr val="0070C0"/>
                </a:solidFill>
                <a:latin typeface="微软雅黑" panose="020B0503020204020204" pitchFamily="34" charset="-122"/>
                <a:ea typeface="微软雅黑" panose="020B0503020204020204" pitchFamily="34" charset="-122"/>
              </a:rPr>
              <a:t>@Configuration annotation is provided to mark a Java class as a configuration class</a:t>
            </a:r>
            <a:r>
              <a:rPr lang="en-US" altLang="zh-CN" sz="2000" b="0" dirty="0" err="1">
                <a:solidFill>
                  <a:srgbClr val="595959"/>
                </a:solidFill>
                <a:latin typeface="微软雅黑" panose="020B0503020204020204" pitchFamily="34" charset="-122"/>
                <a:ea typeface="微软雅黑" panose="020B0503020204020204" pitchFamily="34" charset="-122"/>
              </a:rPr>
              <a:t>, and defining methods for creating and initializing beans within the configuration class enables the definition and configuration of beans. </a:t>
            </a:r>
            <a:r>
              <a:rPr lang="en-US" altLang="zh-CN" sz="2000" b="0" dirty="0">
                <a:solidFill>
                  <a:srgbClr val="595959"/>
                </a:solidFill>
                <a:latin typeface="微软雅黑" panose="020B0503020204020204" pitchFamily="34" charset="-122"/>
                <a:ea typeface="微软雅黑" panose="020B0503020204020204" pitchFamily="34" charset="-122"/>
              </a:rPr>
              <a:t>The method for creating and initializing the Bean in the configuration class needs to return an instance object and add the </a:t>
            </a:r>
            <a:r>
              <a:rPr lang="en-US" altLang="zh-CN" sz="2000" dirty="0">
                <a:solidFill>
                  <a:srgbClr val="0070C0"/>
                </a:solidFill>
                <a:latin typeface="微软雅黑" panose="020B0503020204020204" pitchFamily="34" charset="-122"/>
                <a:ea typeface="微软雅黑" panose="020B0503020204020204" pitchFamily="34" charset="-122"/>
              </a:rPr>
              <a:t>@Bean annotation to the method, </a:t>
            </a:r>
            <a:r>
              <a:rPr lang="en-US" altLang="zh-CN" sz="2000" b="0" dirty="0">
                <a:solidFill>
                  <a:srgbClr val="595959"/>
                </a:solidFill>
                <a:latin typeface="微软雅黑" panose="020B0503020204020204" pitchFamily="34" charset="-122"/>
                <a:ea typeface="微软雅黑" panose="020B0503020204020204" pitchFamily="34" charset="-122"/>
              </a:rPr>
              <a:t>so that the instance object returned by the method after the configuration class is successfully loaded will be managed by the Spring container, and the Bean name defaults to the method name.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rmAutofit fontScale="9198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 Configuration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6913" y="1105894"/>
            <a:ext cx="5516325" cy="476905"/>
            <a:chOff x="852276" y="1797999"/>
            <a:chExt cx="2780020" cy="476905"/>
          </a:xfrm>
        </p:grpSpPr>
        <p:sp>
          <p:nvSpPr>
            <p:cNvPr id="3" name="矩形: 圆角 6"/>
            <p:cNvSpPr/>
            <p:nvPr>
              <p:custDataLst>
                <p:tags r:id="rId3"/>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 Configure Beans based on Java classes</a:t>
              </a:r>
            </a:p>
          </p:txBody>
        </p:sp>
      </p:grpSp>
      <p:sp>
        <p:nvSpPr>
          <p:cNvPr id="100" name="文本框 99"/>
          <p:cNvSpPr txBox="1"/>
          <p:nvPr/>
        </p:nvSpPr>
        <p:spPr>
          <a:xfrm>
            <a:off x="899790" y="1615184"/>
            <a:ext cx="10295890" cy="1014730"/>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You can use the </a:t>
            </a:r>
            <a:r>
              <a:rPr lang="en-US" altLang="zh-CN" sz="2000" b="0" dirty="0" err="1">
                <a:solidFill>
                  <a:srgbClr val="0070C0"/>
                </a:solidFill>
                <a:latin typeface="微软雅黑" panose="020B0503020204020204" pitchFamily="34" charset="-122"/>
                <a:ea typeface="微软雅黑" panose="020B0503020204020204" pitchFamily="34" charset="-122"/>
              </a:rPr>
              <a:t>@ComponentScan annotation on the configuration class to specify the packages or classes that need to be scanned when loading the configuration class, </a:t>
            </a:r>
            <a:r>
              <a:rPr lang="en-US" altLang="zh-CN" sz="2000" b="0" dirty="0" err="1">
                <a:solidFill>
                  <a:srgbClr val="595959"/>
                </a:solidFill>
                <a:latin typeface="微软雅黑" panose="020B0503020204020204" pitchFamily="34" charset="-122"/>
                <a:ea typeface="微软雅黑" panose="020B0503020204020204" pitchFamily="34" charset="-122"/>
              </a:rPr>
              <a:t>as shown below.</a:t>
            </a:r>
          </a:p>
        </p:txBody>
      </p:sp>
      <p:sp>
        <p:nvSpPr>
          <p:cNvPr id="12" name="矩形 11"/>
          <p:cNvSpPr/>
          <p:nvPr>
            <p:custDataLst>
              <p:tags r:id="rId1"/>
            </p:custDataLst>
          </p:nvPr>
        </p:nvSpPr>
        <p:spPr>
          <a:xfrm>
            <a:off x="967740" y="3051810"/>
            <a:ext cx="10337800" cy="3175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3" name="矩形 12"/>
          <p:cNvSpPr/>
          <p:nvPr>
            <p:custDataLst>
              <p:tags r:id="rId2"/>
            </p:custDataLst>
          </p:nvPr>
        </p:nvSpPr>
        <p:spPr>
          <a:xfrm>
            <a:off x="1489710" y="3084195"/>
            <a:ext cx="8856345" cy="1873250"/>
          </a:xfrm>
          <a:prstGeom prst="rect">
            <a:avLst/>
          </a:prstGeom>
        </p:spPr>
        <p:txBody>
          <a:bodyPr wrap="square">
            <a:noAutofit/>
          </a:bodyPr>
          <a:lstStyle/>
          <a:p>
            <a:pPr algn="l">
              <a:lnSpc>
                <a:spcPct val="130000"/>
              </a:lnSpc>
              <a:spcBef>
                <a:spcPts val="0"/>
              </a:spcBef>
              <a:spcAft>
                <a:spcPts val="0"/>
              </a:spcAft>
              <a:defRPr/>
            </a:pPr>
            <a:r>
              <a:rPr lang="en-US" sz="1800">
                <a:latin typeface="Courier New" panose="02070309020205020404" pitchFamily="49" charset="0"/>
                <a:sym typeface="+mn-ea"/>
              </a:rPr>
              <a:t> 1 @Configuration</a:t>
            </a:r>
          </a:p>
          <a:p>
            <a:pPr algn="l">
              <a:lnSpc>
                <a:spcPct val="130000"/>
              </a:lnSpc>
              <a:spcBef>
                <a:spcPts val="0"/>
              </a:spcBef>
              <a:spcAft>
                <a:spcPts val="0"/>
              </a:spcAft>
              <a:defRPr/>
            </a:pPr>
            <a:r>
              <a:rPr lang="en-US" sz="1800">
                <a:latin typeface="Courier New" panose="02070309020205020404" pitchFamily="49" charset="0"/>
                <a:sym typeface="+mn-ea"/>
              </a:rPr>
              <a:t> 2 @ComponentScan("com.itheima")</a:t>
            </a:r>
          </a:p>
          <a:p>
            <a:pPr algn="l">
              <a:lnSpc>
                <a:spcPct val="130000"/>
              </a:lnSpc>
              <a:spcBef>
                <a:spcPts val="0"/>
              </a:spcBef>
              <a:spcAft>
                <a:spcPts val="0"/>
              </a:spcAft>
              <a:defRPr/>
            </a:pPr>
            <a:r>
              <a:rPr lang="en-US" sz="1800">
                <a:latin typeface="Courier New" panose="02070309020205020404" pitchFamily="49" charset="0"/>
                <a:sym typeface="+mn-ea"/>
              </a:rPr>
              <a:t> 3 public class AppConfig {</a:t>
            </a:r>
          </a:p>
          <a:p>
            <a:pPr algn="l">
              <a:lnSpc>
                <a:spcPct val="130000"/>
              </a:lnSpc>
              <a:spcBef>
                <a:spcPts val="0"/>
              </a:spcBef>
              <a:spcAft>
                <a:spcPts val="0"/>
              </a:spcAft>
              <a:defRPr/>
            </a:pPr>
            <a:r>
              <a:rPr lang="en-US" sz="1800">
                <a:latin typeface="Courier New" panose="02070309020205020404" pitchFamily="49" charset="0"/>
                <a:sym typeface="+mn-ea"/>
              </a:rPr>
              <a:t> 4     @Bean</a:t>
            </a:r>
          </a:p>
          <a:p>
            <a:pPr algn="l">
              <a:lnSpc>
                <a:spcPct val="130000"/>
              </a:lnSpc>
              <a:spcBef>
                <a:spcPts val="0"/>
              </a:spcBef>
              <a:spcAft>
                <a:spcPts val="0"/>
              </a:spcAft>
              <a:defRPr/>
            </a:pPr>
            <a:r>
              <a:rPr lang="en-US" sz="1800">
                <a:latin typeface="Courier New" panose="02070309020205020404" pitchFamily="49" charset="0"/>
                <a:sym typeface="+mn-ea"/>
              </a:rPr>
              <a:t> 5     public MyBean myBean() {</a:t>
            </a:r>
          </a:p>
          <a:p>
            <a:pPr algn="l">
              <a:lnSpc>
                <a:spcPct val="130000"/>
              </a:lnSpc>
              <a:spcBef>
                <a:spcPts val="0"/>
              </a:spcBef>
              <a:spcAft>
                <a:spcPts val="0"/>
              </a:spcAft>
              <a:defRPr/>
            </a:pPr>
            <a:r>
              <a:rPr lang="en-US" sz="1800">
                <a:latin typeface="Courier New" panose="02070309020205020404" pitchFamily="49" charset="0"/>
                <a:sym typeface="+mn-ea"/>
              </a:rPr>
              <a:t> 6         return new MyBean();</a:t>
            </a:r>
          </a:p>
          <a:p>
            <a:pPr algn="l">
              <a:lnSpc>
                <a:spcPct val="130000"/>
              </a:lnSpc>
              <a:spcBef>
                <a:spcPts val="0"/>
              </a:spcBef>
              <a:spcAft>
                <a:spcPts val="0"/>
              </a:spcAft>
              <a:defRPr/>
            </a:pPr>
            <a:r>
              <a:rPr lang="en-US" sz="1800">
                <a:latin typeface="Courier New" panose="02070309020205020404" pitchFamily="49" charset="0"/>
                <a:sym typeface="+mn-ea"/>
              </a:rPr>
              <a:t> 7}</a:t>
            </a:r>
          </a:p>
          <a:p>
            <a:pPr algn="l">
              <a:lnSpc>
                <a:spcPct val="130000"/>
              </a:lnSpc>
              <a:spcBef>
                <a:spcPts val="0"/>
              </a:spcBef>
              <a:spcAft>
                <a:spcPts val="0"/>
              </a:spcAft>
              <a:defRPr/>
            </a:pPr>
            <a:r>
              <a:rPr lang="en-US" sz="1800">
                <a:latin typeface="Courier New" panose="02070309020205020404" pitchFamily="49" charset="0"/>
                <a:sym typeface="+mn-ea"/>
              </a:rPr>
              <a:t> 8}</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normAutofit fontScale="94787"/>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scope of the Bean</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2.3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F7ECE2F-99B2-AAC5-D99A-FCD9230CAF5E}"/>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Scope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4899561" y="2866926"/>
            <a:ext cx="6318647" cy="287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sz="28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Familiarize yourself with Bean scopes, be able to briefly describe the characteristics of the five types of Bean scopes, and how scopes are configured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Bean Scopes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custDataLst>
              <p:tags r:id="rId1"/>
            </p:custDataLst>
          </p:nvPr>
        </p:nvSpPr>
        <p:spPr>
          <a:xfrm>
            <a:off x="947261" y="981522"/>
            <a:ext cx="10295890" cy="1512168"/>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When the Spring container creates a Bean, it can also specify the scope for that Bean, which is the valid scope of the Bean. The Spring container specifies five scopes for a Bean, as shown in the table below.</a:t>
            </a:r>
          </a:p>
        </p:txBody>
      </p:sp>
      <p:graphicFrame>
        <p:nvGraphicFramePr>
          <p:cNvPr id="4" name="表格 3"/>
          <p:cNvGraphicFramePr/>
          <p:nvPr>
            <p:custDataLst>
              <p:tags r:id="rId2"/>
            </p:custDataLst>
            <p:extLst>
              <p:ext uri="{D42A27DB-BD31-4B8C-83A1-F6EECF244321}">
                <p14:modId xmlns:p14="http://schemas.microsoft.com/office/powerpoint/2010/main" val="2579206794"/>
              </p:ext>
            </p:extLst>
          </p:nvPr>
        </p:nvGraphicFramePr>
        <p:xfrm>
          <a:off x="1547495" y="2642870"/>
          <a:ext cx="9271000" cy="3707385"/>
        </p:xfrm>
        <a:graphic>
          <a:graphicData uri="http://schemas.openxmlformats.org/drawingml/2006/table">
            <a:tbl>
              <a:tblPr/>
              <a:tblGrid>
                <a:gridCol w="1779905">
                  <a:extLst>
                    <a:ext uri="{9D8B030D-6E8A-4147-A177-3AD203B41FA5}">
                      <a16:colId xmlns:a16="http://schemas.microsoft.com/office/drawing/2014/main" val="20000"/>
                    </a:ext>
                  </a:extLst>
                </a:gridCol>
                <a:gridCol w="7491095">
                  <a:extLst>
                    <a:ext uri="{9D8B030D-6E8A-4147-A177-3AD203B41FA5}">
                      <a16:colId xmlns:a16="http://schemas.microsoft.com/office/drawing/2014/main" val="20001"/>
                    </a:ext>
                  </a:extLst>
                </a:gridCol>
              </a:tblGrid>
              <a:tr h="512445">
                <a:tc>
                  <a:txBody>
                    <a:bodyPr/>
                    <a:lstStyle/>
                    <a:p>
                      <a:pPr indent="0" algn="ctr" fontAlgn="ctr">
                        <a:buNone/>
                      </a:pPr>
                      <a:r>
                        <a:rPr lang="en-US" sz="1700" b="1" dirty="0">
                          <a:latin typeface="微软雅黑" panose="020B0503020204020204" pitchFamily="34" charset="-122"/>
                          <a:ea typeface="微软雅黑" panose="020B0503020204020204" pitchFamily="34" charset="-122"/>
                          <a:cs typeface="宋体" panose="02010600030101010101" pitchFamily="2" charset="-122"/>
                        </a:rPr>
                        <a:t>Scope</a:t>
                      </a:r>
                      <a:endParaRPr lang="en-US" altLang="en-US" sz="17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fontAlgn="ctr">
                        <a:buNone/>
                      </a:pPr>
                      <a:r>
                        <a:rPr lang="en-US" sz="1700" b="1" dirty="0">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7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singleton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singleton (singleton) is the default scope of the Spring framework. When the scope of a Bean is set to Singleton, only one Bean is created in the Spring container, and that single Bean is shared throughout the application's lifecycle</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prototype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When the scope of a Bean is set to prototype, a new Bean is created each time a Bean is requested from the container. This means that each request has its own Bean, and the state of the Bean is not shared among different requests</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Bean scopes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1"/>
            </p:custDataLst>
            <p:extLst>
              <p:ext uri="{D42A27DB-BD31-4B8C-83A1-F6EECF244321}">
                <p14:modId xmlns:p14="http://schemas.microsoft.com/office/powerpoint/2010/main" val="2382394165"/>
              </p:ext>
            </p:extLst>
          </p:nvPr>
        </p:nvGraphicFramePr>
        <p:xfrm>
          <a:off x="730610" y="1341562"/>
          <a:ext cx="10729192" cy="4903725"/>
        </p:xfrm>
        <a:graphic>
          <a:graphicData uri="http://schemas.openxmlformats.org/drawingml/2006/table">
            <a:tbl>
              <a:tblPr/>
              <a:tblGrid>
                <a:gridCol w="2160240">
                  <a:extLst>
                    <a:ext uri="{9D8B030D-6E8A-4147-A177-3AD203B41FA5}">
                      <a16:colId xmlns:a16="http://schemas.microsoft.com/office/drawing/2014/main" val="20000"/>
                    </a:ext>
                  </a:extLst>
                </a:gridCol>
                <a:gridCol w="8568952">
                  <a:extLst>
                    <a:ext uri="{9D8B030D-6E8A-4147-A177-3AD203B41FA5}">
                      <a16:colId xmlns:a16="http://schemas.microsoft.com/office/drawing/2014/main" val="20001"/>
                    </a:ext>
                  </a:extLst>
                </a:gridCol>
              </a:tblGrid>
              <a:tr h="449580">
                <a:tc>
                  <a:txBody>
                    <a:bodyPr/>
                    <a:lstStyle/>
                    <a:p>
                      <a:pPr marL="0" indent="0" algn="ctr" defTabSz="1219200" rtl="0" eaLnBrk="1" fontAlgn="ctr" latinLnBrk="0" hangingPunct="1">
                        <a:buNone/>
                      </a:pPr>
                      <a:r>
                        <a:rPr lang="en-US" sz="1700" b="1" kern="12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Scope</a:t>
                      </a:r>
                      <a:endParaRPr lang="en-US" altLang="en-US" sz="1700" b="1" kern="12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marL="0" indent="0" algn="ctr" defTabSz="1219200" rtl="0" eaLnBrk="1" fontAlgn="ctr" latinLnBrk="0" hangingPunct="1">
                        <a:buNone/>
                      </a:pPr>
                      <a:r>
                        <a:rPr lang="en-US" sz="1700" b="1" kern="1200" dirty="0">
                          <a:solidFill>
                            <a:schemeClr val="tx1"/>
                          </a:solidFill>
                          <a:latin typeface="微软雅黑" panose="020B0503020204020204" pitchFamily="34" charset="-122"/>
                          <a:ea typeface="微软雅黑" panose="020B0503020204020204" pitchFamily="34" charset="-122"/>
                          <a:cs typeface="宋体" panose="02010600030101010101" pitchFamily="2" charset="-122"/>
                        </a:rPr>
                        <a:t>Instructions</a:t>
                      </a:r>
                      <a:endParaRPr lang="en-US" altLang="en-US" sz="1700" b="1" kern="1200" dirty="0">
                        <a:solidFill>
                          <a:schemeClr val="tx1"/>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1259205">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request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When the scope of a Bean is set to request, in a Web application, each HTTP request has its own Bean, and the instance is only valid within the current HTTP request, meaning the Bean's lifecycle is the same as that of a single HTTP request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125984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session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When the scope of a Bean is set to session, in a Web application, each HTTP session has its own Bean, and the instance is only valid within the current HTTP session, meaning that the Bean's lifecycle is the same as that of a single HTTP session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1259205">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application</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rPr>
                        <a:t>When the scope of a Bean is set to application, in a Web application, there is only one Bean throughout the entire lifecycle of the Web application, and that Bean is valid throughout the Web application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原创设计师QQ598969553          _6"/>
          <p:cNvSpPr/>
          <p:nvPr>
            <p:custDataLst>
              <p:tags r:id="rId1"/>
            </p:custDataLst>
          </p:nvPr>
        </p:nvSpPr>
        <p:spPr>
          <a:xfrm>
            <a:off x="1270000" y="1341120"/>
            <a:ext cx="7489502"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12" name="原创设计师QQ598969553          _7"/>
          <p:cNvSpPr txBox="1"/>
          <p:nvPr>
            <p:custDataLst>
              <p:tags r:id="rId2"/>
            </p:custDataLst>
          </p:nvPr>
        </p:nvSpPr>
        <p:spPr>
          <a:xfrm>
            <a:off x="982980" y="1390650"/>
            <a:ext cx="7776522" cy="398780"/>
          </a:xfrm>
          <a:prstGeom prst="rect">
            <a:avLst/>
          </a:prstGeom>
          <a:noFill/>
        </p:spPr>
        <p:txBody>
          <a:bodyPr wrap="square" rtlCol="0">
            <a:noAutofit/>
          </a:bodyPr>
          <a:lstStyle/>
          <a:p>
            <a:pPr algn="ctr" defTabSz="1216660">
              <a:spcBef>
                <a:spcPct val="20000"/>
              </a:spcBef>
              <a:defRPr/>
            </a:pPr>
            <a:r>
              <a:rPr lang="zh-CN" altLang="en-US" sz="1800" b="1" dirty="0">
                <a:solidFill>
                  <a:schemeClr val="bg1"/>
                </a:solidFill>
                <a:latin typeface="微软雅黑" panose="020B0503020204020204" pitchFamily="34" charset="-122"/>
                <a:ea typeface="微软雅黑" panose="020B0503020204020204" pitchFamily="34" charset="-122"/>
                <a:cs typeface="+mn-ea"/>
                <a:sym typeface="+mn-lt"/>
              </a:rPr>
              <a:t>(1) Set the scope of the Bean through an XML configuration file</a:t>
            </a:r>
          </a:p>
        </p:txBody>
      </p:sp>
      <p:sp>
        <p:nvSpPr>
          <p:cNvPr id="4" name="Title 1"/>
          <p:cNvSpPr txBox="1"/>
          <p:nvPr>
            <p:custDataLst>
              <p:tags r:id="rId3"/>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Bean scopes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原创设计师QQ598969553          _6"/>
          <p:cNvSpPr/>
          <p:nvPr>
            <p:custDataLst>
              <p:tags r:id="rId4"/>
            </p:custDataLst>
          </p:nvPr>
        </p:nvSpPr>
        <p:spPr>
          <a:xfrm>
            <a:off x="1297304" y="3523615"/>
            <a:ext cx="6022037" cy="46228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lstStyle/>
          <a:p>
            <a:pPr algn="ctr" defTabSz="1450340">
              <a:lnSpc>
                <a:spcPct val="200000"/>
              </a:lnSpc>
            </a:pPr>
            <a:endParaRPr lang="zh-CN" altLang="en-US" sz="1200">
              <a:solidFill>
                <a:schemeClr val="bg1"/>
              </a:solidFill>
              <a:cs typeface="+mn-ea"/>
              <a:sym typeface="+mn-lt"/>
            </a:endParaRPr>
          </a:p>
        </p:txBody>
      </p:sp>
      <p:sp>
        <p:nvSpPr>
          <p:cNvPr id="6" name="原创设计师QQ598969553          _7"/>
          <p:cNvSpPr txBox="1"/>
          <p:nvPr>
            <p:custDataLst>
              <p:tags r:id="rId5"/>
            </p:custDataLst>
          </p:nvPr>
        </p:nvSpPr>
        <p:spPr>
          <a:xfrm>
            <a:off x="1153795" y="3573145"/>
            <a:ext cx="6381571" cy="398780"/>
          </a:xfrm>
          <a:prstGeom prst="rect">
            <a:avLst/>
          </a:prstGeom>
          <a:noFill/>
        </p:spPr>
        <p:txBody>
          <a:bodyPr wrap="square" rtlCol="0">
            <a:noAutofit/>
          </a:bodyPr>
          <a:lstStyle/>
          <a:p>
            <a:pPr algn="l" defTabSz="1216660">
              <a:spcBef>
                <a:spcPct val="20000"/>
              </a:spcBef>
              <a:defRPr/>
            </a:pPr>
            <a:r>
              <a:rPr lang="zh-CN" sz="1800" b="1" dirty="0">
                <a:solidFill>
                  <a:schemeClr val="bg1"/>
                </a:solidFill>
                <a:latin typeface="微软雅黑" panose="020B0503020204020204" pitchFamily="34" charset="-122"/>
                <a:ea typeface="微软雅黑" panose="020B0503020204020204" pitchFamily="34" charset="-122"/>
                <a:cs typeface="+mn-ea"/>
                <a:sym typeface="+mn-lt"/>
              </a:rPr>
              <a:t>(2) Set the scope of the Bean through annotations</a:t>
            </a:r>
            <a:endParaRPr sz="1800"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7" name="矩形 6"/>
          <p:cNvSpPr/>
          <p:nvPr>
            <p:custDataLst>
              <p:tags r:id="rId6"/>
            </p:custDataLst>
          </p:nvPr>
        </p:nvSpPr>
        <p:spPr>
          <a:xfrm>
            <a:off x="967740" y="2118995"/>
            <a:ext cx="10337800" cy="9277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3" name="矩形 12"/>
          <p:cNvSpPr/>
          <p:nvPr>
            <p:custDataLst>
              <p:tags r:id="rId7"/>
            </p:custDataLst>
          </p:nvPr>
        </p:nvSpPr>
        <p:spPr>
          <a:xfrm>
            <a:off x="879475" y="2151380"/>
            <a:ext cx="10478135" cy="8947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&lt;bean id="</a:t>
            </a:r>
            <a:r>
              <a:rPr lang="en-US" sz="1800" dirty="0" err="1">
                <a:latin typeface="Courier New" panose="02070309020205020404" pitchFamily="49" charset="0"/>
                <a:sym typeface="+mn-ea"/>
              </a:rPr>
              <a:t>userService</a:t>
            </a:r>
            <a:r>
              <a:rPr lang="en-US" sz="1800" dirty="0">
                <a:latin typeface="Courier New" panose="02070309020205020404" pitchFamily="49" charset="0"/>
                <a:sym typeface="+mn-ea"/>
              </a:rPr>
              <a:t>" class="</a:t>
            </a:r>
            <a:r>
              <a:rPr lang="en-US" sz="1800" dirty="0" err="1">
                <a:latin typeface="Courier New" panose="02070309020205020404" pitchFamily="49" charset="0"/>
                <a:sym typeface="+mn-ea"/>
              </a:rPr>
              <a:t>com.itheima.UserService</a:t>
            </a:r>
            <a:r>
              <a:rPr lang="en-US" sz="1800" dirty="0">
                <a:latin typeface="Courier New" panose="02070309020205020404" pitchFamily="49" charset="0"/>
                <a:sym typeface="+mn-ea"/>
              </a:rPr>
              <a:t>" </a:t>
            </a:r>
            <a:r>
              <a:rPr lang="en-US" sz="1800" dirty="0">
                <a:highlight>
                  <a:srgbClr val="FFFF00"/>
                </a:highlight>
                <a:latin typeface="Courier New" panose="02070309020205020404" pitchFamily="49" charset="0"/>
                <a:sym typeface="+mn-ea"/>
              </a:rPr>
              <a:t>scope="singleton"&gt;</a:t>
            </a:r>
          </a:p>
          <a:p>
            <a:pPr algn="l">
              <a:lnSpc>
                <a:spcPct val="130000"/>
              </a:lnSpc>
              <a:spcBef>
                <a:spcPts val="0"/>
              </a:spcBef>
              <a:spcAft>
                <a:spcPts val="0"/>
              </a:spcAft>
              <a:defRPr/>
            </a:pPr>
            <a:r>
              <a:rPr lang="en-US" sz="1800" dirty="0">
                <a:latin typeface="Courier New" panose="02070309020205020404" pitchFamily="49" charset="0"/>
                <a:sym typeface="+mn-ea"/>
              </a:rPr>
              <a:t> &lt;/bean&gt;</a:t>
            </a:r>
          </a:p>
        </p:txBody>
      </p:sp>
      <p:sp>
        <p:nvSpPr>
          <p:cNvPr id="10" name="矩形 9"/>
          <p:cNvSpPr/>
          <p:nvPr>
            <p:custDataLst>
              <p:tags r:id="rId8"/>
            </p:custDataLst>
          </p:nvPr>
        </p:nvSpPr>
        <p:spPr>
          <a:xfrm>
            <a:off x="1019810" y="4220845"/>
            <a:ext cx="10337800" cy="17449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9"/>
            </p:custDataLst>
          </p:nvPr>
        </p:nvSpPr>
        <p:spPr>
          <a:xfrm>
            <a:off x="931545" y="4253230"/>
            <a:ext cx="10478135" cy="8947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@Component</a:t>
            </a:r>
          </a:p>
          <a:p>
            <a:pPr algn="l">
              <a:lnSpc>
                <a:spcPct val="130000"/>
              </a:lnSpc>
              <a:spcBef>
                <a:spcPts val="0"/>
              </a:spcBef>
              <a:spcAft>
                <a:spcPts val="0"/>
              </a:spcAft>
              <a:defRPr/>
            </a:pPr>
            <a:r>
              <a:rPr lang="en-US" sz="1800" dirty="0">
                <a:latin typeface="Courier New" panose="02070309020205020404" pitchFamily="49" charset="0"/>
                <a:sym typeface="+mn-ea"/>
              </a:rPr>
              <a:t> @Scope</a:t>
            </a:r>
            <a:r>
              <a:rPr lang="en-US" sz="1800" dirty="0">
                <a:highlight>
                  <a:srgbClr val="FFFF00"/>
                </a:highlight>
                <a:latin typeface="Courier New" panose="02070309020205020404" pitchFamily="49" charset="0"/>
                <a:sym typeface="+mn-ea"/>
              </a:rPr>
              <a:t>("prototype")</a:t>
            </a:r>
          </a:p>
          <a:p>
            <a:pPr algn="l">
              <a:lnSpc>
                <a:spcPct val="130000"/>
              </a:lnSpc>
              <a:spcBef>
                <a:spcPts val="0"/>
              </a:spcBef>
              <a:spcAft>
                <a:spcPts val="0"/>
              </a:spcAft>
              <a:defRPr/>
            </a:pPr>
            <a:r>
              <a:rPr lang="en-US" sz="1800" dirty="0">
                <a:latin typeface="Courier New" panose="02070309020205020404" pitchFamily="49" charset="0"/>
                <a:sym typeface="+mn-ea"/>
              </a:rPr>
              <a:t> public class </a:t>
            </a:r>
            <a:r>
              <a:rPr lang="en-US" sz="1800" dirty="0" err="1">
                <a:latin typeface="Courier New" panose="02070309020205020404" pitchFamily="49" charset="0"/>
                <a:sym typeface="+mn-ea"/>
              </a:rPr>
              <a:t>MyBean</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05344" y="2922716"/>
            <a:ext cx="3888432" cy="476905"/>
            <a:chOff x="828484" y="1953384"/>
            <a:chExt cx="2780020" cy="476905"/>
          </a:xfrm>
        </p:grpSpPr>
        <p:sp>
          <p:nvSpPr>
            <p:cNvPr id="8" name="矩形: 圆角 6"/>
            <p:cNvSpPr/>
            <p:nvPr>
              <p:custDataLst>
                <p:tags r:id="rId4"/>
              </p:custDataLst>
            </p:nvPr>
          </p:nvSpPr>
          <p:spPr>
            <a:xfrm>
              <a:off x="955484" y="1968624"/>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828484" y="1953384"/>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Create the project</a:t>
              </a:r>
            </a:p>
          </p:txBody>
        </p:sp>
      </p:grpSp>
      <p:sp>
        <p:nvSpPr>
          <p:cNvPr id="5" name="文本框 4"/>
          <p:cNvSpPr txBox="1"/>
          <p:nvPr>
            <p:custDataLst>
              <p:tags r:id="rId1"/>
            </p:custDataLst>
          </p:nvPr>
        </p:nvSpPr>
        <p:spPr>
          <a:xfrm>
            <a:off x="950860" y="3648393"/>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Maven project named chapter02 in IDEA and introduce Spring framework-related dependencies in the project's pom.xml file.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The scope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custDataLst>
              <p:tags r:id="rId3"/>
            </p:custDataLst>
          </p:nvPr>
        </p:nvSpPr>
        <p:spPr>
          <a:xfrm>
            <a:off x="982980" y="1125220"/>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is an example of setting up the singleton and prototype scopes of a Bean in an annotation-based way to demonstrate the Settings and effects of Bean scopes.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66914" y="1105894"/>
            <a:ext cx="2780020" cy="476905"/>
            <a:chOff x="852276" y="1797999"/>
            <a:chExt cx="2780020" cy="476905"/>
          </a:xfrm>
        </p:grpSpPr>
        <p:sp>
          <p:nvSpPr>
            <p:cNvPr id="8"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Custom classes</a:t>
              </a:r>
            </a:p>
          </p:txBody>
        </p:sp>
      </p:grpSp>
      <p:grpSp>
        <p:nvGrpSpPr>
          <p:cNvPr id="14" name="组合 13"/>
          <p:cNvGrpSpPr/>
          <p:nvPr/>
        </p:nvGrpSpPr>
        <p:grpSpPr>
          <a:xfrm>
            <a:off x="5388978" y="3373232"/>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a:t>
              </a:r>
            </a:p>
            <a:p>
              <a:pPr algn="ctr"/>
              <a:r>
                <a:rPr sz="1800">
                  <a:sym typeface="+mn-ea"/>
                  <a:hlinkClick r:id="rId12"/>
                </a:rPr>
                <a:t>User.java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914" y="1801171"/>
            <a:ext cx="10196844" cy="1403392"/>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com.itheima.pojo package in the src/main/java directory of the chapter02 project, and customize the User class under this package as shown in file 2-1.</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The scope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31CD2286-EC4D-F364-2378-0FA6E6CCE2E0}"/>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pic>
        <p:nvPicPr>
          <p:cNvPr id="7" name="图形 6" descr="触控屏 纯色填充">
            <a:extLst>
              <a:ext uri="{FF2B5EF4-FFF2-40B4-BE49-F238E27FC236}">
                <a16:creationId xmlns:a16="http://schemas.microsoft.com/office/drawing/2014/main" id="{52099EA8-4D38-0507-B998-8D772EA1457F}"/>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828" y="5000955"/>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027074" y="1118950"/>
            <a:ext cx="4416967" cy="463849"/>
            <a:chOff x="952643" y="1811055"/>
            <a:chExt cx="2767965" cy="463849"/>
          </a:xfrm>
        </p:grpSpPr>
        <p:sp>
          <p:nvSpPr>
            <p:cNvPr id="8"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952643" y="1811055"/>
              <a:ext cx="2767965" cy="443865"/>
            </a:xfrm>
            <a:prstGeom prst="rect">
              <a:avLst/>
            </a:prstGeom>
            <a:noFill/>
          </p:spPr>
          <p:txBody>
            <a:bodyPr wrap="square" rtlCol="0">
              <a:normAutofit fontScale="78210" lnSpcReduction="2000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700" dirty="0">
                  <a:latin typeface="Arial" panose="020B0604020202020204" pitchFamily="34" charset="0"/>
                  <a:ea typeface="思源黑体 CN Normal" panose="020B0400000000000000" pitchFamily="34" charset="-122"/>
                  <a:sym typeface="Arial" panose="020B0604020202020204" pitchFamily="34" charset="0"/>
                </a:rPr>
                <a:t>(3) Create configuration </a:t>
              </a:r>
              <a:r>
                <a:rPr sz="2600" dirty="0">
                  <a:latin typeface="Arial" panose="020B0604020202020204" pitchFamily="34" charset="0"/>
                  <a:ea typeface="思源黑体 CN Normal" panose="020B0400000000000000" pitchFamily="34" charset="-122"/>
                  <a:sym typeface="Arial" panose="020B0604020202020204" pitchFamily="34" charset="0"/>
                </a:rPr>
                <a:t>classes</a:t>
              </a:r>
            </a:p>
          </p:txBody>
        </p:sp>
      </p:grpSp>
      <p:grpSp>
        <p:nvGrpSpPr>
          <p:cNvPr id="14" name="组合 13"/>
          <p:cNvGrpSpPr/>
          <p:nvPr/>
        </p:nvGrpSpPr>
        <p:grpSpPr>
          <a:xfrm>
            <a:off x="5388978" y="3373232"/>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2-2</a:t>
              </a:r>
            </a:p>
            <a:p>
              <a:pPr algn="ctr"/>
              <a:r>
                <a:rPr sz="1800" dirty="0">
                  <a:sym typeface="+mn-ea"/>
                  <a:hlinkClick r:id="rId12"/>
                </a:rPr>
                <a:t>AppConfig.java</a:t>
              </a:r>
              <a:endParaRPr sz="1800" dirty="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424" y="1606715"/>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com.itheima.config package in the src/main/java directory of the chapter02 project, and create the configuration class AppConfig under this package. Define methods in this configuration class to register beans, as shown in File 2-2.</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The scope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6103DE91-34C2-C569-E02B-21784CB664B6}"/>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84980" y="3264358"/>
            <a:ext cx="2232248" cy="2232248"/>
          </a:xfrm>
          <a:prstGeom prst="rect">
            <a:avLst/>
          </a:prstGeom>
        </p:spPr>
      </p:pic>
      <p:pic>
        <p:nvPicPr>
          <p:cNvPr id="7" name="图形 6" descr="触控屏 纯色填充">
            <a:extLst>
              <a:ext uri="{FF2B5EF4-FFF2-40B4-BE49-F238E27FC236}">
                <a16:creationId xmlns:a16="http://schemas.microsoft.com/office/drawing/2014/main" id="{FBBE67B1-4687-30D4-9F97-975C62CEE216}"/>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828" y="5000955"/>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66914" y="1105894"/>
            <a:ext cx="3250314" cy="476905"/>
            <a:chOff x="852276" y="1797999"/>
            <a:chExt cx="2780020" cy="476905"/>
          </a:xfrm>
        </p:grpSpPr>
        <p:sp>
          <p:nvSpPr>
            <p:cNvPr id="8" name="矩形: 圆角 6"/>
            <p:cNvSpPr/>
            <p:nvPr>
              <p:custDataLst>
                <p:tags r:id="rId8"/>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Define the test class</a:t>
              </a:r>
            </a:p>
          </p:txBody>
        </p:sp>
      </p:grpSp>
      <p:grpSp>
        <p:nvGrpSpPr>
          <p:cNvPr id="14" name="组合 13"/>
          <p:cNvGrpSpPr/>
          <p:nvPr/>
        </p:nvGrpSpPr>
        <p:grpSpPr>
          <a:xfrm>
            <a:off x="5807174" y="368310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Files 2-3</a:t>
              </a:r>
            </a:p>
            <a:p>
              <a:pPr algn="ctr"/>
              <a:r>
                <a:rPr sz="1800" dirty="0">
                  <a:sym typeface="+mn-ea"/>
                  <a:hlinkClick r:id="rId12"/>
                </a:rPr>
                <a:t>SpringApp.java</a:t>
              </a:r>
              <a:endParaRPr sz="1800" dirty="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866914" y="1656879"/>
            <a:ext cx="1070090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SpringApp in the com.itheima folder of the chapter02 project, define the main() method in the test class, load the AppConfig configuration file in the main() method to initialize the IoC container, Get two instances of User in the container for output and comparison, as shown in File 2-3.</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Scope of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B278C0BB-21C6-7F39-FD89-F7D8DAFF733B}"/>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66299" y="3683107"/>
            <a:ext cx="2232248" cy="2232248"/>
          </a:xfrm>
          <a:prstGeom prst="rect">
            <a:avLst/>
          </a:prstGeom>
        </p:spPr>
      </p:pic>
      <p:pic>
        <p:nvPicPr>
          <p:cNvPr id="19" name="图形 18" descr="触控屏 纯色填充">
            <a:extLst>
              <a:ext uri="{FF2B5EF4-FFF2-40B4-BE49-F238E27FC236}">
                <a16:creationId xmlns:a16="http://schemas.microsoft.com/office/drawing/2014/main" id="{63040C1D-3A4A-1939-10E7-CB157FF9664F}"/>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11383" y="5164826"/>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38586" y="1092804"/>
            <a:ext cx="2767965" cy="489995"/>
            <a:chOff x="923948" y="1784909"/>
            <a:chExt cx="2767965" cy="489995"/>
          </a:xfrm>
        </p:grpSpPr>
        <p:sp>
          <p:nvSpPr>
            <p:cNvPr id="8"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923948" y="1784909"/>
              <a:ext cx="2767965" cy="443865"/>
            </a:xfrm>
            <a:prstGeom prst="rect">
              <a:avLst/>
            </a:prstGeom>
            <a:noFill/>
          </p:spPr>
          <p:txBody>
            <a:bodyPr wrap="square" rtlCol="0">
              <a:normAutofit fontScale="93339" lnSpcReduction="1000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100" dirty="0">
                  <a:latin typeface="Arial" panose="020B0604020202020204" pitchFamily="34" charset="0"/>
                  <a:ea typeface="思源黑体 CN Normal" panose="020B0400000000000000" pitchFamily="34" charset="-122"/>
                  <a:sym typeface="Arial" panose="020B0604020202020204" pitchFamily="34" charset="0"/>
                </a:rPr>
                <a:t>(5) Test the effect</a:t>
              </a:r>
            </a:p>
          </p:txBody>
        </p:sp>
      </p:grpSp>
      <p:sp>
        <p:nvSpPr>
          <p:cNvPr id="5" name="文本框 4"/>
          <p:cNvSpPr txBox="1"/>
          <p:nvPr>
            <p:custDataLst>
              <p:tags r:id="rId1"/>
            </p:custDataLst>
          </p:nvPr>
        </p:nvSpPr>
        <p:spPr>
          <a:xfrm>
            <a:off x="954456" y="1846836"/>
            <a:ext cx="10295890" cy="506730"/>
          </a:xfrm>
          <a:prstGeom prst="rect">
            <a:avLst/>
          </a:prstGeom>
          <a:noFill/>
          <a:ln w="9525">
            <a:noFill/>
          </a:ln>
        </p:spPr>
        <p:txBody>
          <a:bodyPr wrap="square">
            <a:normAutofit fontScale="96088"/>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2-3 in IDEA, and the result is as shown in the following figure.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The scope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19">
            <a:extLst>
              <a:ext uri="{FF2B5EF4-FFF2-40B4-BE49-F238E27FC236}">
                <a16:creationId xmlns:a16="http://schemas.microsoft.com/office/drawing/2014/main" id="{BEBA5F14-F48C-9553-047C-2500DEFE8668}"/>
              </a:ext>
            </a:extLst>
          </p:cNvPr>
          <p:cNvPicPr>
            <a:picLocks noChangeAspect="1"/>
          </p:cNvPicPr>
          <p:nvPr>
            <p:custDataLst>
              <p:tags r:id="rId3"/>
            </p:custDataLst>
          </p:nvPr>
        </p:nvPicPr>
        <p:blipFill>
          <a:blip r:embed="rId8"/>
          <a:stretch>
            <a:fillRect/>
          </a:stretch>
        </p:blipFill>
        <p:spPr>
          <a:xfrm>
            <a:off x="2695597" y="2610424"/>
            <a:ext cx="6799218" cy="289566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66914" y="1105894"/>
            <a:ext cx="2780020" cy="476905"/>
            <a:chOff x="852276" y="1797999"/>
            <a:chExt cx="2780020" cy="476905"/>
          </a:xfrm>
        </p:grpSpPr>
        <p:sp>
          <p:nvSpPr>
            <p:cNvPr id="8" name="矩形: 圆角 6"/>
            <p:cNvSpPr/>
            <p:nvPr>
              <p:custDataLst>
                <p:tags r:id="rId4"/>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852276" y="1797999"/>
              <a:ext cx="2767965" cy="443865"/>
            </a:xfrm>
            <a:prstGeom prst="rect">
              <a:avLst/>
            </a:prstGeom>
            <a:noFill/>
          </p:spPr>
          <p:txBody>
            <a:bodyPr wrap="square" rtlCol="0">
              <a:normAutofit fontScale="93339"/>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(5) Test the effect</a:t>
              </a:r>
            </a:p>
          </p:txBody>
        </p:sp>
      </p:grpSp>
      <p:sp>
        <p:nvSpPr>
          <p:cNvPr id="5" name="文本框 4"/>
          <p:cNvSpPr txBox="1"/>
          <p:nvPr>
            <p:custDataLst>
              <p:tags r:id="rId1"/>
            </p:custDataLst>
          </p:nvPr>
        </p:nvSpPr>
        <p:spPr>
          <a:xfrm>
            <a:off x="993914" y="1757402"/>
            <a:ext cx="10295890" cy="961289"/>
          </a:xfrm>
          <a:prstGeom prst="rect">
            <a:avLst/>
          </a:prstGeom>
          <a:noFill/>
          <a:ln w="9525">
            <a:noFill/>
          </a:ln>
        </p:spPr>
        <p:txBody>
          <a:bodyPr wrap="square">
            <a:spAutoFit/>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Change @Scope("singleton") on line 8 of file 2-2 to @Scope("prototype"), and run file 2-3 again. The results are shown in the following figure.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90479"/>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 The scope of the Bean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147482605">
            <a:extLst>
              <a:ext uri="{FF2B5EF4-FFF2-40B4-BE49-F238E27FC236}">
                <a16:creationId xmlns:a16="http://schemas.microsoft.com/office/drawing/2014/main" id="{A4F8C141-34C6-BE84-B99F-EEAA13AD82F5}"/>
              </a:ext>
            </a:extLst>
          </p:cNvPr>
          <p:cNvPicPr>
            <a:picLocks noChangeAspect="1"/>
          </p:cNvPicPr>
          <p:nvPr>
            <p:custDataLst>
              <p:tags r:id="rId3"/>
            </p:custDataLst>
          </p:nvPr>
        </p:nvPicPr>
        <p:blipFill>
          <a:blip r:embed="rId8"/>
          <a:stretch>
            <a:fillRect/>
          </a:stretch>
        </p:blipFill>
        <p:spPr>
          <a:xfrm>
            <a:off x="2782838" y="2925738"/>
            <a:ext cx="5976664" cy="2995364"/>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normAutofit fontScale="94787"/>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Instantiation of Bean</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2.4</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custDataLst>
              <p:tags r:id="rId1"/>
            </p:custDataLst>
          </p:nvPr>
        </p:nvSpPr>
        <p:spPr>
          <a:xfrm>
            <a:off x="1198880" y="1701602"/>
            <a:ext cx="9794240" cy="3456383"/>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9" name="TextBox 38"/>
          <p:cNvSpPr txBox="1"/>
          <p:nvPr>
            <p:custDataLst>
              <p:tags r:id="rId2"/>
            </p:custDataLst>
          </p:nvPr>
        </p:nvSpPr>
        <p:spPr>
          <a:xfrm>
            <a:off x="1559664" y="1963202"/>
            <a:ext cx="9001125" cy="2978760"/>
          </a:xfrm>
          <a:prstGeom prst="rect">
            <a:avLst/>
          </a:prstGeom>
          <a:noFill/>
        </p:spPr>
        <p:txBody>
          <a:bodyPr wrap="square" lIns="0" tIns="0" rIns="0" bIns="0" rtlCol="0">
            <a:noAutofit/>
          </a:bodyPr>
          <a:lstStyle/>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In an object-oriented program, if you want to use an object, you need to instantiate it first. Likewise, in Spring, to use the Bean object in the container, you also need to instantiate the Bean. </a:t>
            </a:r>
            <a:r>
              <a:rPr lang="en-US" altLang="zh-CN" sz="2000" dirty="0" err="1">
                <a:solidFill>
                  <a:srgbClr val="0070C0"/>
                </a:solidFill>
                <a:latin typeface="微软雅黑" panose="020B0503020204020204" pitchFamily="34" charset="-122"/>
                <a:ea typeface="微软雅黑" panose="020B0503020204020204" pitchFamily="34" charset="-122"/>
                <a:sym typeface="+mn-lt"/>
              </a:rPr>
              <a:t>There are three ways to instantiate a Bean: constructor instantiation, static factory instantiation, and instance factory instantiation. This section explains how these three types of beans are instantiated.</a:t>
            </a:r>
          </a:p>
        </p:txBody>
      </p:sp>
      <p:sp>
        <p:nvSpPr>
          <p:cNvPr id="40" name="矩形 93"/>
          <p:cNvSpPr/>
          <p:nvPr>
            <p:custDataLst>
              <p:tags r:id="rId3"/>
            </p:custDataLst>
          </p:nvPr>
        </p:nvSpPr>
        <p:spPr>
          <a:xfrm>
            <a:off x="1143635" y="1609140"/>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0664190" y="4741579"/>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Title 1"/>
          <p:cNvSpPr txBox="1"/>
          <p:nvPr>
            <p:custDataLst>
              <p:tags r:id="rId5"/>
            </p:custDataLst>
          </p:nvPr>
        </p:nvSpPr>
        <p:spPr>
          <a:xfrm>
            <a:off x="1143635" y="266700"/>
            <a:ext cx="6576695" cy="506095"/>
          </a:xfrm>
          <a:prstGeom prst="rect">
            <a:avLst/>
          </a:prstGeom>
        </p:spPr>
        <p:txBody>
          <a:bodyPr lIns="0" tIns="60958" rIns="0" bIns="60958" anchor="ctr">
            <a:normAutofit fontScale="9428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 Instantiation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ABF92B3-CAD8-2DDD-92B5-8287C2A6B25D}"/>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rmAutofit fontScale="97638"/>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4.1 Constructor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322754" y="2844237"/>
            <a:ext cx="5445760" cy="1581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constructor instantiation and be able to instantiate beans using constructor methods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9081"/>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2.4.1 Constructor Instantiation</a:t>
            </a:r>
          </a:p>
        </p:txBody>
      </p:sp>
      <p:sp>
        <p:nvSpPr>
          <p:cNvPr id="3" name="TextBox 38"/>
          <p:cNvSpPr txBox="1"/>
          <p:nvPr>
            <p:custDataLst>
              <p:tags r:id="rId2"/>
            </p:custDataLst>
          </p:nvPr>
        </p:nvSpPr>
        <p:spPr>
          <a:xfrm>
            <a:off x="1063783" y="1845618"/>
            <a:ext cx="10062845" cy="2013585"/>
          </a:xfrm>
          <a:prstGeom prst="rect">
            <a:avLst/>
          </a:prstGeom>
          <a:noFill/>
        </p:spPr>
        <p:txBody>
          <a:bodyPr wrap="square" lIns="0" tIns="0" rIns="0" bIns="0" rtlCol="0">
            <a:noAutofit/>
          </a:bodyPr>
          <a:lstStyle/>
          <a:p>
            <a:pPr algn="just">
              <a:lnSpc>
                <a:spcPct val="150000"/>
              </a:lnSpc>
              <a:buClrTx/>
              <a:buSzTx/>
              <a:buFontTx/>
            </a:pPr>
            <a:r>
              <a:rPr dirty="0">
                <a:solidFill>
                  <a:srgbClr val="595959"/>
                </a:solidFill>
                <a:latin typeface="微软雅黑" panose="020B0503020204020204" pitchFamily="34" charset="-122"/>
                <a:ea typeface="微软雅黑" panose="020B0503020204020204" pitchFamily="34" charset="-122"/>
                <a:cs typeface="+mn-ea"/>
                <a:sym typeface="+mn-lt"/>
              </a:rPr>
              <a:t>Spring constructor instantiation refers to the process of creating and instantiating a Bean by calling the constructor of the corresponding class of the Bean when the Spring container starts.</a:t>
            </a:r>
            <a:r>
              <a:rPr dirty="0">
                <a:solidFill>
                  <a:schemeClr val="accent1"/>
                </a:solidFill>
                <a:latin typeface="微软雅黑" panose="020B0503020204020204" pitchFamily="34" charset="-122"/>
                <a:ea typeface="微软雅黑" panose="020B0503020204020204" pitchFamily="34" charset="-122"/>
                <a:cs typeface="+mn-ea"/>
                <a:sym typeface="+mn-lt"/>
              </a:rPr>
              <a:t> By default, Spring instantiates a Bean by invoking the parameterless constructor of the class, and developers can also specify which constructor of the class to instantiate the Bean when configuring the Bean.</a:t>
            </a:r>
            <a:endParaRPr lang="en-US" altLang="zh-CN" dirty="0" err="1">
              <a:solidFill>
                <a:srgbClr val="595959"/>
              </a:solidFill>
              <a:latin typeface="微软雅黑" panose="020B0503020204020204" pitchFamily="34" charset="-122"/>
              <a:ea typeface="微软雅黑" panose="020B0503020204020204" pitchFamily="34" charset="-122"/>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2528" y="2115770"/>
            <a:ext cx="8824407" cy="476885"/>
            <a:chOff x="597425" y="1797999"/>
            <a:chExt cx="4059352" cy="476885"/>
          </a:xfrm>
        </p:grpSpPr>
        <p:sp>
          <p:nvSpPr>
            <p:cNvPr id="8" name="矩形: 圆角 6"/>
            <p:cNvSpPr/>
            <p:nvPr>
              <p:custDataLst>
                <p:tags r:id="rId9"/>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10"/>
              </p:custDataLst>
            </p:nvPr>
          </p:nvSpPr>
          <p:spPr>
            <a:xfrm>
              <a:off x="597425" y="1797999"/>
              <a:ext cx="4059352" cy="443865"/>
            </a:xfrm>
            <a:prstGeom prst="rect">
              <a:avLst/>
            </a:prstGeom>
            <a:noFill/>
          </p:spPr>
          <p:txBody>
            <a:bodyPr wrap="square" rtlCol="0">
              <a:normAutofit fontScale="62702" lnSpcReduction="2000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3300" dirty="0">
                  <a:latin typeface="Arial" panose="020B0604020202020204" pitchFamily="34" charset="0"/>
                  <a:ea typeface="思源黑体 CN Normal" panose="020B0400000000000000" pitchFamily="34" charset="-122"/>
                  <a:sym typeface="Arial" panose="020B0604020202020204" pitchFamily="34" charset="0"/>
                </a:rPr>
                <a:t>(1) Create the configuration file and define the Bean</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6"/>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2-4</a:t>
              </a:r>
            </a:p>
            <a:p>
              <a:pPr algn="ctr"/>
              <a:r>
                <a:rPr sz="1800" dirty="0">
                  <a:sym typeface="+mn-ea"/>
                  <a:hlinkClick r:id="rId13"/>
                </a:rPr>
                <a:t> applicationContext.xml</a:t>
              </a:r>
              <a:endParaRPr sz="1800" dirty="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775" y="2529205"/>
            <a:ext cx="10295890" cy="1422954"/>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applicationContext.xml configuration file in the src/main/resources directory of the chapter02 project and define the Bean in the applicationContext.xml configuration file, as shown in file 2-4.</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67717"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2.4.1 Instantiation of the constructor</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custDataLst>
              <p:tags r:id="rId3"/>
            </p:custDataLst>
          </p:nvPr>
        </p:nvSpPr>
        <p:spPr>
          <a:xfrm>
            <a:off x="993775" y="1052830"/>
            <a:ext cx="1035685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instantiation of beans based on constructors using XML configuration files.</a:t>
            </a:r>
          </a:p>
        </p:txBody>
      </p:sp>
      <p:pic>
        <p:nvPicPr>
          <p:cNvPr id="7" name="图片 6" descr="图片包含 形状&#10;&#10;描述已自动生成">
            <a:extLst>
              <a:ext uri="{FF2B5EF4-FFF2-40B4-BE49-F238E27FC236}">
                <a16:creationId xmlns:a16="http://schemas.microsoft.com/office/drawing/2014/main" id="{99D44A7D-B59A-837F-0805-A8A7CFBEBF56}"/>
              </a:ext>
            </a:extLst>
          </p:cNvPr>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2087728" y="3987740"/>
            <a:ext cx="2232248" cy="2232248"/>
          </a:xfrm>
          <a:prstGeom prst="rect">
            <a:avLst/>
          </a:prstGeom>
        </p:spPr>
      </p:pic>
      <p:pic>
        <p:nvPicPr>
          <p:cNvPr id="10" name="图形 9" descr="触控屏 纯色填充">
            <a:extLst>
              <a:ext uri="{FF2B5EF4-FFF2-40B4-BE49-F238E27FC236}">
                <a16:creationId xmlns:a16="http://schemas.microsoft.com/office/drawing/2014/main" id="{4FB5FC4C-5CD4-9CB5-1134-5DD4563BFEBF}"/>
              </a:ext>
            </a:extLst>
          </p:cNvPr>
          <p:cNvPicPr>
            <a:picLocks noChangeAspect="1"/>
          </p:cNvPicPr>
          <p:nvPr>
            <p:custDataLst>
              <p:tags r:id="rId5"/>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23404" y="1249404"/>
            <a:ext cx="3566160" cy="476885"/>
            <a:chOff x="708766" y="1797999"/>
            <a:chExt cx="3566160" cy="476885"/>
          </a:xfrm>
        </p:grpSpPr>
        <p:sp>
          <p:nvSpPr>
            <p:cNvPr id="8"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708766" y="1797999"/>
              <a:ext cx="3554730" cy="443865"/>
            </a:xfrm>
            <a:prstGeom prst="rect">
              <a:avLst/>
            </a:prstGeom>
            <a:noFill/>
          </p:spPr>
          <p:txBody>
            <a:bodyPr wrap="square" rtlCol="0">
              <a:normAutofit fontScale="8750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200" dirty="0">
                  <a:latin typeface="Arial" panose="020B0604020202020204" pitchFamily="34" charset="0"/>
                  <a:ea typeface="思源黑体 CN Normal" panose="020B0400000000000000" pitchFamily="34" charset="-122"/>
                  <a:sym typeface="Arial" panose="020B0604020202020204" pitchFamily="34" charset="0"/>
                </a:rPr>
                <a:t>(2) Define the test class</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2-5</a:t>
              </a:r>
            </a:p>
            <a:p>
              <a:pPr algn="ctr"/>
              <a:r>
                <a:rPr sz="1800" dirty="0">
                  <a:sym typeface="+mn-ea"/>
                  <a:hlinkClick r:id="rId12"/>
                </a:rPr>
                <a:t>InstantiationTest.java</a:t>
              </a:r>
              <a:endParaRPr sz="1800" dirty="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47261" y="1823078"/>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InstantiationTest in the com.itheima folder of the chapter02 project, define the main() method in the test class, load the applicationContext.xml configuration file in the main() method to initialize the IoC container, And get the User instance in the container for output, the specific code is shown in file 2-5.</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6581"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2.4.1 Constructor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7651B488-3A53-2FBE-3691-D87C183A48B1}"/>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84980" y="3910153"/>
            <a:ext cx="2232248" cy="2232248"/>
          </a:xfrm>
          <a:prstGeom prst="rect">
            <a:avLst/>
          </a:prstGeom>
        </p:spPr>
      </p:pic>
      <p:pic>
        <p:nvPicPr>
          <p:cNvPr id="7" name="图形 6" descr="触控屏 纯色填充">
            <a:extLst>
              <a:ext uri="{FF2B5EF4-FFF2-40B4-BE49-F238E27FC236}">
                <a16:creationId xmlns:a16="http://schemas.microsoft.com/office/drawing/2014/main" id="{90AA4790-2284-2ECF-50DD-40F4714769F2}"/>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23404" y="1249404"/>
            <a:ext cx="3566160" cy="476885"/>
            <a:chOff x="708766" y="1797999"/>
            <a:chExt cx="3566160" cy="476885"/>
          </a:xfrm>
        </p:grpSpPr>
        <p:sp>
          <p:nvSpPr>
            <p:cNvPr id="8" name="矩形: 圆角 6"/>
            <p:cNvSpPr/>
            <p:nvPr>
              <p:custDataLst>
                <p:tags r:id="rId4"/>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Test the results</a:t>
              </a:r>
            </a:p>
          </p:txBody>
        </p:sp>
      </p:grpSp>
      <p:sp>
        <p:nvSpPr>
          <p:cNvPr id="5" name="文本框 4"/>
          <p:cNvSpPr txBox="1"/>
          <p:nvPr>
            <p:custDataLst>
              <p:tags r:id="rId1"/>
            </p:custDataLst>
          </p:nvPr>
        </p:nvSpPr>
        <p:spPr>
          <a:xfrm>
            <a:off x="993775" y="2026920"/>
            <a:ext cx="10295890" cy="506730"/>
          </a:xfrm>
          <a:prstGeom prst="rect">
            <a:avLst/>
          </a:prstGeom>
          <a:noFill/>
          <a:ln w="9525">
            <a:noFill/>
          </a:ln>
        </p:spPr>
        <p:txBody>
          <a:bodyPr wrap="square">
            <a:normAutofit fontScale="99609"/>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2-5 in IDEA and the results are as shown in the following figure.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6581"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2.4.1 Constructor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147482601">
            <a:extLst>
              <a:ext uri="{FF2B5EF4-FFF2-40B4-BE49-F238E27FC236}">
                <a16:creationId xmlns:a16="http://schemas.microsoft.com/office/drawing/2014/main" id="{83089E27-7314-3CE6-FF25-1A892AC35BE6}"/>
              </a:ext>
            </a:extLst>
          </p:cNvPr>
          <p:cNvPicPr>
            <a:picLocks noChangeAspect="1"/>
          </p:cNvPicPr>
          <p:nvPr>
            <p:custDataLst>
              <p:tags r:id="rId3"/>
            </p:custDataLst>
          </p:nvPr>
        </p:nvPicPr>
        <p:blipFill>
          <a:blip r:embed="rId8"/>
          <a:stretch>
            <a:fillRect/>
          </a:stretch>
        </p:blipFill>
        <p:spPr>
          <a:xfrm>
            <a:off x="3070543" y="2866708"/>
            <a:ext cx="6008419" cy="2898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23404" y="1249404"/>
            <a:ext cx="5587826" cy="476885"/>
            <a:chOff x="708766" y="1797999"/>
            <a:chExt cx="3566160" cy="476885"/>
          </a:xfrm>
        </p:grpSpPr>
        <p:sp>
          <p:nvSpPr>
            <p:cNvPr id="8"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Specify the constructor of the Bean</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2-6</a:t>
              </a:r>
            </a:p>
            <a:p>
              <a:pPr algn="ctr"/>
              <a:r>
                <a:rPr sz="1800">
                  <a:sym typeface="+mn-ea"/>
                  <a:hlinkClick r:id="rId12"/>
                </a:rPr>
                <a:t>applicationContext.xml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47261" y="1928253"/>
            <a:ext cx="10295890" cy="1596473"/>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User class contains two constructors, and the following configures the Bean in the way that specifies the constructor. Modify the information of the bean in the &lt;bean&gt; TAB in file 2-4 as shown in file 2-6.</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6581"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2.4.1 Constructor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FA0A22C8-35E4-B3EA-0453-0A7938A77B79}"/>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613124" y="3953402"/>
            <a:ext cx="2232248" cy="2232248"/>
          </a:xfrm>
          <a:prstGeom prst="rect">
            <a:avLst/>
          </a:prstGeom>
        </p:spPr>
      </p:pic>
      <p:pic>
        <p:nvPicPr>
          <p:cNvPr id="7" name="图形 6" descr="触控屏 纯色填充">
            <a:extLst>
              <a:ext uri="{FF2B5EF4-FFF2-40B4-BE49-F238E27FC236}">
                <a16:creationId xmlns:a16="http://schemas.microsoft.com/office/drawing/2014/main" id="{0437071A-AE23-69DE-DDBF-188E6FC97A8F}"/>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06574" y="1216660"/>
            <a:ext cx="8539902" cy="476885"/>
            <a:chOff x="637011" y="1797999"/>
            <a:chExt cx="4482688" cy="476885"/>
          </a:xfrm>
        </p:grpSpPr>
        <p:sp>
          <p:nvSpPr>
            <p:cNvPr id="8" name="矩形: 圆角 6"/>
            <p:cNvSpPr/>
            <p:nvPr>
              <p:custDataLst>
                <p:tags r:id="rId4"/>
              </p:custDataLst>
            </p:nvPr>
          </p:nvSpPr>
          <p:spPr>
            <a:xfrm>
              <a:off x="979276" y="1813239"/>
              <a:ext cx="3662045"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637011" y="1797999"/>
              <a:ext cx="4482688"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(5) Test the effect of the specified constructor instantiation</a:t>
              </a:r>
            </a:p>
          </p:txBody>
        </p:sp>
      </p:grpSp>
      <p:sp>
        <p:nvSpPr>
          <p:cNvPr id="5" name="文本框 4"/>
          <p:cNvSpPr txBox="1"/>
          <p:nvPr>
            <p:custDataLst>
              <p:tags r:id="rId1"/>
            </p:custDataLst>
          </p:nvPr>
        </p:nvSpPr>
        <p:spPr>
          <a:xfrm>
            <a:off x="1058618" y="1935945"/>
            <a:ext cx="10295890" cy="506730"/>
          </a:xfrm>
          <a:prstGeom prst="rect">
            <a:avLst/>
          </a:prstGeom>
          <a:noFill/>
          <a:ln w="9525">
            <a:noFill/>
          </a:ln>
        </p:spPr>
        <p:txBody>
          <a:bodyPr wrap="square">
            <a:normAutofit fontScale="99609"/>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2-5 in IDEA and the results are as shown in the following figure.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6581"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2.4.1 Constructor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147482600">
            <a:extLst>
              <a:ext uri="{FF2B5EF4-FFF2-40B4-BE49-F238E27FC236}">
                <a16:creationId xmlns:a16="http://schemas.microsoft.com/office/drawing/2014/main" id="{B157738A-0F22-42B4-B5DA-953CC7BE0FFB}"/>
              </a:ext>
            </a:extLst>
          </p:cNvPr>
          <p:cNvPicPr>
            <a:picLocks noChangeAspect="1"/>
          </p:cNvPicPr>
          <p:nvPr>
            <p:custDataLst>
              <p:tags r:id="rId3"/>
            </p:custDataLst>
          </p:nvPr>
        </p:nvPicPr>
        <p:blipFill>
          <a:blip r:embed="rId8"/>
          <a:stretch>
            <a:fillRect/>
          </a:stretch>
        </p:blipFill>
        <p:spPr>
          <a:xfrm>
            <a:off x="3072765" y="2867025"/>
            <a:ext cx="6044850" cy="29088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99FD553-F707-CD33-0235-686DE6CC08D1}"/>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rmAutofit fontScale="93689"/>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4.2 Static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318622" y="2866926"/>
            <a:ext cx="544576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static factory instantiation and be able to instantiate beans in the static factory way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3689"/>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4.2 Static Factory Instantiation</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8"/>
          <p:cNvSpPr txBox="1"/>
          <p:nvPr>
            <p:custDataLst>
              <p:tags r:id="rId2"/>
            </p:custDataLst>
          </p:nvPr>
        </p:nvSpPr>
        <p:spPr>
          <a:xfrm>
            <a:off x="442578" y="753041"/>
            <a:ext cx="11305255" cy="4210685"/>
          </a:xfrm>
          <a:prstGeom prst="rect">
            <a:avLst/>
          </a:prstGeom>
          <a:noFill/>
        </p:spPr>
        <p:txBody>
          <a:bodyPr wrap="square" lIns="0" tIns="0" rIns="0" bIns="0" rtlCol="0">
            <a:noAutofit/>
          </a:bodyPr>
          <a:lstStyle/>
          <a:p>
            <a:pPr algn="just">
              <a:lnSpc>
                <a:spcPct val="150000"/>
              </a:lnSpc>
              <a:buClrTx/>
              <a:buSzTx/>
              <a:buFontTx/>
            </a:pPr>
            <a:r>
              <a:rPr sz="2000" dirty="0">
                <a:solidFill>
                  <a:srgbClr val="595959"/>
                </a:solidFill>
                <a:latin typeface="微软雅黑" panose="020B0503020204020204" pitchFamily="34" charset="-122"/>
                <a:ea typeface="微软雅黑" panose="020B0503020204020204" pitchFamily="34" charset="-122"/>
                <a:sym typeface="+mn-lt"/>
              </a:rPr>
              <a:t>A static factory is a </a:t>
            </a:r>
            <a:r>
              <a:rPr sz="2000" dirty="0">
                <a:solidFill>
                  <a:schemeClr val="accent1"/>
                </a:solidFill>
                <a:highlight>
                  <a:srgbClr val="FFFF00"/>
                </a:highlight>
                <a:latin typeface="微软雅黑" panose="020B0503020204020204" pitchFamily="34" charset="-122"/>
                <a:ea typeface="微软雅黑" panose="020B0503020204020204" pitchFamily="34" charset="-122"/>
                <a:cs typeface="+mn-ea"/>
                <a:sym typeface="+mn-lt"/>
              </a:rPr>
              <a:t>design pattern for creating object instances</a:t>
            </a:r>
            <a:r>
              <a:rPr sz="2000" dirty="0">
                <a:solidFill>
                  <a:srgbClr val="595959"/>
                </a:solidFill>
                <a:latin typeface="微软雅黑" panose="020B0503020204020204" pitchFamily="34" charset="-122"/>
                <a:ea typeface="微软雅黑" panose="020B0503020204020204" pitchFamily="34" charset="-122"/>
                <a:sym typeface="+mn-lt"/>
              </a:rPr>
              <a:t>, which generates object instances by defining static methods in a class. In a static factory, users can make logical judgments within methods as needed to achieve a customized way of object creation, thus having greater flexibility and control. </a:t>
            </a:r>
            <a:r>
              <a:rPr sz="2000" dirty="0">
                <a:solidFill>
                  <a:schemeClr val="accent1"/>
                </a:solidFill>
                <a:highlight>
                  <a:srgbClr val="FFFF00"/>
                </a:highlight>
                <a:latin typeface="微软雅黑" panose="020B0503020204020204" pitchFamily="34" charset="-122"/>
                <a:ea typeface="微软雅黑" panose="020B0503020204020204" pitchFamily="34" charset="-122"/>
                <a:cs typeface="+mn-ea"/>
                <a:sym typeface="+mn-lt"/>
              </a:rPr>
              <a:t>In addition, the static factory is designed to hide the specific implementation details of the object, so that external callers only need to focus on how to obtain the object instance without having to understand the implementation details. </a:t>
            </a:r>
            <a:r>
              <a:rPr sz="2000" dirty="0">
                <a:solidFill>
                  <a:srgbClr val="595959"/>
                </a:solidFill>
                <a:latin typeface="微软雅黑" panose="020B0503020204020204" pitchFamily="34" charset="-122"/>
                <a:ea typeface="微软雅黑" panose="020B0503020204020204" pitchFamily="34" charset="-122"/>
                <a:sym typeface="+mn-lt"/>
              </a:rPr>
              <a:t>This encapsulation feature helps to reduce coupling and improve the maintainability and readability of the code.</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When instantiating a Bean using the static factory approach, developers need to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define a static factory class and write static methods within it to create instances of the Bean. </a:t>
            </a:r>
            <a:r>
              <a:rPr lang="en-US" altLang="zh-CN" sz="2000" dirty="0" err="1">
                <a:solidFill>
                  <a:srgbClr val="595959"/>
                </a:solidFill>
                <a:latin typeface="微软雅黑" panose="020B0503020204020204" pitchFamily="34" charset="-122"/>
                <a:ea typeface="微软雅黑" panose="020B0503020204020204" pitchFamily="34" charset="-122"/>
                <a:sym typeface="+mn-lt"/>
              </a:rPr>
              <a:t>The class attribute of the &lt;bean&gt; tag in the bean configuration file should specify the static factory class, and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use the factory-method attribute of the &lt;bean&gt; tag to specify the specific static methods used to create the Bean in the static factory class.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C30D1-EF26-883C-F375-E67C51558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FFE3-72DE-E1C6-89AD-481993399630}"/>
              </a:ext>
            </a:extLst>
          </p:cNvPr>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4.2 Static Factory Instantiation</a:t>
            </a:r>
            <a:endParaRPr 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a:extLst>
              <a:ext uri="{FF2B5EF4-FFF2-40B4-BE49-F238E27FC236}">
                <a16:creationId xmlns:a16="http://schemas.microsoft.com/office/drawing/2014/main" id="{A76CBF78-081A-0EEF-19A7-FAB8D13B533E}"/>
              </a:ext>
            </a:extLst>
          </p:cNvPr>
          <p:cNvSpPr txBox="1"/>
          <p:nvPr/>
        </p:nvSpPr>
        <p:spPr>
          <a:xfrm>
            <a:off x="676604" y="1125538"/>
            <a:ext cx="10837204" cy="2554545"/>
          </a:xfrm>
          <a:prstGeom prst="rect">
            <a:avLst/>
          </a:prstGeom>
          <a:noFill/>
        </p:spPr>
        <p:txBody>
          <a:bodyPr wrap="square" rtlCol="0">
            <a:spAutoFit/>
          </a:bodyPr>
          <a:lstStyle/>
          <a:p>
            <a:r>
              <a:rPr lang="en-US" sz="2000" dirty="0">
                <a:solidFill>
                  <a:srgbClr val="595959"/>
                </a:solidFill>
                <a:latin typeface="微软雅黑" panose="020B0503020204020204" pitchFamily="34" charset="-122"/>
                <a:ea typeface="微软雅黑" panose="020B0503020204020204" pitchFamily="34" charset="-122"/>
              </a:rPr>
              <a:t>In software development, a design pattern is a reusable classic solution summarized for a category of repeatedly occurring problems.</a:t>
            </a:r>
          </a:p>
          <a:p>
            <a:r>
              <a:rPr lang="en-US" sz="2000" dirty="0">
                <a:solidFill>
                  <a:srgbClr val="595959"/>
                </a:solidFill>
                <a:highlight>
                  <a:srgbClr val="FFFF00"/>
                </a:highlight>
                <a:latin typeface="微软雅黑" panose="020B0503020204020204" pitchFamily="34" charset="-122"/>
                <a:ea typeface="微软雅黑" panose="020B0503020204020204" pitchFamily="34" charset="-122"/>
              </a:rPr>
              <a:t>It is not a fixed piece of code</a:t>
            </a:r>
            <a:r>
              <a:rPr lang="en-US" sz="2000" dirty="0">
                <a:solidFill>
                  <a:srgbClr val="595959"/>
                </a:solidFill>
                <a:latin typeface="微软雅黑" panose="020B0503020204020204" pitchFamily="34" charset="-122"/>
                <a:ea typeface="微软雅黑" panose="020B0503020204020204" pitchFamily="34" charset="-122"/>
              </a:rPr>
              <a:t>, but rather a design idea, structural template, and collaboration approach.</a:t>
            </a:r>
          </a:p>
          <a:p>
            <a:r>
              <a:rPr lang="en-US" sz="2000" dirty="0">
                <a:solidFill>
                  <a:srgbClr val="595959"/>
                </a:solidFill>
                <a:latin typeface="微软雅黑" panose="020B0503020204020204" pitchFamily="34" charset="-122"/>
                <a:ea typeface="微软雅黑" panose="020B0503020204020204" pitchFamily="34" charset="-122"/>
              </a:rPr>
              <a:t>The static factory is a design idea for object creation:</a:t>
            </a:r>
          </a:p>
          <a:p>
            <a:r>
              <a:rPr lang="en-US" sz="2000" dirty="0">
                <a:solidFill>
                  <a:srgbClr val="595959"/>
                </a:solidFill>
                <a:highlight>
                  <a:srgbClr val="FFFF00"/>
                </a:highlight>
                <a:latin typeface="微软雅黑" panose="020B0503020204020204" pitchFamily="34" charset="-122"/>
                <a:ea typeface="微软雅黑" panose="020B0503020204020204" pitchFamily="34" charset="-122"/>
              </a:rPr>
              <a:t>Instead of directly using new to create an object, the object is created through a factory method.</a:t>
            </a:r>
          </a:p>
          <a:p>
            <a:r>
              <a:rPr lang="en-US" sz="2000" dirty="0">
                <a:solidFill>
                  <a:srgbClr val="595959"/>
                </a:solidFill>
                <a:latin typeface="微软雅黑" panose="020B0503020204020204" pitchFamily="34" charset="-122"/>
                <a:ea typeface="微软雅黑" panose="020B0503020204020204" pitchFamily="34" charset="-122"/>
              </a:rPr>
              <a:t>The 23 design patterns of </a:t>
            </a:r>
            <a:r>
              <a:rPr lang="en-US" sz="2000" dirty="0" err="1">
                <a:solidFill>
                  <a:srgbClr val="595959"/>
                </a:solidFill>
                <a:latin typeface="微软雅黑" panose="020B0503020204020204" pitchFamily="34" charset="-122"/>
                <a:ea typeface="微软雅黑" panose="020B0503020204020204" pitchFamily="34" charset="-122"/>
              </a:rPr>
              <a:t>GoF</a:t>
            </a:r>
            <a:r>
              <a:rPr lang="en-US" sz="2000" dirty="0">
                <a:solidFill>
                  <a:srgbClr val="595959"/>
                </a:solidFill>
                <a:latin typeface="微软雅黑" panose="020B0503020204020204" pitchFamily="34" charset="-122"/>
                <a:ea typeface="微软雅黑" panose="020B0503020204020204" pitchFamily="34" charset="-122"/>
              </a:rPr>
              <a:t> are generally divided into three categories:</a:t>
            </a:r>
          </a:p>
        </p:txBody>
      </p:sp>
      <p:graphicFrame>
        <p:nvGraphicFramePr>
          <p:cNvPr id="5" name="表格 4">
            <a:extLst>
              <a:ext uri="{FF2B5EF4-FFF2-40B4-BE49-F238E27FC236}">
                <a16:creationId xmlns:a16="http://schemas.microsoft.com/office/drawing/2014/main" id="{57E3B9AC-FEFD-B28D-A7E5-957CAE7D10C2}"/>
              </a:ext>
            </a:extLst>
          </p:cNvPr>
          <p:cNvGraphicFramePr>
            <a:graphicFrameLocks noGrp="1"/>
          </p:cNvGraphicFramePr>
          <p:nvPr>
            <p:extLst>
              <p:ext uri="{D42A27DB-BD31-4B8C-83A1-F6EECF244321}">
                <p14:modId xmlns:p14="http://schemas.microsoft.com/office/powerpoint/2010/main" val="2733444716"/>
              </p:ext>
            </p:extLst>
          </p:nvPr>
        </p:nvGraphicFramePr>
        <p:xfrm>
          <a:off x="676604" y="3861842"/>
          <a:ext cx="10837204" cy="2286893"/>
        </p:xfrm>
        <a:graphic>
          <a:graphicData uri="http://schemas.openxmlformats.org/drawingml/2006/table">
            <a:tbl>
              <a:tblPr firstRow="1" bandRow="1">
                <a:tableStyleId>{5C22544A-7EE6-4342-B048-85BDC9FD1C3A}</a:tableStyleId>
              </a:tblPr>
              <a:tblGrid>
                <a:gridCol w="2412268">
                  <a:extLst>
                    <a:ext uri="{9D8B030D-6E8A-4147-A177-3AD203B41FA5}">
                      <a16:colId xmlns:a16="http://schemas.microsoft.com/office/drawing/2014/main" val="2653370440"/>
                    </a:ext>
                  </a:extLst>
                </a:gridCol>
                <a:gridCol w="8424936">
                  <a:extLst>
                    <a:ext uri="{9D8B030D-6E8A-4147-A177-3AD203B41FA5}">
                      <a16:colId xmlns:a16="http://schemas.microsoft.com/office/drawing/2014/main" val="2320013762"/>
                    </a:ext>
                  </a:extLst>
                </a:gridCol>
              </a:tblGrid>
              <a:tr h="687771">
                <a:tc>
                  <a:txBody>
                    <a:bodyPr/>
                    <a:lstStyle/>
                    <a:p>
                      <a:r>
                        <a:rPr lang="en-US" sz="1800" dirty="0"/>
                        <a:t>Creational Patterns</a:t>
                      </a:r>
                    </a:p>
                  </a:txBody>
                  <a:tcPr/>
                </a:tc>
                <a:tc>
                  <a:txBody>
                    <a:bodyPr/>
                    <a:lstStyle/>
                    <a:p>
                      <a:r>
                        <a:rPr lang="en-US" sz="1800" b="1" dirty="0"/>
                        <a:t>Singleton</a:t>
                      </a:r>
                      <a:r>
                        <a:rPr lang="en-US" altLang="zh-CN" sz="1800" dirty="0"/>
                        <a:t>,</a:t>
                      </a:r>
                      <a:r>
                        <a:rPr lang="en-US" sz="1800" b="1" dirty="0"/>
                        <a:t> Factory Method</a:t>
                      </a:r>
                      <a:r>
                        <a:rPr lang="en-US" sz="1800" dirty="0"/>
                        <a:t>,</a:t>
                      </a:r>
                      <a:r>
                        <a:rPr lang="en-US" sz="1800" b="1" dirty="0"/>
                        <a:t> Abstract Factory</a:t>
                      </a:r>
                      <a:r>
                        <a:rPr lang="en-US" sz="1800" dirty="0"/>
                        <a:t>,</a:t>
                      </a:r>
                      <a:r>
                        <a:rPr lang="en-US" sz="1800" b="1" dirty="0"/>
                        <a:t> Builder</a:t>
                      </a:r>
                      <a:r>
                        <a:rPr lang="en-US" sz="1800" dirty="0"/>
                        <a:t>,</a:t>
                      </a:r>
                      <a:r>
                        <a:rPr lang="en-US" sz="1800" b="1" dirty="0"/>
                        <a:t> Prototype</a:t>
                      </a:r>
                      <a:endParaRPr lang="en-US" sz="1800" dirty="0"/>
                    </a:p>
                  </a:txBody>
                  <a:tcPr/>
                </a:tc>
                <a:extLst>
                  <a:ext uri="{0D108BD9-81ED-4DB2-BD59-A6C34878D82A}">
                    <a16:rowId xmlns:a16="http://schemas.microsoft.com/office/drawing/2014/main" val="1723059788"/>
                  </a:ext>
                </a:extLst>
              </a:tr>
              <a:tr h="789032">
                <a:tc>
                  <a:txBody>
                    <a:bodyPr/>
                    <a:lstStyle/>
                    <a:p>
                      <a:r>
                        <a:rPr lang="en-US" sz="1800" dirty="0"/>
                        <a:t>Structural Patterns</a:t>
                      </a:r>
                    </a:p>
                  </a:txBody>
                  <a:tcPr/>
                </a:tc>
                <a:tc>
                  <a:txBody>
                    <a:bodyPr/>
                    <a:lstStyle/>
                    <a:p>
                      <a:r>
                        <a:rPr lang="fr-FR" sz="1800" kern="1200" dirty="0">
                          <a:solidFill>
                            <a:schemeClr val="dk1"/>
                          </a:solidFill>
                          <a:latin typeface="+mn-lt"/>
                          <a:ea typeface="+mn-ea"/>
                          <a:cs typeface="+mn-cs"/>
                        </a:rPr>
                        <a:t>Adapter,</a:t>
                      </a:r>
                      <a:r>
                        <a:rPr lang="en-US" sz="1800" kern="1200" dirty="0">
                          <a:solidFill>
                            <a:schemeClr val="dk1"/>
                          </a:solidFill>
                          <a:latin typeface="+mn-lt"/>
                          <a:ea typeface="+mn-ea"/>
                          <a:cs typeface="+mn-cs"/>
                        </a:rPr>
                        <a:t> Bridge</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Composite</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Decorator</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Facade</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Flyweight</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Proxy</a:t>
                      </a:r>
                    </a:p>
                  </a:txBody>
                  <a:tcPr/>
                </a:tc>
                <a:extLst>
                  <a:ext uri="{0D108BD9-81ED-4DB2-BD59-A6C34878D82A}">
                    <a16:rowId xmlns:a16="http://schemas.microsoft.com/office/drawing/2014/main" val="686730034"/>
                  </a:ext>
                </a:extLst>
              </a:tr>
              <a:tr h="810090">
                <a:tc>
                  <a:txBody>
                    <a:bodyPr/>
                    <a:lstStyle/>
                    <a:p>
                      <a:r>
                        <a:rPr lang="en-US" sz="1800" dirty="0"/>
                        <a:t>Behavioral Patterns</a:t>
                      </a:r>
                    </a:p>
                  </a:txBody>
                  <a:tcPr/>
                </a:tc>
                <a:tc>
                  <a:txBody>
                    <a:bodyPr/>
                    <a:lstStyle/>
                    <a:p>
                      <a:r>
                        <a:rPr lang="en-US" sz="1800" kern="1200" dirty="0">
                          <a:solidFill>
                            <a:schemeClr val="dk1"/>
                          </a:solidFill>
                          <a:latin typeface="+mn-lt"/>
                          <a:ea typeface="+mn-ea"/>
                          <a:cs typeface="+mn-cs"/>
                        </a:rPr>
                        <a:t>Observer</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Strategy</a:t>
                      </a:r>
                      <a:r>
                        <a:rPr lang="en-US" altLang="zh-CN" sz="1800" kern="1200" dirty="0">
                          <a:solidFill>
                            <a:schemeClr val="dk1"/>
                          </a:solidFill>
                          <a:latin typeface="+mn-lt"/>
                          <a:ea typeface="+mn-ea"/>
                          <a:cs typeface="+mn-cs"/>
                        </a:rPr>
                        <a:t>,</a:t>
                      </a:r>
                      <a:r>
                        <a:rPr lang="fr-FR" sz="1800" kern="1200" dirty="0">
                          <a:solidFill>
                            <a:schemeClr val="dk1"/>
                          </a:solidFill>
                          <a:latin typeface="+mn-lt"/>
                          <a:ea typeface="+mn-ea"/>
                          <a:cs typeface="+mn-cs"/>
                        </a:rPr>
                        <a:t> Command,</a:t>
                      </a:r>
                      <a:r>
                        <a:rPr lang="en-US" sz="1800" kern="1200" dirty="0">
                          <a:solidFill>
                            <a:schemeClr val="dk1"/>
                          </a:solidFill>
                          <a:latin typeface="+mn-lt"/>
                          <a:ea typeface="+mn-ea"/>
                          <a:cs typeface="+mn-cs"/>
                        </a:rPr>
                        <a:t> State</a:t>
                      </a:r>
                      <a:r>
                        <a:rPr lang="en-US" altLang="zh-CN" sz="1800" kern="1200" dirty="0">
                          <a:solidFill>
                            <a:schemeClr val="dk1"/>
                          </a:solidFill>
                          <a:latin typeface="+mn-lt"/>
                          <a:ea typeface="+mn-ea"/>
                          <a:cs typeface="+mn-cs"/>
                        </a:rPr>
                        <a:t>,</a:t>
                      </a:r>
                      <a:r>
                        <a:rPr lang="en-US" sz="1800" kern="1200" dirty="0">
                          <a:solidFill>
                            <a:schemeClr val="dk1"/>
                          </a:solidFill>
                          <a:latin typeface="+mn-lt"/>
                          <a:ea typeface="+mn-ea"/>
                          <a:cs typeface="+mn-cs"/>
                        </a:rPr>
                        <a:t> Template Method</a:t>
                      </a:r>
                      <a:r>
                        <a:rPr lang="en-US" altLang="zh-CN" sz="1800" kern="1200" dirty="0">
                          <a:solidFill>
                            <a:schemeClr val="dk1"/>
                          </a:solidFill>
                          <a:latin typeface="+mn-lt"/>
                          <a:ea typeface="+mn-ea"/>
                          <a:cs typeface="+mn-cs"/>
                        </a:rPr>
                        <a:t>…</a:t>
                      </a:r>
                      <a:endParaRPr lang="en-US" sz="1800" kern="1200" dirty="0">
                        <a:solidFill>
                          <a:schemeClr val="dk1"/>
                        </a:solidFill>
                        <a:latin typeface="+mn-lt"/>
                        <a:ea typeface="+mn-ea"/>
                        <a:cs typeface="+mn-cs"/>
                      </a:endParaRPr>
                    </a:p>
                  </a:txBody>
                  <a:tcPr/>
                </a:tc>
                <a:extLst>
                  <a:ext uri="{0D108BD9-81ED-4DB2-BD59-A6C34878D82A}">
                    <a16:rowId xmlns:a16="http://schemas.microsoft.com/office/drawing/2014/main" val="2418230782"/>
                  </a:ext>
                </a:extLst>
              </a:tr>
            </a:tbl>
          </a:graphicData>
        </a:graphic>
      </p:graphicFrame>
    </p:spTree>
    <p:extLst>
      <p:ext uri="{BB962C8B-B14F-4D97-AF65-F5344CB8AC3E}">
        <p14:creationId xmlns:p14="http://schemas.microsoft.com/office/powerpoint/2010/main" val="32428851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66614" y="1999918"/>
            <a:ext cx="3566160" cy="476885"/>
            <a:chOff x="708766" y="1797999"/>
            <a:chExt cx="3566160" cy="476885"/>
          </a:xfrm>
        </p:grpSpPr>
        <p:sp>
          <p:nvSpPr>
            <p:cNvPr id="8" name="矩形: 圆角 6"/>
            <p:cNvSpPr/>
            <p:nvPr>
              <p:custDataLst>
                <p:tags r:id="rId9"/>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10"/>
              </p:custDataLst>
            </p:nvPr>
          </p:nvSpPr>
          <p:spPr>
            <a:xfrm>
              <a:off x="708766" y="1797999"/>
              <a:ext cx="3554730" cy="443865"/>
            </a:xfrm>
            <a:prstGeom prst="rect">
              <a:avLst/>
            </a:prstGeom>
            <a:noFill/>
          </p:spPr>
          <p:txBody>
            <a:bodyPr wrap="square" rtlCol="0">
              <a:normAutofit fontScale="98092"/>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(1) Define the factory class</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6"/>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2-7</a:t>
              </a:r>
            </a:p>
            <a:p>
              <a:pPr algn="ctr"/>
              <a:r>
                <a:rPr sz="1800">
                  <a:sym typeface="+mn-ea"/>
                  <a:hlinkClick r:id="rId13"/>
                </a:rPr>
                <a:t>UserStaticFactory.java</a:t>
              </a:r>
              <a:endParaRPr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775" y="2529205"/>
            <a:ext cx="10295890" cy="1337945"/>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com.itheima.factory package under the chapter02 project, create a static factory class UserStaticFactory in this package, and define a static method createUser() in this class to create an instance of User and return it. The code for the UserStaticFactory class is shown in File 2-7.</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118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4.2 Static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custDataLst>
              <p:tags r:id="rId3"/>
            </p:custDataLst>
          </p:nvPr>
        </p:nvSpPr>
        <p:spPr>
          <a:xfrm>
            <a:off x="993775" y="1052830"/>
            <a:ext cx="10356850" cy="506730"/>
          </a:xfrm>
          <a:prstGeom prst="rect">
            <a:avLst/>
          </a:prstGeom>
          <a:noFill/>
          <a:ln w="9525">
            <a:noFill/>
          </a:ln>
        </p:spPr>
        <p:txBody>
          <a:bodyPr wrap="square">
            <a:noAutofit/>
          </a:bodyPr>
          <a:lstStyle/>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how to instantiate beans using the static factory approach through a case.</a:t>
            </a:r>
          </a:p>
        </p:txBody>
      </p:sp>
      <p:pic>
        <p:nvPicPr>
          <p:cNvPr id="7" name="图片 6" descr="图片包含 形状&#10;&#10;描述已自动生成">
            <a:extLst>
              <a:ext uri="{FF2B5EF4-FFF2-40B4-BE49-F238E27FC236}">
                <a16:creationId xmlns:a16="http://schemas.microsoft.com/office/drawing/2014/main" id="{B16357E5-5E83-43CF-3165-81AD73215C46}"/>
              </a:ext>
            </a:extLst>
          </p:cNvPr>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2680930" y="3987740"/>
            <a:ext cx="2232248" cy="2232248"/>
          </a:xfrm>
          <a:prstGeom prst="rect">
            <a:avLst/>
          </a:prstGeom>
        </p:spPr>
      </p:pic>
      <p:pic>
        <p:nvPicPr>
          <p:cNvPr id="10" name="图形 9" descr="触控屏 纯色填充">
            <a:extLst>
              <a:ext uri="{FF2B5EF4-FFF2-40B4-BE49-F238E27FC236}">
                <a16:creationId xmlns:a16="http://schemas.microsoft.com/office/drawing/2014/main" id="{8DF0804D-482E-D640-D0F4-17C253F898BA}"/>
              </a:ext>
            </a:extLst>
          </p:cNvPr>
          <p:cNvPicPr>
            <a:picLocks noChangeAspect="1"/>
          </p:cNvPicPr>
          <p:nvPr>
            <p:custDataLst>
              <p:tags r:id="rId5"/>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896633" y="1307608"/>
            <a:ext cx="5121346" cy="478505"/>
            <a:chOff x="849736" y="1796379"/>
            <a:chExt cx="3554730" cy="478505"/>
          </a:xfrm>
        </p:grpSpPr>
        <p:sp>
          <p:nvSpPr>
            <p:cNvPr id="8"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849736" y="179637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Configure the static factory</a:t>
              </a:r>
            </a:p>
          </p:txBody>
        </p:sp>
      </p:grpSp>
      <p:grpSp>
        <p:nvGrpSpPr>
          <p:cNvPr id="14" name="组合 13"/>
          <p:cNvGrpSpPr/>
          <p:nvPr/>
        </p:nvGrpSpPr>
        <p:grpSpPr>
          <a:xfrm>
            <a:off x="5669364" y="3754692"/>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2-8</a:t>
              </a:r>
            </a:p>
            <a:p>
              <a:pPr algn="ctr"/>
              <a:r>
                <a:rPr sz="1800">
                  <a:sym typeface="+mn-ea"/>
                  <a:hlinkClick r:id="rId12"/>
                </a:rPr>
                <a:t>applicationContext.xml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775" y="2098675"/>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Configure the static factory for instantiating beans using the &lt;bean&gt; tag in the applicationContext.xml file of the chapter02 project, as shown in file 2-8.</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118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4.2 Static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8E14A356-4248-504A-349C-60CF3E79D322}"/>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165366" y="3645818"/>
            <a:ext cx="2232248" cy="2232248"/>
          </a:xfrm>
          <a:prstGeom prst="rect">
            <a:avLst/>
          </a:prstGeom>
        </p:spPr>
      </p:pic>
      <p:pic>
        <p:nvPicPr>
          <p:cNvPr id="7" name="图形 6" descr="触控屏 纯色填充">
            <a:extLst>
              <a:ext uri="{FF2B5EF4-FFF2-40B4-BE49-F238E27FC236}">
                <a16:creationId xmlns:a16="http://schemas.microsoft.com/office/drawing/2014/main" id="{E683BB1B-1035-AD65-C60F-F0A296947527}"/>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53214" y="5382415"/>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23404" y="1321159"/>
            <a:ext cx="3566160" cy="476885"/>
            <a:chOff x="708766" y="1797999"/>
            <a:chExt cx="3566160" cy="476885"/>
          </a:xfrm>
        </p:grpSpPr>
        <p:sp>
          <p:nvSpPr>
            <p:cNvPr id="8" name="矩形: 圆角 6"/>
            <p:cNvSpPr/>
            <p:nvPr>
              <p:custDataLst>
                <p:tags r:id="rId4"/>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Test the effect</a:t>
              </a:r>
            </a:p>
          </p:txBody>
        </p:sp>
      </p:grpSp>
      <p:sp>
        <p:nvSpPr>
          <p:cNvPr id="5" name="文本框 4"/>
          <p:cNvSpPr txBox="1"/>
          <p:nvPr>
            <p:custDataLst>
              <p:tags r:id="rId1"/>
            </p:custDataLst>
          </p:nvPr>
        </p:nvSpPr>
        <p:spPr>
          <a:xfrm>
            <a:off x="993914" y="2058968"/>
            <a:ext cx="10295890" cy="506730"/>
          </a:xfrm>
          <a:prstGeom prst="rect">
            <a:avLst/>
          </a:prstGeom>
          <a:noFill/>
          <a:ln w="9525">
            <a:noFill/>
          </a:ln>
        </p:spPr>
        <p:txBody>
          <a:bodyPr wrap="square">
            <a:normAutofit fontScale="95000"/>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2-5 in IDEA, and the results are as shown in the following figure.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7118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4.2 Static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147482597">
            <a:extLst>
              <a:ext uri="{FF2B5EF4-FFF2-40B4-BE49-F238E27FC236}">
                <a16:creationId xmlns:a16="http://schemas.microsoft.com/office/drawing/2014/main" id="{C3F3BB70-DD50-E88E-CA76-48298D1F28BA}"/>
              </a:ext>
            </a:extLst>
          </p:cNvPr>
          <p:cNvPicPr>
            <a:picLocks noChangeAspect="1"/>
          </p:cNvPicPr>
          <p:nvPr>
            <p:custDataLst>
              <p:tags r:id="rId3"/>
            </p:custDataLst>
          </p:nvPr>
        </p:nvPicPr>
        <p:blipFill>
          <a:blip r:embed="rId8"/>
          <a:stretch>
            <a:fillRect/>
          </a:stretch>
        </p:blipFill>
        <p:spPr>
          <a:xfrm>
            <a:off x="2432368" y="2905760"/>
            <a:ext cx="7324427" cy="30420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D1FA26D-963F-CD5C-DE50-27E835F17CC2}"/>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rmAutofit fontScale="98827"/>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4.3 Instance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159102" y="2938913"/>
            <a:ext cx="5975606" cy="1492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instance factory instantiation and be able to instantiate beans using instance static factories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8827"/>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4.3 Instance Factory Instantiation</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8"/>
          <p:cNvSpPr txBox="1"/>
          <p:nvPr>
            <p:custDataLst>
              <p:tags r:id="rId2"/>
            </p:custDataLst>
          </p:nvPr>
        </p:nvSpPr>
        <p:spPr>
          <a:xfrm>
            <a:off x="370570" y="1197546"/>
            <a:ext cx="11449271" cy="4210685"/>
          </a:xfrm>
          <a:prstGeom prst="rect">
            <a:avLst/>
          </a:prstGeom>
          <a:noFill/>
        </p:spPr>
        <p:txBody>
          <a:bodyPr wrap="square" lIns="0" tIns="0" rIns="0" bIns="0" rtlCol="0">
            <a:noAutofit/>
          </a:bodyPr>
          <a:lstStyle/>
          <a:p>
            <a:pPr algn="just">
              <a:lnSpc>
                <a:spcPct val="150000"/>
              </a:lnSpc>
              <a:buClrTx/>
              <a:buSzTx/>
              <a:buFontTx/>
            </a:pPr>
            <a:r>
              <a:rPr sz="2000" dirty="0">
                <a:solidFill>
                  <a:srgbClr val="595959"/>
                </a:solidFill>
                <a:latin typeface="微软雅黑" panose="020B0503020204020204" pitchFamily="34" charset="-122"/>
                <a:ea typeface="微软雅黑" panose="020B0503020204020204" pitchFamily="34" charset="-122"/>
                <a:sym typeface="+mn-lt"/>
              </a:rPr>
              <a:t>An instance factory is a design pattern for creating object instances, </a:t>
            </a:r>
            <a:r>
              <a:rPr sz="2000" dirty="0">
                <a:solidFill>
                  <a:schemeClr val="accent1">
                    <a:lumMod val="75000"/>
                  </a:schemeClr>
                </a:solidFill>
                <a:latin typeface="微软雅黑" panose="020B0503020204020204" pitchFamily="34" charset="-122"/>
                <a:ea typeface="微软雅黑" panose="020B0503020204020204" pitchFamily="34" charset="-122"/>
                <a:sym typeface="+mn-lt"/>
              </a:rPr>
              <a:t>specifically a factory that uses instance methods (non-static methods) in the factory pattern to create instances. </a:t>
            </a:r>
            <a:r>
              <a:rPr sz="2000" dirty="0">
                <a:solidFill>
                  <a:srgbClr val="595959"/>
                </a:solidFill>
                <a:latin typeface="微软雅黑" panose="020B0503020204020204" pitchFamily="34" charset="-122"/>
                <a:ea typeface="微软雅黑" panose="020B0503020204020204" pitchFamily="34" charset="-122"/>
                <a:sym typeface="+mn-lt"/>
              </a:rPr>
              <a:t>In an instance factory, the factory instance needs to be created first, and then the instance method is called to dynamically create the desired object instance. </a:t>
            </a:r>
            <a:r>
              <a:rPr sz="2000" dirty="0">
                <a:solidFill>
                  <a:schemeClr val="accent1">
                    <a:lumMod val="75000"/>
                  </a:schemeClr>
                </a:solidFill>
                <a:latin typeface="微软雅黑" panose="020B0503020204020204" pitchFamily="34" charset="-122"/>
                <a:ea typeface="微软雅黑" panose="020B0503020204020204" pitchFamily="34" charset="-122"/>
                <a:sym typeface="+mn-lt"/>
              </a:rPr>
              <a:t>In contrast to static factories, instance factories are more flexible and can dynamically create object instances on a case-specific basis.</a:t>
            </a:r>
            <a:endParaRPr lang="en-US" altLang="zh-CN" sz="2000" dirty="0" err="1">
              <a:solidFill>
                <a:schemeClr val="accent1">
                  <a:lumMod val="75000"/>
                </a:schemeClr>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The process of creating a Bean in an instance factory is to instantiate the Bean directly through the methods of the instance factory. In the XML configuration file, in addition to specifying the class to which the Bean belongs using the class attribute, you also need to specify the name of the configured instance factory bean using the factory-bean attribute. </a:t>
            </a:r>
            <a:r>
              <a:rPr lang="en-US" altLang="zh-CN" sz="2000" dirty="0" err="1">
                <a:solidFill>
                  <a:schemeClr val="accent1">
                    <a:lumMod val="75000"/>
                  </a:schemeClr>
                </a:solidFill>
                <a:latin typeface="微软雅黑" panose="020B0503020204020204" pitchFamily="34" charset="-122"/>
                <a:ea typeface="微软雅黑" panose="020B0503020204020204" pitchFamily="34" charset="-122"/>
                <a:sym typeface="+mn-lt"/>
              </a:rPr>
              <a:t>The factory-method property specifies that methods in the instance factory are invoked to create the Bean.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34694" y="1857731"/>
            <a:ext cx="4064367" cy="504648"/>
            <a:chOff x="720057" y="1904041"/>
            <a:chExt cx="3554730" cy="504648"/>
          </a:xfrm>
        </p:grpSpPr>
        <p:sp>
          <p:nvSpPr>
            <p:cNvPr id="8" name="矩形: 圆角 6"/>
            <p:cNvSpPr/>
            <p:nvPr>
              <p:custDataLst>
                <p:tags r:id="rId9"/>
              </p:custDataLst>
            </p:nvPr>
          </p:nvSpPr>
          <p:spPr>
            <a:xfrm>
              <a:off x="979137" y="1947044"/>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10"/>
              </p:custDataLst>
            </p:nvPr>
          </p:nvSpPr>
          <p:spPr>
            <a:xfrm>
              <a:off x="720057" y="1904041"/>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Define the factory class</a:t>
              </a:r>
            </a:p>
          </p:txBody>
        </p:sp>
      </p:grpSp>
      <p:grpSp>
        <p:nvGrpSpPr>
          <p:cNvPr id="14" name="组合 13"/>
          <p:cNvGrpSpPr/>
          <p:nvPr/>
        </p:nvGrpSpPr>
        <p:grpSpPr>
          <a:xfrm>
            <a:off x="6311230" y="4126409"/>
            <a:ext cx="4073003" cy="2163715"/>
            <a:chOff x="6350200" y="3634926"/>
            <a:chExt cx="4073003" cy="2163715"/>
          </a:xfrm>
        </p:grpSpPr>
        <p:sp>
          <p:nvSpPr>
            <p:cNvPr id="16" name="文本框 15"/>
            <p:cNvSpPr txBox="1"/>
            <p:nvPr>
              <p:custDataLst>
                <p:tags r:id="rId6"/>
              </p:custDataLst>
            </p:nvPr>
          </p:nvSpPr>
          <p:spPr>
            <a:xfrm>
              <a:off x="6698815" y="4382321"/>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2-9</a:t>
              </a:r>
            </a:p>
            <a:p>
              <a:pPr algn="ctr"/>
              <a:r>
                <a:rPr sz="1800" dirty="0">
                  <a:sym typeface="+mn-ea"/>
                  <a:hlinkClick r:id="rId13"/>
                </a:rPr>
                <a:t>UserInstanceFactory.java</a:t>
              </a:r>
              <a:endParaRPr sz="1800" dirty="0">
                <a:sym typeface="+mn-ea"/>
              </a:endParaRPr>
            </a:p>
          </p:txBody>
        </p:sp>
        <p:sp>
          <p:nvSpPr>
            <p:cNvPr id="17" name="圆角矩形 16"/>
            <p:cNvSpPr/>
            <p:nvPr>
              <p:custDataLst>
                <p:tags r:id="rId7"/>
              </p:custDataLst>
            </p:nvPr>
          </p:nvSpPr>
          <p:spPr>
            <a:xfrm>
              <a:off x="6350201" y="3640885"/>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6350200" y="3634926"/>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775" y="2344599"/>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an instance factory class named UserInstanceFactory in the com.itheima.factory package of the chapter02 project, and define a method called createUser() in this class to create an instance of User and return it. The code for the UserInstanceFactory class is shown in File 2-9.</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68827"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4.3 Instance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custDataLst>
              <p:tags r:id="rId3"/>
            </p:custDataLst>
          </p:nvPr>
        </p:nvSpPr>
        <p:spPr>
          <a:xfrm>
            <a:off x="993775" y="782703"/>
            <a:ext cx="1029589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how to instantiate beans using the Instance factory approach through case studies.</a:t>
            </a:r>
          </a:p>
        </p:txBody>
      </p:sp>
      <p:pic>
        <p:nvPicPr>
          <p:cNvPr id="7" name="图片 6" descr="图片包含 形状&#10;&#10;描述已自动生成">
            <a:extLst>
              <a:ext uri="{FF2B5EF4-FFF2-40B4-BE49-F238E27FC236}">
                <a16:creationId xmlns:a16="http://schemas.microsoft.com/office/drawing/2014/main" id="{E21670CF-E69D-343A-C8B8-B840D1977F77}"/>
              </a:ext>
            </a:extLst>
          </p:cNvPr>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3214886" y="4247907"/>
            <a:ext cx="2232248" cy="2232248"/>
          </a:xfrm>
          <a:prstGeom prst="rect">
            <a:avLst/>
          </a:prstGeom>
        </p:spPr>
      </p:pic>
      <p:pic>
        <p:nvPicPr>
          <p:cNvPr id="10" name="图形 9" descr="触控屏 纯色填充">
            <a:extLst>
              <a:ext uri="{FF2B5EF4-FFF2-40B4-BE49-F238E27FC236}">
                <a16:creationId xmlns:a16="http://schemas.microsoft.com/office/drawing/2014/main" id="{6B66A75F-5BFC-1318-FD65-23A64A58F60C}"/>
              </a:ext>
            </a:extLst>
          </p:cNvPr>
          <p:cNvPicPr>
            <a:picLocks noChangeAspect="1"/>
          </p:cNvPicPr>
          <p:nvPr>
            <p:custDataLst>
              <p:tags r:id="rId5"/>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621337" y="5716687"/>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50590" y="1151144"/>
            <a:ext cx="5371803" cy="476885"/>
            <a:chOff x="708766" y="1797999"/>
            <a:chExt cx="3566160" cy="476885"/>
          </a:xfrm>
        </p:grpSpPr>
        <p:sp>
          <p:nvSpPr>
            <p:cNvPr id="8"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Configure the instance factory</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2-10</a:t>
              </a:r>
            </a:p>
            <a:p>
              <a:pPr algn="ctr"/>
              <a:r>
                <a:rPr sz="1800">
                  <a:sym typeface="+mn-ea"/>
                  <a:hlinkClick r:id="rId12"/>
                </a:rPr>
                <a:t>applicationContext.xml</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5" name="文本框 4"/>
          <p:cNvSpPr txBox="1"/>
          <p:nvPr>
            <p:custDataLst>
              <p:tags r:id="rId1"/>
            </p:custDataLst>
          </p:nvPr>
        </p:nvSpPr>
        <p:spPr>
          <a:xfrm>
            <a:off x="993775" y="2026920"/>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Configure the </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instance</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factory for instantiating beans using the &lt;bean&gt; tag in the applicationContext.xml file of the chapter02 project, as shown in File 2-10.</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68827"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4.3 Instance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descr="图片包含 形状&#10;&#10;描述已自动生成">
            <a:extLst>
              <a:ext uri="{FF2B5EF4-FFF2-40B4-BE49-F238E27FC236}">
                <a16:creationId xmlns:a16="http://schemas.microsoft.com/office/drawing/2014/main" id="{AE5A889A-AD0E-A4E3-9A36-2F43C1FC2C24}"/>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84980" y="3910153"/>
            <a:ext cx="2232248" cy="2232248"/>
          </a:xfrm>
          <a:prstGeom prst="rect">
            <a:avLst/>
          </a:prstGeom>
        </p:spPr>
      </p:pic>
      <p:pic>
        <p:nvPicPr>
          <p:cNvPr id="7" name="图形 6" descr="触控屏 纯色填充">
            <a:extLst>
              <a:ext uri="{FF2B5EF4-FFF2-40B4-BE49-F238E27FC236}">
                <a16:creationId xmlns:a16="http://schemas.microsoft.com/office/drawing/2014/main" id="{F27DD019-1B6F-9471-1868-EB0CAB8E360D}"/>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23404" y="1249404"/>
            <a:ext cx="3566160" cy="476885"/>
            <a:chOff x="708766" y="1797999"/>
            <a:chExt cx="3566160" cy="476885"/>
          </a:xfrm>
        </p:grpSpPr>
        <p:sp>
          <p:nvSpPr>
            <p:cNvPr id="8" name="矩形: 圆角 6"/>
            <p:cNvSpPr/>
            <p:nvPr>
              <p:custDataLst>
                <p:tags r:id="rId4"/>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Test the effect</a:t>
              </a:r>
            </a:p>
          </p:txBody>
        </p:sp>
      </p:grpSp>
      <p:sp>
        <p:nvSpPr>
          <p:cNvPr id="5" name="文本框 4"/>
          <p:cNvSpPr txBox="1"/>
          <p:nvPr>
            <p:custDataLst>
              <p:tags r:id="rId1"/>
            </p:custDataLst>
          </p:nvPr>
        </p:nvSpPr>
        <p:spPr>
          <a:xfrm>
            <a:off x="993775" y="2026920"/>
            <a:ext cx="10295890" cy="506730"/>
          </a:xfrm>
          <a:prstGeom prst="rect">
            <a:avLst/>
          </a:prstGeom>
          <a:noFill/>
          <a:ln w="9525">
            <a:noFill/>
          </a:ln>
        </p:spPr>
        <p:txBody>
          <a:bodyPr wrap="square">
            <a:normAutofit fontScale="95000"/>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2-5 in IDEA, and the results are as shown in the following figure.</a:t>
            </a:r>
          </a:p>
        </p:txBody>
      </p:sp>
      <p:sp>
        <p:nvSpPr>
          <p:cNvPr id="4" name="Title 1"/>
          <p:cNvSpPr txBox="1"/>
          <p:nvPr>
            <p:custDataLst>
              <p:tags r:id="rId2"/>
            </p:custDataLst>
          </p:nvPr>
        </p:nvSpPr>
        <p:spPr>
          <a:xfrm>
            <a:off x="1143691" y="266995"/>
            <a:ext cx="3895536" cy="506086"/>
          </a:xfrm>
          <a:prstGeom prst="rect">
            <a:avLst/>
          </a:prstGeom>
        </p:spPr>
        <p:txBody>
          <a:bodyPr lIns="0" tIns="60958" rIns="0" bIns="60958" anchor="ctr">
            <a:normAutofit fontScale="68827"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4.3 Instance Factory Instantiation</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147482595">
            <a:extLst>
              <a:ext uri="{FF2B5EF4-FFF2-40B4-BE49-F238E27FC236}">
                <a16:creationId xmlns:a16="http://schemas.microsoft.com/office/drawing/2014/main" id="{6C953FB4-4430-476F-FF47-66441B1272BE}"/>
              </a:ext>
            </a:extLst>
          </p:cNvPr>
          <p:cNvPicPr>
            <a:picLocks noChangeAspect="1"/>
          </p:cNvPicPr>
          <p:nvPr>
            <p:custDataLst>
              <p:tags r:id="rId3"/>
            </p:custDataLst>
          </p:nvPr>
        </p:nvPicPr>
        <p:blipFill>
          <a:blip r:embed="rId8"/>
          <a:stretch>
            <a:fillRect/>
          </a:stretch>
        </p:blipFill>
        <p:spPr>
          <a:xfrm>
            <a:off x="2311718" y="2833688"/>
            <a:ext cx="7659367" cy="29952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normAutofit fontScale="77352" lnSpcReduction="20000"/>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way Bean is assembled</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2.5</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custDataLst>
              <p:tags r:id="rId1"/>
            </p:custDataLst>
          </p:nvPr>
        </p:nvSpPr>
        <p:spPr>
          <a:xfrm>
            <a:off x="1166505" y="1387157"/>
            <a:ext cx="9794240" cy="4922957"/>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9" name="TextBox 38"/>
          <p:cNvSpPr txBox="1"/>
          <p:nvPr>
            <p:custDataLst>
              <p:tags r:id="rId2"/>
            </p:custDataLst>
          </p:nvPr>
        </p:nvSpPr>
        <p:spPr>
          <a:xfrm>
            <a:off x="1681472" y="1773610"/>
            <a:ext cx="9001125" cy="3962519"/>
          </a:xfrm>
          <a:prstGeom prst="rect">
            <a:avLst/>
          </a:prstGeom>
          <a:noFill/>
        </p:spPr>
        <p:txBody>
          <a:bodyPr wrap="square" lIns="0" tIns="0" rIns="0" bIns="0" rtlCol="0">
            <a:noAutofit/>
          </a:bodyPr>
          <a:lstStyle/>
          <a:p>
            <a:pPr algn="just">
              <a:lnSpc>
                <a:spcPct val="150000"/>
              </a:lnSpc>
              <a:buClrTx/>
              <a:buSzTx/>
              <a:buFontTx/>
            </a:pPr>
            <a:r>
              <a:rPr sz="2000" dirty="0">
                <a:solidFill>
                  <a:schemeClr val="accent1"/>
                </a:solidFill>
                <a:latin typeface="微软雅黑" panose="020B0503020204020204" pitchFamily="34" charset="-122"/>
                <a:ea typeface="微软雅黑" panose="020B0503020204020204" pitchFamily="34" charset="-122"/>
                <a:cs typeface="+mn-ea"/>
                <a:sym typeface="+mn-lt"/>
              </a:rPr>
              <a:t>Bean assembly </a:t>
            </a:r>
            <a:r>
              <a:rPr sz="2000" dirty="0">
                <a:solidFill>
                  <a:srgbClr val="595959"/>
                </a:solidFill>
                <a:latin typeface="微软雅黑" panose="020B0503020204020204" pitchFamily="34" charset="-122"/>
                <a:ea typeface="微软雅黑" panose="020B0503020204020204" pitchFamily="34" charset="-122"/>
                <a:cs typeface="+mn-ea"/>
                <a:sym typeface="+mn-lt"/>
              </a:rPr>
              <a:t>refers to the process of </a:t>
            </a:r>
            <a:r>
              <a:rPr sz="2000" dirty="0">
                <a:solidFill>
                  <a:schemeClr val="accent1"/>
                </a:solidFill>
                <a:latin typeface="微软雅黑" panose="020B0503020204020204" pitchFamily="34" charset="-122"/>
                <a:ea typeface="微软雅黑" panose="020B0503020204020204" pitchFamily="34" charset="-122"/>
                <a:cs typeface="+mn-ea"/>
                <a:sym typeface="+mn-lt"/>
              </a:rPr>
              <a:t>properly configuring and managing the dependencies among the individual beans in an application.</a:t>
            </a:r>
            <a:r>
              <a:rPr sz="2000" dirty="0">
                <a:solidFill>
                  <a:srgbClr val="595959"/>
                </a:solidFill>
                <a:latin typeface="微软雅黑" panose="020B0503020204020204" pitchFamily="34" charset="-122"/>
                <a:ea typeface="微软雅黑" panose="020B0503020204020204" pitchFamily="34" charset="-122"/>
                <a:cs typeface="+mn-ea"/>
                <a:sym typeface="+mn-lt"/>
              </a:rPr>
              <a:t> Dependency injection is a common way to implement Bean assembly, through which the Spring container injects the required dependent objects into the beans. Decoupling and flexible assembly of beans is achieved. </a:t>
            </a:r>
            <a:r>
              <a:rPr sz="2000" dirty="0">
                <a:solidFill>
                  <a:schemeClr val="accent1"/>
                </a:solidFill>
                <a:latin typeface="微软雅黑" panose="020B0503020204020204" pitchFamily="34" charset="-122"/>
                <a:ea typeface="微软雅黑" panose="020B0503020204020204" pitchFamily="34" charset="-122"/>
                <a:cs typeface="+mn-ea"/>
                <a:sym typeface="+mn-lt"/>
              </a:rPr>
              <a:t>Common Bean assembly methods in the Spring framework include XML-based assembly, annotation-based assembly, and auto-assembly. This section will cover all three types of Bean assembly methods.</a:t>
            </a:r>
            <a:endPar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40" name="矩形 93"/>
          <p:cNvSpPr/>
          <p:nvPr>
            <p:custDataLst>
              <p:tags r:id="rId3"/>
            </p:custDataLst>
          </p:nvPr>
        </p:nvSpPr>
        <p:spPr>
          <a:xfrm>
            <a:off x="1126654" y="1321108"/>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41" name="矩形 93"/>
          <p:cNvSpPr/>
          <p:nvPr>
            <p:custDataLst>
              <p:tags r:id="rId4"/>
            </p:custDataLst>
          </p:nvPr>
        </p:nvSpPr>
        <p:spPr>
          <a:xfrm rot="10800000">
            <a:off x="10631710" y="5860327"/>
            <a:ext cx="38417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2" name="Title 1"/>
          <p:cNvSpPr txBox="1"/>
          <p:nvPr>
            <p:custDataLst>
              <p:tags r:id="rId5"/>
            </p:custDataLst>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5 Ways to Assemble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5823B2F-9743-24E9-BB1D-90ACF0FB0913}"/>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591150" y="2857010"/>
            <a:ext cx="5445760" cy="1492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XML-based assembly and be able to implement Bean assembly based on XML-based assembly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18542" y="863510"/>
            <a:ext cx="6524436"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Injection of setter methods for properties</a:t>
              </a:r>
            </a:p>
          </p:txBody>
        </p:sp>
      </p:grpSp>
      <p:sp>
        <p:nvSpPr>
          <p:cNvPr id="100" name="文本框 99"/>
          <p:cNvSpPr txBox="1"/>
          <p:nvPr>
            <p:custDataLst>
              <p:tags r:id="rId1"/>
            </p:custDataLst>
          </p:nvPr>
        </p:nvSpPr>
        <p:spPr>
          <a:xfrm>
            <a:off x="262558" y="1517402"/>
            <a:ext cx="11701300" cy="3784600"/>
          </a:xfrm>
          <a:prstGeom prst="rect">
            <a:avLst/>
          </a:prstGeom>
          <a:noFill/>
          <a:ln w="9525">
            <a:noFill/>
          </a:ln>
        </p:spPr>
        <p:txBody>
          <a:bodyPr wrap="square">
            <a:noAutofit/>
          </a:bodyPr>
          <a:lstStyle/>
          <a:p>
            <a:pPr algn="just">
              <a:lnSpc>
                <a:spcPct val="150000"/>
              </a:lnSpc>
              <a:buClrTx/>
              <a:buSzTx/>
              <a:buFontTx/>
            </a:pPr>
            <a:r>
              <a:rPr sz="2000" b="0" dirty="0">
                <a:solidFill>
                  <a:schemeClr val="accent1"/>
                </a:solidFill>
                <a:latin typeface="微软雅黑" panose="020B0503020204020204" pitchFamily="34" charset="-122"/>
                <a:ea typeface="微软雅黑" panose="020B0503020204020204" pitchFamily="34" charset="-122"/>
                <a:cs typeface="+mn-ea"/>
              </a:rPr>
              <a:t>XML (Extensible Markup Language) is a standard data transmission and storage</a:t>
            </a:r>
            <a:endParaRPr lang="en-US" altLang="zh-CN"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In the process of Spring instantiating a Bean, </a:t>
            </a:r>
            <a:r>
              <a:rPr lang="en-US" altLang="zh-CN" sz="2000" dirty="0" err="1">
                <a:solidFill>
                  <a:schemeClr val="accent1"/>
                </a:solidFill>
                <a:latin typeface="微软雅黑" panose="020B0503020204020204" pitchFamily="34" charset="-122"/>
                <a:ea typeface="微软雅黑" panose="020B0503020204020204" pitchFamily="34" charset="-122"/>
                <a:cs typeface="+mn-ea"/>
              </a:rPr>
              <a:t>Spring first calls the parameterless constructor of the corresponding class of the Bean to instantiate the Bean, and then calls the setter method through reflection to inject the property values.</a:t>
            </a:r>
          </a:p>
          <a:p>
            <a:pPr algn="just">
              <a:lnSpc>
                <a:spcPct val="150000"/>
              </a:lnSpc>
              <a:buClrTx/>
              <a:buSzTx/>
              <a:buFontTx/>
            </a:pPr>
            <a:r>
              <a:rPr sz="2000" b="0" dirty="0">
                <a:solidFill>
                  <a:schemeClr val="accent1"/>
                </a:solidFill>
                <a:latin typeface="微软雅黑" panose="020B0503020204020204" pitchFamily="34" charset="-122"/>
                <a:ea typeface="微软雅黑" panose="020B0503020204020204" pitchFamily="34" charset="-122"/>
                <a:cs typeface="+mn-ea"/>
              </a:rPr>
              <a:t>Property setter method injection requires that a Bean must meet the following two requirements.</a:t>
            </a:r>
            <a:endParaRPr lang="en-US" altLang="zh-CN" sz="2000" b="0" dirty="0" err="1">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① The class corresponding to the Bean must provide a default parameterless constructor.</a:t>
            </a:r>
          </a:p>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② The class corresponding to the Bean must provide setter methods for the properties that need to be injected.</a:t>
            </a:r>
          </a:p>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rPr>
              <a:t>When using the setter method of a property for injection, you need to use the &lt;property&gt; tag nested within the &lt;bean&gt; tag in the Spring configuration file to inject values into the property</a:t>
            </a:r>
            <a:endParaRPr sz="2000" b="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19817" y="1821283"/>
            <a:ext cx="3566160" cy="476885"/>
            <a:chOff x="708766" y="1797999"/>
            <a:chExt cx="3566160" cy="476885"/>
          </a:xfrm>
        </p:grpSpPr>
        <p:sp>
          <p:nvSpPr>
            <p:cNvPr id="8"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Custom classes</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2-11 UserDao.java</a:t>
              </a:r>
            </a:p>
            <a:p>
              <a:pPr algn="ctr"/>
              <a:r>
                <a:rPr sz="1800" dirty="0">
                  <a:sym typeface="+mn-ea"/>
                </a:rPr>
                <a:t>File 2-12 UserService.java</a:t>
              </a: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7" name="文本框 6"/>
          <p:cNvSpPr txBox="1"/>
          <p:nvPr>
            <p:custDataLst>
              <p:tags r:id="rId1"/>
            </p:custDataLst>
          </p:nvPr>
        </p:nvSpPr>
        <p:spPr>
          <a:xfrm>
            <a:off x="962654" y="2298168"/>
            <a:ext cx="10548546" cy="1422954"/>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com.itheima.dao package and the com.itheima.service package in chapter02 project, and customize the classes </a:t>
            </a:r>
            <a:r>
              <a:rPr lang="zh-CN" altLang="en-US" sz="2000" dirty="0">
                <a:solidFill>
                  <a:schemeClr val="accent1"/>
                </a:solidFill>
                <a:latin typeface="微软雅黑" panose="020B0503020204020204" pitchFamily="34" charset="-122"/>
                <a:ea typeface="微软雅黑" panose="020B0503020204020204" pitchFamily="34" charset="-122"/>
                <a:cs typeface="+mn-ea"/>
              </a:rPr>
              <a:t>UserDao and UserService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sequence in both packages, as shown in files 2-11 and 2-12.</a:t>
            </a:r>
          </a:p>
        </p:txBody>
      </p:sp>
      <p:sp>
        <p:nvSpPr>
          <p:cNvPr id="10" name="文本框 9"/>
          <p:cNvSpPr txBox="1"/>
          <p:nvPr>
            <p:custDataLst>
              <p:tags r:id="rId2"/>
            </p:custDataLst>
          </p:nvPr>
        </p:nvSpPr>
        <p:spPr>
          <a:xfrm>
            <a:off x="947260" y="837605"/>
            <a:ext cx="10836577"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a:t>
            </a:r>
            <a:r>
              <a:rPr lang="zh-CN" altLang="en-US" sz="2000" dirty="0">
                <a:solidFill>
                  <a:schemeClr val="accent1"/>
                </a:solidFill>
                <a:latin typeface="微软雅黑" panose="020B0503020204020204" pitchFamily="34" charset="-122"/>
                <a:ea typeface="微软雅黑" panose="020B0503020204020204" pitchFamily="34" charset="-122"/>
                <a:cs typeface="+mn-ea"/>
              </a:rPr>
              <a:t>injection of setter methods for properties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when assembling beans based on XML through a case.</a:t>
            </a:r>
            <a:endPar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pic>
        <p:nvPicPr>
          <p:cNvPr id="2" name="图片 1" descr="图片包含 形状&#10;&#10;描述已自动生成">
            <a:extLst>
              <a:ext uri="{FF2B5EF4-FFF2-40B4-BE49-F238E27FC236}">
                <a16:creationId xmlns:a16="http://schemas.microsoft.com/office/drawing/2014/main" id="{AA32590D-5271-89C9-B4F9-7991823EAB9F}"/>
              </a:ext>
            </a:extLst>
          </p:cNvPr>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2199734" y="3950494"/>
            <a:ext cx="2232248" cy="2232248"/>
          </a:xfrm>
          <a:prstGeom prst="rect">
            <a:avLst/>
          </a:prstGeom>
        </p:spPr>
      </p:pic>
      <p:pic>
        <p:nvPicPr>
          <p:cNvPr id="3" name="图形 2" descr="触控屏 纯色填充">
            <a:extLst>
              <a:ext uri="{FF2B5EF4-FFF2-40B4-BE49-F238E27FC236}">
                <a16:creationId xmlns:a16="http://schemas.microsoft.com/office/drawing/2014/main" id="{6BC7C734-012D-5712-81E9-8469F54B680E}"/>
              </a:ext>
            </a:extLst>
          </p:cNvPr>
          <p:cNvPicPr>
            <a:picLocks noChangeAspect="1"/>
          </p:cNvPicPr>
          <p:nvPr>
            <p:custDataLst>
              <p:tags r:id="rId4"/>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11247" y="999645"/>
            <a:ext cx="4579714" cy="476885"/>
            <a:chOff x="708766" y="1797999"/>
            <a:chExt cx="3566160" cy="476885"/>
          </a:xfrm>
        </p:grpSpPr>
        <p:sp>
          <p:nvSpPr>
            <p:cNvPr id="8" name="矩形: 圆角 6"/>
            <p:cNvSpPr/>
            <p:nvPr>
              <p:custDataLst>
                <p:tags r:id="rId7"/>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8"/>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Write the configuration file</a:t>
              </a:r>
            </a:p>
          </p:txBody>
        </p:sp>
      </p:grpSp>
      <p:grpSp>
        <p:nvGrpSpPr>
          <p:cNvPr id="14" name="组合 13"/>
          <p:cNvGrpSpPr/>
          <p:nvPr/>
        </p:nvGrpSpPr>
        <p:grpSpPr>
          <a:xfrm>
            <a:off x="5885388" y="3588497"/>
            <a:ext cx="4073003" cy="2163715"/>
            <a:chOff x="5478588" y="3498327"/>
            <a:chExt cx="4073003" cy="2163715"/>
          </a:xfrm>
        </p:grpSpPr>
        <p:sp>
          <p:nvSpPr>
            <p:cNvPr id="16" name="文本框 15"/>
            <p:cNvSpPr txBox="1"/>
            <p:nvPr>
              <p:custDataLst>
                <p:tags r:id="rId4"/>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2-13</a:t>
              </a:r>
            </a:p>
            <a:p>
              <a:pPr algn="ctr"/>
              <a:r>
                <a:rPr sz="1800">
                  <a:sym typeface="+mn-ea"/>
                  <a:hlinkClick r:id="rId11"/>
                </a:rPr>
                <a:t>applicationContext.xml</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7" name="文本框 6"/>
          <p:cNvSpPr txBox="1"/>
          <p:nvPr>
            <p:custDataLst>
              <p:tags r:id="rId1"/>
            </p:custDataLst>
          </p:nvPr>
        </p:nvSpPr>
        <p:spPr>
          <a:xfrm>
            <a:off x="1058640" y="1601676"/>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Configure the information for bean and property injection </a:t>
            </a:r>
            <a:r>
              <a:rPr lang="zh-CN" altLang="en-US" sz="2000" dirty="0">
                <a:solidFill>
                  <a:schemeClr val="accent1"/>
                </a:solidFill>
                <a:latin typeface="微软雅黑" panose="020B0503020204020204" pitchFamily="34" charset="-122"/>
                <a:ea typeface="微软雅黑" panose="020B0503020204020204" pitchFamily="34" charset="-122"/>
                <a:cs typeface="+mn-ea"/>
              </a:rPr>
              <a:t>using the &lt;bean&gt; and &lt;property&gt; tags in the applicationContext.xml file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of the chapter02 project, as shown in File 2-13.</a:t>
            </a:r>
          </a:p>
        </p:txBody>
      </p:sp>
      <p:pic>
        <p:nvPicPr>
          <p:cNvPr id="2" name="图片 1" descr="图片包含 形状&#10;&#10;描述已自动生成">
            <a:extLst>
              <a:ext uri="{FF2B5EF4-FFF2-40B4-BE49-F238E27FC236}">
                <a16:creationId xmlns:a16="http://schemas.microsoft.com/office/drawing/2014/main" id="{D4EE3217-6F24-ADA3-9109-978FD5066EAF}"/>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381390" y="3479623"/>
            <a:ext cx="2232248" cy="2232248"/>
          </a:xfrm>
          <a:prstGeom prst="rect">
            <a:avLst/>
          </a:prstGeom>
        </p:spPr>
      </p:pic>
      <p:pic>
        <p:nvPicPr>
          <p:cNvPr id="3" name="图形 2" descr="触控屏 纯色填充">
            <a:extLst>
              <a:ext uri="{FF2B5EF4-FFF2-40B4-BE49-F238E27FC236}">
                <a16:creationId xmlns:a16="http://schemas.microsoft.com/office/drawing/2014/main" id="{8BDECAA3-571A-4685-365C-D8B20B8E39FC}"/>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21622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66614" y="987410"/>
            <a:ext cx="3554730" cy="507560"/>
            <a:chOff x="720196" y="1767324"/>
            <a:chExt cx="3554730" cy="507560"/>
          </a:xfrm>
        </p:grpSpPr>
        <p:sp>
          <p:nvSpPr>
            <p:cNvPr id="8" name="矩形: 圆角 6"/>
            <p:cNvSpPr/>
            <p:nvPr>
              <p:custDataLst>
                <p:tags r:id="rId7"/>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8"/>
              </p:custDataLst>
            </p:nvPr>
          </p:nvSpPr>
          <p:spPr>
            <a:xfrm>
              <a:off x="720196" y="1767324"/>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Write the test class</a:t>
              </a:r>
            </a:p>
          </p:txBody>
        </p:sp>
      </p:grpSp>
      <p:grpSp>
        <p:nvGrpSpPr>
          <p:cNvPr id="14" name="组合 13"/>
          <p:cNvGrpSpPr/>
          <p:nvPr/>
        </p:nvGrpSpPr>
        <p:grpSpPr>
          <a:xfrm>
            <a:off x="5388978" y="3695983"/>
            <a:ext cx="4073003" cy="2163715"/>
            <a:chOff x="5478588" y="3498327"/>
            <a:chExt cx="4073003" cy="2163715"/>
          </a:xfrm>
        </p:grpSpPr>
        <p:sp>
          <p:nvSpPr>
            <p:cNvPr id="16" name="文本框 15"/>
            <p:cNvSpPr txBox="1"/>
            <p:nvPr>
              <p:custDataLst>
                <p:tags r:id="rId4"/>
              </p:custDataLst>
            </p:nvPr>
          </p:nvSpPr>
          <p:spPr>
            <a:xfrm>
              <a:off x="5827203" y="431747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2-14</a:t>
              </a:r>
            </a:p>
            <a:p>
              <a:pPr algn="ctr"/>
              <a:r>
                <a:rPr sz="1800">
                  <a:sym typeface="+mn-ea"/>
                  <a:hlinkClick r:id="rId11"/>
                </a:rPr>
                <a:t>DITest.java</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7" name="文本框 6"/>
          <p:cNvSpPr txBox="1"/>
          <p:nvPr>
            <p:custDataLst>
              <p:tags r:id="rId1"/>
            </p:custDataLst>
          </p:nvPr>
        </p:nvSpPr>
        <p:spPr>
          <a:xfrm>
            <a:off x="1025694" y="1445663"/>
            <a:ext cx="10470112"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a:t>
            </a:r>
            <a:r>
              <a:rPr lang="zh-CN" altLang="en-US" sz="2000" dirty="0">
                <a:solidFill>
                  <a:schemeClr val="accent1"/>
                </a:solidFill>
                <a:latin typeface="微软雅黑" panose="020B0503020204020204" pitchFamily="34" charset="-122"/>
                <a:ea typeface="微软雅黑" panose="020B0503020204020204" pitchFamily="34" charset="-122"/>
                <a:cs typeface="+mn-ea"/>
              </a:rPr>
              <a:t>DITest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under the com.itheima folder of the chapter02 project, define the main() method in the test class, load the applicationContext.xml configuration file in the main() method to initialize the IoC container, </a:t>
            </a:r>
            <a:r>
              <a:rPr lang="zh-CN" altLang="en-US" sz="2000" dirty="0">
                <a:solidFill>
                  <a:schemeClr val="accent1"/>
                </a:solidFill>
                <a:latin typeface="微软雅黑" panose="020B0503020204020204" pitchFamily="34" charset="-122"/>
                <a:ea typeface="微软雅黑" panose="020B0503020204020204" pitchFamily="34" charset="-122"/>
                <a:cs typeface="+mn-ea"/>
              </a:rPr>
              <a:t>Get an instance of UserService in the container and execute its saveUser() method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as shown in file 2-14.</a:t>
            </a:r>
          </a:p>
        </p:txBody>
      </p:sp>
      <p:pic>
        <p:nvPicPr>
          <p:cNvPr id="2" name="图片 1" descr="图片包含 形状&#10;&#10;描述已自动生成">
            <a:extLst>
              <a:ext uri="{FF2B5EF4-FFF2-40B4-BE49-F238E27FC236}">
                <a16:creationId xmlns:a16="http://schemas.microsoft.com/office/drawing/2014/main" id="{9486C7BA-4C52-C029-46BE-CCF5443C9795}"/>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214914" y="3695983"/>
            <a:ext cx="2232248" cy="2232248"/>
          </a:xfrm>
          <a:prstGeom prst="rect">
            <a:avLst/>
          </a:prstGeom>
        </p:spPr>
      </p:pic>
      <p:pic>
        <p:nvPicPr>
          <p:cNvPr id="3" name="图形 2" descr="触控屏 纯色填充">
            <a:extLst>
              <a:ext uri="{FF2B5EF4-FFF2-40B4-BE49-F238E27FC236}">
                <a16:creationId xmlns:a16="http://schemas.microsoft.com/office/drawing/2014/main" id="{B4A9276B-64A8-A160-4827-DBAFFD220E31}"/>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21622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4374" y="1269554"/>
            <a:ext cx="3554730" cy="528490"/>
            <a:chOff x="849736" y="1746394"/>
            <a:chExt cx="3554730" cy="528490"/>
          </a:xfrm>
        </p:grpSpPr>
        <p:sp>
          <p:nvSpPr>
            <p:cNvPr id="8" name="矩形: 圆角 6"/>
            <p:cNvSpPr/>
            <p:nvPr>
              <p:custDataLst>
                <p:tags r:id="rId3"/>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849736" y="1746394"/>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Test the results</a:t>
              </a:r>
            </a:p>
          </p:txBody>
        </p:sp>
      </p:grpSp>
      <p:sp>
        <p:nvSpPr>
          <p:cNvPr id="7" name="文本框 6"/>
          <p:cNvSpPr txBox="1"/>
          <p:nvPr>
            <p:custDataLst>
              <p:tags r:id="rId1"/>
            </p:custDataLst>
          </p:nvPr>
        </p:nvSpPr>
        <p:spPr>
          <a:xfrm>
            <a:off x="993914" y="1929882"/>
            <a:ext cx="10295890" cy="506730"/>
          </a:xfrm>
          <a:prstGeom prst="rect">
            <a:avLst/>
          </a:prstGeom>
          <a:noFill/>
          <a:ln w="9525">
            <a:noFill/>
          </a:ln>
        </p:spPr>
        <p:txBody>
          <a:bodyPr wrap="square">
            <a:normAutofit fontScale="97760"/>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2-14 in IDEA, and the results are shown in the following figure.</a:t>
            </a:r>
          </a:p>
        </p:txBody>
      </p:sp>
      <p:pic>
        <p:nvPicPr>
          <p:cNvPr id="3" name="图片 -2147482592">
            <a:extLst>
              <a:ext uri="{FF2B5EF4-FFF2-40B4-BE49-F238E27FC236}">
                <a16:creationId xmlns:a16="http://schemas.microsoft.com/office/drawing/2014/main" id="{60E00CB9-C07F-DFF4-002D-57C19D671BEB}"/>
              </a:ext>
            </a:extLst>
          </p:cNvPr>
          <p:cNvPicPr>
            <a:picLocks noChangeAspect="1"/>
          </p:cNvPicPr>
          <p:nvPr>
            <p:custDataLst>
              <p:tags r:id="rId2"/>
            </p:custDataLst>
          </p:nvPr>
        </p:nvPicPr>
        <p:blipFill>
          <a:blip r:embed="rId7"/>
          <a:stretch>
            <a:fillRect/>
          </a:stretch>
        </p:blipFill>
        <p:spPr>
          <a:xfrm>
            <a:off x="2031760" y="2630665"/>
            <a:ext cx="8126891" cy="372904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043860"/>
      </p:ext>
    </p:extLst>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866914" y="1177649"/>
            <a:ext cx="4292188" cy="476905"/>
            <a:chOff x="852276" y="1797999"/>
            <a:chExt cx="2780020" cy="47690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52276" y="1797999"/>
              <a:ext cx="276796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Constructor Injection</a:t>
              </a:r>
            </a:p>
          </p:txBody>
        </p:sp>
      </p:grpSp>
      <p:sp>
        <p:nvSpPr>
          <p:cNvPr id="100" name="文本框 99"/>
          <p:cNvSpPr txBox="1"/>
          <p:nvPr>
            <p:custDataLst>
              <p:tags r:id="rId1"/>
            </p:custDataLst>
          </p:nvPr>
        </p:nvSpPr>
        <p:spPr>
          <a:xfrm>
            <a:off x="993140" y="2127249"/>
            <a:ext cx="10324465" cy="3539449"/>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cs typeface="+mn-ea"/>
              </a:rPr>
              <a:t>When using </a:t>
            </a:r>
            <a:r>
              <a:rPr lang="en-US" altLang="zh-CN" sz="2000" dirty="0" err="1">
                <a:solidFill>
                  <a:schemeClr val="accent1"/>
                </a:solidFill>
                <a:latin typeface="微软雅黑" panose="020B0503020204020204" pitchFamily="34" charset="-122"/>
                <a:ea typeface="微软雅黑" panose="020B0503020204020204" pitchFamily="34" charset="-122"/>
                <a:cs typeface="+mn-ea"/>
              </a:rPr>
              <a:t>constructor injection</a:t>
            </a:r>
            <a:r>
              <a:rPr lang="en-US" altLang="zh-CN" sz="2000" b="0" dirty="0" err="1">
                <a:solidFill>
                  <a:srgbClr val="595959"/>
                </a:solidFill>
                <a:latin typeface="微软雅黑" panose="020B0503020204020204" pitchFamily="34" charset="-122"/>
                <a:ea typeface="微软雅黑" panose="020B0503020204020204" pitchFamily="34" charset="-122"/>
                <a:cs typeface="+mn-ea"/>
              </a:rPr>
              <a:t>, you need to use the </a:t>
            </a:r>
            <a:r>
              <a:rPr lang="en-US" altLang="zh-CN" sz="2000" dirty="0" err="1">
                <a:solidFill>
                  <a:schemeClr val="accent1"/>
                </a:solidFill>
                <a:latin typeface="微软雅黑" panose="020B0503020204020204" pitchFamily="34" charset="-122"/>
                <a:ea typeface="微软雅黑" panose="020B0503020204020204" pitchFamily="34" charset="-122"/>
                <a:cs typeface="+mn-ea"/>
              </a:rPr>
              <a:t>&lt;constructor-arg&gt; tag within the &lt;bean&gt; tag</a:t>
            </a:r>
            <a:r>
              <a:rPr lang="en-US" altLang="zh-CN" sz="2000" b="0" dirty="0" err="1">
                <a:solidFill>
                  <a:srgbClr val="595959"/>
                </a:solidFill>
                <a:latin typeface="微软雅黑" panose="020B0503020204020204" pitchFamily="34" charset="-122"/>
                <a:ea typeface="微软雅黑" panose="020B0503020204020204" pitchFamily="34" charset="-122"/>
                <a:cs typeface="+mn-ea"/>
              </a:rPr>
              <a:t> in the XML configuration file to specify the constructor parameters. At the same time, a constructor containing the parameters of the injected Bean needs to be defined in the injected class. In this way, when the Spring container instantiates a Bean, the parameter values of the corresponding constructor are set according to the &lt;constructor-arg&gt; TAB in the configuration file, and the corresponding constructor is invoked to instantiate the Bean.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869948" y="1831913"/>
            <a:ext cx="4421481" cy="476806"/>
            <a:chOff x="849735" y="1798078"/>
            <a:chExt cx="3554730" cy="476806"/>
          </a:xfrm>
        </p:grpSpPr>
        <p:sp>
          <p:nvSpPr>
            <p:cNvPr id="8"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9"/>
              </p:custDataLst>
            </p:nvPr>
          </p:nvSpPr>
          <p:spPr>
            <a:xfrm>
              <a:off x="849735" y="1798078"/>
              <a:ext cx="3554730" cy="462371"/>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Modify the UserService class</a:t>
              </a:r>
            </a:p>
          </p:txBody>
        </p:sp>
      </p:grpSp>
      <p:grpSp>
        <p:nvGrpSpPr>
          <p:cNvPr id="14" name="组合 13"/>
          <p:cNvGrpSpPr/>
          <p:nvPr/>
        </p:nvGrpSpPr>
        <p:grpSpPr>
          <a:xfrm>
            <a:off x="5388978" y="4019027"/>
            <a:ext cx="4073003" cy="2163715"/>
            <a:chOff x="5478588" y="3498327"/>
            <a:chExt cx="4073003" cy="2163715"/>
          </a:xfrm>
        </p:grpSpPr>
        <p:sp>
          <p:nvSpPr>
            <p:cNvPr id="16" name="文本框 15"/>
            <p:cNvSpPr txBox="1"/>
            <p:nvPr>
              <p:custDataLst>
                <p:tags r:id="rId5"/>
              </p:custDataLst>
            </p:nvPr>
          </p:nvSpPr>
          <p:spPr>
            <a:xfrm>
              <a:off x="5827203" y="431747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2-15</a:t>
              </a:r>
            </a:p>
            <a:p>
              <a:pPr algn="ctr"/>
              <a:r>
                <a:rPr sz="1800">
                  <a:sym typeface="+mn-ea"/>
                  <a:hlinkClick r:id="rId12"/>
                </a:rPr>
                <a:t>UserService.java</a:t>
              </a:r>
              <a:endParaRPr sz="180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7" name="文本框 6"/>
          <p:cNvSpPr txBox="1"/>
          <p:nvPr>
            <p:custDataLst>
              <p:tags r:id="rId1"/>
            </p:custDataLst>
          </p:nvPr>
        </p:nvSpPr>
        <p:spPr>
          <a:xfrm>
            <a:off x="1029468" y="2308719"/>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Comment out the setter methods of UserDao in the UserService class and add the UserService constructor with the UserDao parameters, as shown in File 2-15.</a:t>
            </a:r>
          </a:p>
        </p:txBody>
      </p:sp>
      <p:sp>
        <p:nvSpPr>
          <p:cNvPr id="10" name="文本框 9"/>
          <p:cNvSpPr txBox="1"/>
          <p:nvPr>
            <p:custDataLst>
              <p:tags r:id="rId2"/>
            </p:custDataLst>
          </p:nvPr>
        </p:nvSpPr>
        <p:spPr>
          <a:xfrm>
            <a:off x="1029468" y="814953"/>
            <a:ext cx="10538345" cy="506730"/>
          </a:xfrm>
          <a:prstGeom prst="rect">
            <a:avLst/>
          </a:prstGeom>
          <a:noFill/>
          <a:ln w="9525">
            <a:noFill/>
          </a:ln>
        </p:spPr>
        <p:txBody>
          <a:bodyPr wrap="square">
            <a:noAutofit/>
          </a:bodyPr>
          <a:lstStyle/>
          <a:p>
            <a:pPr algn="l">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The following demonstrates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use of constructor injection when assembling beans based on XML through a case.</a:t>
            </a:r>
            <a:endParaRPr lang="it-IT" altLang="zh-CN"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pic>
        <p:nvPicPr>
          <p:cNvPr id="2" name="图片 1" descr="图片包含 形状&#10;&#10;描述已自动生成">
            <a:extLst>
              <a:ext uri="{FF2B5EF4-FFF2-40B4-BE49-F238E27FC236}">
                <a16:creationId xmlns:a16="http://schemas.microsoft.com/office/drawing/2014/main" id="{F4957B77-968A-814F-731C-4F341F4FA999}"/>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494806" y="3912101"/>
            <a:ext cx="2232248" cy="2232248"/>
          </a:xfrm>
          <a:prstGeom prst="rect">
            <a:avLst/>
          </a:prstGeom>
        </p:spPr>
      </p:pic>
      <p:pic>
        <p:nvPicPr>
          <p:cNvPr id="3" name="图形 2" descr="触控屏 纯色填充">
            <a:extLst>
              <a:ext uri="{FF2B5EF4-FFF2-40B4-BE49-F238E27FC236}">
                <a16:creationId xmlns:a16="http://schemas.microsoft.com/office/drawing/2014/main" id="{17530A5C-3999-D2A4-73BA-B05CEAF96E01}"/>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11255" y="1023207"/>
            <a:ext cx="4650620" cy="525663"/>
            <a:chOff x="708766" y="1797999"/>
            <a:chExt cx="3554730" cy="525663"/>
          </a:xfrm>
        </p:grpSpPr>
        <p:sp>
          <p:nvSpPr>
            <p:cNvPr id="8" name="矩形: 圆角 6"/>
            <p:cNvSpPr/>
            <p:nvPr>
              <p:custDataLst>
                <p:tags r:id="rId7"/>
              </p:custDataLst>
            </p:nvPr>
          </p:nvSpPr>
          <p:spPr>
            <a:xfrm>
              <a:off x="915426" y="1862017"/>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8"/>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Modify the configuration file</a:t>
              </a:r>
            </a:p>
          </p:txBody>
        </p:sp>
      </p:grpSp>
      <p:grpSp>
        <p:nvGrpSpPr>
          <p:cNvPr id="14" name="组合 13"/>
          <p:cNvGrpSpPr/>
          <p:nvPr/>
        </p:nvGrpSpPr>
        <p:grpSpPr>
          <a:xfrm>
            <a:off x="5388978" y="3429794"/>
            <a:ext cx="4073003" cy="2163715"/>
            <a:chOff x="5478588" y="3498327"/>
            <a:chExt cx="4073003" cy="2163715"/>
          </a:xfrm>
        </p:grpSpPr>
        <p:sp>
          <p:nvSpPr>
            <p:cNvPr id="16" name="文本框 15"/>
            <p:cNvSpPr txBox="1"/>
            <p:nvPr>
              <p:custDataLst>
                <p:tags r:id="rId4"/>
              </p:custDataLst>
            </p:nvPr>
          </p:nvSpPr>
          <p:spPr>
            <a:xfrm>
              <a:off x="5827203" y="431747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2-16</a:t>
              </a:r>
            </a:p>
            <a:p>
              <a:pPr algn="ctr"/>
              <a:r>
                <a:rPr sz="1800">
                  <a:sym typeface="+mn-ea"/>
                  <a:hlinkClick r:id="rId11"/>
                </a:rPr>
                <a:t>applicationContext.xml</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7" name="文本框 6"/>
          <p:cNvSpPr txBox="1"/>
          <p:nvPr>
            <p:custDataLst>
              <p:tags r:id="rId1"/>
            </p:custDataLst>
          </p:nvPr>
        </p:nvSpPr>
        <p:spPr>
          <a:xfrm>
            <a:off x="947261" y="1645966"/>
            <a:ext cx="10295890" cy="1422954"/>
          </a:xfrm>
          <a:prstGeom prst="rect">
            <a:avLst/>
          </a:prstGeom>
          <a:noFill/>
          <a:ln w="9525">
            <a:noFill/>
          </a:ln>
        </p:spPr>
        <p:txBody>
          <a:bodyPr wrap="square">
            <a:sp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Configure the information of the bean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using the &lt;bean&gt; tag</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and the </a:t>
            </a:r>
            <a:r>
              <a:rPr lang="zh-CN" altLang="en-US" sz="2000" dirty="0">
                <a:solidFill>
                  <a:srgbClr val="0070C0"/>
                </a:solidFill>
                <a:latin typeface="微软雅黑" panose="020B0503020204020204" pitchFamily="34" charset="-122"/>
                <a:ea typeface="微软雅黑" panose="020B0503020204020204" pitchFamily="34" charset="-122"/>
              </a:rPr>
              <a:t>&lt;constructor-arg&gt; tag</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 the applicationContext.xml file of the chapter02 project, as shown in file 2-16.</a:t>
            </a:r>
          </a:p>
        </p:txBody>
      </p:sp>
      <p:pic>
        <p:nvPicPr>
          <p:cNvPr id="2" name="图片 1" descr="图片包含 形状&#10;&#10;描述已自动生成">
            <a:extLst>
              <a:ext uri="{FF2B5EF4-FFF2-40B4-BE49-F238E27FC236}">
                <a16:creationId xmlns:a16="http://schemas.microsoft.com/office/drawing/2014/main" id="{7B8A8E6A-F995-6A24-DBE0-804B2F4A09D2}"/>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199734" y="3272235"/>
            <a:ext cx="2232248" cy="2232248"/>
          </a:xfrm>
          <a:prstGeom prst="rect">
            <a:avLst/>
          </a:prstGeom>
        </p:spPr>
      </p:pic>
      <p:pic>
        <p:nvPicPr>
          <p:cNvPr id="3" name="图形 2" descr="触控屏 纯色填充">
            <a:extLst>
              <a:ext uri="{FF2B5EF4-FFF2-40B4-BE49-F238E27FC236}">
                <a16:creationId xmlns:a16="http://schemas.microsoft.com/office/drawing/2014/main" id="{D08265AE-3FD1-58C1-3E2D-D2BA708196ED}"/>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47580" y="5045942"/>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XML-based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23404" y="1321159"/>
            <a:ext cx="3566160" cy="476885"/>
            <a:chOff x="708766" y="1797999"/>
            <a:chExt cx="3566160" cy="476885"/>
          </a:xfrm>
        </p:grpSpPr>
        <p:sp>
          <p:nvSpPr>
            <p:cNvPr id="8" name="矩形: 圆角 6"/>
            <p:cNvSpPr/>
            <p:nvPr>
              <p:custDataLst>
                <p:tags r:id="rId3"/>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708766" y="1797999"/>
              <a:ext cx="3554730" cy="443865"/>
            </a:xfrm>
            <a:prstGeom prst="rect">
              <a:avLst/>
            </a:prstGeom>
            <a:noFill/>
          </p:spPr>
          <p:txBody>
            <a:bodyPr wrap="square" rtlCol="0">
              <a:normAutofit fontScale="98666"/>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20204" pitchFamily="34" charset="0"/>
                  <a:ea typeface="思源黑体 CN Normal" panose="020B0400000000000000" pitchFamily="34" charset="-122"/>
                  <a:sym typeface="Arial" panose="020B0604020202020204" pitchFamily="34" charset="0"/>
                </a:rPr>
                <a:t>(3) Test the results</a:t>
              </a:r>
            </a:p>
          </p:txBody>
        </p:sp>
      </p:grpSp>
      <p:sp>
        <p:nvSpPr>
          <p:cNvPr id="7" name="文本框 6"/>
          <p:cNvSpPr txBox="1"/>
          <p:nvPr>
            <p:custDataLst>
              <p:tags r:id="rId1"/>
            </p:custDataLst>
          </p:nvPr>
        </p:nvSpPr>
        <p:spPr>
          <a:xfrm>
            <a:off x="993775" y="2098675"/>
            <a:ext cx="10295890" cy="506730"/>
          </a:xfrm>
          <a:prstGeom prst="rect">
            <a:avLst/>
          </a:prstGeom>
          <a:noFill/>
          <a:ln w="9525">
            <a:noFill/>
          </a:ln>
        </p:spPr>
        <p:txBody>
          <a:bodyPr wrap="square">
            <a:normAutofit fontScale="97760"/>
          </a:bodyPr>
          <a:lstStyle/>
          <a:p>
            <a:pPr>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2-14 in IDEA, and the results are shown in the following figure.</a:t>
            </a:r>
          </a:p>
        </p:txBody>
      </p:sp>
      <p:pic>
        <p:nvPicPr>
          <p:cNvPr id="3" name="图片 -2147482591">
            <a:extLst>
              <a:ext uri="{FF2B5EF4-FFF2-40B4-BE49-F238E27FC236}">
                <a16:creationId xmlns:a16="http://schemas.microsoft.com/office/drawing/2014/main" id="{970DD3EC-C4AF-AE0E-E6D2-6097084F56C7}"/>
              </a:ext>
            </a:extLst>
          </p:cNvPr>
          <p:cNvPicPr>
            <a:picLocks noChangeAspect="1"/>
          </p:cNvPicPr>
          <p:nvPr>
            <p:custDataLst>
              <p:tags r:id="rId2"/>
            </p:custDataLst>
          </p:nvPr>
        </p:nvPicPr>
        <p:blipFill>
          <a:blip r:embed="rId7"/>
          <a:stretch>
            <a:fillRect/>
          </a:stretch>
        </p:blipFill>
        <p:spPr>
          <a:xfrm>
            <a:off x="2662555" y="2853055"/>
            <a:ext cx="6959094" cy="31932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5356A4A-265C-CDAA-B95B-BB6092C19CB0}"/>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067567" y="2709714"/>
            <a:ext cx="5794540" cy="244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a:t>
            </a:r>
            <a:r>
              <a:rPr lang="zh-CN" altLang="en-US"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annotation-based assembly and auto-assembly</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and be able to implement Bean assembly based on annotation-based assembly and auto-assembly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automatic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694606" y="981522"/>
            <a:ext cx="5062229" cy="461665"/>
            <a:chOff x="873181" y="1813239"/>
            <a:chExt cx="2767965" cy="461665"/>
          </a:xfrm>
        </p:grpSpPr>
        <p:sp>
          <p:nvSpPr>
            <p:cNvPr id="3" name="矩形: 圆角 6"/>
            <p:cNvSpPr/>
            <p:nvPr>
              <p:custDataLst>
                <p:tags r:id="rId2"/>
              </p:custDataLst>
            </p:nvPr>
          </p:nvSpPr>
          <p:spPr>
            <a:xfrm>
              <a:off x="979276" y="1813239"/>
              <a:ext cx="2653020" cy="46166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 name="文本框 3"/>
            <p:cNvSpPr txBox="1"/>
            <p:nvPr>
              <p:custDataLst>
                <p:tags r:id="rId3"/>
              </p:custDataLst>
            </p:nvPr>
          </p:nvSpPr>
          <p:spPr>
            <a:xfrm>
              <a:off x="873181" y="1831039"/>
              <a:ext cx="2767965" cy="443865"/>
            </a:xfrm>
            <a:prstGeom prst="rect">
              <a:avLst/>
            </a:prstGeom>
            <a:noFill/>
          </p:spPr>
          <p:txBody>
            <a:bodyPr wrap="square" rtlCol="0">
              <a:normAutofit fontScale="59149" lnSpcReduction="20000"/>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2900" dirty="0">
                  <a:latin typeface="Arial" panose="020B0604020202020204" pitchFamily="34" charset="0"/>
                  <a:ea typeface="思源黑体 CN Normal" panose="020B0400000000000000" pitchFamily="34" charset="-122"/>
                  <a:sym typeface="Arial" panose="020B0604020202020204" pitchFamily="34" charset="0"/>
                </a:rPr>
                <a:t>1. Injection of setter methods for properties</a:t>
              </a:r>
            </a:p>
          </p:txBody>
        </p:sp>
      </p:grpSp>
      <p:sp>
        <p:nvSpPr>
          <p:cNvPr id="100" name="文本框 99"/>
          <p:cNvSpPr txBox="1"/>
          <p:nvPr>
            <p:custDataLst>
              <p:tags r:id="rId1"/>
            </p:custDataLst>
          </p:nvPr>
        </p:nvSpPr>
        <p:spPr>
          <a:xfrm>
            <a:off x="334566" y="1443188"/>
            <a:ext cx="11737304" cy="5149700"/>
          </a:xfrm>
          <a:prstGeom prst="rect">
            <a:avLst/>
          </a:prstGeom>
          <a:noFill/>
          <a:ln w="9525">
            <a:noFill/>
          </a:ln>
        </p:spPr>
        <p:txBody>
          <a:bodyPr wrap="square">
            <a:noAutofit/>
          </a:bodyPr>
          <a:lstStyle/>
          <a:p>
            <a:pPr algn="just">
              <a:lnSpc>
                <a:spcPct val="150000"/>
              </a:lnSpc>
              <a:buClrTx/>
              <a:buSzTx/>
              <a:buFontTx/>
            </a:pPr>
            <a:r>
              <a:rPr lang="en-US" altLang="zh-CN" sz="1800" b="0" dirty="0" err="1">
                <a:solidFill>
                  <a:srgbClr val="595959"/>
                </a:solidFill>
                <a:latin typeface="微软雅黑" panose="020B0503020204020204" pitchFamily="34" charset="-122"/>
                <a:ea typeface="微软雅黑" panose="020B0503020204020204" pitchFamily="34" charset="-122"/>
                <a:cs typeface="+mn-ea"/>
              </a:rPr>
              <a:t>In actual development, </a:t>
            </a:r>
            <a:r>
              <a:rPr lang="en-US" altLang="zh-CN" sz="1800" b="0" dirty="0" err="1">
                <a:solidFill>
                  <a:srgbClr val="0070C0"/>
                </a:solidFill>
                <a:latin typeface="微软雅黑" panose="020B0503020204020204" pitchFamily="34" charset="-122"/>
                <a:ea typeface="微软雅黑" panose="020B0503020204020204" pitchFamily="34" charset="-122"/>
                <a:cs typeface="+mn-ea"/>
              </a:rPr>
              <a:t>if there are a large number of beans in the application, assembling beans through the traditional XML configuration method will result in the XML file becoming bloated and difficult to maintain.</a:t>
            </a:r>
            <a:r>
              <a:rPr lang="en-US" altLang="zh-CN" sz="1800" b="0" dirty="0" err="1">
                <a:solidFill>
                  <a:srgbClr val="595959"/>
                </a:solidFill>
                <a:latin typeface="微软雅黑" panose="020B0503020204020204" pitchFamily="34" charset="-122"/>
                <a:ea typeface="微软雅黑" panose="020B0503020204020204" pitchFamily="34" charset="-122"/>
                <a:cs typeface="+mn-ea"/>
              </a:rPr>
              <a:t> To address this issue, Spring offers annotation-based assembly methods. By using annotations, you can directly label the required assembly information on classes and properties, making the configuration more concise and intuitive.</a:t>
            </a:r>
          </a:p>
          <a:p>
            <a:pPr algn="just">
              <a:lnSpc>
                <a:spcPct val="150000"/>
              </a:lnSpc>
              <a:buClrTx/>
              <a:buSzTx/>
              <a:buFontTx/>
            </a:pPr>
            <a:r>
              <a:rPr lang="en-US" altLang="zh-CN" sz="1800" dirty="0" err="1">
                <a:solidFill>
                  <a:srgbClr val="0070C0"/>
                </a:solidFill>
                <a:latin typeface="微软雅黑" panose="020B0503020204020204" pitchFamily="34" charset="-122"/>
                <a:ea typeface="微软雅黑" panose="020B0503020204020204" pitchFamily="34" charset="-122"/>
                <a:cs typeface="+mn-ea"/>
              </a:rPr>
              <a:t>Spring's annotation-based assembly is a way of dependency injection and Bean configuration that tells the Spring container how to instantiate these classes as managed beans by using specific annotations on class definitions and properties. </a:t>
            </a:r>
            <a:r>
              <a:rPr lang="en-US" altLang="zh-CN" sz="1800" b="0" dirty="0" err="1">
                <a:solidFill>
                  <a:srgbClr val="595959"/>
                </a:solidFill>
                <a:latin typeface="微软雅黑" panose="020B0503020204020204" pitchFamily="34" charset="-122"/>
                <a:ea typeface="微软雅黑" panose="020B0503020204020204" pitchFamily="34" charset="-122"/>
                <a:cs typeface="+mn-ea"/>
              </a:rPr>
              <a:t>Auto-assembly is when the Spring container automatically identifies and injects dependencies between beans according to the rules without explicitly declaring the dependencies. Annotation-based assembly allows the Spring container to know how to handle specific classes, while auto-assembly enables the Spring container to automatically resolve dependencies between beans. They are functionally different, but are often combined in practical use.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7352"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custDataLst>
              <p:tags r:id="rId1"/>
            </p:custDataLst>
          </p:nvPr>
        </p:nvSpPr>
        <p:spPr>
          <a:xfrm>
            <a:off x="2806857" y="823976"/>
            <a:ext cx="6576695" cy="553085"/>
          </a:xfrm>
          <a:prstGeom prst="rect">
            <a:avLst/>
          </a:prstGeom>
          <a:noFill/>
          <a:ln w="9525">
            <a:noFill/>
          </a:ln>
        </p:spPr>
        <p:txBody>
          <a:bodyPr wrap="square">
            <a:noAutofit/>
          </a:bodyPr>
          <a:lstStyle/>
          <a:p>
            <a:pPr algn="just">
              <a:lnSpc>
                <a:spcPct val="150000"/>
              </a:lnSpc>
              <a:buClrTx/>
              <a:buSzTx/>
              <a:buFontTx/>
            </a:pPr>
            <a:r>
              <a:rPr lang="en-US" altLang="zh-CN" sz="2000" b="0" dirty="0" err="1">
                <a:solidFill>
                  <a:srgbClr val="595959"/>
                </a:solidFill>
                <a:latin typeface="微软雅黑" panose="020B0503020204020204" pitchFamily="34" charset="-122"/>
                <a:ea typeface="微软雅黑" panose="020B0503020204020204" pitchFamily="34" charset="-122"/>
                <a:cs typeface="+mn-ea"/>
              </a:rPr>
              <a:t>Common annotations Spring uses for assembly</a:t>
            </a:r>
          </a:p>
        </p:txBody>
      </p:sp>
      <p:graphicFrame>
        <p:nvGraphicFramePr>
          <p:cNvPr id="5" name="表格 4"/>
          <p:cNvGraphicFramePr/>
          <p:nvPr>
            <p:custDataLst>
              <p:tags r:id="rId2"/>
            </p:custDataLst>
            <p:extLst>
              <p:ext uri="{D42A27DB-BD31-4B8C-83A1-F6EECF244321}">
                <p14:modId xmlns:p14="http://schemas.microsoft.com/office/powerpoint/2010/main" val="2419536034"/>
              </p:ext>
            </p:extLst>
          </p:nvPr>
        </p:nvGraphicFramePr>
        <p:xfrm>
          <a:off x="694605" y="1485578"/>
          <a:ext cx="10801200" cy="4706750"/>
        </p:xfrm>
        <a:graphic>
          <a:graphicData uri="http://schemas.openxmlformats.org/drawingml/2006/table">
            <a:tbl>
              <a:tblPr/>
              <a:tblGrid>
                <a:gridCol w="2852890">
                  <a:extLst>
                    <a:ext uri="{9D8B030D-6E8A-4147-A177-3AD203B41FA5}">
                      <a16:colId xmlns:a16="http://schemas.microsoft.com/office/drawing/2014/main" val="20000"/>
                    </a:ext>
                  </a:extLst>
                </a:gridCol>
                <a:gridCol w="7948310">
                  <a:extLst>
                    <a:ext uri="{9D8B030D-6E8A-4147-A177-3AD203B41FA5}">
                      <a16:colId xmlns:a16="http://schemas.microsoft.com/office/drawing/2014/main" val="20001"/>
                    </a:ext>
                  </a:extLst>
                </a:gridCol>
              </a:tblGrid>
              <a:tr h="47117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Annotations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dirty="0">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18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@Component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Used to label classes as Beans in Spring</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@Controller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en-US" sz="1800" b="0" dirty="0" err="1">
                          <a:solidFill>
                            <a:srgbClr val="595959"/>
                          </a:solidFill>
                          <a:latin typeface="微软雅黑" panose="020B0503020204020204" pitchFamily="34" charset="-122"/>
                          <a:ea typeface="微软雅黑" panose="020B0503020204020204" pitchFamily="34" charset="-122"/>
                          <a:cs typeface="+mn-ea"/>
                        </a:rPr>
                        <a:t>Specify a controller component Bean that is functionally equivalent to @Component</a:t>
                      </a:r>
                      <a:endParaRPr lang="en-US" altLang="zh-CN" sz="1800" b="0" dirty="0" err="1">
                        <a:solidFill>
                          <a:srgbClr val="595959"/>
                        </a:solidFill>
                        <a:latin typeface="微软雅黑" panose="020B0503020204020204" pitchFamily="34" charset="-122"/>
                        <a:ea typeface="微软雅黑" panose="020B0503020204020204" pitchFamily="34" charset="-122"/>
                        <a:cs typeface="+mn-ea"/>
                      </a:endParaRP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@Service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a business logic component Bean to label the classes of the business logic layer as Beans in Spring, functionally equivalent to @Component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@Repository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a data access component Bean to label the classes of the data access layer as Beans in Spring, functionally equivalent to @Component</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@Scope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the scope of the Bean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@Value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the injection value of the Bean</a:t>
                      </a:r>
                    </a:p>
                  </a:txBody>
                  <a:tcPr marL="68580" marR="68580" marT="0" marB="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p:nvPr>
            <p:custDataLst>
              <p:tags r:id="rId1"/>
            </p:custDataLst>
          </p:nvPr>
        </p:nvGraphicFramePr>
        <p:xfrm>
          <a:off x="948372" y="2117725"/>
          <a:ext cx="10068560" cy="2669860"/>
        </p:xfrm>
        <a:graphic>
          <a:graphicData uri="http://schemas.openxmlformats.org/drawingml/2006/table">
            <a:tbl>
              <a:tblPr/>
              <a:tblGrid>
                <a:gridCol w="2659380">
                  <a:extLst>
                    <a:ext uri="{9D8B030D-6E8A-4147-A177-3AD203B41FA5}">
                      <a16:colId xmlns:a16="http://schemas.microsoft.com/office/drawing/2014/main" val="20000"/>
                    </a:ext>
                  </a:extLst>
                </a:gridCol>
                <a:gridCol w="7409180">
                  <a:extLst>
                    <a:ext uri="{9D8B030D-6E8A-4147-A177-3AD203B41FA5}">
                      <a16:colId xmlns:a16="http://schemas.microsoft.com/office/drawing/2014/main" val="20001"/>
                    </a:ext>
                  </a:extLst>
                </a:gridCol>
              </a:tblGrid>
              <a:tr h="443230">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Annotations</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a:solidFill>
                        <a:schemeClr val="bg1"/>
                      </a:solidFill>
                      <a:prstDash val="solid"/>
                    </a:lnR>
                    <a:lnT w="12700" cap="flat" cmpd="sng">
                      <a:solidFill>
                        <a:schemeClr val="bg1"/>
                      </a:solidFill>
                      <a:prstDash val="solid"/>
                      <a:headEnd type="none" w="med" len="med"/>
                      <a:tailEnd type="none" w="med" len="med"/>
                    </a:lnT>
                    <a:lnB w="12700">
                      <a:solidFill>
                        <a:schemeClr val="bg1"/>
                      </a:solidFill>
                      <a:prstDash val="solid"/>
                    </a:lnB>
                    <a:lnTlToBr>
                      <a:noFill/>
                    </a:lnTlToBr>
                    <a:lnBlToTr>
                      <a:noFill/>
                    </a:lnBlToTr>
                    <a:solidFill>
                      <a:schemeClr val="bg1">
                        <a:lumMod val="95000"/>
                      </a:schemeClr>
                    </a:solidFill>
                  </a:tcPr>
                </a:tc>
                <a:tc>
                  <a:txBody>
                    <a:bodyPr/>
                    <a:lstStyle/>
                    <a:p>
                      <a:pPr indent="0" algn="ctr">
                        <a:buNone/>
                      </a:pPr>
                      <a:r>
                        <a:rPr lang="en-US" sz="1800" b="1">
                          <a:latin typeface="微软雅黑" panose="020B0503020204020204" pitchFamily="34" charset="-122"/>
                          <a:ea typeface="微软雅黑" panose="020B0503020204020204" pitchFamily="34" charset="-122"/>
                          <a:cs typeface="宋体" panose="02010600030101010101" pitchFamily="2" charset="-122"/>
                        </a:rPr>
                        <a:t>Description</a:t>
                      </a:r>
                      <a:endParaRPr lang="en-US" altLang="en-US" sz="18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a:solidFill>
                        <a:schemeClr val="bg1"/>
                      </a:solidFill>
                      <a:prstDash val="solid"/>
                    </a:lnL>
                    <a:lnR w="12700" cap="flat">
                      <a:solidFill>
                        <a:schemeClr val="bg1"/>
                      </a:solidFill>
                      <a:prstDash val="solid"/>
                    </a:lnR>
                    <a:lnT w="12700" cap="flat" cmpd="sng">
                      <a:solidFill>
                        <a:schemeClr val="bg1"/>
                      </a:solidFill>
                      <a:prstDash val="solid"/>
                      <a:headEnd type="none" w="med" len="med"/>
                      <a:tailEnd type="none" w="med" len="me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@Autowired</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the objects to be automatically assembled</a:t>
                      </a:r>
                    </a:p>
                  </a:txBody>
                  <a:tcPr marL="68580" marR="68580" marT="0" marB="0">
                    <a:lnL w="12700">
                      <a:solidFill>
                        <a:schemeClr val="bg1"/>
                      </a:solidFill>
                      <a:prstDash val="solid"/>
                    </a:lnL>
                    <a:lnR w="12700" cap="flat">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@Resource</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the object to be injected</a:t>
                      </a:r>
                    </a:p>
                  </a:txBody>
                  <a:tcPr marL="68580" marR="68580" marT="0" marB="0">
                    <a:lnL w="12700">
                      <a:solidFill>
                        <a:schemeClr val="bg1"/>
                      </a:solidFill>
                      <a:prstDash val="solid"/>
                    </a:lnL>
                    <a:lnR w="12700" cap="flat">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@Qualifier</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zh-CN" altLang="en-US" sz="1800" b="0" dirty="0" err="1">
                          <a:solidFill>
                            <a:srgbClr val="595959"/>
                          </a:solidFill>
                          <a:latin typeface="微软雅黑" panose="020B0503020204020204" pitchFamily="34" charset="-122"/>
                          <a:ea typeface="微软雅黑" panose="020B0503020204020204" pitchFamily="34" charset="-122"/>
                          <a:cs typeface="+mn-ea"/>
                        </a:rPr>
                        <a:t>Specify the beans that are explicitly to be injected during auto-assembly, often in conjunction with @Autowired</a:t>
                      </a:r>
                      <a:endParaRPr lang="en-US" altLang="zh-CN" sz="1800" b="0" dirty="0" err="1">
                        <a:solidFill>
                          <a:srgbClr val="595959"/>
                        </a:solidFill>
                        <a:latin typeface="微软雅黑" panose="020B0503020204020204" pitchFamily="34" charset="-122"/>
                        <a:ea typeface="微软雅黑" panose="020B0503020204020204" pitchFamily="34" charset="-122"/>
                        <a:cs typeface="+mn-ea"/>
                      </a:endParaRPr>
                    </a:p>
                  </a:txBody>
                  <a:tcPr marL="68580" marR="68580" marT="0" marB="0">
                    <a:lnL w="12700">
                      <a:solidFill>
                        <a:schemeClr val="bg1"/>
                      </a:solidFill>
                      <a:prstDash val="solid"/>
                    </a:lnL>
                    <a:lnR w="12700" cap="flat">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0">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@PostConstruct</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the method to be invoked after the Bean is fully initialized</a:t>
                      </a:r>
                    </a:p>
                  </a:txBody>
                  <a:tcPr marL="68580" marR="68580" marT="0" marB="0">
                    <a:lnL w="12700">
                      <a:solidFill>
                        <a:schemeClr val="bg1"/>
                      </a:solidFill>
                      <a:prstDash val="solid"/>
                    </a:lnL>
                    <a:lnR w="12700" cap="flat">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222885">
                <a:tc>
                  <a:txBody>
                    <a:bodyPr/>
                    <a:lstStyle/>
                    <a:p>
                      <a:pPr algn="ctr">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@PreDestroy</a:t>
                      </a:r>
                    </a:p>
                  </a:txBody>
                  <a:tcPr marL="68580" marR="68580" marT="0" marB="0" anchor="ctr">
                    <a:lnL w="12700">
                      <a:solidFill>
                        <a:schemeClr val="bg1"/>
                      </a:solidFill>
                      <a:prstDash val="solid"/>
                    </a:lnL>
                    <a:lnR w="12700">
                      <a:solidFill>
                        <a:schemeClr val="bg1"/>
                      </a:solidFill>
                      <a:prstDash val="solid"/>
                    </a:lnR>
                    <a:lnT w="12700">
                      <a:solidFill>
                        <a:schemeClr val="bg1"/>
                      </a:solidFill>
                      <a:prstDash val="soli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tc>
                  <a:txBody>
                    <a:bodyPr/>
                    <a:lstStyle/>
                    <a:p>
                      <a:pPr algn="just">
                        <a:lnSpc>
                          <a:spcPct val="150000"/>
                        </a:lnSpc>
                        <a:buClrTx/>
                        <a:buSzTx/>
                        <a:buFontTx/>
                        <a:buNone/>
                      </a:pPr>
                      <a:r>
                        <a:rPr lang="en-US" altLang="zh-CN" sz="1800" b="0" dirty="0" err="1">
                          <a:solidFill>
                            <a:srgbClr val="595959"/>
                          </a:solidFill>
                          <a:latin typeface="微软雅黑" panose="020B0503020204020204" pitchFamily="34" charset="-122"/>
                          <a:ea typeface="微软雅黑" panose="020B0503020204020204" pitchFamily="34" charset="-122"/>
                          <a:cs typeface="+mn-ea"/>
                        </a:rPr>
                        <a:t>Specify the method to be called before the Bean is destroyed</a:t>
                      </a:r>
                    </a:p>
                  </a:txBody>
                  <a:tcPr marL="68580" marR="68580" marT="0" marB="0">
                    <a:lnL w="12700">
                      <a:solidFill>
                        <a:schemeClr val="bg1"/>
                      </a:solidFill>
                      <a:prstDash val="solid"/>
                    </a:lnL>
                    <a:lnR w="12700" cap="flat">
                      <a:solidFill>
                        <a:schemeClr val="bg1"/>
                      </a:solidFill>
                      <a:prstDash val="solid"/>
                    </a:lnR>
                    <a:lnT w="12700">
                      <a:solidFill>
                        <a:schemeClr val="bg1"/>
                      </a:solidFill>
                      <a:prstDash val="solid"/>
                    </a:lnT>
                    <a:lnB w="12700" cap="flat" cmpd="sng">
                      <a:solidFill>
                        <a:schemeClr val="bg1"/>
                      </a:solidFill>
                      <a:prstDash val="soli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622598" y="2318981"/>
            <a:ext cx="4795738" cy="476885"/>
            <a:chOff x="708766" y="1797999"/>
            <a:chExt cx="3566160" cy="476885"/>
          </a:xfrm>
        </p:grpSpPr>
        <p:sp>
          <p:nvSpPr>
            <p:cNvPr id="8" name="矩形: 圆角 6"/>
            <p:cNvSpPr/>
            <p:nvPr>
              <p:custDataLst>
                <p:tags r:id="rId4"/>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5"/>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Apply to member variables</a:t>
              </a:r>
            </a:p>
          </p:txBody>
        </p:sp>
      </p:grpSp>
      <p:sp>
        <p:nvSpPr>
          <p:cNvPr id="10" name="文本框 9"/>
          <p:cNvSpPr txBox="1"/>
          <p:nvPr>
            <p:custDataLst>
              <p:tags r:id="rId1"/>
            </p:custDataLst>
          </p:nvPr>
        </p:nvSpPr>
        <p:spPr>
          <a:xfrm>
            <a:off x="986236" y="833001"/>
            <a:ext cx="10371374" cy="1444665"/>
          </a:xfrm>
          <a:prstGeom prst="rect">
            <a:avLst/>
          </a:prstGeom>
          <a:noFill/>
          <a:ln w="9525">
            <a:noFill/>
          </a:ln>
        </p:spPr>
        <p:txBody>
          <a:bodyPr wrap="square">
            <a:noAutofit/>
          </a:bodyPr>
          <a:lstStyle/>
          <a:p>
            <a:pPr algn="l">
              <a:lnSpc>
                <a:spcPct val="150000"/>
              </a:lnSpc>
              <a:buClrTx/>
              <a:buSzTx/>
              <a:buFontTx/>
            </a:pPr>
            <a:r>
              <a:rPr lang="zh-CN" altLang="it-IT" sz="2000" b="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rPr>
              <a:t>The </a:t>
            </a:r>
            <a:r>
              <a:rPr lang="zh-CN" altLang="it-IT" sz="200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@Autowired </a:t>
            </a:r>
            <a:r>
              <a:rPr lang="zh-CN" altLang="it-IT" sz="2000" b="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rPr>
              <a:t>annotation can be applied to </a:t>
            </a:r>
            <a:r>
              <a:rPr lang="zh-CN" altLang="it-IT" sz="2000" b="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member variables, setter methods, or constructors </a:t>
            </a:r>
            <a:r>
              <a:rPr lang="zh-CN" altLang="it-IT" sz="20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rPr>
              <a:t>of a class to instruct the Spring container to </a:t>
            </a:r>
            <a:r>
              <a:rPr lang="zh-CN" altLang="it-IT" sz="200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rPr>
              <a:t>automatically inject dependencies when initializing beans, as shown in the following example.</a:t>
            </a:r>
            <a:endParaRPr lang="it-IT" altLang="zh-CN" sz="2000" dirty="0">
              <a:solidFill>
                <a:srgbClr val="1369B2"/>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2" name="矩形 1"/>
          <p:cNvSpPr/>
          <p:nvPr>
            <p:custDataLst>
              <p:tags r:id="rId2"/>
            </p:custDataLst>
          </p:nvPr>
        </p:nvSpPr>
        <p:spPr>
          <a:xfrm>
            <a:off x="1019810" y="3072765"/>
            <a:ext cx="10337800" cy="20110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3"/>
            </p:custDataLst>
          </p:nvPr>
        </p:nvSpPr>
        <p:spPr>
          <a:xfrm>
            <a:off x="931545" y="3105150"/>
            <a:ext cx="10478135" cy="8947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@Component</a:t>
            </a:r>
          </a:p>
          <a:p>
            <a:pPr algn="l">
              <a:lnSpc>
                <a:spcPct val="130000"/>
              </a:lnSpc>
              <a:spcBef>
                <a:spcPts val="0"/>
              </a:spcBef>
              <a:spcAft>
                <a:spcPts val="0"/>
              </a:spcAft>
              <a:defRPr/>
            </a:pPr>
            <a:r>
              <a:rPr lang="en-US" sz="1800" dirty="0">
                <a:latin typeface="Courier New" panose="02070309020205020404" pitchFamily="49" charset="0"/>
                <a:sym typeface="+mn-ea"/>
              </a:rPr>
              <a:t> 2 public class </a:t>
            </a:r>
            <a:r>
              <a:rPr lang="en-US" sz="1800" dirty="0" err="1">
                <a:latin typeface="Courier New" panose="02070309020205020404" pitchFamily="49" charset="0"/>
                <a:sym typeface="+mn-ea"/>
              </a:rPr>
              <a:t>MyComponent</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3     @Autowired</a:t>
            </a:r>
          </a:p>
          <a:p>
            <a:pPr algn="l">
              <a:lnSpc>
                <a:spcPct val="130000"/>
              </a:lnSpc>
              <a:spcBef>
                <a:spcPts val="0"/>
              </a:spcBef>
              <a:spcAft>
                <a:spcPts val="0"/>
              </a:spcAft>
              <a:defRPr/>
            </a:pPr>
            <a:r>
              <a:rPr lang="en-US" sz="1800" dirty="0">
                <a:latin typeface="Courier New" panose="02070309020205020404" pitchFamily="49" charset="0"/>
                <a:sym typeface="+mn-ea"/>
              </a:rPr>
              <a:t> 4     private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23404" y="1321159"/>
            <a:ext cx="5731842" cy="476885"/>
            <a:chOff x="708766" y="1797999"/>
            <a:chExt cx="3566160" cy="476885"/>
          </a:xfrm>
        </p:grpSpPr>
        <p:sp>
          <p:nvSpPr>
            <p:cNvPr id="8" name="矩形: 圆角 6"/>
            <p:cNvSpPr/>
            <p:nvPr>
              <p:custDataLst>
                <p:tags r:id="rId3"/>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Apply to the construction method</a:t>
              </a:r>
            </a:p>
          </p:txBody>
        </p:sp>
      </p:grpSp>
      <p:sp>
        <p:nvSpPr>
          <p:cNvPr id="2" name="矩形 1"/>
          <p:cNvSpPr/>
          <p:nvPr>
            <p:custDataLst>
              <p:tags r:id="rId1"/>
            </p:custDataLst>
          </p:nvPr>
        </p:nvSpPr>
        <p:spPr>
          <a:xfrm>
            <a:off x="1019810" y="2139950"/>
            <a:ext cx="10337800" cy="31000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2"/>
            </p:custDataLst>
          </p:nvPr>
        </p:nvSpPr>
        <p:spPr>
          <a:xfrm>
            <a:off x="931545" y="2172335"/>
            <a:ext cx="10478135" cy="8947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@Component</a:t>
            </a:r>
          </a:p>
          <a:p>
            <a:pPr algn="l">
              <a:lnSpc>
                <a:spcPct val="130000"/>
              </a:lnSpc>
              <a:spcBef>
                <a:spcPts val="0"/>
              </a:spcBef>
              <a:spcAft>
                <a:spcPts val="0"/>
              </a:spcAft>
              <a:defRPr/>
            </a:pPr>
            <a:r>
              <a:rPr lang="en-US" sz="1800" dirty="0">
                <a:latin typeface="Courier New" panose="02070309020205020404" pitchFamily="49" charset="0"/>
                <a:sym typeface="+mn-ea"/>
              </a:rPr>
              <a:t> 2 public class </a:t>
            </a:r>
            <a:r>
              <a:rPr lang="en-US" sz="1800" dirty="0" err="1">
                <a:latin typeface="Courier New" panose="02070309020205020404" pitchFamily="49" charset="0"/>
                <a:sym typeface="+mn-ea"/>
              </a:rPr>
              <a:t>MyComponent</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3     private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4     @Autowired</a:t>
            </a:r>
          </a:p>
          <a:p>
            <a:pPr algn="l">
              <a:lnSpc>
                <a:spcPct val="130000"/>
              </a:lnSpc>
              <a:spcBef>
                <a:spcPts val="0"/>
              </a:spcBef>
              <a:spcAft>
                <a:spcPts val="0"/>
              </a:spcAft>
              <a:defRPr/>
            </a:pPr>
            <a:r>
              <a:rPr lang="en-US" sz="1800" dirty="0">
                <a:latin typeface="Courier New" panose="02070309020205020404" pitchFamily="49" charset="0"/>
                <a:sym typeface="+mn-ea"/>
              </a:rPr>
              <a:t> 5     public </a:t>
            </a:r>
            <a:r>
              <a:rPr lang="en-US" sz="1800" dirty="0" err="1">
                <a:latin typeface="Courier New" panose="02070309020205020404" pitchFamily="49" charset="0"/>
                <a:sym typeface="+mn-ea"/>
              </a:rPr>
              <a:t>MyComponent</a:t>
            </a:r>
            <a:r>
              <a:rPr lang="en-US" sz="1800" dirty="0">
                <a:latin typeface="Courier New" panose="02070309020205020404" pitchFamily="49" charset="0"/>
                <a:sym typeface="+mn-ea"/>
              </a:rPr>
              <a:t>(</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6         </a:t>
            </a:r>
            <a:r>
              <a:rPr lang="en-US" sz="1800" dirty="0" err="1">
                <a:latin typeface="Courier New" panose="02070309020205020404" pitchFamily="49" charset="0"/>
                <a:sym typeface="+mn-ea"/>
              </a:rPr>
              <a:t>this.myService</a:t>
            </a:r>
            <a:r>
              <a:rPr lang="en-US" sz="1800" dirty="0">
                <a:latin typeface="Courier New" panose="02070309020205020404" pitchFamily="49" charset="0"/>
                <a:sym typeface="+mn-ea"/>
              </a:rPr>
              <a:t> =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7}</a:t>
            </a:r>
          </a:p>
          <a:p>
            <a:pPr algn="l">
              <a:lnSpc>
                <a:spcPct val="130000"/>
              </a:lnSpc>
              <a:spcBef>
                <a:spcPts val="0"/>
              </a:spcBef>
              <a:spcAft>
                <a:spcPts val="0"/>
              </a:spcAft>
              <a:defRPr/>
            </a:pPr>
            <a:r>
              <a:rPr lang="en-US" sz="1800" dirty="0">
                <a:latin typeface="Courier New" panose="02070309020205020404" pitchFamily="49" charset="0"/>
                <a:sym typeface="+mn-ea"/>
              </a:rPr>
              <a:t> 8}</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723404" y="1321159"/>
            <a:ext cx="5371802" cy="476885"/>
            <a:chOff x="708766" y="1797999"/>
            <a:chExt cx="3566160" cy="476885"/>
          </a:xfrm>
        </p:grpSpPr>
        <p:sp>
          <p:nvSpPr>
            <p:cNvPr id="8" name="矩形: 圆角 6"/>
            <p:cNvSpPr/>
            <p:nvPr>
              <p:custDataLst>
                <p:tags r:id="rId3"/>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p:cNvSpPr txBox="1"/>
            <p:nvPr>
              <p:custDataLst>
                <p:tags r:id="rId4"/>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Applied to the S-etter method</a:t>
              </a:r>
            </a:p>
          </p:txBody>
        </p:sp>
      </p:grpSp>
      <p:sp>
        <p:nvSpPr>
          <p:cNvPr id="2" name="矩形 1"/>
          <p:cNvSpPr/>
          <p:nvPr>
            <p:custDataLst>
              <p:tags r:id="rId1"/>
            </p:custDataLst>
          </p:nvPr>
        </p:nvSpPr>
        <p:spPr>
          <a:xfrm>
            <a:off x="1019810" y="2139950"/>
            <a:ext cx="10337800" cy="31000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2"/>
            </p:custDataLst>
          </p:nvPr>
        </p:nvSpPr>
        <p:spPr>
          <a:xfrm>
            <a:off x="931545" y="2172335"/>
            <a:ext cx="10478135" cy="8947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@Component</a:t>
            </a:r>
          </a:p>
          <a:p>
            <a:pPr algn="l">
              <a:lnSpc>
                <a:spcPct val="130000"/>
              </a:lnSpc>
              <a:spcBef>
                <a:spcPts val="0"/>
              </a:spcBef>
              <a:spcAft>
                <a:spcPts val="0"/>
              </a:spcAft>
              <a:defRPr/>
            </a:pPr>
            <a:r>
              <a:rPr lang="en-US" sz="1800" dirty="0">
                <a:latin typeface="Courier New" panose="02070309020205020404" pitchFamily="49" charset="0"/>
                <a:sym typeface="+mn-ea"/>
              </a:rPr>
              <a:t> 2 public class </a:t>
            </a:r>
            <a:r>
              <a:rPr lang="en-US" sz="1800" dirty="0" err="1">
                <a:latin typeface="Courier New" panose="02070309020205020404" pitchFamily="49" charset="0"/>
                <a:sym typeface="+mn-ea"/>
              </a:rPr>
              <a:t>MyComponent</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3     private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4     @Autowired</a:t>
            </a:r>
          </a:p>
          <a:p>
            <a:pPr algn="l">
              <a:lnSpc>
                <a:spcPct val="130000"/>
              </a:lnSpc>
              <a:spcBef>
                <a:spcPts val="0"/>
              </a:spcBef>
              <a:spcAft>
                <a:spcPts val="0"/>
              </a:spcAft>
              <a:defRPr/>
            </a:pPr>
            <a:r>
              <a:rPr lang="en-US" sz="1800" dirty="0">
                <a:latin typeface="Courier New" panose="02070309020205020404" pitchFamily="49" charset="0"/>
                <a:sym typeface="+mn-ea"/>
              </a:rPr>
              <a:t> 5     public void </a:t>
            </a:r>
            <a:r>
              <a:rPr lang="en-US" sz="1800" dirty="0" err="1">
                <a:latin typeface="Courier New" panose="02070309020205020404" pitchFamily="49" charset="0"/>
                <a:sym typeface="+mn-ea"/>
              </a:rPr>
              <a:t>setMyService</a:t>
            </a:r>
            <a:r>
              <a:rPr lang="en-US" sz="1800" dirty="0">
                <a:latin typeface="Courier New" panose="02070309020205020404" pitchFamily="49" charset="0"/>
                <a:sym typeface="+mn-ea"/>
              </a:rPr>
              <a:t>(</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6         </a:t>
            </a:r>
            <a:r>
              <a:rPr lang="en-US" sz="1800" dirty="0" err="1">
                <a:latin typeface="Courier New" panose="02070309020205020404" pitchFamily="49" charset="0"/>
                <a:sym typeface="+mn-ea"/>
              </a:rPr>
              <a:t>this.myService</a:t>
            </a:r>
            <a:r>
              <a:rPr lang="en-US" sz="1800" dirty="0">
                <a:latin typeface="Courier New" panose="02070309020205020404" pitchFamily="49" charset="0"/>
                <a:sym typeface="+mn-ea"/>
              </a:rPr>
              <a:t> = </a:t>
            </a:r>
            <a:r>
              <a:rPr lang="en-US" sz="1800" dirty="0" err="1">
                <a:latin typeface="Courier New" panose="02070309020205020404" pitchFamily="49" charset="0"/>
                <a:sym typeface="+mn-ea"/>
              </a:rPr>
              <a:t>myService</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7}</a:t>
            </a:r>
          </a:p>
          <a:p>
            <a:pPr algn="l">
              <a:lnSpc>
                <a:spcPct val="130000"/>
              </a:lnSpc>
              <a:spcBef>
                <a:spcPts val="0"/>
              </a:spcBef>
              <a:spcAft>
                <a:spcPts val="0"/>
              </a:spcAft>
              <a:defRPr/>
            </a:pPr>
            <a:r>
              <a:rPr lang="en-US" sz="1800" dirty="0">
                <a:latin typeface="Courier New" panose="02070309020205020404" pitchFamily="49" charset="0"/>
                <a:sym typeface="+mn-ea"/>
              </a:rPr>
              <a:t> 8}</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66649" lnSpcReduction="2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automatic 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custDataLst>
              <p:tags r:id="rId1"/>
            </p:custDataLst>
          </p:nvPr>
        </p:nvSpPr>
        <p:spPr>
          <a:xfrm>
            <a:off x="947260" y="817803"/>
            <a:ext cx="10764569" cy="900866"/>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implementation of Bean assembly through annotation-based assembly and automatic assembly via case studies.</a:t>
            </a:r>
          </a:p>
        </p:txBody>
      </p:sp>
      <p:grpSp>
        <p:nvGrpSpPr>
          <p:cNvPr id="3" name="组合 2"/>
          <p:cNvGrpSpPr/>
          <p:nvPr/>
        </p:nvGrpSpPr>
        <p:grpSpPr>
          <a:xfrm>
            <a:off x="694605" y="1831834"/>
            <a:ext cx="5616625" cy="476885"/>
            <a:chOff x="708766" y="1797999"/>
            <a:chExt cx="3566160" cy="476885"/>
          </a:xfrm>
        </p:grpSpPr>
        <p:sp>
          <p:nvSpPr>
            <p:cNvPr id="4" name="矩形: 圆角 6"/>
            <p:cNvSpPr/>
            <p:nvPr>
              <p:custDataLst>
                <p:tags r:id="rId8"/>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9"/>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Use annotations to label UserDao</a:t>
              </a:r>
            </a:p>
          </p:txBody>
        </p:sp>
      </p:grpSp>
      <p:grpSp>
        <p:nvGrpSpPr>
          <p:cNvPr id="11" name="组合 10"/>
          <p:cNvGrpSpPr/>
          <p:nvPr/>
        </p:nvGrpSpPr>
        <p:grpSpPr>
          <a:xfrm>
            <a:off x="6599262" y="4078116"/>
            <a:ext cx="4073003" cy="2163715"/>
            <a:chOff x="5478588" y="3498327"/>
            <a:chExt cx="4073003" cy="2163715"/>
          </a:xfrm>
        </p:grpSpPr>
        <p:sp>
          <p:nvSpPr>
            <p:cNvPr id="16" name="文本框 15"/>
            <p:cNvSpPr txBox="1"/>
            <p:nvPr>
              <p:custDataLst>
                <p:tags r:id="rId5"/>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2-17</a:t>
              </a:r>
            </a:p>
            <a:p>
              <a:pPr algn="ctr"/>
              <a:r>
                <a:rPr sz="1800" dirty="0">
                  <a:sym typeface="+mn-ea"/>
                  <a:hlinkClick r:id="rId12"/>
                </a:rPr>
                <a:t>UserDao.java</a:t>
              </a:r>
              <a:endParaRPr sz="1800" dirty="0">
                <a:sym typeface="+mn-ea"/>
              </a:endParaRPr>
            </a:p>
          </p:txBody>
        </p:sp>
        <p:sp>
          <p:nvSpPr>
            <p:cNvPr id="17" name="圆角矩形 16"/>
            <p:cNvSpPr/>
            <p:nvPr>
              <p:custDataLst>
                <p:tags r:id="rId6"/>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7"/>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13" name="文本框 12"/>
          <p:cNvSpPr txBox="1"/>
          <p:nvPr>
            <p:custDataLst>
              <p:tags r:id="rId2"/>
            </p:custDataLst>
          </p:nvPr>
        </p:nvSpPr>
        <p:spPr>
          <a:xfrm>
            <a:off x="955332" y="2358938"/>
            <a:ext cx="10295890" cy="922020"/>
          </a:xfrm>
          <a:prstGeom prst="rect">
            <a:avLst/>
          </a:prstGeom>
          <a:noFill/>
          <a:ln w="9525">
            <a:noFill/>
          </a:ln>
        </p:spPr>
        <p:txBody>
          <a:bodyPr wrap="square">
            <a:noAutofit/>
          </a:bodyPr>
          <a:lstStyle/>
          <a:p>
            <a:pPr>
              <a:lnSpc>
                <a:spcPct val="170000"/>
              </a:lnSpc>
            </a:pPr>
            <a:r>
              <a:rPr lang="zh-CN" altLang="en-US" sz="2000" dirty="0">
                <a:solidFill>
                  <a:srgbClr val="595959"/>
                </a:solidFill>
                <a:latin typeface="微软雅黑" panose="020B0503020204020204" pitchFamily="34" charset="-122"/>
                <a:ea typeface="微软雅黑" panose="020B0503020204020204" pitchFamily="34" charset="-122"/>
              </a:rPr>
              <a:t>Mark the </a:t>
            </a:r>
            <a:r>
              <a:rPr lang="zh-CN" altLang="en-US" sz="2000" dirty="0">
                <a:solidFill>
                  <a:srgbClr val="0070C0"/>
                </a:solidFill>
                <a:latin typeface="微软雅黑" panose="020B0503020204020204" pitchFamily="34" charset="-122"/>
                <a:ea typeface="微软雅黑" panose="020B0503020204020204" pitchFamily="34" charset="-122"/>
              </a:rPr>
              <a:t>UserDao class </a:t>
            </a:r>
            <a:r>
              <a:rPr lang="zh-CN" altLang="en-US" sz="2000" dirty="0">
                <a:solidFill>
                  <a:srgbClr val="595959"/>
                </a:solidFill>
                <a:latin typeface="微软雅黑" panose="020B0503020204020204" pitchFamily="34" charset="-122"/>
                <a:ea typeface="微软雅黑" panose="020B0503020204020204" pitchFamily="34" charset="-122"/>
              </a:rPr>
              <a:t>in chapter02 of the project with the </a:t>
            </a:r>
            <a:r>
              <a:rPr lang="zh-CN" altLang="en-US" sz="2000" dirty="0">
                <a:solidFill>
                  <a:srgbClr val="0070C0"/>
                </a:solidFill>
                <a:latin typeface="微软雅黑" panose="020B0503020204020204" pitchFamily="34" charset="-122"/>
                <a:ea typeface="微软雅黑" panose="020B0503020204020204" pitchFamily="34" charset="-122"/>
              </a:rPr>
              <a:t>@Repository annotation</a:t>
            </a:r>
            <a:r>
              <a:rPr lang="zh-CN" altLang="en-US" sz="2000" dirty="0">
                <a:solidFill>
                  <a:srgbClr val="595959"/>
                </a:solidFill>
                <a:latin typeface="微软雅黑" panose="020B0503020204020204" pitchFamily="34" charset="-122"/>
                <a:ea typeface="微软雅黑" panose="020B0503020204020204" pitchFamily="34" charset="-122"/>
              </a:rPr>
              <a:t> so that the UserDao class turns its instantiation into a Bean and adds it to the Spring container when the Spring application starts and automatically scans, as shown in file 2-17.</a:t>
            </a:r>
          </a:p>
        </p:txBody>
      </p:sp>
      <p:pic>
        <p:nvPicPr>
          <p:cNvPr id="2" name="图片 1" descr="图片包含 形状&#10;&#10;描述已自动生成">
            <a:extLst>
              <a:ext uri="{FF2B5EF4-FFF2-40B4-BE49-F238E27FC236}">
                <a16:creationId xmlns:a16="http://schemas.microsoft.com/office/drawing/2014/main" id="{26A4A9C3-C91B-3ED6-2A12-F1B271B767A2}"/>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3862958" y="3904627"/>
            <a:ext cx="2232248" cy="2232248"/>
          </a:xfrm>
          <a:prstGeom prst="rect">
            <a:avLst/>
          </a:prstGeom>
        </p:spPr>
      </p:pic>
      <p:pic>
        <p:nvPicPr>
          <p:cNvPr id="6" name="图形 5" descr="触控屏 纯色填充">
            <a:extLst>
              <a:ext uri="{FF2B5EF4-FFF2-40B4-BE49-F238E27FC236}">
                <a16:creationId xmlns:a16="http://schemas.microsoft.com/office/drawing/2014/main" id="{DC4310E4-908A-6C12-0741-DD5BEA123CC2}"/>
              </a:ext>
            </a:extLst>
          </p:cNvPr>
          <p:cNvPicPr>
            <a:picLocks noChangeAspect="1"/>
          </p:cNvPicPr>
          <p:nvPr>
            <p:custDataLst>
              <p:tags r:id="rId4"/>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47434" y="5584585"/>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454462" y="1128356"/>
            <a:ext cx="10321264" cy="476885"/>
            <a:chOff x="708766" y="1797999"/>
            <a:chExt cx="8295869" cy="476885"/>
          </a:xfrm>
        </p:grpSpPr>
        <p:sp>
          <p:nvSpPr>
            <p:cNvPr id="4" name="矩形: 圆角 6"/>
            <p:cNvSpPr/>
            <p:nvPr>
              <p:custDataLst>
                <p:tags r:id="rId7"/>
              </p:custDataLst>
            </p:nvPr>
          </p:nvSpPr>
          <p:spPr>
            <a:xfrm>
              <a:off x="979276" y="1813239"/>
              <a:ext cx="802535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8"/>
              </p:custDataLst>
            </p:nvPr>
          </p:nvSpPr>
          <p:spPr>
            <a:xfrm>
              <a:off x="708766" y="1797999"/>
              <a:ext cx="8180114"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Use annotations to label UserService and automatically assemble UserDao</a:t>
              </a:r>
            </a:p>
          </p:txBody>
        </p:sp>
      </p:grpSp>
      <p:grpSp>
        <p:nvGrpSpPr>
          <p:cNvPr id="11" name="组合 10"/>
          <p:cNvGrpSpPr/>
          <p:nvPr/>
        </p:nvGrpSpPr>
        <p:grpSpPr>
          <a:xfrm>
            <a:off x="5388978" y="40190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2-18</a:t>
              </a:r>
            </a:p>
            <a:p>
              <a:pPr algn="ctr"/>
              <a:r>
                <a:rPr sz="1800">
                  <a:sym typeface="+mn-ea"/>
                  <a:hlinkClick r:id="rId11"/>
                </a:rPr>
                <a:t>UserService.java</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13" name="文本框 12"/>
          <p:cNvSpPr txBox="1"/>
          <p:nvPr>
            <p:custDataLst>
              <p:tags r:id="rId1"/>
            </p:custDataLst>
          </p:nvPr>
        </p:nvSpPr>
        <p:spPr>
          <a:xfrm>
            <a:off x="791016" y="1620481"/>
            <a:ext cx="10632782"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Mark the UserService class in chapter02 of the project with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@Service annotation</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allowing the UserService class to instantiate as a Bean when the Spring application starts and automatically scans, and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annotate the setter methods of the userDao property Automatically inject UserDao objects using the @Autowired annotation</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as shown in File 2-18.</a:t>
            </a:r>
          </a:p>
        </p:txBody>
      </p:sp>
      <p:pic>
        <p:nvPicPr>
          <p:cNvPr id="2" name="图片 1" descr="图片包含 形状&#10;&#10;描述已自动生成">
            <a:extLst>
              <a:ext uri="{FF2B5EF4-FFF2-40B4-BE49-F238E27FC236}">
                <a16:creationId xmlns:a16="http://schemas.microsoft.com/office/drawing/2014/main" id="{DBC55A58-2AB9-DF54-18B4-D5C883A3BFE8}"/>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910153"/>
            <a:ext cx="2232248" cy="2232248"/>
          </a:xfrm>
          <a:prstGeom prst="rect">
            <a:avLst/>
          </a:prstGeom>
        </p:spPr>
      </p:pic>
      <p:pic>
        <p:nvPicPr>
          <p:cNvPr id="6" name="图形 5" descr="触控屏 纯色填充">
            <a:extLst>
              <a:ext uri="{FF2B5EF4-FFF2-40B4-BE49-F238E27FC236}">
                <a16:creationId xmlns:a16="http://schemas.microsoft.com/office/drawing/2014/main" id="{E7899D7C-2113-A07E-6B61-6BCC1347F0D8}"/>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23265" y="1249680"/>
            <a:ext cx="4003789" cy="476885"/>
            <a:chOff x="708766" y="1797999"/>
            <a:chExt cx="5592445" cy="476885"/>
          </a:xfrm>
        </p:grpSpPr>
        <p:sp>
          <p:nvSpPr>
            <p:cNvPr id="4" name="矩形: 圆角 6"/>
            <p:cNvSpPr/>
            <p:nvPr>
              <p:custDataLst>
                <p:tags r:id="rId7"/>
              </p:custDataLst>
            </p:nvPr>
          </p:nvSpPr>
          <p:spPr>
            <a:xfrm>
              <a:off x="979276" y="1813239"/>
              <a:ext cx="5174615"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8"/>
              </p:custDataLst>
            </p:nvPr>
          </p:nvSpPr>
          <p:spPr>
            <a:xfrm>
              <a:off x="708766" y="1797999"/>
              <a:ext cx="559244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Write the test class</a:t>
              </a:r>
            </a:p>
          </p:txBody>
        </p:sp>
      </p:grpSp>
      <p:grpSp>
        <p:nvGrpSpPr>
          <p:cNvPr id="11" name="组合 10"/>
          <p:cNvGrpSpPr/>
          <p:nvPr/>
        </p:nvGrpSpPr>
        <p:grpSpPr>
          <a:xfrm>
            <a:off x="5388978" y="4019027"/>
            <a:ext cx="4073003" cy="2163715"/>
            <a:chOff x="5478588" y="3498327"/>
            <a:chExt cx="4073003" cy="2163715"/>
          </a:xfrm>
        </p:grpSpPr>
        <p:sp>
          <p:nvSpPr>
            <p:cNvPr id="16" name="文本框 15"/>
            <p:cNvSpPr txBox="1"/>
            <p:nvPr>
              <p:custDataLst>
                <p:tags r:id="rId4"/>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dirty="0">
                  <a:sym typeface="+mn-ea"/>
                </a:rPr>
                <a:t>File 2-19</a:t>
              </a:r>
            </a:p>
            <a:p>
              <a:pPr algn="ctr"/>
              <a:r>
                <a:rPr sz="1800" dirty="0">
                  <a:sym typeface="+mn-ea"/>
                  <a:hlinkClick r:id="rId11"/>
                </a:rPr>
                <a:t>AutowiredTest.java</a:t>
              </a:r>
              <a:endParaRPr sz="1800" dirty="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13" name="文本框 12"/>
          <p:cNvSpPr txBox="1"/>
          <p:nvPr>
            <p:custDataLst>
              <p:tags r:id="rId1"/>
            </p:custDataLst>
          </p:nvPr>
        </p:nvSpPr>
        <p:spPr>
          <a:xfrm>
            <a:off x="948292" y="1732524"/>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AutowiredTest under the com.itheima folder of chapter02 project,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define the main() method in the test class, scan the com.itheima package and its subpackages in the main() method to initialize the IoC container, Get an instance of UserService in the container and execute its saveUser() method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as shown in file 2-19.</a:t>
            </a:r>
          </a:p>
        </p:txBody>
      </p:sp>
      <p:pic>
        <p:nvPicPr>
          <p:cNvPr id="2" name="图片 1" descr="图片包含 形状&#10;&#10;描述已自动生成">
            <a:extLst>
              <a:ext uri="{FF2B5EF4-FFF2-40B4-BE49-F238E27FC236}">
                <a16:creationId xmlns:a16="http://schemas.microsoft.com/office/drawing/2014/main" id="{B1295EC9-96CB-18C0-5A2C-CD631EDFA8F2}"/>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389336" y="4064564"/>
            <a:ext cx="2232248" cy="2232248"/>
          </a:xfrm>
          <a:prstGeom prst="rect">
            <a:avLst/>
          </a:prstGeom>
        </p:spPr>
      </p:pic>
      <p:pic>
        <p:nvPicPr>
          <p:cNvPr id="6" name="图形 5" descr="触控屏 纯色填充">
            <a:extLst>
              <a:ext uri="{FF2B5EF4-FFF2-40B4-BE49-F238E27FC236}">
                <a16:creationId xmlns:a16="http://schemas.microsoft.com/office/drawing/2014/main" id="{57FABAC6-2FB3-C9E6-CECE-70A5CEAA8CC9}"/>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78214" lnSpcReduction="1000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Annotation-based assembly and auto-assembly</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23265" y="1249680"/>
            <a:ext cx="2845435" cy="476885"/>
            <a:chOff x="708766" y="1797999"/>
            <a:chExt cx="5592445" cy="476885"/>
          </a:xfrm>
        </p:grpSpPr>
        <p:sp>
          <p:nvSpPr>
            <p:cNvPr id="4" name="矩形: 圆角 6"/>
            <p:cNvSpPr/>
            <p:nvPr>
              <p:custDataLst>
                <p:tags r:id="rId3"/>
              </p:custDataLst>
            </p:nvPr>
          </p:nvSpPr>
          <p:spPr>
            <a:xfrm>
              <a:off x="979276" y="1813239"/>
              <a:ext cx="5174615"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4"/>
              </p:custDataLst>
            </p:nvPr>
          </p:nvSpPr>
          <p:spPr>
            <a:xfrm>
              <a:off x="708766" y="1797999"/>
              <a:ext cx="5592445"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Test the results</a:t>
              </a:r>
            </a:p>
          </p:txBody>
        </p:sp>
      </p:grpSp>
      <p:sp>
        <p:nvSpPr>
          <p:cNvPr id="13" name="文本框 12"/>
          <p:cNvSpPr txBox="1"/>
          <p:nvPr>
            <p:custDataLst>
              <p:tags r:id="rId1"/>
            </p:custDataLst>
          </p:nvPr>
        </p:nvSpPr>
        <p:spPr>
          <a:xfrm>
            <a:off x="993775" y="2026920"/>
            <a:ext cx="10295890" cy="506730"/>
          </a:xfrm>
          <a:prstGeom prst="rect">
            <a:avLst/>
          </a:prstGeom>
          <a:noFill/>
          <a:ln w="9525">
            <a:noFill/>
          </a:ln>
        </p:spPr>
        <p:txBody>
          <a:bodyPr wrap="square">
            <a:normAutofit fontScale="97760"/>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2-19 in IDEA, and the results are shown in the following figure.</a:t>
            </a:r>
          </a:p>
        </p:txBody>
      </p:sp>
      <p:pic>
        <p:nvPicPr>
          <p:cNvPr id="6" name="图片 -2147482589">
            <a:extLst>
              <a:ext uri="{FF2B5EF4-FFF2-40B4-BE49-F238E27FC236}">
                <a16:creationId xmlns:a16="http://schemas.microsoft.com/office/drawing/2014/main" id="{0A6AB933-32FB-75AB-1A8C-3BB1C4783727}"/>
              </a:ext>
            </a:extLst>
          </p:cNvPr>
          <p:cNvPicPr>
            <a:picLocks noChangeAspect="1"/>
          </p:cNvPicPr>
          <p:nvPr>
            <p:custDataLst>
              <p:tags r:id="rId2"/>
            </p:custDataLst>
          </p:nvPr>
        </p:nvPicPr>
        <p:blipFill>
          <a:blip r:embed="rId7"/>
          <a:stretch>
            <a:fillRect/>
          </a:stretch>
        </p:blipFill>
        <p:spPr>
          <a:xfrm>
            <a:off x="2637473" y="2834005"/>
            <a:ext cx="7008000" cy="315360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normAutofit fontScale="92582"/>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The lifecycle of Bean</a:t>
            </a: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2.6</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DDDC9A4-38D9-54B5-479C-DF97EF7CB0A2}"/>
              </a:ext>
            </a:extLst>
          </p:cNvPr>
          <p:cNvPicPr>
            <a:picLocks noChangeAspect="1"/>
          </p:cNvPicPr>
          <p:nvPr>
            <p:custDataLst>
              <p:tags r:id="rId1"/>
            </p:custDataLst>
          </p:nvPr>
        </p:nvPicPr>
        <p:blipFill>
          <a:blip r:embed="rId8"/>
          <a:stretch>
            <a:fillRect/>
          </a:stretch>
        </p:blipFill>
        <p:spPr>
          <a:xfrm>
            <a:off x="944855" y="2215827"/>
            <a:ext cx="2797737" cy="3896754"/>
          </a:xfrm>
          <a:prstGeom prst="rect">
            <a:avLst/>
          </a:prstGeom>
        </p:spPr>
      </p:pic>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35"/>
          <p:cNvSpPr txBox="1">
            <a:spLocks noChangeArrowheads="1"/>
          </p:cNvSpPr>
          <p:nvPr>
            <p:custDataLst>
              <p:tags r:id="rId2"/>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3"/>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9" name="TextBox 35"/>
          <p:cNvSpPr txBox="1">
            <a:spLocks noChangeArrowheads="1"/>
          </p:cNvSpPr>
          <p:nvPr>
            <p:custDataLst>
              <p:tags r:id="rId4"/>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rmAutofit fontScale="98405"/>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Set a small goal first!</a:t>
            </a:r>
            <a:endParaRPr lang="zh-CN" altLang="en-US" dirty="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5"/>
            </p:custDataLst>
          </p:nvPr>
        </p:nvSpPr>
        <p:spPr bwMode="auto">
          <a:xfrm>
            <a:off x="5447134" y="2837502"/>
            <a:ext cx="5445760" cy="1941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a:lnSpc>
                <a:spcPct val="120000"/>
              </a:lnSpc>
              <a:buClrTx/>
              <a:buSzTx/>
              <a:buFontTx/>
              <a:defRPr/>
            </a:pPr>
            <a:r>
              <a:rPr lang="zh-CN" altLang="en-US" sz="20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Master the use of the </a:t>
            </a:r>
            <a:r>
              <a:rPr lang="zh-CN" altLang="en-US" sz="2000" dirty="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Bean lifecycle method and be able to define the initialization method and destruction method of the Bean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985043" y="1269554"/>
            <a:ext cx="10220325" cy="5040560"/>
          </a:xfrm>
          <a:prstGeom prst="rect">
            <a:avLst/>
          </a:prstGeom>
          <a:noFill/>
        </p:spPr>
        <p:txBody>
          <a:bodyPr wrap="square" lIns="0" tIns="0" rIns="0" bIns="0" rtlCol="0">
            <a:noAutofit/>
          </a:bodyPr>
          <a:lstStyle/>
          <a:p>
            <a:pPr algn="just">
              <a:lnSpc>
                <a:spcPct val="150000"/>
              </a:lnSpc>
              <a:buClrTx/>
              <a:buSzTx/>
              <a:buFontTx/>
            </a:pPr>
            <a:r>
              <a:rPr sz="2000" dirty="0">
                <a:solidFill>
                  <a:schemeClr val="accent1"/>
                </a:solidFill>
                <a:latin typeface="微软雅黑" panose="020B0503020204020204" pitchFamily="34" charset="-122"/>
                <a:ea typeface="微软雅黑" panose="020B0503020204020204" pitchFamily="34" charset="-122"/>
                <a:cs typeface="+mn-ea"/>
                <a:sym typeface="+mn-lt"/>
              </a:rPr>
              <a:t>The lifecycle of a Bean </a:t>
            </a:r>
            <a:r>
              <a:rPr sz="2000" dirty="0">
                <a:solidFill>
                  <a:srgbClr val="595959"/>
                </a:solidFill>
                <a:latin typeface="微软雅黑" panose="020B0503020204020204" pitchFamily="34" charset="-122"/>
                <a:ea typeface="微软雅黑" panose="020B0503020204020204" pitchFamily="34" charset="-122"/>
                <a:sym typeface="+mn-lt"/>
              </a:rPr>
              <a:t>refers to the entire process from its </a:t>
            </a:r>
            <a:r>
              <a:rPr sz="2000" dirty="0">
                <a:solidFill>
                  <a:schemeClr val="accent1"/>
                </a:solidFill>
                <a:latin typeface="微软雅黑" panose="020B0503020204020204" pitchFamily="34" charset="-122"/>
                <a:ea typeface="微软雅黑" panose="020B0503020204020204" pitchFamily="34" charset="-122"/>
                <a:cs typeface="+mn-ea"/>
                <a:sym typeface="+mn-lt"/>
              </a:rPr>
              <a:t>creation to its destruction.</a:t>
            </a:r>
            <a:r>
              <a:rPr sz="2000" dirty="0">
                <a:solidFill>
                  <a:srgbClr val="595959"/>
                </a:solidFill>
                <a:latin typeface="微软雅黑" panose="020B0503020204020204" pitchFamily="34" charset="-122"/>
                <a:ea typeface="微软雅黑" panose="020B0503020204020204" pitchFamily="34" charset="-122"/>
                <a:sym typeface="+mn-lt"/>
              </a:rPr>
              <a:t> In Spring, there are </a:t>
            </a:r>
            <a:r>
              <a:rPr sz="2000" dirty="0">
                <a:solidFill>
                  <a:schemeClr val="accent1"/>
                </a:solidFill>
                <a:latin typeface="微软雅黑" panose="020B0503020204020204" pitchFamily="34" charset="-122"/>
                <a:ea typeface="微软雅黑" panose="020B0503020204020204" pitchFamily="34" charset="-122"/>
                <a:cs typeface="+mn-ea"/>
                <a:sym typeface="+mn-lt"/>
              </a:rPr>
              <a:t>obvious differences </a:t>
            </a:r>
            <a:r>
              <a:rPr sz="2000" dirty="0">
                <a:solidFill>
                  <a:srgbClr val="595959"/>
                </a:solidFill>
                <a:latin typeface="微软雅黑" panose="020B0503020204020204" pitchFamily="34" charset="-122"/>
                <a:ea typeface="微软雅黑" panose="020B0503020204020204" pitchFamily="34" charset="-122"/>
                <a:sym typeface="+mn-lt"/>
              </a:rPr>
              <a:t>in lifecycle management for beans whose scope is singleton and prototype.</a:t>
            </a:r>
            <a:endParaRPr lang="en-US" altLang="zh-CN" sz="2000" dirty="0" err="1">
              <a:solidFill>
                <a:srgbClr val="595959"/>
              </a:solidFill>
              <a:latin typeface="微软雅黑" panose="020B0503020204020204" pitchFamily="34" charset="-122"/>
              <a:ea typeface="微软雅黑" panose="020B0503020204020204" pitchFamily="34" charset="-122"/>
              <a:sym typeface="+mn-lt"/>
            </a:endParaRP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Beans in singleton scope: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The Spring container fully manages their lifecycle, </a:t>
            </a:r>
            <a:r>
              <a:rPr lang="en-US" altLang="zh-CN" sz="2000" dirty="0" err="1">
                <a:solidFill>
                  <a:srgbClr val="595959"/>
                </a:solidFill>
                <a:latin typeface="微软雅黑" panose="020B0503020204020204" pitchFamily="34" charset="-122"/>
                <a:ea typeface="微软雅黑" panose="020B0503020204020204" pitchFamily="34" charset="-122"/>
                <a:sym typeface="+mn-lt"/>
              </a:rPr>
              <a:t>including creation, initialization, and destruction. The container creates beans at startup and destroys them when the container closes, ensuring their lifecycle is intact.</a:t>
            </a:r>
          </a:p>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prototype scope Beans: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The Spring container is only responsible for creating beans and does not manage their full lifecycle. The lifecycle and destruction of beans are controlled by the caller themselves, not by the Spring container.</a:t>
            </a:r>
          </a:p>
        </p:txBody>
      </p:sp>
      <p:sp>
        <p:nvSpPr>
          <p:cNvPr id="2"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custDataLst>
              <p:tags r:id="rId1"/>
            </p:custDataLst>
          </p:nvPr>
        </p:nvSpPr>
        <p:spPr>
          <a:xfrm>
            <a:off x="985043" y="1701602"/>
            <a:ext cx="10220325" cy="2013585"/>
          </a:xfrm>
          <a:prstGeom prst="rect">
            <a:avLst/>
          </a:prstGeom>
          <a:noFill/>
        </p:spPr>
        <p:txBody>
          <a:bodyPr wrap="square" lIns="0" tIns="0" rIns="0" bIns="0" rtlCol="0">
            <a:noAutofit/>
          </a:bodyPr>
          <a:lstStyle/>
          <a:p>
            <a:pPr algn="just">
              <a:lnSpc>
                <a:spcPct val="150000"/>
              </a:lnSpc>
              <a:buClrTx/>
              <a:buSzTx/>
              <a:buFontTx/>
            </a:pPr>
            <a:r>
              <a:rPr lang="en-US" altLang="zh-CN" sz="2000" dirty="0" err="1">
                <a:solidFill>
                  <a:srgbClr val="595959"/>
                </a:solidFill>
                <a:latin typeface="微软雅黑" panose="020B0503020204020204" pitchFamily="34" charset="-122"/>
                <a:ea typeface="微软雅黑" panose="020B0503020204020204" pitchFamily="34" charset="-122"/>
                <a:sym typeface="+mn-lt"/>
              </a:rPr>
              <a:t>The following explains the lifecycle of a Bean whose scope is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singleton.</a:t>
            </a:r>
            <a:r>
              <a:rPr lang="en-US" altLang="zh-CN" sz="2000" dirty="0" err="1">
                <a:solidFill>
                  <a:srgbClr val="595959"/>
                </a:solidFill>
                <a:latin typeface="微软雅黑" panose="020B0503020204020204" pitchFamily="34" charset="-122"/>
                <a:ea typeface="微软雅黑" panose="020B0503020204020204" pitchFamily="34" charset="-122"/>
                <a:sym typeface="+mn-lt"/>
              </a:rPr>
              <a:t> </a:t>
            </a:r>
            <a:r>
              <a:rPr lang="en-US" altLang="zh-CN" sz="2000" dirty="0" err="1">
                <a:solidFill>
                  <a:schemeClr val="accent1"/>
                </a:solidFill>
                <a:latin typeface="微软雅黑" panose="020B0503020204020204" pitchFamily="34" charset="-122"/>
                <a:ea typeface="微软雅黑" panose="020B0503020204020204" pitchFamily="34" charset="-122"/>
                <a:cs typeface="+mn-ea"/>
                <a:sym typeface="+mn-lt"/>
              </a:rPr>
              <a:t>During the initialization phase of the Bean, the initialization method is responsible for the initial configuration and preparation of the Bean; </a:t>
            </a:r>
            <a:r>
              <a:rPr lang="en-US" altLang="zh-CN" sz="2000" dirty="0" err="1">
                <a:solidFill>
                  <a:srgbClr val="595959"/>
                </a:solidFill>
                <a:latin typeface="微软雅黑" panose="020B0503020204020204" pitchFamily="34" charset="-122"/>
                <a:ea typeface="微软雅黑" panose="020B0503020204020204" pitchFamily="34" charset="-122"/>
                <a:sym typeface="+mn-lt"/>
              </a:rPr>
              <a:t>During the Bean's destruction phase, the destruction method is responsible for releasing and cleaning up resources. With these two methods, developers can insert custom logic to implement specific initialization and cleanup operations to ensure the correctness and stability of the Bean throughout its lifecycle.</a:t>
            </a:r>
          </a:p>
        </p:txBody>
      </p:sp>
      <p:sp>
        <p:nvSpPr>
          <p:cNvPr id="2" name="Title 1"/>
          <p:cNvSpPr txBox="1"/>
          <p:nvPr>
            <p:custDataLst>
              <p:tags r:id="rId2"/>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2.6 The lifecycle of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The lifecycle of 6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custDataLst>
              <p:tags r:id="rId2"/>
            </p:custDataLst>
          </p:nvPr>
        </p:nvSpPr>
        <p:spPr>
          <a:xfrm>
            <a:off x="1019810" y="826979"/>
            <a:ext cx="1029589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implementation of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initialization method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initialization phase and the implementation of the </a:t>
            </a:r>
            <a:r>
              <a:rPr lang="zh-CN" altLang="en-US" sz="2000" dirty="0">
                <a:solidFill>
                  <a:srgbClr val="0070C0"/>
                </a:solidFill>
                <a:latin typeface="微软雅黑" panose="020B0503020204020204" pitchFamily="34" charset="-122"/>
                <a:ea typeface="微软雅黑" panose="020B0503020204020204" pitchFamily="34" charset="-122"/>
              </a:rPr>
              <a:t>destruction method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 the destruction phase are as follows.</a:t>
            </a:r>
          </a:p>
        </p:txBody>
      </p:sp>
      <p:grpSp>
        <p:nvGrpSpPr>
          <p:cNvPr id="3" name="组合 2"/>
          <p:cNvGrpSpPr/>
          <p:nvPr/>
        </p:nvGrpSpPr>
        <p:grpSpPr>
          <a:xfrm>
            <a:off x="766614" y="1935078"/>
            <a:ext cx="7077238" cy="461645"/>
            <a:chOff x="782238" y="1813239"/>
            <a:chExt cx="3554730" cy="461645"/>
          </a:xfrm>
        </p:grpSpPr>
        <p:sp>
          <p:nvSpPr>
            <p:cNvPr id="4" name="矩形: 圆角 6"/>
            <p:cNvSpPr/>
            <p:nvPr>
              <p:custDataLst>
                <p:tags r:id="rId6"/>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7"/>
              </p:custDataLst>
            </p:nvPr>
          </p:nvSpPr>
          <p:spPr>
            <a:xfrm>
              <a:off x="782238" y="181323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(1) The implementation of the initialization method</a:t>
              </a:r>
            </a:p>
          </p:txBody>
        </p:sp>
      </p:grpSp>
      <p:sp>
        <p:nvSpPr>
          <p:cNvPr id="13" name="文本框 12"/>
          <p:cNvSpPr txBox="1"/>
          <p:nvPr>
            <p:custDataLst>
              <p:tags r:id="rId3"/>
            </p:custDataLst>
          </p:nvPr>
        </p:nvSpPr>
        <p:spPr>
          <a:xfrm>
            <a:off x="993775" y="2529205"/>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① Initialize through the </a:t>
            </a:r>
            <a:r>
              <a:rPr lang="zh-CN" altLang="en-US" sz="2000" dirty="0">
                <a:solidFill>
                  <a:srgbClr val="0070C0"/>
                </a:solidFill>
                <a:latin typeface="微软雅黑" panose="020B0503020204020204" pitchFamily="34" charset="-122"/>
                <a:ea typeface="微软雅黑" panose="020B0503020204020204" pitchFamily="34" charset="-122"/>
              </a:rPr>
              <a:t>init-method property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of the &lt;bean&gt; tag. </a:t>
            </a:r>
            <a:r>
              <a:rPr lang="zh-CN" altLang="en-US" sz="2000" dirty="0">
                <a:solidFill>
                  <a:srgbClr val="0070C0"/>
                </a:solidFill>
                <a:latin typeface="微软雅黑" panose="020B0503020204020204" pitchFamily="34" charset="-122"/>
                <a:ea typeface="微软雅黑" panose="020B0503020204020204" pitchFamily="34" charset="-122"/>
              </a:rPr>
              <a:t>In Spring's XML configuration file, developers specify the name of the initialization method through the init-method property of the &lt;bean&gt; tag, and the Spring container calls this method after instantiating and injecting the property, as shown below.</a:t>
            </a:r>
          </a:p>
        </p:txBody>
      </p:sp>
      <p:sp>
        <p:nvSpPr>
          <p:cNvPr id="6" name="矩形 5"/>
          <p:cNvSpPr/>
          <p:nvPr>
            <p:custDataLst>
              <p:tags r:id="rId4"/>
            </p:custDataLst>
          </p:nvPr>
        </p:nvSpPr>
        <p:spPr>
          <a:xfrm>
            <a:off x="1019810" y="4691722"/>
            <a:ext cx="10337800" cy="5924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5"/>
            </p:custDataLst>
          </p:nvPr>
        </p:nvSpPr>
        <p:spPr>
          <a:xfrm>
            <a:off x="899511" y="4691722"/>
            <a:ext cx="10478135" cy="894715"/>
          </a:xfrm>
          <a:prstGeom prst="rect">
            <a:avLst/>
          </a:prstGeom>
        </p:spPr>
        <p:txBody>
          <a:bodyPr wrap="square">
            <a:noAutofit/>
          </a:bodyPr>
          <a:lstStyle/>
          <a:p>
            <a:pPr algn="l">
              <a:lnSpc>
                <a:spcPct val="130000"/>
              </a:lnSpc>
              <a:spcBef>
                <a:spcPts val="0"/>
              </a:spcBef>
              <a:spcAft>
                <a:spcPts val="0"/>
              </a:spcAft>
              <a:defRPr/>
            </a:pPr>
            <a:r>
              <a:rPr lang="en-US" sz="2000" dirty="0">
                <a:latin typeface="Courier New" panose="02070309020205020404" pitchFamily="49" charset="0"/>
                <a:sym typeface="+mn-ea"/>
              </a:rPr>
              <a:t>&lt;bean id="</a:t>
            </a:r>
            <a:r>
              <a:rPr lang="en-US" sz="2000" dirty="0" err="1">
                <a:latin typeface="Courier New" panose="02070309020205020404" pitchFamily="49" charset="0"/>
                <a:sym typeface="+mn-ea"/>
              </a:rPr>
              <a:t>userDao</a:t>
            </a:r>
            <a:r>
              <a:rPr lang="en-US" sz="2000" dirty="0">
                <a:latin typeface="Courier New" panose="02070309020205020404" pitchFamily="49" charset="0"/>
                <a:sym typeface="+mn-ea"/>
              </a:rPr>
              <a:t>" class="</a:t>
            </a:r>
            <a:r>
              <a:rPr lang="en-US" sz="2000" dirty="0" err="1">
                <a:latin typeface="Courier New" panose="02070309020205020404" pitchFamily="49" charset="0"/>
                <a:sym typeface="+mn-ea"/>
              </a:rPr>
              <a:t>com.itheima.UserDao</a:t>
            </a:r>
            <a:r>
              <a:rPr lang="en-US" sz="2000" dirty="0">
                <a:latin typeface="Courier New" panose="02070309020205020404" pitchFamily="49" charset="0"/>
                <a:sym typeface="+mn-ea"/>
              </a:rPr>
              <a:t>" </a:t>
            </a:r>
            <a:r>
              <a:rPr lang="en-US" sz="2000" dirty="0" err="1">
                <a:latin typeface="Courier New" panose="02070309020205020404" pitchFamily="49" charset="0"/>
                <a:sym typeface="+mn-ea"/>
              </a:rPr>
              <a:t>init</a:t>
            </a:r>
            <a:r>
              <a:rPr lang="en-US" sz="2000" dirty="0">
                <a:latin typeface="Courier New" panose="02070309020205020404" pitchFamily="49" charset="0"/>
                <a:sym typeface="+mn-ea"/>
              </a:rPr>
              <a:t>-method="</a:t>
            </a:r>
            <a:r>
              <a:rPr lang="en-US" sz="2000" dirty="0" err="1">
                <a:latin typeface="Courier New" panose="02070309020205020404" pitchFamily="49" charset="0"/>
                <a:sym typeface="+mn-ea"/>
              </a:rPr>
              <a:t>init</a:t>
            </a:r>
            <a:r>
              <a:rPr lang="en-US" sz="2000" dirty="0">
                <a:latin typeface="Courier New" panose="02070309020205020404" pitchFamily="49" charset="0"/>
                <a:sym typeface="+mn-ea"/>
              </a:rPr>
              <a:t>"/&gt;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The lifecycle of 6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2"/>
            </p:custDataLst>
          </p:nvPr>
        </p:nvSpPr>
        <p:spPr>
          <a:xfrm>
            <a:off x="1019810" y="999254"/>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② Initialize through the initMethod property of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@Bean annotation.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When defining a Bean using a Java configuration class, developers can specify the initialization method through the initMethod property of the @Bean annotation, as shown below.</a:t>
            </a:r>
          </a:p>
        </p:txBody>
      </p:sp>
      <p:sp>
        <p:nvSpPr>
          <p:cNvPr id="6" name="矩形 5"/>
          <p:cNvSpPr/>
          <p:nvPr>
            <p:custDataLst>
              <p:tags r:id="rId3"/>
            </p:custDataLst>
          </p:nvPr>
        </p:nvSpPr>
        <p:spPr>
          <a:xfrm>
            <a:off x="1019810" y="3069754"/>
            <a:ext cx="10337800" cy="27171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931545" y="3102139"/>
            <a:ext cx="10478135" cy="2685415"/>
          </a:xfrm>
          <a:prstGeom prst="rect">
            <a:avLst/>
          </a:prstGeom>
        </p:spPr>
        <p:txBody>
          <a:bodyPr wrap="square">
            <a:noAutofit/>
          </a:bodyPr>
          <a:lstStyle/>
          <a:p>
            <a:pPr algn="l">
              <a:lnSpc>
                <a:spcPct val="130000"/>
              </a:lnSpc>
              <a:spcBef>
                <a:spcPts val="0"/>
              </a:spcBef>
              <a:spcAft>
                <a:spcPts val="0"/>
              </a:spcAft>
              <a:defRPr/>
            </a:pPr>
            <a:r>
              <a:rPr lang="en-US" sz="1800">
                <a:latin typeface="Courier New" panose="02070309020205020404" pitchFamily="49" charset="0"/>
                <a:sym typeface="+mn-ea"/>
              </a:rPr>
              <a:t> 1 @Configuration</a:t>
            </a:r>
          </a:p>
          <a:p>
            <a:pPr algn="l">
              <a:lnSpc>
                <a:spcPct val="130000"/>
              </a:lnSpc>
              <a:spcBef>
                <a:spcPts val="0"/>
              </a:spcBef>
              <a:spcAft>
                <a:spcPts val="0"/>
              </a:spcAft>
              <a:defRPr/>
            </a:pPr>
            <a:r>
              <a:rPr lang="en-US" sz="1800">
                <a:latin typeface="Courier New" panose="02070309020205020404" pitchFamily="49" charset="0"/>
                <a:sym typeface="+mn-ea"/>
              </a:rPr>
              <a:t> 2 public class AppConfig {</a:t>
            </a:r>
          </a:p>
          <a:p>
            <a:pPr algn="l">
              <a:lnSpc>
                <a:spcPct val="130000"/>
              </a:lnSpc>
              <a:spcBef>
                <a:spcPts val="0"/>
              </a:spcBef>
              <a:spcAft>
                <a:spcPts val="0"/>
              </a:spcAft>
              <a:defRPr/>
            </a:pPr>
            <a:r>
              <a:rPr lang="en-US" sz="1800">
                <a:latin typeface="Courier New" panose="02070309020205020404" pitchFamily="49" charset="0"/>
                <a:sym typeface="+mn-ea"/>
              </a:rPr>
              <a:t> 3     @Bean(initMethod = "init")</a:t>
            </a:r>
          </a:p>
          <a:p>
            <a:pPr algn="l">
              <a:lnSpc>
                <a:spcPct val="130000"/>
              </a:lnSpc>
              <a:spcBef>
                <a:spcPts val="0"/>
              </a:spcBef>
              <a:spcAft>
                <a:spcPts val="0"/>
              </a:spcAft>
              <a:defRPr/>
            </a:pPr>
            <a:r>
              <a:rPr lang="en-US" sz="1800">
                <a:latin typeface="Courier New" panose="02070309020205020404" pitchFamily="49" charset="0"/>
                <a:sym typeface="+mn-ea"/>
              </a:rPr>
              <a:t> 4     public MyBean myBean() {</a:t>
            </a:r>
          </a:p>
          <a:p>
            <a:pPr algn="l">
              <a:lnSpc>
                <a:spcPct val="130000"/>
              </a:lnSpc>
              <a:spcBef>
                <a:spcPts val="0"/>
              </a:spcBef>
              <a:spcAft>
                <a:spcPts val="0"/>
              </a:spcAft>
              <a:defRPr/>
            </a:pPr>
            <a:r>
              <a:rPr lang="en-US" sz="1800">
                <a:latin typeface="Courier New" panose="02070309020205020404" pitchFamily="49" charset="0"/>
                <a:sym typeface="+mn-ea"/>
              </a:rPr>
              <a:t> 5         return new MyBean();</a:t>
            </a:r>
          </a:p>
          <a:p>
            <a:pPr algn="l">
              <a:lnSpc>
                <a:spcPct val="130000"/>
              </a:lnSpc>
              <a:spcBef>
                <a:spcPts val="0"/>
              </a:spcBef>
              <a:spcAft>
                <a:spcPts val="0"/>
              </a:spcAft>
              <a:defRPr/>
            </a:pPr>
            <a:r>
              <a:rPr lang="en-US" sz="1800">
                <a:latin typeface="Courier New" panose="02070309020205020404" pitchFamily="49" charset="0"/>
                <a:sym typeface="+mn-ea"/>
              </a:rPr>
              <a:t> 6}</a:t>
            </a:r>
          </a:p>
          <a:p>
            <a:pPr algn="l">
              <a:lnSpc>
                <a:spcPct val="130000"/>
              </a:lnSpc>
              <a:spcBef>
                <a:spcPts val="0"/>
              </a:spcBef>
              <a:spcAft>
                <a:spcPts val="0"/>
              </a:spcAft>
              <a:defRPr/>
            </a:pPr>
            <a:r>
              <a:rPr lang="en-US" sz="1800">
                <a:latin typeface="Courier New" panose="02070309020205020404" pitchFamily="49" charset="0"/>
                <a:sym typeface="+mn-ea"/>
              </a:rPr>
              <a:t> 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2"/>
            </p:custDataLst>
          </p:nvPr>
        </p:nvSpPr>
        <p:spPr>
          <a:xfrm>
            <a:off x="1019809" y="1052225"/>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③ Implemented by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overriding the afterPropertiesSet() method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of the InitializingBean interface. Any class that implements the InitializingBean interface and overwrites the afterPropertiesSet() method within it, which is called after the Bean is completed, implements the initialization logic, as shown below.</a:t>
            </a:r>
          </a:p>
        </p:txBody>
      </p:sp>
      <p:sp>
        <p:nvSpPr>
          <p:cNvPr id="6" name="矩形 5"/>
          <p:cNvSpPr/>
          <p:nvPr>
            <p:custDataLst>
              <p:tags r:id="rId3"/>
            </p:custDataLst>
          </p:nvPr>
        </p:nvSpPr>
        <p:spPr>
          <a:xfrm>
            <a:off x="971958" y="3258102"/>
            <a:ext cx="10337800" cy="2416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928687" y="3285778"/>
            <a:ext cx="10478135" cy="252158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public class </a:t>
            </a:r>
            <a:r>
              <a:rPr lang="en-US" sz="1800" dirty="0" err="1">
                <a:latin typeface="Courier New" panose="02070309020205020404" pitchFamily="49" charset="0"/>
                <a:sym typeface="+mn-ea"/>
              </a:rPr>
              <a:t>ExampleBean</a:t>
            </a:r>
            <a:r>
              <a:rPr lang="en-US" sz="1800" dirty="0">
                <a:latin typeface="Courier New" panose="02070309020205020404" pitchFamily="49" charset="0"/>
                <a:sym typeface="+mn-ea"/>
              </a:rPr>
              <a:t> implements </a:t>
            </a:r>
            <a:r>
              <a:rPr lang="en-US" sz="1800" dirty="0" err="1">
                <a:latin typeface="Courier New" panose="02070309020205020404" pitchFamily="49" charset="0"/>
                <a:sym typeface="+mn-ea"/>
              </a:rPr>
              <a:t>InitializingBean</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2     @Override</a:t>
            </a:r>
          </a:p>
          <a:p>
            <a:pPr algn="l">
              <a:lnSpc>
                <a:spcPct val="130000"/>
              </a:lnSpc>
              <a:spcBef>
                <a:spcPts val="0"/>
              </a:spcBef>
              <a:spcAft>
                <a:spcPts val="0"/>
              </a:spcAft>
              <a:defRPr/>
            </a:pPr>
            <a:r>
              <a:rPr lang="en-US" sz="1800" dirty="0">
                <a:latin typeface="Courier New" panose="02070309020205020404" pitchFamily="49" charset="0"/>
                <a:sym typeface="+mn-ea"/>
              </a:rPr>
              <a:t> 3     public void </a:t>
            </a:r>
            <a:r>
              <a:rPr lang="en-US" sz="1800" dirty="0" err="1">
                <a:latin typeface="Courier New" panose="02070309020205020404" pitchFamily="49" charset="0"/>
                <a:sym typeface="+mn-ea"/>
              </a:rPr>
              <a:t>afterPropertiesSet</a:t>
            </a:r>
            <a:r>
              <a:rPr lang="en-US" sz="1800" dirty="0">
                <a:latin typeface="Courier New" panose="02070309020205020404" pitchFamily="49" charset="0"/>
                <a:sym typeface="+mn-ea"/>
              </a:rPr>
              <a:t>() throws Exception {</a:t>
            </a:r>
          </a:p>
          <a:p>
            <a:pPr algn="l">
              <a:lnSpc>
                <a:spcPct val="130000"/>
              </a:lnSpc>
              <a:spcBef>
                <a:spcPts val="0"/>
              </a:spcBef>
              <a:spcAft>
                <a:spcPts val="0"/>
              </a:spcAft>
              <a:defRPr/>
            </a:pPr>
            <a:r>
              <a:rPr lang="en-US" sz="1800" dirty="0">
                <a:latin typeface="Courier New" panose="02070309020205020404" pitchFamily="49" charset="0"/>
                <a:sym typeface="+mn-ea"/>
              </a:rPr>
              <a:t> 4 // The logical code for initialization</a:t>
            </a:r>
          </a:p>
          <a:p>
            <a:pPr algn="l">
              <a:lnSpc>
                <a:spcPct val="130000"/>
              </a:lnSpc>
              <a:spcBef>
                <a:spcPts val="0"/>
              </a:spcBef>
              <a:spcAft>
                <a:spcPts val="0"/>
              </a:spcAft>
              <a:defRPr/>
            </a:pPr>
            <a:r>
              <a:rPr lang="en-US" sz="1800" dirty="0">
                <a:latin typeface="Courier New" panose="02070309020205020404" pitchFamily="49" charset="0"/>
                <a:sym typeface="+mn-ea"/>
              </a:rPr>
              <a:t> 5}</a:t>
            </a:r>
          </a:p>
          <a:p>
            <a:pPr algn="l">
              <a:lnSpc>
                <a:spcPct val="130000"/>
              </a:lnSpc>
              <a:spcBef>
                <a:spcPts val="0"/>
              </a:spcBef>
              <a:spcAft>
                <a:spcPts val="0"/>
              </a:spcAft>
              <a:defRPr/>
            </a:pPr>
            <a:r>
              <a:rPr lang="en-US" sz="1800" dirty="0">
                <a:latin typeface="Courier New" panose="02070309020205020404" pitchFamily="49" charset="0"/>
                <a:sym typeface="+mn-ea"/>
              </a:rPr>
              <a:t> 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The lifecycle of 6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2"/>
            </p:custDataLst>
          </p:nvPr>
        </p:nvSpPr>
        <p:spPr>
          <a:xfrm>
            <a:off x="1019810" y="866775"/>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④ Implemented with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@PostConstruct annotation</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The @PostConstruct annotation is one of the JSR 250 (Java Specification Request 250) predefined annotations for Java.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It is an annotation used to perform initialization methods after dependency injection is completed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as shown below.</a:t>
            </a:r>
          </a:p>
        </p:txBody>
      </p:sp>
      <p:sp>
        <p:nvSpPr>
          <p:cNvPr id="6" name="矩形 5"/>
          <p:cNvSpPr/>
          <p:nvPr>
            <p:custDataLst>
              <p:tags r:id="rId3"/>
            </p:custDataLst>
          </p:nvPr>
        </p:nvSpPr>
        <p:spPr>
          <a:xfrm>
            <a:off x="1019810" y="2857500"/>
            <a:ext cx="10337800" cy="24161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931545" y="2889885"/>
            <a:ext cx="10478135" cy="2521585"/>
          </a:xfrm>
          <a:prstGeom prst="rect">
            <a:avLst/>
          </a:prstGeom>
        </p:spPr>
        <p:txBody>
          <a:bodyPr wrap="square">
            <a:noAutofit/>
          </a:bodyPr>
          <a:lstStyle/>
          <a:p>
            <a:pPr algn="l">
              <a:lnSpc>
                <a:spcPct val="130000"/>
              </a:lnSpc>
              <a:spcBef>
                <a:spcPts val="0"/>
              </a:spcBef>
              <a:spcAft>
                <a:spcPts val="0"/>
              </a:spcAft>
              <a:defRPr/>
            </a:pPr>
            <a:r>
              <a:rPr lang="en-US" sz="1800">
                <a:latin typeface="Courier New" panose="02070309020205020404" pitchFamily="49" charset="0"/>
                <a:sym typeface="+mn-ea"/>
              </a:rPr>
              <a:t> 1 public class ExampleBean {</a:t>
            </a:r>
          </a:p>
          <a:p>
            <a:pPr algn="l">
              <a:lnSpc>
                <a:spcPct val="130000"/>
              </a:lnSpc>
              <a:spcBef>
                <a:spcPts val="0"/>
              </a:spcBef>
              <a:spcAft>
                <a:spcPts val="0"/>
              </a:spcAft>
              <a:defRPr/>
            </a:pPr>
            <a:r>
              <a:rPr lang="en-US" sz="1800">
                <a:latin typeface="Courier New" panose="02070309020205020404" pitchFamily="49" charset="0"/>
                <a:sym typeface="+mn-ea"/>
              </a:rPr>
              <a:t> 2     @PostConstruct</a:t>
            </a:r>
          </a:p>
          <a:p>
            <a:pPr algn="l">
              <a:lnSpc>
                <a:spcPct val="130000"/>
              </a:lnSpc>
              <a:spcBef>
                <a:spcPts val="0"/>
              </a:spcBef>
              <a:spcAft>
                <a:spcPts val="0"/>
              </a:spcAft>
              <a:defRPr/>
            </a:pPr>
            <a:r>
              <a:rPr lang="en-US" sz="1800">
                <a:latin typeface="Courier New" panose="02070309020205020404" pitchFamily="49" charset="0"/>
                <a:sym typeface="+mn-ea"/>
              </a:rPr>
              <a:t> 3     public void init() {</a:t>
            </a:r>
          </a:p>
          <a:p>
            <a:pPr algn="l">
              <a:lnSpc>
                <a:spcPct val="130000"/>
              </a:lnSpc>
              <a:spcBef>
                <a:spcPts val="0"/>
              </a:spcBef>
              <a:spcAft>
                <a:spcPts val="0"/>
              </a:spcAft>
              <a:defRPr/>
            </a:pPr>
            <a:r>
              <a:rPr lang="en-US" sz="1800">
                <a:latin typeface="Courier New" panose="02070309020205020404" pitchFamily="49" charset="0"/>
                <a:sym typeface="+mn-ea"/>
              </a:rPr>
              <a:t> 4 // logical code for initialization</a:t>
            </a:r>
          </a:p>
          <a:p>
            <a:pPr algn="l">
              <a:lnSpc>
                <a:spcPct val="130000"/>
              </a:lnSpc>
              <a:spcBef>
                <a:spcPts val="0"/>
              </a:spcBef>
              <a:spcAft>
                <a:spcPts val="0"/>
              </a:spcAft>
              <a:defRPr/>
            </a:pPr>
            <a:r>
              <a:rPr lang="en-US" sz="1800">
                <a:latin typeface="Courier New" panose="02070309020205020404" pitchFamily="49" charset="0"/>
                <a:sym typeface="+mn-ea"/>
              </a:rPr>
              <a:t> 5}</a:t>
            </a:r>
          </a:p>
          <a:p>
            <a:pPr algn="l">
              <a:lnSpc>
                <a:spcPct val="130000"/>
              </a:lnSpc>
              <a:spcBef>
                <a:spcPts val="0"/>
              </a:spcBef>
              <a:spcAft>
                <a:spcPts val="0"/>
              </a:spcAft>
              <a:defRPr/>
            </a:pPr>
            <a:r>
              <a:rPr lang="en-US" sz="1800">
                <a:latin typeface="Courier New" panose="02070309020205020404" pitchFamily="49" charset="0"/>
                <a:sym typeface="+mn-ea"/>
              </a:rPr>
              <a:t> 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The lifecycle of 6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23404" y="1392914"/>
            <a:ext cx="7388026" cy="476885"/>
            <a:chOff x="708766" y="1797999"/>
            <a:chExt cx="3566160" cy="476885"/>
          </a:xfrm>
        </p:grpSpPr>
        <p:sp>
          <p:nvSpPr>
            <p:cNvPr id="4" name="矩形: 圆角 6"/>
            <p:cNvSpPr/>
            <p:nvPr>
              <p:custDataLst>
                <p:tags r:id="rId5"/>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6"/>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The implementation of the destruction method</a:t>
              </a:r>
            </a:p>
          </p:txBody>
        </p:sp>
      </p:grpSp>
      <p:sp>
        <p:nvSpPr>
          <p:cNvPr id="13" name="文本框 12"/>
          <p:cNvSpPr txBox="1"/>
          <p:nvPr>
            <p:custDataLst>
              <p:tags r:id="rId2"/>
            </p:custDataLst>
          </p:nvPr>
        </p:nvSpPr>
        <p:spPr>
          <a:xfrm>
            <a:off x="993775" y="2170430"/>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① Implemented through the destroy method property of the &lt;bean&gt; tag. In Spring's XML configuration file, developers specify the name of the destruction method through the destroy method property of the &lt;bean&gt; tag, and the application calls this method before the Bean is destroyed, as shown below.</a:t>
            </a:r>
          </a:p>
        </p:txBody>
      </p:sp>
      <p:sp>
        <p:nvSpPr>
          <p:cNvPr id="6" name="矩形 5"/>
          <p:cNvSpPr/>
          <p:nvPr>
            <p:custDataLst>
              <p:tags r:id="rId3"/>
            </p:custDataLst>
          </p:nvPr>
        </p:nvSpPr>
        <p:spPr>
          <a:xfrm>
            <a:off x="951865" y="4637539"/>
            <a:ext cx="10337800" cy="5924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1019810" y="4725938"/>
            <a:ext cx="10478135" cy="89471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&lt;bean id="</a:t>
            </a:r>
            <a:r>
              <a:rPr lang="en-US" sz="1800" dirty="0" err="1">
                <a:latin typeface="Courier New" panose="02070309020205020404" pitchFamily="49" charset="0"/>
                <a:sym typeface="+mn-ea"/>
              </a:rPr>
              <a:t>userDao</a:t>
            </a:r>
            <a:r>
              <a:rPr lang="en-US" sz="1800" dirty="0">
                <a:latin typeface="Courier New" panose="02070309020205020404" pitchFamily="49" charset="0"/>
                <a:sym typeface="+mn-ea"/>
              </a:rPr>
              <a:t>" class="</a:t>
            </a:r>
            <a:r>
              <a:rPr lang="en-US" sz="1800" dirty="0" err="1">
                <a:latin typeface="Courier New" panose="02070309020205020404" pitchFamily="49" charset="0"/>
                <a:sym typeface="+mn-ea"/>
              </a:rPr>
              <a:t>com.itheima.UserDao</a:t>
            </a:r>
            <a:r>
              <a:rPr lang="en-US" sz="1800" dirty="0">
                <a:latin typeface="Courier New" panose="02070309020205020404" pitchFamily="49" charset="0"/>
                <a:sym typeface="+mn-ea"/>
              </a:rPr>
              <a:t>" destroy-method="destroy"/&gt;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2"/>
            </p:custDataLst>
          </p:nvPr>
        </p:nvSpPr>
        <p:spPr>
          <a:xfrm>
            <a:off x="1054998" y="805180"/>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② Implemented through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destroyMethod p</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roperty of the @Bean annotation. When defining a Bean using a Java configuration class, developers can specify the destruction method through the destroyMethod property of the @Bean annotation, as shown below.</a:t>
            </a:r>
          </a:p>
        </p:txBody>
      </p:sp>
      <p:sp>
        <p:nvSpPr>
          <p:cNvPr id="6" name="矩形 5"/>
          <p:cNvSpPr/>
          <p:nvPr>
            <p:custDataLst>
              <p:tags r:id="rId3"/>
            </p:custDataLst>
          </p:nvPr>
        </p:nvSpPr>
        <p:spPr>
          <a:xfrm>
            <a:off x="1054998" y="2853730"/>
            <a:ext cx="10337800" cy="26841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966733" y="2886115"/>
            <a:ext cx="10478135" cy="113855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@Configuration</a:t>
            </a:r>
          </a:p>
          <a:p>
            <a:pPr algn="l">
              <a:lnSpc>
                <a:spcPct val="130000"/>
              </a:lnSpc>
              <a:spcBef>
                <a:spcPts val="0"/>
              </a:spcBef>
              <a:spcAft>
                <a:spcPts val="0"/>
              </a:spcAft>
              <a:defRPr/>
            </a:pPr>
            <a:r>
              <a:rPr lang="en-US" sz="1800" dirty="0">
                <a:latin typeface="Courier New" panose="02070309020205020404" pitchFamily="49" charset="0"/>
                <a:sym typeface="+mn-ea"/>
              </a:rPr>
              <a:t> 2 public class </a:t>
            </a:r>
            <a:r>
              <a:rPr lang="en-US" sz="1800" dirty="0" err="1">
                <a:latin typeface="Courier New" panose="02070309020205020404" pitchFamily="49" charset="0"/>
                <a:sym typeface="+mn-ea"/>
              </a:rPr>
              <a:t>AppConfig</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3     @Bean(destroyMethod = "destroy")</a:t>
            </a:r>
          </a:p>
          <a:p>
            <a:pPr algn="l">
              <a:lnSpc>
                <a:spcPct val="130000"/>
              </a:lnSpc>
              <a:spcBef>
                <a:spcPts val="0"/>
              </a:spcBef>
              <a:spcAft>
                <a:spcPts val="0"/>
              </a:spcAft>
              <a:defRPr/>
            </a:pPr>
            <a:r>
              <a:rPr lang="en-US" sz="1800" dirty="0">
                <a:latin typeface="Courier New" panose="02070309020205020404" pitchFamily="49" charset="0"/>
                <a:sym typeface="+mn-ea"/>
              </a:rPr>
              <a:t> 4     public </a:t>
            </a:r>
            <a:r>
              <a:rPr lang="en-US" sz="1800" dirty="0" err="1">
                <a:latin typeface="Courier New" panose="02070309020205020404" pitchFamily="49" charset="0"/>
                <a:sym typeface="+mn-ea"/>
              </a:rPr>
              <a:t>MyBean</a:t>
            </a:r>
            <a:r>
              <a:rPr lang="en-US" sz="1800" dirty="0">
                <a:latin typeface="Courier New" panose="02070309020205020404" pitchFamily="49" charset="0"/>
                <a:sym typeface="+mn-ea"/>
              </a:rPr>
              <a:t> </a:t>
            </a:r>
            <a:r>
              <a:rPr lang="en-US" sz="1800" dirty="0" err="1">
                <a:latin typeface="Courier New" panose="02070309020205020404" pitchFamily="49" charset="0"/>
                <a:sym typeface="+mn-ea"/>
              </a:rPr>
              <a:t>myBean</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5         return new </a:t>
            </a:r>
            <a:r>
              <a:rPr lang="en-US" sz="1800" dirty="0" err="1">
                <a:latin typeface="Courier New" panose="02070309020205020404" pitchFamily="49" charset="0"/>
                <a:sym typeface="+mn-ea"/>
              </a:rPr>
              <a:t>MyBean</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6}</a:t>
            </a:r>
          </a:p>
          <a:p>
            <a:pPr algn="l">
              <a:lnSpc>
                <a:spcPct val="130000"/>
              </a:lnSpc>
              <a:spcBef>
                <a:spcPts val="0"/>
              </a:spcBef>
              <a:spcAft>
                <a:spcPts val="0"/>
              </a:spcAft>
              <a:defRPr/>
            </a:pPr>
            <a:r>
              <a:rPr lang="en-US" sz="1800" dirty="0">
                <a:latin typeface="Courier New" panose="02070309020205020404" pitchFamily="49" charset="0"/>
                <a:sym typeface="+mn-ea"/>
              </a:rPr>
              <a:t> 7}</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2"/>
            </p:custDataLst>
          </p:nvPr>
        </p:nvSpPr>
        <p:spPr>
          <a:xfrm>
            <a:off x="1032656" y="913289"/>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③ Implemented by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overriding the destroy() method </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of the DisposableBean interface. Spring provides an interface called DisposableBean, which defines a method called destroy. If any class implements the DisposableBean interface and overwrites the destroy() method within it, that method will be called when the Bean is destroyed, as shown below.</a:t>
            </a:r>
          </a:p>
        </p:txBody>
      </p:sp>
      <p:sp>
        <p:nvSpPr>
          <p:cNvPr id="6" name="矩形 5"/>
          <p:cNvSpPr/>
          <p:nvPr>
            <p:custDataLst>
              <p:tags r:id="rId3"/>
            </p:custDataLst>
          </p:nvPr>
        </p:nvSpPr>
        <p:spPr>
          <a:xfrm>
            <a:off x="1022667" y="3429794"/>
            <a:ext cx="10337800" cy="23818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934402" y="3462179"/>
            <a:ext cx="10478135" cy="113855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public class </a:t>
            </a:r>
            <a:r>
              <a:rPr lang="en-US" sz="1800" dirty="0" err="1">
                <a:latin typeface="Courier New" panose="02070309020205020404" pitchFamily="49" charset="0"/>
                <a:sym typeface="+mn-ea"/>
              </a:rPr>
              <a:t>ExampleBean</a:t>
            </a:r>
            <a:r>
              <a:rPr lang="en-US" sz="1800" dirty="0">
                <a:latin typeface="Courier New" panose="02070309020205020404" pitchFamily="49" charset="0"/>
                <a:sym typeface="+mn-ea"/>
              </a:rPr>
              <a:t> implements </a:t>
            </a:r>
            <a:r>
              <a:rPr lang="en-US" sz="1800" dirty="0" err="1">
                <a:latin typeface="Courier New" panose="02070309020205020404" pitchFamily="49" charset="0"/>
                <a:sym typeface="+mn-ea"/>
              </a:rPr>
              <a:t>DisposableBean</a:t>
            </a:r>
            <a:r>
              <a:rPr lang="en-US" sz="1800" dirty="0">
                <a:latin typeface="Courier New" panose="02070309020205020404" pitchFamily="49" charset="0"/>
                <a:sym typeface="+mn-ea"/>
              </a:rPr>
              <a:t>{</a:t>
            </a:r>
          </a:p>
          <a:p>
            <a:pPr algn="l">
              <a:lnSpc>
                <a:spcPct val="130000"/>
              </a:lnSpc>
              <a:spcBef>
                <a:spcPts val="0"/>
              </a:spcBef>
              <a:spcAft>
                <a:spcPts val="0"/>
              </a:spcAft>
              <a:defRPr/>
            </a:pPr>
            <a:r>
              <a:rPr lang="en-US" sz="1800" dirty="0">
                <a:latin typeface="Courier New" panose="02070309020205020404" pitchFamily="49" charset="0"/>
                <a:sym typeface="+mn-ea"/>
              </a:rPr>
              <a:t> 2     @Override</a:t>
            </a:r>
          </a:p>
          <a:p>
            <a:pPr algn="l">
              <a:lnSpc>
                <a:spcPct val="130000"/>
              </a:lnSpc>
              <a:spcBef>
                <a:spcPts val="0"/>
              </a:spcBef>
              <a:spcAft>
                <a:spcPts val="0"/>
              </a:spcAft>
              <a:defRPr/>
            </a:pPr>
            <a:r>
              <a:rPr lang="en-US" sz="1800" dirty="0">
                <a:latin typeface="Courier New" panose="02070309020205020404" pitchFamily="49" charset="0"/>
                <a:sym typeface="+mn-ea"/>
              </a:rPr>
              <a:t> 3     public void destroy() throws Exception {</a:t>
            </a:r>
          </a:p>
          <a:p>
            <a:pPr algn="l">
              <a:lnSpc>
                <a:spcPct val="130000"/>
              </a:lnSpc>
              <a:spcBef>
                <a:spcPts val="0"/>
              </a:spcBef>
              <a:spcAft>
                <a:spcPts val="0"/>
              </a:spcAft>
              <a:defRPr/>
            </a:pPr>
            <a:r>
              <a:rPr lang="en-US" sz="1800" dirty="0">
                <a:latin typeface="Courier New" panose="02070309020205020404" pitchFamily="49" charset="0"/>
                <a:sym typeface="+mn-ea"/>
              </a:rPr>
              <a:t> 4 // logical code before destruction</a:t>
            </a:r>
          </a:p>
          <a:p>
            <a:pPr algn="l">
              <a:lnSpc>
                <a:spcPct val="130000"/>
              </a:lnSpc>
              <a:spcBef>
                <a:spcPts val="0"/>
              </a:spcBef>
              <a:spcAft>
                <a:spcPts val="0"/>
              </a:spcAft>
              <a:defRPr/>
            </a:pPr>
            <a:r>
              <a:rPr lang="en-US" sz="1800" dirty="0">
                <a:latin typeface="Courier New" panose="02070309020205020404" pitchFamily="49" charset="0"/>
                <a:sym typeface="+mn-ea"/>
              </a:rPr>
              <a:t> 5}</a:t>
            </a:r>
          </a:p>
          <a:p>
            <a:pPr algn="l">
              <a:lnSpc>
                <a:spcPct val="130000"/>
              </a:lnSpc>
              <a:spcBef>
                <a:spcPts val="0"/>
              </a:spcBef>
              <a:spcAft>
                <a:spcPts val="0"/>
              </a:spcAft>
              <a:defRPr/>
            </a:pPr>
            <a:r>
              <a:rPr lang="en-US" sz="1800" dirty="0">
                <a:latin typeface="Courier New" panose="02070309020205020404" pitchFamily="49" charset="0"/>
                <a:sym typeface="+mn-ea"/>
              </a:rPr>
              <a:t> 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custDataLst>
              <p:tags r:id="rId1"/>
            </p:custDataLst>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The lifecycle of 6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custDataLst>
              <p:tags r:id="rId2"/>
            </p:custDataLst>
          </p:nvPr>
        </p:nvSpPr>
        <p:spPr>
          <a:xfrm>
            <a:off x="947261" y="888766"/>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④ Implemented with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@PreDestroy annotation</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The @PreDestroy annotation is one of the JSR 250 (Java Specification Request 250) predefined annotations for Java, used to mark the destruction methods of beans The method annotated by this annotation is executed before the Bean is destroyed, as shown in the example below.</a:t>
            </a:r>
          </a:p>
        </p:txBody>
      </p:sp>
      <p:sp>
        <p:nvSpPr>
          <p:cNvPr id="6" name="矩形 5"/>
          <p:cNvSpPr/>
          <p:nvPr>
            <p:custDataLst>
              <p:tags r:id="rId3"/>
            </p:custDataLst>
          </p:nvPr>
        </p:nvSpPr>
        <p:spPr>
          <a:xfrm>
            <a:off x="947261" y="3394891"/>
            <a:ext cx="10337800" cy="23818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858996" y="3427276"/>
            <a:ext cx="10478135" cy="113855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 public class </a:t>
            </a:r>
            <a:r>
              <a:rPr lang="en-US" sz="1800" dirty="0" err="1">
                <a:latin typeface="Courier New" panose="02070309020205020404" pitchFamily="49" charset="0"/>
                <a:sym typeface="+mn-ea"/>
              </a:rPr>
              <a:t>ExampleBean</a:t>
            </a:r>
            <a:r>
              <a:rPr lang="en-US" sz="1800" dirty="0">
                <a:latin typeface="Courier New" panose="02070309020205020404" pitchFamily="49" charset="0"/>
                <a:sym typeface="+mn-ea"/>
              </a:rPr>
              <a:t> {</a:t>
            </a:r>
          </a:p>
          <a:p>
            <a:pPr algn="l">
              <a:lnSpc>
                <a:spcPct val="130000"/>
              </a:lnSpc>
              <a:spcBef>
                <a:spcPts val="0"/>
              </a:spcBef>
              <a:spcAft>
                <a:spcPts val="0"/>
              </a:spcAft>
              <a:defRPr/>
            </a:pPr>
            <a:r>
              <a:rPr lang="en-US" sz="1800" dirty="0">
                <a:latin typeface="Courier New" panose="02070309020205020404" pitchFamily="49" charset="0"/>
                <a:sym typeface="+mn-ea"/>
              </a:rPr>
              <a:t> 2     @PreDestroy</a:t>
            </a:r>
          </a:p>
          <a:p>
            <a:pPr algn="l">
              <a:lnSpc>
                <a:spcPct val="130000"/>
              </a:lnSpc>
              <a:spcBef>
                <a:spcPts val="0"/>
              </a:spcBef>
              <a:spcAft>
                <a:spcPts val="0"/>
              </a:spcAft>
              <a:defRPr/>
            </a:pPr>
            <a:r>
              <a:rPr lang="en-US" sz="1800" dirty="0">
                <a:latin typeface="Courier New" panose="02070309020205020404" pitchFamily="49" charset="0"/>
                <a:sym typeface="+mn-ea"/>
              </a:rPr>
              <a:t> 3     public void destroy() {</a:t>
            </a:r>
          </a:p>
          <a:p>
            <a:pPr algn="l">
              <a:lnSpc>
                <a:spcPct val="130000"/>
              </a:lnSpc>
              <a:spcBef>
                <a:spcPts val="0"/>
              </a:spcBef>
              <a:spcAft>
                <a:spcPts val="0"/>
              </a:spcAft>
              <a:defRPr/>
            </a:pPr>
            <a:r>
              <a:rPr lang="en-US" sz="1800" dirty="0">
                <a:latin typeface="Courier New" panose="02070309020205020404" pitchFamily="49" charset="0"/>
                <a:sym typeface="+mn-ea"/>
              </a:rPr>
              <a:t> 4 // logical code before destruction</a:t>
            </a:r>
          </a:p>
          <a:p>
            <a:pPr algn="l">
              <a:lnSpc>
                <a:spcPct val="130000"/>
              </a:lnSpc>
              <a:spcBef>
                <a:spcPts val="0"/>
              </a:spcBef>
              <a:spcAft>
                <a:spcPts val="0"/>
              </a:spcAft>
              <a:defRPr/>
            </a:pPr>
            <a:r>
              <a:rPr lang="en-US" sz="1800" dirty="0">
                <a:latin typeface="Courier New" panose="02070309020205020404" pitchFamily="49" charset="0"/>
                <a:sym typeface="+mn-ea"/>
              </a:rPr>
              <a:t> 5}</a:t>
            </a:r>
          </a:p>
          <a:p>
            <a:pPr algn="l">
              <a:lnSpc>
                <a:spcPct val="130000"/>
              </a:lnSpc>
              <a:spcBef>
                <a:spcPts val="0"/>
              </a:spcBef>
              <a:spcAft>
                <a:spcPts val="0"/>
              </a:spcAft>
              <a:defRPr/>
            </a:pPr>
            <a:r>
              <a:rPr lang="en-US" sz="1800" dirty="0">
                <a:latin typeface="Courier New" panose="02070309020205020404" pitchFamily="49" charset="0"/>
                <a:sym typeface="+mn-ea"/>
              </a:rPr>
              <a:t> 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rmAutofit fontScale="98130"/>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The lifecycle of 6 Beans</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custDataLst>
              <p:tags r:id="rId1"/>
            </p:custDataLst>
          </p:nvPr>
        </p:nvSpPr>
        <p:spPr>
          <a:xfrm>
            <a:off x="1028476" y="819150"/>
            <a:ext cx="10295890" cy="50673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The following demonstrates the use of the initialization and destruction methods for beans whose scope is singleton through case studies.</a:t>
            </a:r>
          </a:p>
        </p:txBody>
      </p:sp>
      <p:grpSp>
        <p:nvGrpSpPr>
          <p:cNvPr id="3" name="组合 2"/>
          <p:cNvGrpSpPr/>
          <p:nvPr/>
        </p:nvGrpSpPr>
        <p:grpSpPr>
          <a:xfrm>
            <a:off x="723404" y="1751689"/>
            <a:ext cx="5011762" cy="476885"/>
            <a:chOff x="708766" y="1797999"/>
            <a:chExt cx="3566160" cy="476885"/>
          </a:xfrm>
        </p:grpSpPr>
        <p:sp>
          <p:nvSpPr>
            <p:cNvPr id="4" name="矩形: 圆角 6"/>
            <p:cNvSpPr/>
            <p:nvPr>
              <p:custDataLst>
                <p:tags r:id="rId5"/>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6"/>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Introduce dependencies</a:t>
              </a:r>
            </a:p>
          </p:txBody>
        </p:sp>
      </p:grpSp>
      <p:sp>
        <p:nvSpPr>
          <p:cNvPr id="13" name="文本框 12"/>
          <p:cNvSpPr txBox="1"/>
          <p:nvPr>
            <p:custDataLst>
              <p:tags r:id="rId2"/>
            </p:custDataLst>
          </p:nvPr>
        </p:nvSpPr>
        <p:spPr>
          <a:xfrm>
            <a:off x="993775" y="2385695"/>
            <a:ext cx="10295890" cy="922020"/>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This case defines the initialization and destruction methods based on the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@PostConstruct and @PreDestroy annotations</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which dependencies of Java annotations need to be introduced in the project's pom.xml file as follows.</a:t>
            </a:r>
          </a:p>
        </p:txBody>
      </p:sp>
      <p:sp>
        <p:nvSpPr>
          <p:cNvPr id="6" name="矩形 5"/>
          <p:cNvSpPr/>
          <p:nvPr>
            <p:custDataLst>
              <p:tags r:id="rId3"/>
            </p:custDataLst>
          </p:nvPr>
        </p:nvSpPr>
        <p:spPr>
          <a:xfrm>
            <a:off x="993775" y="4015423"/>
            <a:ext cx="10337800" cy="20250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14" name="矩形 13"/>
          <p:cNvSpPr/>
          <p:nvPr>
            <p:custDataLst>
              <p:tags r:id="rId4"/>
            </p:custDataLst>
          </p:nvPr>
        </p:nvSpPr>
        <p:spPr>
          <a:xfrm>
            <a:off x="905510" y="4047808"/>
            <a:ext cx="10478135" cy="1138555"/>
          </a:xfrm>
          <a:prstGeom prst="rect">
            <a:avLst/>
          </a:prstGeom>
        </p:spPr>
        <p:txBody>
          <a:bodyPr wrap="square">
            <a:noAutofit/>
          </a:bodyPr>
          <a:lstStyle/>
          <a:p>
            <a:pPr algn="l">
              <a:lnSpc>
                <a:spcPct val="130000"/>
              </a:lnSpc>
              <a:spcBef>
                <a:spcPts val="0"/>
              </a:spcBef>
              <a:spcAft>
                <a:spcPts val="0"/>
              </a:spcAft>
              <a:defRPr/>
            </a:pPr>
            <a:r>
              <a:rPr lang="en-US" sz="1800" dirty="0">
                <a:latin typeface="Courier New" panose="02070309020205020404" pitchFamily="49" charset="0"/>
                <a:sym typeface="+mn-ea"/>
              </a:rPr>
              <a:t> 1&lt;dependency&gt;</a:t>
            </a:r>
          </a:p>
          <a:p>
            <a:pPr algn="l">
              <a:lnSpc>
                <a:spcPct val="130000"/>
              </a:lnSpc>
              <a:spcBef>
                <a:spcPts val="0"/>
              </a:spcBef>
              <a:spcAft>
                <a:spcPts val="0"/>
              </a:spcAft>
              <a:defRPr/>
            </a:pPr>
            <a:r>
              <a:rPr lang="en-US" sz="1800" dirty="0">
                <a:latin typeface="Courier New" panose="02070309020205020404" pitchFamily="49" charset="0"/>
                <a:sym typeface="+mn-ea"/>
              </a:rPr>
              <a:t> 2	&lt;</a:t>
            </a:r>
            <a:r>
              <a:rPr lang="en-US" sz="1800" dirty="0" err="1">
                <a:latin typeface="Courier New" panose="02070309020205020404" pitchFamily="49" charset="0"/>
                <a:sym typeface="+mn-ea"/>
              </a:rPr>
              <a:t>groupId</a:t>
            </a:r>
            <a:r>
              <a:rPr lang="en-US" sz="1800" dirty="0">
                <a:latin typeface="Courier New" panose="02070309020205020404" pitchFamily="49" charset="0"/>
                <a:sym typeface="+mn-ea"/>
              </a:rPr>
              <a:t>&gt;</a:t>
            </a:r>
            <a:r>
              <a:rPr lang="en-US" sz="1800" dirty="0" err="1">
                <a:latin typeface="Courier New" panose="02070309020205020404" pitchFamily="49" charset="0"/>
                <a:sym typeface="+mn-ea"/>
              </a:rPr>
              <a:t>javax.annotation</a:t>
            </a:r>
            <a:r>
              <a:rPr lang="en-US" sz="1800" dirty="0">
                <a:latin typeface="Courier New" panose="02070309020205020404" pitchFamily="49" charset="0"/>
                <a:sym typeface="+mn-ea"/>
              </a:rPr>
              <a:t>&lt;/</a:t>
            </a:r>
            <a:r>
              <a:rPr lang="en-US" sz="1800" dirty="0" err="1">
                <a:latin typeface="Courier New" panose="02070309020205020404" pitchFamily="49" charset="0"/>
                <a:sym typeface="+mn-ea"/>
              </a:rPr>
              <a:t>groupId</a:t>
            </a:r>
            <a:r>
              <a:rPr lang="en-US" sz="1800" dirty="0">
                <a:latin typeface="Courier New" panose="02070309020205020404" pitchFamily="49" charset="0"/>
                <a:sym typeface="+mn-ea"/>
              </a:rPr>
              <a:t>&gt;</a:t>
            </a:r>
          </a:p>
          <a:p>
            <a:pPr algn="l">
              <a:lnSpc>
                <a:spcPct val="130000"/>
              </a:lnSpc>
              <a:spcBef>
                <a:spcPts val="0"/>
              </a:spcBef>
              <a:spcAft>
                <a:spcPts val="0"/>
              </a:spcAft>
              <a:defRPr/>
            </a:pPr>
            <a:r>
              <a:rPr lang="en-US" sz="1800" dirty="0">
                <a:latin typeface="Courier New" panose="02070309020205020404" pitchFamily="49" charset="0"/>
                <a:sym typeface="+mn-ea"/>
              </a:rPr>
              <a:t> 3	&lt;</a:t>
            </a:r>
            <a:r>
              <a:rPr lang="en-US" sz="1800" dirty="0" err="1">
                <a:latin typeface="Courier New" panose="02070309020205020404" pitchFamily="49" charset="0"/>
                <a:sym typeface="+mn-ea"/>
              </a:rPr>
              <a:t>artifactId</a:t>
            </a:r>
            <a:r>
              <a:rPr lang="en-US" sz="1800" dirty="0">
                <a:latin typeface="Courier New" panose="02070309020205020404" pitchFamily="49" charset="0"/>
                <a:sym typeface="+mn-ea"/>
              </a:rPr>
              <a:t>&gt;</a:t>
            </a:r>
            <a:r>
              <a:rPr lang="en-US" sz="1800" dirty="0" err="1">
                <a:latin typeface="Courier New" panose="02070309020205020404" pitchFamily="49" charset="0"/>
                <a:sym typeface="+mn-ea"/>
              </a:rPr>
              <a:t>javax.annotation-api</a:t>
            </a:r>
            <a:r>
              <a:rPr lang="en-US" sz="1800" dirty="0">
                <a:latin typeface="Courier New" panose="02070309020205020404" pitchFamily="49" charset="0"/>
                <a:sym typeface="+mn-ea"/>
              </a:rPr>
              <a:t>&lt;/</a:t>
            </a:r>
            <a:r>
              <a:rPr lang="en-US" sz="1800" dirty="0" err="1">
                <a:latin typeface="Courier New" panose="02070309020205020404" pitchFamily="49" charset="0"/>
                <a:sym typeface="+mn-ea"/>
              </a:rPr>
              <a:t>artifactId</a:t>
            </a:r>
            <a:r>
              <a:rPr lang="en-US" sz="1800" dirty="0">
                <a:latin typeface="Courier New" panose="02070309020205020404" pitchFamily="49" charset="0"/>
                <a:sym typeface="+mn-ea"/>
              </a:rPr>
              <a:t>&gt;</a:t>
            </a:r>
          </a:p>
          <a:p>
            <a:pPr algn="l">
              <a:lnSpc>
                <a:spcPct val="130000"/>
              </a:lnSpc>
              <a:spcBef>
                <a:spcPts val="0"/>
              </a:spcBef>
              <a:spcAft>
                <a:spcPts val="0"/>
              </a:spcAft>
              <a:defRPr/>
            </a:pPr>
            <a:r>
              <a:rPr lang="en-US" sz="1800" dirty="0">
                <a:latin typeface="Courier New" panose="02070309020205020404" pitchFamily="49" charset="0"/>
                <a:sym typeface="+mn-ea"/>
              </a:rPr>
              <a:t> 4 version&gt;1.3.2&lt;/version&gt;</a:t>
            </a:r>
          </a:p>
          <a:p>
            <a:pPr algn="l">
              <a:lnSpc>
                <a:spcPct val="130000"/>
              </a:lnSpc>
              <a:spcBef>
                <a:spcPts val="0"/>
              </a:spcBef>
              <a:spcAft>
                <a:spcPts val="0"/>
              </a:spcAft>
              <a:defRPr/>
            </a:pPr>
            <a:r>
              <a:rPr lang="en-US" sz="1800" dirty="0">
                <a:latin typeface="Courier New" panose="02070309020205020404" pitchFamily="49" charset="0"/>
                <a:sym typeface="+mn-ea"/>
              </a:rPr>
              <a:t> 5&lt;/dependency&gt;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 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622598" y="958849"/>
            <a:ext cx="5014189" cy="476885"/>
            <a:chOff x="708766" y="1797999"/>
            <a:chExt cx="3566160" cy="476885"/>
          </a:xfrm>
        </p:grpSpPr>
        <p:sp>
          <p:nvSpPr>
            <p:cNvPr id="4" name="矩形: 圆角 6"/>
            <p:cNvSpPr/>
            <p:nvPr>
              <p:custDataLst>
                <p:tags r:id="rId7"/>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8"/>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(2) Create a custom class</a:t>
              </a:r>
            </a:p>
          </p:txBody>
        </p:sp>
      </p:grpSp>
      <p:grpSp>
        <p:nvGrpSpPr>
          <p:cNvPr id="11" name="组合 10"/>
          <p:cNvGrpSpPr/>
          <p:nvPr/>
        </p:nvGrpSpPr>
        <p:grpSpPr>
          <a:xfrm>
            <a:off x="5388978" y="4019027"/>
            <a:ext cx="4073003" cy="2163715"/>
            <a:chOff x="5478588" y="3498327"/>
            <a:chExt cx="4073003" cy="2163715"/>
          </a:xfrm>
        </p:grpSpPr>
        <p:sp>
          <p:nvSpPr>
            <p:cNvPr id="16" name="文本框 15"/>
            <p:cNvSpPr txBox="1"/>
            <p:nvPr>
              <p:custDataLst>
                <p:tags r:id="rId4"/>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2-20</a:t>
              </a:r>
            </a:p>
            <a:p>
              <a:pPr algn="ctr"/>
              <a:r>
                <a:rPr sz="1800">
                  <a:sym typeface="+mn-ea"/>
                  <a:hlinkClick r:id="rId11"/>
                </a:rPr>
                <a:t>DataInfo.java</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13" name="文本框 12"/>
          <p:cNvSpPr txBox="1"/>
          <p:nvPr>
            <p:custDataLst>
              <p:tags r:id="rId1"/>
            </p:custDataLst>
          </p:nvPr>
        </p:nvSpPr>
        <p:spPr>
          <a:xfrm>
            <a:off x="1002948" y="1555671"/>
            <a:ext cx="10295890" cy="133794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a custom class DataInfo under the com.itheima.pojo package in chapter02 of the project, and use the @Component annotation on this class to annotate the beans created by the current class and hand them over to Spring Container management Define the constructor of the class, the initialization method of the Bean, and the destruction method of the Bean in this class, as shown in file 2-20.</a:t>
            </a:r>
          </a:p>
        </p:txBody>
      </p:sp>
      <p:pic>
        <p:nvPicPr>
          <p:cNvPr id="2" name="图片 1" descr="图片包含 形状&#10;&#10;描述已自动生成">
            <a:extLst>
              <a:ext uri="{FF2B5EF4-FFF2-40B4-BE49-F238E27FC236}">
                <a16:creationId xmlns:a16="http://schemas.microsoft.com/office/drawing/2014/main" id="{8AEC519F-FB76-221D-3ECD-A8B5DB39D61C}"/>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910153"/>
            <a:ext cx="2232248" cy="2232248"/>
          </a:xfrm>
          <a:prstGeom prst="rect">
            <a:avLst/>
          </a:prstGeom>
        </p:spPr>
      </p:pic>
      <p:pic>
        <p:nvPicPr>
          <p:cNvPr id="6" name="图形 5" descr="触控屏 纯色填充">
            <a:extLst>
              <a:ext uri="{FF2B5EF4-FFF2-40B4-BE49-F238E27FC236}">
                <a16:creationId xmlns:a16="http://schemas.microsoft.com/office/drawing/2014/main" id="{A1B354FE-CAAD-085B-A364-8F26295477E2}"/>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66614" y="964691"/>
            <a:ext cx="4147666" cy="476885"/>
            <a:chOff x="708766" y="1797999"/>
            <a:chExt cx="3566160" cy="476885"/>
          </a:xfrm>
        </p:grpSpPr>
        <p:sp>
          <p:nvSpPr>
            <p:cNvPr id="4" name="矩形: 圆角 6"/>
            <p:cNvSpPr/>
            <p:nvPr>
              <p:custDataLst>
                <p:tags r:id="rId7"/>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8"/>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(3) Write the test class</a:t>
              </a:r>
            </a:p>
          </p:txBody>
        </p:sp>
      </p:grpSp>
      <p:grpSp>
        <p:nvGrpSpPr>
          <p:cNvPr id="11" name="组合 10"/>
          <p:cNvGrpSpPr/>
          <p:nvPr/>
        </p:nvGrpSpPr>
        <p:grpSpPr>
          <a:xfrm>
            <a:off x="5388978" y="4019027"/>
            <a:ext cx="4073003" cy="2163715"/>
            <a:chOff x="5478588" y="3498327"/>
            <a:chExt cx="4073003" cy="2163715"/>
          </a:xfrm>
        </p:grpSpPr>
        <p:sp>
          <p:nvSpPr>
            <p:cNvPr id="16" name="文本框 15"/>
            <p:cNvSpPr txBox="1"/>
            <p:nvPr>
              <p:custDataLst>
                <p:tags r:id="rId4"/>
              </p:custDataLst>
            </p:nvPr>
          </p:nvSpPr>
          <p:spPr>
            <a:xfrm>
              <a:off x="5827203" y="4245722"/>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File 2-21</a:t>
              </a:r>
            </a:p>
            <a:p>
              <a:pPr algn="ctr"/>
              <a:r>
                <a:rPr sz="1800">
                  <a:sym typeface="+mn-ea"/>
                  <a:hlinkClick r:id="rId11"/>
                </a:rPr>
                <a:t>LifecycleTest.java</a:t>
              </a:r>
              <a:endParaRPr sz="1800">
                <a:sym typeface="+mn-ea"/>
              </a:endParaRPr>
            </a:p>
          </p:txBody>
        </p:sp>
        <p:sp>
          <p:nvSpPr>
            <p:cNvPr id="17" name="圆角矩形 16"/>
            <p:cNvSpPr/>
            <p:nvPr>
              <p:custDataLst>
                <p:tags r:id="rId5"/>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6"/>
              </p:custDataLst>
            </p:nvPr>
          </p:nvSpPr>
          <p:spPr>
            <a:xfrm>
              <a:off x="5478588" y="3498327"/>
              <a:ext cx="4073002" cy="369332"/>
            </a:xfrm>
            <a:prstGeom prst="rect">
              <a:avLst/>
            </a:prstGeom>
            <a:solidFill>
              <a:srgbClr val="363736"/>
            </a:solidFill>
          </p:spPr>
          <p:txBody>
            <a:bodyPr wrap="square" rtlCol="0">
              <a:normAutofit fontScale="95346"/>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Source code</a:t>
              </a:r>
            </a:p>
          </p:txBody>
        </p:sp>
      </p:grpSp>
      <p:sp>
        <p:nvSpPr>
          <p:cNvPr id="13" name="文本框 12"/>
          <p:cNvSpPr txBox="1"/>
          <p:nvPr>
            <p:custDataLst>
              <p:tags r:id="rId1"/>
            </p:custDataLst>
          </p:nvPr>
        </p:nvSpPr>
        <p:spPr>
          <a:xfrm>
            <a:off x="766614" y="1393042"/>
            <a:ext cx="10873208" cy="1753235"/>
          </a:xfrm>
          <a:prstGeom prst="rect">
            <a:avLst/>
          </a:prstGeom>
          <a:noFill/>
          <a:ln w="9525">
            <a:noFill/>
          </a:ln>
        </p:spPr>
        <p:txBody>
          <a:bodyPr wrap="square">
            <a:noAutofit/>
          </a:bodyPr>
          <a:lstStyle/>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 the test class LifecycleTest under the com.itheima folder of chapter02 project, define the main() method in the test class, scan the com.itheima package and its subpackages in the main() method, initialize the IoC container, and obtain the DataInfo instance in the container, Using </a:t>
            </a:r>
            <a:r>
              <a:rPr lang="zh-CN" altLang="en-US" sz="2000" b="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AbstractApplicationContext registerShutdownHook () method of the closing Spring application context,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specific code as shown in file 2-21.</a:t>
            </a:r>
          </a:p>
        </p:txBody>
      </p:sp>
      <p:pic>
        <p:nvPicPr>
          <p:cNvPr id="2" name="图片 1" descr="图片包含 形状&#10;&#10;描述已自动生成">
            <a:extLst>
              <a:ext uri="{FF2B5EF4-FFF2-40B4-BE49-F238E27FC236}">
                <a16:creationId xmlns:a16="http://schemas.microsoft.com/office/drawing/2014/main" id="{B99D7FFA-8C27-9E24-7C4B-4FDDF0EE9A6B}"/>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884980" y="3910153"/>
            <a:ext cx="2232248" cy="2232248"/>
          </a:xfrm>
          <a:prstGeom prst="rect">
            <a:avLst/>
          </a:prstGeom>
        </p:spPr>
      </p:pic>
      <p:pic>
        <p:nvPicPr>
          <p:cNvPr id="6" name="图形 5" descr="触控屏 纯色填充">
            <a:extLst>
              <a:ext uri="{FF2B5EF4-FFF2-40B4-BE49-F238E27FC236}">
                <a16:creationId xmlns:a16="http://schemas.microsoft.com/office/drawing/2014/main" id="{33F154BA-E188-4BDF-0A18-1B31B47D0C92}"/>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72828" y="5646750"/>
            <a:ext cx="914400" cy="914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2.6 Bean Lifecycle</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723404" y="1321159"/>
            <a:ext cx="3566160" cy="476885"/>
            <a:chOff x="708766" y="1797999"/>
            <a:chExt cx="3566160" cy="476885"/>
          </a:xfrm>
        </p:grpSpPr>
        <p:sp>
          <p:nvSpPr>
            <p:cNvPr id="4" name="矩形: 圆角 6"/>
            <p:cNvSpPr/>
            <p:nvPr>
              <p:custDataLst>
                <p:tags r:id="rId3"/>
              </p:custDataLst>
            </p:nvPr>
          </p:nvSpPr>
          <p:spPr>
            <a:xfrm>
              <a:off x="979276" y="1813239"/>
              <a:ext cx="329565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p:cNvSpPr txBox="1"/>
            <p:nvPr>
              <p:custDataLst>
                <p:tags r:id="rId4"/>
              </p:custDataLst>
            </p:nvPr>
          </p:nvSpPr>
          <p:spPr>
            <a:xfrm>
              <a:off x="708766" y="1797999"/>
              <a:ext cx="3554730" cy="44386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dirty="0">
                  <a:latin typeface="Arial" panose="020B0604020202020204" pitchFamily="34" charset="0"/>
                  <a:ea typeface="思源黑体 CN Normal" panose="020B0400000000000000" pitchFamily="34" charset="-122"/>
                  <a:sym typeface="Arial" panose="020B0604020202020204" pitchFamily="34" charset="0"/>
                </a:rPr>
                <a:t>(4) Test the results</a:t>
              </a:r>
            </a:p>
          </p:txBody>
        </p:sp>
      </p:grpSp>
      <p:sp>
        <p:nvSpPr>
          <p:cNvPr id="13" name="文本框 12"/>
          <p:cNvSpPr txBox="1"/>
          <p:nvPr>
            <p:custDataLst>
              <p:tags r:id="rId1"/>
            </p:custDataLst>
          </p:nvPr>
        </p:nvSpPr>
        <p:spPr>
          <a:xfrm>
            <a:off x="993914" y="1854918"/>
            <a:ext cx="10501892" cy="506730"/>
          </a:xfrm>
          <a:prstGeom prst="rect">
            <a:avLst/>
          </a:prstGeom>
          <a:noFill/>
          <a:ln w="9525">
            <a:noFill/>
          </a:ln>
        </p:spPr>
        <p:txBody>
          <a:bodyPr wrap="square">
            <a:normAutofit fontScale="97199"/>
          </a:bodyPr>
          <a:lstStyle/>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 file 2-21 in IDEA, and the result is as shown in the following figure.</a:t>
            </a:r>
          </a:p>
        </p:txBody>
      </p:sp>
      <p:pic>
        <p:nvPicPr>
          <p:cNvPr id="6" name="图片 -2147482585">
            <a:extLst>
              <a:ext uri="{FF2B5EF4-FFF2-40B4-BE49-F238E27FC236}">
                <a16:creationId xmlns:a16="http://schemas.microsoft.com/office/drawing/2014/main" id="{F607749F-9C2E-DAFA-94E2-32C07D2082DA}"/>
              </a:ext>
            </a:extLst>
          </p:cNvPr>
          <p:cNvPicPr>
            <a:picLocks noChangeAspect="1"/>
          </p:cNvPicPr>
          <p:nvPr>
            <p:custDataLst>
              <p:tags r:id="rId2"/>
            </p:custDataLst>
          </p:nvPr>
        </p:nvPicPr>
        <p:blipFill>
          <a:blip r:embed="rId7"/>
          <a:stretch>
            <a:fillRect/>
          </a:stretch>
        </p:blipFill>
        <p:spPr>
          <a:xfrm>
            <a:off x="3302620" y="2639771"/>
            <a:ext cx="5585172" cy="363453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rmAutofit fontScale="96476"/>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Summary of this chapter</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43690" y="1845618"/>
            <a:ext cx="979360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sz="2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This chapter mainly covers how Spring manages beans. </a:t>
            </a:r>
            <a:r>
              <a:rPr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First, Spring's IoC container is introduced; </a:t>
            </a:r>
            <a:r>
              <a:rPr sz="2000" dirty="0">
                <a:solidFill>
                  <a:srgbClr val="0070C0"/>
                </a:solidFill>
                <a:latin typeface="微软雅黑" panose="020B0503020204020204" pitchFamily="34" charset="-122"/>
                <a:ea typeface="微软雅黑" panose="020B0503020204020204" pitchFamily="34" charset="-122"/>
                <a:sym typeface="+mn-ea"/>
              </a:rPr>
              <a:t>Then the configuration of the Bean and the scope of the Bean are explained; Then the instantiation of beans and the assembly of beans were explained; Finally, the lifecycle of the Bean is covered. </a:t>
            </a:r>
            <a:r>
              <a:rPr sz="2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Through the study of this chapter, readers will have a basic understanding of Bean management in Spring, laying the foundation for future framework development.</a:t>
            </a:r>
          </a:p>
        </p:txBody>
      </p:sp>
      <p:sp>
        <p:nvSpPr>
          <p:cNvPr id="27" name="圆角矩形 26"/>
          <p:cNvSpPr/>
          <p:nvPr/>
        </p:nvSpPr>
        <p:spPr>
          <a:xfrm>
            <a:off x="839470" y="1629594"/>
            <a:ext cx="10511790" cy="3628206"/>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UNIT_TABLE_BEAUTIFY" val="smartTable{2126bdec-36ac-4601-9b35-787a267283da}"/>
  <p:tag name="TABLE_ENDDRAG_ORIGIN_RECT" val="790*325"/>
  <p:tag name="TABLE_ENDDRAG_RECT" val="101*156*790*325"/>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UNIT_TABLE_BEAUTIFY" val="smartTable{cba99a50-feec-4c56-8706-926856bd4a0b}"/>
  <p:tag name="TABLE_ENDDRAG_ORIGIN_RECT" val="568*244"/>
  <p:tag name="TABLE_ENDDRAG_RECT" val="120*216*568*244"/>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UNIT_TABLE_BEAUTIFY" val="smartTable{fcc9e6c0-fb1c-49ea-861e-05e03c1f36b0}"/>
  <p:tag name="TABLE_ENDDRAG_ORIGIN_RECT" val="730*214"/>
  <p:tag name="TABLE_ENDDRAG_RECT" val="121*228*730*214"/>
</p:tagLst>
</file>

<file path=ppt/tags/tag136.xml><?xml version="1.0" encoding="utf-8"?>
<p:tagLst xmlns:a="http://schemas.openxmlformats.org/drawingml/2006/main" xmlns:r="http://schemas.openxmlformats.org/officeDocument/2006/relationships" xmlns:p="http://schemas.openxmlformats.org/presentationml/2006/main">
  <p:tag name="KSO_WM_UNIT_TABLE_BEAUTIFY" val="smartTable{0980bacb-a10e-4278-a0c6-9dea97fb1f25}"/>
  <p:tag name="TABLE_ENDDRAG_ORIGIN_RECT" val="746*319"/>
  <p:tag name="TABLE_ENDDRAG_RECT" val="105*121*746*319"/>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6.xml><?xml version="1.0" encoding="utf-8"?>
<p:tagLst xmlns:a="http://schemas.openxmlformats.org/drawingml/2006/main" xmlns:r="http://schemas.openxmlformats.org/officeDocument/2006/relationships" xmlns:p="http://schemas.openxmlformats.org/presentationml/2006/main">
  <p:tag name="KSO_WM_UNIT_TABLE_BEAUTIFY" val="smartTable{8a5f5f91-5336-48fa-82cf-53badf0ca79f}"/>
</p:tagLst>
</file>

<file path=ppt/tags/tag377.xml><?xml version="1.0" encoding="utf-8"?>
<p:tagLst xmlns:a="http://schemas.openxmlformats.org/drawingml/2006/main" xmlns:r="http://schemas.openxmlformats.org/officeDocument/2006/relationships" xmlns:p="http://schemas.openxmlformats.org/presentationml/2006/main">
  <p:tag name="KSO_WM_UNIT_TABLE_BEAUTIFY" val="smartTable{1eaf68fe-937e-4743-a6b9-38faa4630a75}"/>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1834</TotalTime>
  <Words>7675</Words>
  <Application>Microsoft Office PowerPoint</Application>
  <PresentationFormat>自定义</PresentationFormat>
  <Paragraphs>681</Paragraphs>
  <Slides>102</Slides>
  <Notes>101</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102</vt:i4>
      </vt:variant>
    </vt:vector>
  </HeadingPairs>
  <TitlesOfParts>
    <vt:vector size="109" baseType="lpstr">
      <vt:lpstr>Source Han Sans K Bold</vt:lpstr>
      <vt:lpstr>微软雅黑</vt:lpstr>
      <vt:lpstr>Arial</vt:lpstr>
      <vt:lpstr>Calibri</vt:lpstr>
      <vt:lpstr>Courier New</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Li QinRu</dc:creator>
  <cp:lastModifiedBy>Li QinRu</cp:lastModifiedBy>
  <cp:revision>1185</cp:revision>
  <dcterms:created xsi:type="dcterms:W3CDTF">2020-11-11T09:29:00Z</dcterms:created>
  <dcterms:modified xsi:type="dcterms:W3CDTF">2026-03-25T08:39:03Z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2052-12.1.0.22215</vt:lpwstr>
  </property>
  <property fmtid="{D5CDD505-2E9C-101B-9397-08002B2CF9AE}" pid="3" name="ICV">
    <vt:lpwstr>69DB4B6826B6494390E926BE37E6C64D</vt:lpwstr>
  </property>
</Properties>
</file>