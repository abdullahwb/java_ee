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notesSlides/notesSlide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0.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1.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8.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9.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0.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2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23.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24.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25.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26.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7.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28.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29.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30.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31.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32.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33.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36.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37.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38.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notesSlides/notesSlide39.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40.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41.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42.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43.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44.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45.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46.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47.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48.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notesSlides/notesSlide49.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50.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51.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notesSlides/notesSlide52.xml" ContentType="application/vnd.openxmlformats-officedocument.presentationml.notesSlid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53.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notesSlides/notesSlide54.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notesSlides/notesSlide55.xml" ContentType="application/vnd.openxmlformats-officedocument.presentationml.notesSlide+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56.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notesSlides/notesSlide57.xml" ContentType="application/vnd.openxmlformats-officedocument.presentationml.notesSlide+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63"/>
  </p:notesMasterIdLst>
  <p:handoutMasterIdLst>
    <p:handoutMasterId r:id="rId64"/>
  </p:handoutMasterIdLst>
  <p:sldIdLst>
    <p:sldId id="583" r:id="rId3"/>
    <p:sldId id="1124" r:id="rId4"/>
    <p:sldId id="586" r:id="rId5"/>
    <p:sldId id="587" r:id="rId6"/>
    <p:sldId id="309" r:id="rId7"/>
    <p:sldId id="899" r:id="rId8"/>
    <p:sldId id="776" r:id="rId9"/>
    <p:sldId id="1274" r:id="rId10"/>
    <p:sldId id="1276" r:id="rId11"/>
    <p:sldId id="1317" r:id="rId12"/>
    <p:sldId id="1318" r:id="rId13"/>
    <p:sldId id="1319" r:id="rId14"/>
    <p:sldId id="1320" r:id="rId15"/>
    <p:sldId id="1321" r:id="rId16"/>
    <p:sldId id="1322" r:id="rId17"/>
    <p:sldId id="1323" r:id="rId18"/>
    <p:sldId id="1277" r:id="rId19"/>
    <p:sldId id="1278" r:id="rId20"/>
    <p:sldId id="1280" r:id="rId21"/>
    <p:sldId id="1279" r:id="rId22"/>
    <p:sldId id="1324" r:id="rId23"/>
    <p:sldId id="1281" r:id="rId24"/>
    <p:sldId id="1283" r:id="rId25"/>
    <p:sldId id="1284" r:id="rId26"/>
    <p:sldId id="1285" r:id="rId27"/>
    <p:sldId id="1286" r:id="rId28"/>
    <p:sldId id="1287" r:id="rId29"/>
    <p:sldId id="1288" r:id="rId30"/>
    <p:sldId id="1289" r:id="rId31"/>
    <p:sldId id="1292" r:id="rId32"/>
    <p:sldId id="1290" r:id="rId33"/>
    <p:sldId id="1291" r:id="rId34"/>
    <p:sldId id="1293" r:id="rId35"/>
    <p:sldId id="1294" r:id="rId36"/>
    <p:sldId id="1295" r:id="rId37"/>
    <p:sldId id="1296" r:id="rId38"/>
    <p:sldId id="1297" r:id="rId39"/>
    <p:sldId id="1298" r:id="rId40"/>
    <p:sldId id="1299" r:id="rId41"/>
    <p:sldId id="1300" r:id="rId42"/>
    <p:sldId id="1301" r:id="rId43"/>
    <p:sldId id="1302" r:id="rId44"/>
    <p:sldId id="1275" r:id="rId45"/>
    <p:sldId id="1303" r:id="rId46"/>
    <p:sldId id="1304" r:id="rId47"/>
    <p:sldId id="995" r:id="rId48"/>
    <p:sldId id="1305" r:id="rId49"/>
    <p:sldId id="1306" r:id="rId50"/>
    <p:sldId id="1308" r:id="rId51"/>
    <p:sldId id="1309" r:id="rId52"/>
    <p:sldId id="1310" r:id="rId53"/>
    <p:sldId id="1311" r:id="rId54"/>
    <p:sldId id="1312" r:id="rId55"/>
    <p:sldId id="1126" r:id="rId56"/>
    <p:sldId id="1313" r:id="rId57"/>
    <p:sldId id="1314" r:id="rId58"/>
    <p:sldId id="1315" r:id="rId59"/>
    <p:sldId id="1316" r:id="rId60"/>
    <p:sldId id="889" r:id="rId61"/>
    <p:sldId id="617" r:id="rId62"/>
  </p:sldIdLst>
  <p:sldSz cx="12190413" cy="6859588"/>
  <p:notesSz cx="6858000" cy="9144000"/>
  <p:custDataLst>
    <p:tags r:id="rId65"/>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42" userDrawn="1">
          <p15:clr>
            <a:srgbClr val="A4A3A4"/>
          </p15:clr>
        </p15:guide>
        <p15:guide id="2" pos="668" userDrawn="1">
          <p15:clr>
            <a:srgbClr val="A4A3A4"/>
          </p15:clr>
        </p15:guide>
        <p15:guide id="3" pos="6996" userDrawn="1">
          <p15:clr>
            <a:srgbClr val="A4A3A4"/>
          </p15:clr>
        </p15:guide>
      </p15:sldGuideLst>
    </p:ext>
    <p:ext uri="{2D200454-40CA-4A62-9FC3-DE9A4176ACB9}">
      <p15:notesGuideLst xmlns:p15="http://schemas.microsoft.com/office/powerpoint/2012/main">
        <p15:guide id="1" orient="horz" pos="2741">
          <p15:clr>
            <a:srgbClr val="A4A3A4"/>
          </p15:clr>
        </p15:guide>
        <p15:guide id="2" pos="217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72" autoAdjust="0"/>
    <p:restoredTop sz="80982" autoAdjust="0"/>
  </p:normalViewPr>
  <p:slideViewPr>
    <p:cSldViewPr showGuides="1">
      <p:cViewPr varScale="1">
        <p:scale>
          <a:sx n="86" d="100"/>
          <a:sy n="86" d="100"/>
        </p:scale>
        <p:origin x="594" y="84"/>
      </p:cViewPr>
      <p:guideLst>
        <p:guide orient="horz" pos="1042"/>
        <p:guide pos="668"/>
        <p:guide pos="699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741"/>
        <p:guide pos="217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2026/4/1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2026/4/1</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4A44-9C67-F6E4-B6BD-93644CA468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CCA225-C043-6452-812F-CB7FCA8EEE41}"/>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1373F9CA-643B-A6ED-949C-07B028D36DF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80CDB7E-71A9-5E25-A4B9-115121613D70}"/>
              </a:ext>
            </a:extLst>
          </p:cNvPr>
          <p:cNvSpPr>
            <a:spLocks noGrp="1"/>
          </p:cNvSpPr>
          <p:nvPr>
            <p:ph type="sldNum" sz="quarter" idx="10"/>
          </p:nvPr>
        </p:nvSpPr>
        <p:spPr/>
        <p:txBody>
          <a:bodyPr/>
          <a:lstStyle/>
          <a:p>
            <a:fld id="{7392B679-AE23-4750-8FB0-6513430B8953}" type="slidenum">
              <a:rPr lang="zh-CN" altLang="en-US" smtClean="0"/>
              <a:t>10</a:t>
            </a:fld>
            <a:endParaRPr lang="zh-CN" altLang="en-US"/>
          </a:p>
        </p:txBody>
      </p:sp>
    </p:spTree>
    <p:extLst>
      <p:ext uri="{BB962C8B-B14F-4D97-AF65-F5344CB8AC3E}">
        <p14:creationId xmlns:p14="http://schemas.microsoft.com/office/powerpoint/2010/main" val="3499120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875A-EEBD-FA50-95CC-82F5D56E99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06ED44-D6E8-7679-ED6E-52F95258229D}"/>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A1766635-9BF7-B0AD-A9E4-153AFFBCDDC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BA3B3C2-DD7F-89BD-0064-A941E7713997}"/>
              </a:ext>
            </a:extLst>
          </p:cNvPr>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1743965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99AF-A409-7968-8BBE-3941A9F345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D12E83-076E-4531-10FD-F7C7A9C90B1D}"/>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8EF2ECA2-0838-6F84-63CA-36A28557BF0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46C339D-368A-B8AF-B66B-FBB1CB24DB05}"/>
              </a:ext>
            </a:extLst>
          </p:cNvPr>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1034951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5865A-D56F-8B93-26E2-A50B4F6B57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707982-060A-7BF3-E5C3-EC84A82AFCF8}"/>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D818EB21-8DC8-B73D-BCCC-8F00047025C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C7204FF-556D-50C8-A0D3-983CFCE37879}"/>
              </a:ext>
            </a:extLst>
          </p:cNvPr>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3886354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E69AB-7794-6943-33DF-8384AECA8D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BE80D6-3F2C-E88E-1BAF-8EAA48BD71B4}"/>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7859CE3B-E5A0-1242-4C9C-644CB9062DC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F7D206E-57CA-F445-C070-31F02F2DF805}"/>
              </a:ext>
            </a:extLst>
          </p:cNvPr>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3460082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2533E-4488-82E8-19E7-E15D12C347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148527-38A5-7938-7CFD-5E84861152FC}"/>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D2ABFD95-17DD-644A-D994-C6584014B26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CF67699-EABE-6C94-58CF-31C4CE62C6B2}"/>
              </a:ext>
            </a:extLst>
          </p:cNvPr>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2981213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3FE2-81B4-1AC5-EEF9-946FDB295B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A3F086-30C3-5DEB-1595-1512002480D4}"/>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A1EE484B-26C3-267E-340A-CBBACDEAC96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D824670-761B-B6D6-0689-6C98B7689F74}"/>
              </a:ext>
            </a:extLst>
          </p:cNvPr>
          <p:cNvSpPr>
            <a:spLocks noGrp="1"/>
          </p:cNvSpPr>
          <p:nvPr>
            <p:ph type="sldNum" sz="quarter" idx="10"/>
          </p:nvPr>
        </p:nvSpPr>
        <p:spPr/>
        <p:txBody>
          <a:bodyPr/>
          <a:lstStyle/>
          <a:p>
            <a:fld id="{7392B679-AE23-4750-8FB0-6513430B8953}" type="slidenum">
              <a:rPr lang="zh-CN" altLang="en-US" smtClean="0"/>
              <a:t>16</a:t>
            </a:fld>
            <a:endParaRPr lang="zh-CN" altLang="en-US"/>
          </a:p>
        </p:txBody>
      </p:sp>
    </p:spTree>
    <p:extLst>
      <p:ext uri="{BB962C8B-B14F-4D97-AF65-F5344CB8AC3E}">
        <p14:creationId xmlns:p14="http://schemas.microsoft.com/office/powerpoint/2010/main" val="3557410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6AF6F-3F5B-38A6-FF5B-5476D76715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35B3FD-8BF1-8C7B-D53E-D605EF205460}"/>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A5C06A8A-643D-1A2C-E80C-6D9385D0551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1D55EEC-D27E-B8CD-9730-7D9E7BDE5737}"/>
              </a:ext>
            </a:extLst>
          </p:cNvPr>
          <p:cNvSpPr>
            <a:spLocks noGrp="1"/>
          </p:cNvSpPr>
          <p:nvPr>
            <p:ph type="sldNum" sz="quarter" idx="10"/>
          </p:nvPr>
        </p:nvSpPr>
        <p:spPr/>
        <p:txBody>
          <a:bodyPr/>
          <a:lstStyle/>
          <a:p>
            <a:fld id="{7392B679-AE23-4750-8FB0-6513430B8953}" type="slidenum">
              <a:rPr lang="zh-CN" altLang="en-US" smtClean="0"/>
              <a:t>21</a:t>
            </a:fld>
            <a:endParaRPr lang="zh-CN" altLang="en-US"/>
          </a:p>
        </p:txBody>
      </p:sp>
    </p:spTree>
    <p:extLst>
      <p:ext uri="{BB962C8B-B14F-4D97-AF65-F5344CB8AC3E}">
        <p14:creationId xmlns:p14="http://schemas.microsoft.com/office/powerpoint/2010/main" val="12878467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2026/4/1</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t>2026/4/1</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2.xml"/><Relationship Id="rId5" Type="http://schemas.openxmlformats.org/officeDocument/2006/relationships/slideLayout" Target="../slideLayouts/slideLayout19.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notesSlide" Target="../notesSlides/notesSlide3.xml"/><Relationship Id="rId4"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slideLayout" Target="../slideLayouts/slideLayout19.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3.xml"/><Relationship Id="rId7" Type="http://schemas.openxmlformats.org/officeDocument/2006/relationships/notesSlide" Target="../notesSlides/notesSlide6.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10.xml"/><Relationship Id="rId5" Type="http://schemas.openxmlformats.org/officeDocument/2006/relationships/tags" Target="../tags/tag25.xml"/><Relationship Id="rId4"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2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notesSlide" Target="../notesSlides/notesSlide18.xml"/><Relationship Id="rId5" Type="http://schemas.openxmlformats.org/officeDocument/2006/relationships/slideLayout" Target="../slideLayouts/slideLayout10.xml"/><Relationship Id="rId4" Type="http://schemas.openxmlformats.org/officeDocument/2006/relationships/tags" Target="../tags/tag48.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1.xml"/><Relationship Id="rId7" Type="http://schemas.openxmlformats.org/officeDocument/2006/relationships/notesSlide" Target="../notesSlides/notesSlide19.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Layout" Target="../slideLayouts/slideLayout10.xml"/><Relationship Id="rId5" Type="http://schemas.openxmlformats.org/officeDocument/2006/relationships/tags" Target="../tags/tag53.xml"/><Relationship Id="rId4" Type="http://schemas.openxmlformats.org/officeDocument/2006/relationships/tags" Target="../tags/tag5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notesSlide" Target="../notesSlides/notesSlide22.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10.xml"/><Relationship Id="rId5" Type="http://schemas.openxmlformats.org/officeDocument/2006/relationships/tags" Target="../tags/tag62.xml"/><Relationship Id="rId4" Type="http://schemas.openxmlformats.org/officeDocument/2006/relationships/tags" Target="../tags/tag61.xml"/></Relationships>
</file>

<file path=ppt/slides/_rels/slide23.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image" Target="../media/image5.sv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media/image4.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notesSlide" Target="../notesSlides/notesSlide23.xml"/><Relationship Id="rId5" Type="http://schemas.openxmlformats.org/officeDocument/2006/relationships/tags" Target="../tags/tag67.xml"/><Relationship Id="rId10" Type="http://schemas.openxmlformats.org/officeDocument/2006/relationships/slideLayout" Target="../slideLayouts/slideLayout10.xml"/><Relationship Id="rId4" Type="http://schemas.openxmlformats.org/officeDocument/2006/relationships/tags" Target="../tags/tag66.xml"/><Relationship Id="rId9" Type="http://schemas.openxmlformats.org/officeDocument/2006/relationships/tags" Target="../tags/tag71.xml"/></Relationships>
</file>

<file path=ppt/slides/_rels/slide24.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hyperlink" Target="http://stu.ityxb.com/ebookview/07696736707c2d3ed49cca9193497035" TargetMode="Externa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image" Target="../media/image4.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notesSlide" Target="../notesSlides/notesSlide24.xml"/><Relationship Id="rId5" Type="http://schemas.openxmlformats.org/officeDocument/2006/relationships/tags" Target="../tags/tag76.xml"/><Relationship Id="rId10" Type="http://schemas.openxmlformats.org/officeDocument/2006/relationships/slideLayout" Target="../slideLayouts/slideLayout10.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image" Target="../media/image5.svg"/></Relationships>
</file>

<file path=ppt/slides/_rels/slide25.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hyperlink" Target="http://stu.ityxb.com/ebookview/a994a5bf1174eade709573aa4f873470" TargetMode="Externa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image" Target="../media/image4.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notesSlide" Target="../notesSlides/notesSlide25.xml"/><Relationship Id="rId5" Type="http://schemas.openxmlformats.org/officeDocument/2006/relationships/tags" Target="../tags/tag85.xml"/><Relationship Id="rId10" Type="http://schemas.openxmlformats.org/officeDocument/2006/relationships/slideLayout" Target="../slideLayouts/slideLayout10.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image" Target="../media/image5.svg"/></Relationships>
</file>

<file path=ppt/slides/_rels/slide26.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hyperlink" Target="http://stu.ityxb.com/ebookview/ba0e72a78fb40e9a0b452549a48e5d56" TargetMode="Externa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image" Target="../media/image4.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notesSlide" Target="../notesSlides/notesSlide26.xml"/><Relationship Id="rId5" Type="http://schemas.openxmlformats.org/officeDocument/2006/relationships/tags" Target="../tags/tag94.xml"/><Relationship Id="rId10" Type="http://schemas.openxmlformats.org/officeDocument/2006/relationships/slideLayout" Target="../slideLayouts/slideLayout10.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image" Target="../media/image5.svg"/></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01.xml"/><Relationship Id="rId7" Type="http://schemas.openxmlformats.org/officeDocument/2006/relationships/notesSlide" Target="../notesSlides/notesSlide27.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slideLayout" Target="../slideLayouts/slideLayout10.xml"/><Relationship Id="rId5" Type="http://schemas.openxmlformats.org/officeDocument/2006/relationships/tags" Target="../tags/tag103.xml"/><Relationship Id="rId4" Type="http://schemas.openxmlformats.org/officeDocument/2006/relationships/tags" Target="../tags/tag102.xml"/></Relationships>
</file>

<file path=ppt/slides/_rels/slide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6.xml"/><Relationship Id="rId7" Type="http://schemas.openxmlformats.org/officeDocument/2006/relationships/notesSlide" Target="../notesSlides/notesSlide28.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Layout" Target="../slideLayouts/slideLayout10.xml"/><Relationship Id="rId5" Type="http://schemas.openxmlformats.org/officeDocument/2006/relationships/tags" Target="../tags/tag108.xml"/><Relationship Id="rId4" Type="http://schemas.openxmlformats.org/officeDocument/2006/relationships/tags" Target="../tags/tag10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4.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notesSlide" Target="../notesSlides/notesSlide31.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slideLayout" Target="../slideLayouts/slideLayout10.xml"/><Relationship Id="rId5" Type="http://schemas.openxmlformats.org/officeDocument/2006/relationships/tags" Target="../tags/tag117.xml"/><Relationship Id="rId15" Type="http://schemas.openxmlformats.org/officeDocument/2006/relationships/image" Target="../media/image5.svg"/><Relationship Id="rId10" Type="http://schemas.openxmlformats.org/officeDocument/2006/relationships/tags" Target="../tags/tag12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hyperlink" Target="http://stu.ityxb.com/ebookview/07a51d2bd489fe3bf75332563db066b9" TargetMode="External"/></Relationships>
</file>

<file path=ppt/slides/_rels/slide32.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hyperlink" Target="http://stu.ityxb.com/ebookview/0a2676571c4e3fe76900587a119e9d31" TargetMode="External"/><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image" Target="../media/image4.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notesSlide" Target="../notesSlides/notesSlide32.xml"/><Relationship Id="rId5" Type="http://schemas.openxmlformats.org/officeDocument/2006/relationships/tags" Target="../tags/tag127.xml"/><Relationship Id="rId10" Type="http://schemas.openxmlformats.org/officeDocument/2006/relationships/slideLayout" Target="../slideLayouts/slideLayout10.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image" Target="../media/image5.svg"/></Relationships>
</file>

<file path=ppt/slides/_rels/slide33.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hyperlink" Target="http://stu.ityxb.com/ebookview/199e256c5d573fb00d1196ec14855dd6" TargetMode="External"/><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image" Target="../media/image4.pn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notesSlide" Target="../notesSlides/notesSlide33.xml"/><Relationship Id="rId5" Type="http://schemas.openxmlformats.org/officeDocument/2006/relationships/tags" Target="../tags/tag136.xml"/><Relationship Id="rId10" Type="http://schemas.openxmlformats.org/officeDocument/2006/relationships/slideLayout" Target="../slideLayouts/slideLayout10.xml"/><Relationship Id="rId4" Type="http://schemas.openxmlformats.org/officeDocument/2006/relationships/tags" Target="../tags/tag135.xml"/><Relationship Id="rId9" Type="http://schemas.openxmlformats.org/officeDocument/2006/relationships/tags" Target="../tags/tag140.xml"/><Relationship Id="rId14" Type="http://schemas.openxmlformats.org/officeDocument/2006/relationships/image" Target="../media/image5.svg"/></Relationships>
</file>

<file path=ppt/slides/_rels/slide3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43.xml"/><Relationship Id="rId7" Type="http://schemas.openxmlformats.org/officeDocument/2006/relationships/notesSlide" Target="../notesSlides/notesSlide34.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slideLayout" Target="../slideLayouts/slideLayout10.xml"/><Relationship Id="rId5" Type="http://schemas.openxmlformats.org/officeDocument/2006/relationships/tags" Target="../tags/tag145.xml"/><Relationship Id="rId4" Type="http://schemas.openxmlformats.org/officeDocument/2006/relationships/tags" Target="../tags/tag14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notesSlide" Target="../notesSlides/notesSlide36.xml"/><Relationship Id="rId5" Type="http://schemas.openxmlformats.org/officeDocument/2006/relationships/slideLayout" Target="../slideLayouts/slideLayout10.xml"/><Relationship Id="rId4" Type="http://schemas.openxmlformats.org/officeDocument/2006/relationships/tags" Target="../tags/tag149.xml"/></Relationships>
</file>

<file path=ppt/slides/_rels/slide3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52.xml"/><Relationship Id="rId7" Type="http://schemas.openxmlformats.org/officeDocument/2006/relationships/notesSlide" Target="../notesSlides/notesSlide37.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slideLayout" Target="../slideLayouts/slideLayout10.xml"/><Relationship Id="rId5" Type="http://schemas.openxmlformats.org/officeDocument/2006/relationships/tags" Target="../tags/tag154.xml"/><Relationship Id="rId4" Type="http://schemas.openxmlformats.org/officeDocument/2006/relationships/tags" Target="../tags/tag153.xml"/></Relationships>
</file>

<file path=ppt/slides/_rels/slide38.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notesSlide" Target="../notesSlides/notesSlide38.xml"/><Relationship Id="rId4"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59.xml"/><Relationship Id="rId1" Type="http://schemas.openxmlformats.org/officeDocument/2006/relationships/tags" Target="../tags/tag158.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tags" Target="../tags/tag162.xml"/><Relationship Id="rId7" Type="http://schemas.openxmlformats.org/officeDocument/2006/relationships/notesSlide" Target="../notesSlides/notesSlide40.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slideLayout" Target="../slideLayouts/slideLayout10.xml"/><Relationship Id="rId5" Type="http://schemas.openxmlformats.org/officeDocument/2006/relationships/tags" Target="../tags/tag164.xml"/><Relationship Id="rId4" Type="http://schemas.openxmlformats.org/officeDocument/2006/relationships/tags" Target="../tags/tag163.xml"/></Relationships>
</file>

<file path=ppt/slides/_rels/slide41.xml.rels><?xml version="1.0" encoding="UTF-8" standalone="yes"?>
<Relationships xmlns="http://schemas.openxmlformats.org/package/2006/relationships"><Relationship Id="rId3" Type="http://schemas.openxmlformats.org/officeDocument/2006/relationships/tags" Target="../tags/tag167.xml"/><Relationship Id="rId7" Type="http://schemas.openxmlformats.org/officeDocument/2006/relationships/notesSlide" Target="../notesSlides/notesSlide41.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slideLayout" Target="../slideLayouts/slideLayout10.xml"/><Relationship Id="rId5" Type="http://schemas.openxmlformats.org/officeDocument/2006/relationships/tags" Target="../tags/tag169.xml"/><Relationship Id="rId4" Type="http://schemas.openxmlformats.org/officeDocument/2006/relationships/tags" Target="../tags/tag168.xml"/></Relationships>
</file>

<file path=ppt/slides/_rels/slide42.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notesSlide" Target="../notesSlides/notesSlide42.xml"/><Relationship Id="rId5" Type="http://schemas.openxmlformats.org/officeDocument/2006/relationships/slideLayout" Target="../slideLayouts/slideLayout10.xml"/><Relationship Id="rId4" Type="http://schemas.openxmlformats.org/officeDocument/2006/relationships/tags" Target="../tags/tag173.xml"/></Relationships>
</file>

<file path=ppt/slides/_rels/slide43.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tags" Target="../tags/tag186.xml"/><Relationship Id="rId3" Type="http://schemas.openxmlformats.org/officeDocument/2006/relationships/tags" Target="../tags/tag176.xml"/><Relationship Id="rId7" Type="http://schemas.openxmlformats.org/officeDocument/2006/relationships/tags" Target="../tags/tag180.xml"/><Relationship Id="rId12" Type="http://schemas.openxmlformats.org/officeDocument/2006/relationships/tags" Target="../tags/tag185.xml"/><Relationship Id="rId2" Type="http://schemas.openxmlformats.org/officeDocument/2006/relationships/tags" Target="../tags/tag175.xml"/><Relationship Id="rId16" Type="http://schemas.openxmlformats.org/officeDocument/2006/relationships/notesSlide" Target="../notesSlides/notesSlide43.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5" Type="http://schemas.openxmlformats.org/officeDocument/2006/relationships/tags" Target="../tags/tag178.xml"/><Relationship Id="rId15" Type="http://schemas.openxmlformats.org/officeDocument/2006/relationships/slideLayout" Target="../slideLayouts/slideLayout10.xml"/><Relationship Id="rId10" Type="http://schemas.openxmlformats.org/officeDocument/2006/relationships/tags" Target="../tags/tag183.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s>
</file>

<file path=ppt/slides/_rels/slide44.xml.rels><?xml version="1.0" encoding="UTF-8" standalone="yes"?>
<Relationships xmlns="http://schemas.openxmlformats.org/package/2006/relationships"><Relationship Id="rId3" Type="http://schemas.openxmlformats.org/officeDocument/2006/relationships/tags" Target="../tags/tag190.xml"/><Relationship Id="rId7" Type="http://schemas.openxmlformats.org/officeDocument/2006/relationships/notesSlide" Target="../notesSlides/notesSlide4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slideLayout" Target="../slideLayouts/slideLayout10.xml"/><Relationship Id="rId5" Type="http://schemas.openxmlformats.org/officeDocument/2006/relationships/tags" Target="../tags/tag192.xml"/><Relationship Id="rId4" Type="http://schemas.openxmlformats.org/officeDocument/2006/relationships/tags" Target="../tags/tag191.xml"/></Relationships>
</file>

<file path=ppt/slides/_rels/slide45.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5" Type="http://schemas.openxmlformats.org/officeDocument/2006/relationships/notesSlide" Target="../notesSlides/notesSlide45.xml"/><Relationship Id="rId4"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image" Target="../media/image4.png"/><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notesSlide" Target="../notesSlides/notesSlide46.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slideLayout" Target="../slideLayouts/slideLayout10.xml"/><Relationship Id="rId5" Type="http://schemas.openxmlformats.org/officeDocument/2006/relationships/tags" Target="../tags/tag200.xml"/><Relationship Id="rId15" Type="http://schemas.openxmlformats.org/officeDocument/2006/relationships/image" Target="../media/image5.svg"/><Relationship Id="rId10" Type="http://schemas.openxmlformats.org/officeDocument/2006/relationships/tags" Target="../tags/tag205.xml"/><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hyperlink" Target="http://stu.ityxb.com/ebookview/13449182e9641148c3bfcc56ad9e9759" TargetMode="External"/></Relationships>
</file>

<file path=ppt/slides/_rels/slide47.xml.rels><?xml version="1.0" encoding="UTF-8" standalone="yes"?>
<Relationships xmlns="http://schemas.openxmlformats.org/package/2006/relationships"><Relationship Id="rId8" Type="http://schemas.openxmlformats.org/officeDocument/2006/relationships/tags" Target="../tags/tag213.xml"/><Relationship Id="rId13" Type="http://schemas.openxmlformats.org/officeDocument/2006/relationships/hyperlink" Target="http://stu.ityxb.com/ebookview/59db0f2a1f7d55c18f750b61cbeed3f6" TargetMode="External"/><Relationship Id="rId3" Type="http://schemas.openxmlformats.org/officeDocument/2006/relationships/tags" Target="../tags/tag208.xml"/><Relationship Id="rId7" Type="http://schemas.openxmlformats.org/officeDocument/2006/relationships/tags" Target="../tags/tag212.xml"/><Relationship Id="rId12" Type="http://schemas.openxmlformats.org/officeDocument/2006/relationships/image" Target="../media/image4.png"/><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tags" Target="../tags/tag211.xml"/><Relationship Id="rId11" Type="http://schemas.openxmlformats.org/officeDocument/2006/relationships/notesSlide" Target="../notesSlides/notesSlide47.xml"/><Relationship Id="rId5" Type="http://schemas.openxmlformats.org/officeDocument/2006/relationships/tags" Target="../tags/tag210.xml"/><Relationship Id="rId10" Type="http://schemas.openxmlformats.org/officeDocument/2006/relationships/slideLayout" Target="../slideLayouts/slideLayout10.xml"/><Relationship Id="rId4" Type="http://schemas.openxmlformats.org/officeDocument/2006/relationships/tags" Target="../tags/tag209.xml"/><Relationship Id="rId9" Type="http://schemas.openxmlformats.org/officeDocument/2006/relationships/tags" Target="../tags/tag214.xml"/><Relationship Id="rId14" Type="http://schemas.openxmlformats.org/officeDocument/2006/relationships/image" Target="../media/image5.svg"/></Relationships>
</file>

<file path=ppt/slides/_rels/slide48.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hyperlink" Target="http://stu.ityxb.com/ebookview/e0a8a4e4d926a19730e367dd1ffedfd3" TargetMode="External"/><Relationship Id="rId3" Type="http://schemas.openxmlformats.org/officeDocument/2006/relationships/tags" Target="../tags/tag217.xml"/><Relationship Id="rId7" Type="http://schemas.openxmlformats.org/officeDocument/2006/relationships/tags" Target="../tags/tag221.xml"/><Relationship Id="rId12" Type="http://schemas.openxmlformats.org/officeDocument/2006/relationships/image" Target="../media/image4.png"/><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notesSlide" Target="../notesSlides/notesSlide48.xml"/><Relationship Id="rId5" Type="http://schemas.openxmlformats.org/officeDocument/2006/relationships/tags" Target="../tags/tag219.xml"/><Relationship Id="rId10" Type="http://schemas.openxmlformats.org/officeDocument/2006/relationships/slideLayout" Target="../slideLayouts/slideLayout10.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image" Target="../media/image5.svg"/></Relationships>
</file>

<file path=ppt/slides/_rels/slide49.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hyperlink" Target="http://stu.ityxb.com/ebookview/7ccbe5b4a63a725985ee09155ea18e15" TargetMode="External"/><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image" Target="../media/image4.pn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notesSlide" Target="../notesSlides/notesSlide49.xml"/><Relationship Id="rId5" Type="http://schemas.openxmlformats.org/officeDocument/2006/relationships/tags" Target="../tags/tag228.xml"/><Relationship Id="rId10" Type="http://schemas.openxmlformats.org/officeDocument/2006/relationships/slideLayout" Target="../slideLayouts/slideLayout10.xml"/><Relationship Id="rId4" Type="http://schemas.openxmlformats.org/officeDocument/2006/relationships/tags" Target="../tags/tag227.xml"/><Relationship Id="rId9" Type="http://schemas.openxmlformats.org/officeDocument/2006/relationships/tags" Target="../tags/tag232.xml"/><Relationship Id="rId14" Type="http://schemas.openxmlformats.org/officeDocument/2006/relationships/image" Target="../media/image5.svg"/></Relationships>
</file>

<file path=ppt/slides/_rels/slide5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35.xml"/><Relationship Id="rId7" Type="http://schemas.openxmlformats.org/officeDocument/2006/relationships/notesSlide" Target="../notesSlides/notesSlide50.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slideLayout" Target="../slideLayouts/slideLayout10.xml"/><Relationship Id="rId5" Type="http://schemas.openxmlformats.org/officeDocument/2006/relationships/tags" Target="../tags/tag237.xml"/><Relationship Id="rId4" Type="http://schemas.openxmlformats.org/officeDocument/2006/relationships/tags" Target="../tags/tag236.xml"/></Relationships>
</file>

<file path=ppt/slides/_rels/slide5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240.xml"/><Relationship Id="rId7" Type="http://schemas.openxmlformats.org/officeDocument/2006/relationships/notesSlide" Target="../notesSlides/notesSlide51.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slideLayout" Target="../slideLayouts/slideLayout10.xml"/><Relationship Id="rId5" Type="http://schemas.openxmlformats.org/officeDocument/2006/relationships/tags" Target="../tags/tag242.xml"/><Relationship Id="rId4" Type="http://schemas.openxmlformats.org/officeDocument/2006/relationships/tags" Target="../tags/tag241.xml"/></Relationships>
</file>

<file path=ppt/slides/_rels/slide5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45.xml"/><Relationship Id="rId7" Type="http://schemas.openxmlformats.org/officeDocument/2006/relationships/notesSlide" Target="../notesSlides/notesSlide52.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slideLayout" Target="../slideLayouts/slideLayout10.xml"/><Relationship Id="rId5" Type="http://schemas.openxmlformats.org/officeDocument/2006/relationships/tags" Target="../tags/tag247.xml"/><Relationship Id="rId4" Type="http://schemas.openxmlformats.org/officeDocument/2006/relationships/tags" Target="../tags/tag246.xml"/></Relationships>
</file>

<file path=ppt/slides/_rels/slide53.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5" Type="http://schemas.openxmlformats.org/officeDocument/2006/relationships/notesSlide" Target="../notesSlides/notesSlide53.xml"/><Relationship Id="rId4"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2.xml"/><Relationship Id="rId1" Type="http://schemas.openxmlformats.org/officeDocument/2006/relationships/tags" Target="../tags/tag25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8" Type="http://schemas.openxmlformats.org/officeDocument/2006/relationships/tags" Target="../tags/tag260.xml"/><Relationship Id="rId13" Type="http://schemas.openxmlformats.org/officeDocument/2006/relationships/image" Target="../media/image4.png"/><Relationship Id="rId3" Type="http://schemas.openxmlformats.org/officeDocument/2006/relationships/tags" Target="../tags/tag255.xml"/><Relationship Id="rId7" Type="http://schemas.openxmlformats.org/officeDocument/2006/relationships/tags" Target="../tags/tag259.xml"/><Relationship Id="rId12" Type="http://schemas.openxmlformats.org/officeDocument/2006/relationships/notesSlide" Target="../notesSlides/notesSlide55.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slideLayout" Target="../slideLayouts/slideLayout10.xml"/><Relationship Id="rId5" Type="http://schemas.openxmlformats.org/officeDocument/2006/relationships/tags" Target="../tags/tag257.xml"/><Relationship Id="rId15" Type="http://schemas.openxmlformats.org/officeDocument/2006/relationships/image" Target="../media/image5.svg"/><Relationship Id="rId10" Type="http://schemas.openxmlformats.org/officeDocument/2006/relationships/tags" Target="../tags/tag262.xml"/><Relationship Id="rId4" Type="http://schemas.openxmlformats.org/officeDocument/2006/relationships/tags" Target="../tags/tag256.xml"/><Relationship Id="rId9" Type="http://schemas.openxmlformats.org/officeDocument/2006/relationships/tags" Target="../tags/tag261.xml"/><Relationship Id="rId14" Type="http://schemas.openxmlformats.org/officeDocument/2006/relationships/hyperlink" Target="http://stu.ityxb.com/ebookview/7045b0a5e77d2b606406ab0485cc49a3" TargetMode="External"/></Relationships>
</file>

<file path=ppt/slides/_rels/slide56.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hyperlink" Target="http://stu.ityxb.com/ebookview/ccfc5a160af9bf2c279f42cb394cdc00" TargetMode="External"/><Relationship Id="rId3" Type="http://schemas.openxmlformats.org/officeDocument/2006/relationships/tags" Target="../tags/tag265.xml"/><Relationship Id="rId7" Type="http://schemas.openxmlformats.org/officeDocument/2006/relationships/tags" Target="../tags/tag269.xml"/><Relationship Id="rId12" Type="http://schemas.openxmlformats.org/officeDocument/2006/relationships/image" Target="../media/image4.png"/><Relationship Id="rId2" Type="http://schemas.openxmlformats.org/officeDocument/2006/relationships/tags" Target="../tags/tag264.xm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notesSlide" Target="../notesSlides/notesSlide56.xml"/><Relationship Id="rId5" Type="http://schemas.openxmlformats.org/officeDocument/2006/relationships/tags" Target="../tags/tag267.xml"/><Relationship Id="rId10" Type="http://schemas.openxmlformats.org/officeDocument/2006/relationships/slideLayout" Target="../slideLayouts/slideLayout10.xml"/><Relationship Id="rId4" Type="http://schemas.openxmlformats.org/officeDocument/2006/relationships/tags" Target="../tags/tag266.xml"/><Relationship Id="rId9" Type="http://schemas.openxmlformats.org/officeDocument/2006/relationships/tags" Target="../tags/tag271.xml"/><Relationship Id="rId14" Type="http://schemas.openxmlformats.org/officeDocument/2006/relationships/image" Target="../media/image5.svg"/></Relationships>
</file>

<file path=ppt/slides/_rels/slide57.xml.rels><?xml version="1.0" encoding="UTF-8" standalone="yes"?>
<Relationships xmlns="http://schemas.openxmlformats.org/package/2006/relationships"><Relationship Id="rId8" Type="http://schemas.openxmlformats.org/officeDocument/2006/relationships/tags" Target="../tags/tag279.xml"/><Relationship Id="rId13" Type="http://schemas.openxmlformats.org/officeDocument/2006/relationships/image" Target="../media/image5.svg"/><Relationship Id="rId3" Type="http://schemas.openxmlformats.org/officeDocument/2006/relationships/tags" Target="../tags/tag274.xml"/><Relationship Id="rId7" Type="http://schemas.openxmlformats.org/officeDocument/2006/relationships/tags" Target="../tags/tag278.xml"/><Relationship Id="rId12" Type="http://schemas.openxmlformats.org/officeDocument/2006/relationships/image" Target="../media/image4.png"/><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tags" Target="../tags/tag277.xml"/><Relationship Id="rId11" Type="http://schemas.openxmlformats.org/officeDocument/2006/relationships/notesSlide" Target="../notesSlides/notesSlide57.xml"/><Relationship Id="rId5" Type="http://schemas.openxmlformats.org/officeDocument/2006/relationships/tags" Target="../tags/tag276.xml"/><Relationship Id="rId10" Type="http://schemas.openxmlformats.org/officeDocument/2006/relationships/slideLayout" Target="../slideLayouts/slideLayout10.xml"/><Relationship Id="rId4" Type="http://schemas.openxmlformats.org/officeDocument/2006/relationships/tags" Target="../tags/tag275.xml"/><Relationship Id="rId9" Type="http://schemas.openxmlformats.org/officeDocument/2006/relationships/tags" Target="../tags/tag280.xml"/></Relationships>
</file>

<file path=ppt/slides/_rels/slide5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83.xml"/><Relationship Id="rId7" Type="http://schemas.openxmlformats.org/officeDocument/2006/relationships/notesSlide" Target="../notesSlides/notesSlide58.xml"/><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slideLayout" Target="../slideLayouts/slideLayout10.xml"/><Relationship Id="rId5" Type="http://schemas.openxmlformats.org/officeDocument/2006/relationships/tags" Target="../tags/tag285.xml"/><Relationship Id="rId4" Type="http://schemas.openxmlformats.org/officeDocument/2006/relationships/tags" Target="../tags/tag28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Chapter 3 Spring AOP</a:t>
            </a: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 Enterprise Application Development Tutorial (Spring+Spring MVC+MyBatis) (3rd Edition)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rmAutofit fontScale="76986"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Learning objectives/Target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7655" y="1704340"/>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7663"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concept of AOP and be able to briefly describe the advantages of AOP</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2677795"/>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3315"/>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familiar with JDK dynamic proxy and implement cases of JDK dynamic proxy</a:t>
              </a: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3652520"/>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7676"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familiar with CGLIB dynamic proxy and implement cases of CGLIB dynamic proxy</a:t>
              </a: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557655" y="4598670"/>
            <a:ext cx="9006205" cy="689610"/>
            <a:chOff x="978872" y="2570437"/>
            <a:chExt cx="5437064" cy="517208"/>
          </a:xfrm>
        </p:grpSpPr>
        <p:sp>
          <p:nvSpPr>
            <p:cNvPr id="3" name="Pentagon 5"/>
            <p:cNvSpPr/>
            <p:nvPr>
              <p:custDataLst>
                <p:tags r:id="rId3"/>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7717"/>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an XML-based AOP implementation</a:t>
              </a:r>
            </a:p>
          </p:txBody>
        </p:sp>
        <p:sp>
          <p:nvSpPr>
            <p:cNvPr id="4" name="MH_Others_1"/>
            <p:cNvSpPr/>
            <p:nvPr>
              <p:custDataLst>
                <p:tags r:id="rId4"/>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557655" y="5573395"/>
            <a:ext cx="9006205" cy="685800"/>
            <a:chOff x="978872" y="2570437"/>
            <a:chExt cx="5437064" cy="514351"/>
          </a:xfrm>
        </p:grpSpPr>
        <p:sp>
          <p:nvSpPr>
            <p:cNvPr id="6" name="Pentagon 5"/>
            <p:cNvSpPr/>
            <p:nvPr>
              <p:custDataLst>
                <p:tags r:id="rId1"/>
              </p:custDataLst>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7208"/>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annotation-based AOP implementations</a:t>
              </a:r>
            </a:p>
          </p:txBody>
        </p:sp>
        <p:sp>
          <p:nvSpPr>
            <p:cNvPr id="7" name="MH_Others_1"/>
            <p:cNvSpPr/>
            <p:nvPr>
              <p:custDataLst>
                <p:tags r:id="rId2"/>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550590" y="621482"/>
            <a:ext cx="672005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Chapter Overview/Summary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14918" y="1943499"/>
            <a:ext cx="10335895" cy="4294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In Java EE application development, it is often necessary to handle functional requirements that span multiple modules, which are not business logic but involve issues related to the application runtime environment and commonalities such as logging, security controls, transaction management, and performance monitoring. If these functions are implemented repeatedly in each module, problems such as code redundancy and reduced maintainability will occur. To address these issues, developers can leverage the AOP of the Spring framework to manage and reuse these common cross-cutting concerns, thereby enhancing code reusability and maintainability. This chapter will cover the knowledge related to Spring AOP.</a:t>
            </a:r>
          </a:p>
        </p:txBody>
      </p:sp>
      <p:sp>
        <p:nvSpPr>
          <p:cNvPr id="9" name="圆角矩形 8"/>
          <p:cNvSpPr/>
          <p:nvPr>
            <p:custDataLst>
              <p:tags r:id="rId1"/>
            </p:custDataLst>
          </p:nvPr>
        </p:nvSpPr>
        <p:spPr>
          <a:xfrm>
            <a:off x="1031240" y="1841818"/>
            <a:ext cx="10427335" cy="4396287"/>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2"/>
            </p:custDataLst>
          </p:nvPr>
        </p:nvSpPr>
        <p:spPr>
          <a:xfrm>
            <a:off x="946150" y="1753156"/>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3"/>
            </p:custDataLst>
          </p:nvPr>
        </p:nvSpPr>
        <p:spPr>
          <a:xfrm rot="10800000">
            <a:off x="11139872" y="5802257"/>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2" y="572758"/>
            <a:ext cx="4681279"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Contents/Contents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1850720" y="2328628"/>
            <a:ext cx="1192190" cy="612775"/>
            <a:chOff x="2215144" y="982844"/>
            <a:chExt cx="1244730" cy="842780"/>
          </a:xfrm>
        </p:grpSpPr>
        <p:sp>
          <p:nvSpPr>
            <p:cNvPr id="106" name="平行四边形 105"/>
            <p:cNvSpPr/>
            <p:nvPr>
              <p:custDataLst>
                <p:tags r:id="rId1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12"/>
              </p:custDataLst>
            </p:nvPr>
          </p:nvSpPr>
          <p:spPr>
            <a:xfrm>
              <a:off x="2393075" y="1005671"/>
              <a:ext cx="1066799" cy="80260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3.1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1636381" y="3622126"/>
            <a:ext cx="1192190" cy="612775"/>
            <a:chOff x="2215144" y="2026500"/>
            <a:chExt cx="1244730" cy="850129"/>
          </a:xfrm>
        </p:grpSpPr>
        <p:sp>
          <p:nvSpPr>
            <p:cNvPr id="109" name="平行四边形 108"/>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10"/>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3.2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2998992" y="2322321"/>
            <a:ext cx="7632717" cy="612775"/>
            <a:chOff x="4315150" y="953426"/>
            <a:chExt cx="4122956" cy="539804"/>
          </a:xfrm>
        </p:grpSpPr>
        <p:sp>
          <p:nvSpPr>
            <p:cNvPr id="112" name="矩形 111"/>
            <p:cNvSpPr/>
            <p:nvPr>
              <p:custDataLst>
                <p:tags r:id="rId7"/>
              </p:custDataLst>
            </p:nvPr>
          </p:nvSpPr>
          <p:spPr>
            <a:xfrm>
              <a:off x="4841196" y="1036090"/>
              <a:ext cx="2827147" cy="331154"/>
            </a:xfrm>
            <a:prstGeom prst="rect">
              <a:avLst/>
            </a:prstGeom>
            <a:ln w="15875">
              <a:noFill/>
            </a:ln>
          </p:spPr>
          <p:txBody>
            <a:bodyPr wrap="square" lIns="68580" tIns="34290" rIns="68580" bIns="34290">
              <a:noAutofit/>
            </a:bodyPr>
            <a:lstStyle/>
            <a:p>
              <a:r>
                <a:rPr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Overview of AOP</a:t>
              </a:r>
            </a:p>
          </p:txBody>
        </p:sp>
        <p:sp>
          <p:nvSpPr>
            <p:cNvPr id="113" name="平行四边形 112"/>
            <p:cNvSpPr/>
            <p:nvPr>
              <p:custDataLst>
                <p:tags r:id="rId8"/>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2709968" y="3623248"/>
            <a:ext cx="10659041" cy="612775"/>
            <a:chOff x="4315150" y="1647579"/>
            <a:chExt cx="5847766" cy="539804"/>
          </a:xfrm>
        </p:grpSpPr>
        <p:sp>
          <p:nvSpPr>
            <p:cNvPr id="115" name="矩形 114"/>
            <p:cNvSpPr/>
            <p:nvPr>
              <p:custDataLst>
                <p:tags r:id="rId5"/>
              </p:custDataLst>
            </p:nvPr>
          </p:nvSpPr>
          <p:spPr>
            <a:xfrm>
              <a:off x="4473715" y="1753542"/>
              <a:ext cx="5689201" cy="331154"/>
            </a:xfrm>
            <a:prstGeom prst="rect">
              <a:avLst/>
            </a:prstGeom>
            <a:ln w="15875">
              <a:noFill/>
            </a:ln>
          </p:spPr>
          <p:txBody>
            <a:bodyPr wrap="square" lIns="68580" tIns="34290" rIns="68580" bIns="34290">
              <a:noAutofit/>
            </a:bodyPr>
            <a:lstStyle/>
            <a:p>
              <a:r>
                <a:rPr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implementation mechanism of Spring AOP</a:t>
              </a:r>
            </a:p>
          </p:txBody>
        </p:sp>
        <p:sp>
          <p:nvSpPr>
            <p:cNvPr id="116" name="平行四边形 115"/>
            <p:cNvSpPr/>
            <p:nvPr>
              <p:custDataLst>
                <p:tags r:id="rId6"/>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1373230" y="4890093"/>
            <a:ext cx="1192190" cy="612775"/>
            <a:chOff x="2215144" y="2026500"/>
            <a:chExt cx="1244730" cy="850129"/>
          </a:xfrm>
        </p:grpSpPr>
        <p:sp>
          <p:nvSpPr>
            <p:cNvPr id="118" name="平行四边形 117"/>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4"/>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3.3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2278782" y="4873267"/>
            <a:ext cx="8471654" cy="612775"/>
            <a:chOff x="4315150" y="1647579"/>
            <a:chExt cx="4122956" cy="539804"/>
          </a:xfrm>
        </p:grpSpPr>
        <p:sp>
          <p:nvSpPr>
            <p:cNvPr id="121" name="矩形 120"/>
            <p:cNvSpPr/>
            <p:nvPr>
              <p:custDataLst>
                <p:tags r:id="rId1"/>
              </p:custDataLst>
            </p:nvPr>
          </p:nvSpPr>
          <p:spPr>
            <a:xfrm>
              <a:off x="4469365" y="1751253"/>
              <a:ext cx="3887871" cy="331154"/>
            </a:xfrm>
            <a:prstGeom prst="rect">
              <a:avLst/>
            </a:prstGeom>
            <a:ln w="15875">
              <a:noFill/>
            </a:ln>
          </p:spPr>
          <p:txBody>
            <a:bodyPr wrap="square" lIns="68580" tIns="34290" rIns="68580" bIns="34290">
              <a:noAutofit/>
            </a:bodyPr>
            <a:lstStyle/>
            <a:p>
              <a:r>
                <a:rPr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AOP integrates the implementation of AspectJ</a:t>
              </a:r>
            </a:p>
          </p:txBody>
        </p:sp>
        <p:sp>
          <p:nvSpPr>
            <p:cNvPr id="122" name="平行四边形 121"/>
            <p:cNvSpPr/>
            <p:nvPr>
              <p:custDataLst>
                <p:tags r:id="rId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normAutofit fontScale="98787"/>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AOP Overview</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3.1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231110" y="2913743"/>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the concept of AOP and be able to briefly describe the advantages of AOP</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942181" y="1557586"/>
            <a:ext cx="10306050" cy="2013585"/>
          </a:xfrm>
          <a:prstGeom prst="rect">
            <a:avLst/>
          </a:prstGeom>
          <a:noFill/>
        </p:spPr>
        <p:txBody>
          <a:bodyPr wrap="square" lIns="0" tIns="0" rIns="0" bIns="0" rtlCol="0">
            <a:noAutofit/>
          </a:bodyPr>
          <a:lstStyle/>
          <a:p>
            <a:pPr algn="just">
              <a:lnSpc>
                <a:spcPct val="150000"/>
              </a:lnSpc>
              <a:buClrTx/>
              <a:buSzTx/>
              <a:buFontTx/>
            </a:pPr>
            <a:r>
              <a:rPr sz="2000" dirty="0">
                <a:solidFill>
                  <a:schemeClr val="accent1"/>
                </a:solidFill>
                <a:latin typeface="微软雅黑" panose="020B0503020204020204" pitchFamily="34" charset="-122"/>
                <a:ea typeface="微软雅黑" panose="020B0503020204020204" pitchFamily="34" charset="-122"/>
                <a:cs typeface="+mn-ea"/>
                <a:sym typeface="+mn-lt"/>
              </a:rPr>
              <a:t>AOP, </a:t>
            </a:r>
            <a:r>
              <a:rPr sz="2000" dirty="0">
                <a:solidFill>
                  <a:srgbClr val="595959"/>
                </a:solidFill>
                <a:latin typeface="微软雅黑" panose="020B0503020204020204" pitchFamily="34" charset="-122"/>
                <a:ea typeface="微软雅黑" panose="020B0503020204020204" pitchFamily="34" charset="-122"/>
                <a:sym typeface="+mn-lt"/>
              </a:rPr>
              <a:t>which stands for Aspect Oriented Programming, </a:t>
            </a:r>
            <a:r>
              <a:rPr sz="2000" dirty="0">
                <a:solidFill>
                  <a:schemeClr val="accent1"/>
                </a:solidFill>
                <a:latin typeface="微软雅黑" panose="020B0503020204020204" pitchFamily="34" charset="-122"/>
                <a:ea typeface="微软雅黑" panose="020B0503020204020204" pitchFamily="34" charset="-122"/>
                <a:cs typeface="+mn-ea"/>
                <a:sym typeface="+mn-lt"/>
              </a:rPr>
              <a:t>is a Programming methodology that complements OOP (Object Oriented Programming). </a:t>
            </a:r>
            <a:r>
              <a:rPr sz="2000" dirty="0">
                <a:solidFill>
                  <a:srgbClr val="595959"/>
                </a:solidFill>
                <a:latin typeface="微软雅黑" panose="020B0503020204020204" pitchFamily="34" charset="-122"/>
                <a:ea typeface="微软雅黑" panose="020B0503020204020204" pitchFamily="34" charset="-122"/>
                <a:sym typeface="+mn-lt"/>
              </a:rPr>
              <a:t>AOP can achieve better code modularization, maintainability, and reusability by separating business logic from cross-cutting concerns such as </a:t>
            </a:r>
            <a:r>
              <a:rPr sz="2000" dirty="0">
                <a:solidFill>
                  <a:schemeClr val="accent1"/>
                </a:solidFill>
                <a:latin typeface="微软雅黑" panose="020B0503020204020204" pitchFamily="34" charset="-122"/>
                <a:ea typeface="微软雅黑" panose="020B0503020204020204" pitchFamily="34" charset="-122"/>
                <a:cs typeface="+mn-ea"/>
                <a:sym typeface="+mn-lt"/>
              </a:rPr>
              <a:t>security controls, logging, and other features that coexist in multiple modules or components.</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In Spring AOP, developers can achieve this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separation</a:t>
            </a:r>
            <a:r>
              <a:rPr lang="en-US" altLang="zh-CN" sz="2000" dirty="0" err="1">
                <a:solidFill>
                  <a:srgbClr val="595959"/>
                </a:solidFill>
                <a:latin typeface="微软雅黑" panose="020B0503020204020204" pitchFamily="34" charset="-122"/>
                <a:ea typeface="微软雅黑" panose="020B0503020204020204" pitchFamily="34" charset="-122"/>
                <a:sym typeface="+mn-lt"/>
              </a:rPr>
              <a:t> by defining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aspects</a:t>
            </a:r>
            <a:r>
              <a:rPr lang="en-US" altLang="zh-CN" sz="2000" dirty="0" err="1">
                <a:solidFill>
                  <a:srgbClr val="595959"/>
                </a:solidFill>
                <a:latin typeface="微软雅黑" panose="020B0503020204020204" pitchFamily="34" charset="-122"/>
                <a:ea typeface="微软雅黑" panose="020B0503020204020204" pitchFamily="34" charset="-122"/>
                <a:sym typeface="+mn-lt"/>
              </a:rPr>
              <a:t> and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apply cross-cutting concerns to multiple components,</a:t>
            </a:r>
            <a:r>
              <a:rPr lang="en-US" altLang="zh-CN" sz="2000" dirty="0" err="1">
                <a:solidFill>
                  <a:srgbClr val="595959"/>
                </a:solidFill>
                <a:latin typeface="微软雅黑" panose="020B0503020204020204" pitchFamily="34" charset="-122"/>
                <a:ea typeface="微软雅黑" panose="020B0503020204020204" pitchFamily="34" charset="-122"/>
                <a:sym typeface="+mn-lt"/>
              </a:rPr>
              <a:t> objects, or methods by dynamically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weaving aspects into the business logic at runtime</a:t>
            </a:r>
            <a:r>
              <a:rPr lang="en-US" altLang="zh-CN" sz="2000" dirty="0" err="1">
                <a:solidFill>
                  <a:srgbClr val="595959"/>
                </a:solidFill>
                <a:latin typeface="微软雅黑" panose="020B0503020204020204" pitchFamily="34" charset="-122"/>
                <a:ea typeface="微软雅黑" panose="020B0503020204020204" pitchFamily="34" charset="-122"/>
                <a:sym typeface="+mn-lt"/>
              </a:rPr>
              <a:t>, avoiding code duplication and inefficiency.</a:t>
            </a: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179395" y="5898801"/>
            <a:ext cx="5831621" cy="398780"/>
          </a:xfrm>
          <a:prstGeom prst="rect">
            <a:avLst/>
          </a:prstGeom>
          <a:noFill/>
          <a:ln w="9525">
            <a:noFill/>
          </a:ln>
        </p:spPr>
        <p:txBody>
          <a:bodyPr wrap="square">
            <a:noAutofit/>
          </a:bodyPr>
          <a:lstStyle/>
          <a:p>
            <a:pPr indent="0"/>
            <a:r>
              <a:rPr lang="en-US" altLang="zh-CN" sz="2000" b="0" dirty="0" err="1">
                <a:solidFill>
                  <a:srgbClr val="595959"/>
                </a:solidFill>
                <a:latin typeface="微软雅黑" panose="020B0503020204020204" pitchFamily="34" charset="-122"/>
                <a:ea typeface="微软雅黑" panose="020B0503020204020204" pitchFamily="34" charset="-122"/>
              </a:rPr>
              <a:t>The relationship between classes and facets</a:t>
            </a:r>
            <a:endParaRPr lang="zh-CN" altLang="en-US" sz="2000" b="0" dirty="0">
              <a:ea typeface="宋体" panose="02010600030101010101" pitchFamily="2" charset="-122"/>
            </a:endParaRPr>
          </a:p>
        </p:txBody>
      </p:sp>
      <p:pic>
        <p:nvPicPr>
          <p:cNvPr id="3" name="图片 2"/>
          <p:cNvPicPr>
            <a:picLocks noChangeAspect="1"/>
          </p:cNvPicPr>
          <p:nvPr/>
        </p:nvPicPr>
        <p:blipFill>
          <a:blip r:embed="rId4"/>
          <a:stretch>
            <a:fillRect/>
          </a:stretch>
        </p:blipFill>
        <p:spPr>
          <a:xfrm>
            <a:off x="2494915" y="1413510"/>
            <a:ext cx="7050405" cy="425704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p:cNvSpPr/>
          <p:nvPr>
            <p:custDataLst>
              <p:tags r:id="rId2"/>
            </p:custDataLst>
          </p:nvPr>
        </p:nvSpPr>
        <p:spPr>
          <a:xfrm>
            <a:off x="131278" y="772795"/>
            <a:ext cx="11927855" cy="5897359"/>
          </a:xfrm>
          <a:prstGeom prst="rect">
            <a:avLst/>
          </a:prstGeom>
        </p:spPr>
        <p:txBody>
          <a:bodyPr wrap="square">
            <a:noAutofit/>
          </a:bodyPr>
          <a:lstStyle/>
          <a:p>
            <a:pPr algn="just">
              <a:lnSpc>
                <a:spcPct val="150000"/>
              </a:lnSpc>
              <a:buClrTx/>
              <a:buSzTx/>
              <a:buFontTx/>
            </a:pPr>
            <a:r>
              <a:rPr lang="zh-CN" altLang="en-US" sz="2000" dirty="0">
                <a:solidFill>
                  <a:srgbClr val="1369B2"/>
                </a:solidFill>
                <a:latin typeface="微软雅黑" panose="020B0503020204020204" pitchFamily="34" charset="-122"/>
                <a:ea typeface="微软雅黑" panose="020B0503020204020204" pitchFamily="34" charset="-122"/>
                <a:sym typeface="+mn-lt"/>
              </a:rPr>
              <a:t>The common terms for AOP are as follows.</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1. </a:t>
            </a:r>
            <a:r>
              <a:rPr lang="en-US" altLang="zh-CN" sz="1800" dirty="0" err="1">
                <a:solidFill>
                  <a:srgbClr val="595959"/>
                </a:solidFill>
                <a:latin typeface="微软雅黑" panose="020B0503020204020204" pitchFamily="34" charset="-122"/>
                <a:ea typeface="微软雅黑" panose="020B0503020204020204" pitchFamily="34" charset="-122"/>
                <a:sym typeface="+mn-lt"/>
              </a:rPr>
              <a:t>Aspect: An aspect is a modular unit used to horizontally divide concerns and is typically used to encapsulate the functionality of a horizontally inserted system.</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2. Joinpoint: A joinpoint is a specific node in the execution of a program, and a joinpoint typically represents the execution of a method.</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3. Pointcut: A pointcut is a connection point that meets a pre-specified condition during the execution of a program.</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4. Advice: Advice is the actual code in a cut that is used to implement the specific function of the cut.</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5. Target Object: The target object refers to the original object enhanced by the aspect.</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6. Weaving: Weaving is the process of inserting facet code into a target object to generate a proxy object.</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7. Proxy Object: A proxy object is an object created after weaving the facets and is used to apply notifications to the target object.</a:t>
            </a: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8. Introduction: An introduction is a special type of notification used to add new properties and methods to the target object.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BC22-05AC-C9B6-093C-D6AE0DE332F1}"/>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6B68F91B-C04E-7572-7A81-B20BD352670A}"/>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1FD5C9B4-5EC6-0B2E-E9A4-34EBD733E1F6}"/>
              </a:ext>
            </a:extLst>
          </p:cNvPr>
          <p:cNvSpPr/>
          <p:nvPr>
            <p:custDataLst>
              <p:tags r:id="rId2"/>
            </p:custDataLst>
          </p:nvPr>
        </p:nvSpPr>
        <p:spPr>
          <a:xfrm>
            <a:off x="406573" y="1269554"/>
            <a:ext cx="11377265" cy="5105271"/>
          </a:xfrm>
          <a:prstGeom prst="rect">
            <a:avLst/>
          </a:prstGeom>
        </p:spPr>
        <p:txBody>
          <a:bodyPr wrap="square">
            <a:noAutofit/>
          </a:bodyPr>
          <a:lstStyle/>
          <a:p>
            <a:pPr>
              <a:lnSpc>
                <a:spcPct val="150000"/>
              </a:lnSpc>
            </a:pPr>
            <a:r>
              <a:rPr lang="en-US" sz="2000" dirty="0">
                <a:solidFill>
                  <a:schemeClr val="accent1"/>
                </a:solidFill>
                <a:latin typeface="微软雅黑" panose="020B0503020204020204" pitchFamily="34" charset="-122"/>
                <a:ea typeface="微软雅黑" panose="020B0503020204020204" pitchFamily="34" charset="-122"/>
                <a:cs typeface="+mn-ea"/>
              </a:rPr>
              <a:t>Think of AOP like this: without making major changes to the original business code, you automatically add some common functions at the right time.</a:t>
            </a:r>
          </a:p>
          <a:p>
            <a:pPr>
              <a:lnSpc>
                <a:spcPct val="150000"/>
              </a:lnSpc>
            </a:pPr>
            <a:r>
              <a:rPr lang="en-US" sz="2000" dirty="0">
                <a:solidFill>
                  <a:schemeClr val="accent1"/>
                </a:solidFill>
                <a:latin typeface="微软雅黑" panose="020B0503020204020204" pitchFamily="34" charset="-122"/>
                <a:ea typeface="微软雅黑" panose="020B0503020204020204" pitchFamily="34" charset="-122"/>
                <a:cs typeface="+mn-ea"/>
              </a:rPr>
              <a:t>We can imagine a student management system in which many methods need to:</a:t>
            </a:r>
          </a:p>
          <a:p>
            <a:pPr marL="342900" indent="-342900">
              <a:lnSpc>
                <a:spcPct val="150000"/>
              </a:lnSpc>
              <a:buFont typeface="Arial" panose="020B0604020202020204" pitchFamily="34" charset="0"/>
              <a:buChar char="•"/>
            </a:pPr>
            <a:r>
              <a:rPr lang="en-US" sz="2000" dirty="0">
                <a:solidFill>
                  <a:schemeClr val="accent1"/>
                </a:solidFill>
                <a:latin typeface="微软雅黑" panose="020B0503020204020204" pitchFamily="34" charset="-122"/>
                <a:ea typeface="微软雅黑" panose="020B0503020204020204" pitchFamily="34" charset="-122"/>
                <a:cs typeface="+mn-ea"/>
              </a:rPr>
              <a:t>print logs first, </a:t>
            </a:r>
          </a:p>
          <a:p>
            <a:pPr marL="342900" indent="-342900">
              <a:lnSpc>
                <a:spcPct val="150000"/>
              </a:lnSpc>
              <a:buFont typeface="Arial" panose="020B0604020202020204" pitchFamily="34" charset="0"/>
              <a:buChar char="•"/>
            </a:pPr>
            <a:r>
              <a:rPr lang="en-US" sz="2000" dirty="0">
                <a:solidFill>
                  <a:schemeClr val="accent1"/>
                </a:solidFill>
                <a:latin typeface="微软雅黑" panose="020B0503020204020204" pitchFamily="34" charset="-122"/>
                <a:ea typeface="微软雅黑" panose="020B0503020204020204" pitchFamily="34" charset="-122"/>
                <a:cs typeface="+mn-ea"/>
              </a:rPr>
              <a:t>check permissions, </a:t>
            </a:r>
          </a:p>
          <a:p>
            <a:pPr marL="342900" indent="-342900">
              <a:lnSpc>
                <a:spcPct val="150000"/>
              </a:lnSpc>
              <a:buFont typeface="Arial" panose="020B0604020202020204" pitchFamily="34" charset="0"/>
              <a:buChar char="•"/>
            </a:pPr>
            <a:r>
              <a:rPr lang="en-US" sz="2000" dirty="0">
                <a:solidFill>
                  <a:schemeClr val="accent1"/>
                </a:solidFill>
                <a:latin typeface="微软雅黑" panose="020B0503020204020204" pitchFamily="34" charset="-122"/>
                <a:ea typeface="微软雅黑" panose="020B0503020204020204" pitchFamily="34" charset="-122"/>
                <a:cs typeface="+mn-ea"/>
              </a:rPr>
              <a:t>record execution time, </a:t>
            </a:r>
          </a:p>
          <a:p>
            <a:pPr marL="342900" indent="-342900">
              <a:lnSpc>
                <a:spcPct val="150000"/>
              </a:lnSpc>
              <a:buFont typeface="Arial" panose="020B0604020202020204" pitchFamily="34" charset="0"/>
              <a:buChar char="•"/>
            </a:pPr>
            <a:r>
              <a:rPr lang="en-US" sz="2000" dirty="0">
                <a:solidFill>
                  <a:schemeClr val="accent1"/>
                </a:solidFill>
                <a:latin typeface="微软雅黑" panose="020B0503020204020204" pitchFamily="34" charset="-122"/>
                <a:ea typeface="微软雅黑" panose="020B0503020204020204" pitchFamily="34" charset="-122"/>
                <a:cs typeface="+mn-ea"/>
              </a:rPr>
              <a:t>handle errors in a unified way. </a:t>
            </a:r>
          </a:p>
          <a:p>
            <a:pPr>
              <a:lnSpc>
                <a:spcPct val="150000"/>
              </a:lnSpc>
            </a:pPr>
            <a:r>
              <a:rPr lang="en-US" sz="2000" dirty="0">
                <a:solidFill>
                  <a:schemeClr val="accent1"/>
                </a:solidFill>
                <a:latin typeface="微软雅黑" panose="020B0503020204020204" pitchFamily="34" charset="-122"/>
                <a:ea typeface="微软雅黑" panose="020B0503020204020204" pitchFamily="34" charset="-122"/>
                <a:cs typeface="+mn-ea"/>
              </a:rPr>
              <a:t>If you write this code manually in every method, the code will become very messy. AOP is like secretly adding an extra layer of supporting work before and after a method is executed.</a:t>
            </a:r>
          </a:p>
        </p:txBody>
      </p:sp>
    </p:spTree>
    <p:extLst>
      <p:ext uri="{BB962C8B-B14F-4D97-AF65-F5344CB8AC3E}">
        <p14:creationId xmlns:p14="http://schemas.microsoft.com/office/powerpoint/2010/main" val="1071919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CBC62-7EAD-63EB-B6B9-8595BC1F3A0B}"/>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D1B458E7-CE76-D117-8EAA-D603CA7880F4}"/>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659EFB92-A978-8547-C72A-4C9C4503F849}"/>
              </a:ext>
            </a:extLst>
          </p:cNvPr>
          <p:cNvSpPr/>
          <p:nvPr>
            <p:custDataLst>
              <p:tags r:id="rId2"/>
            </p:custDataLst>
          </p:nvPr>
        </p:nvSpPr>
        <p:spPr>
          <a:xfrm>
            <a:off x="478582" y="1053530"/>
            <a:ext cx="11233248" cy="5616624"/>
          </a:xfrm>
          <a:prstGeom prst="rect">
            <a:avLst/>
          </a:prstGeom>
        </p:spPr>
        <p:txBody>
          <a:bodyPr wrap="square">
            <a:noAutofit/>
          </a:bodyPr>
          <a:lstStyle/>
          <a:p>
            <a:pPr>
              <a:lnSpc>
                <a:spcPct val="150000"/>
              </a:lnSpc>
            </a:pPr>
            <a:r>
              <a:rPr lang="en-US" dirty="0">
                <a:solidFill>
                  <a:srgbClr val="595959"/>
                </a:solidFill>
                <a:latin typeface="微软雅黑" panose="020B0503020204020204" pitchFamily="34" charset="-122"/>
                <a:ea typeface="微软雅黑" panose="020B0503020204020204" pitchFamily="34" charset="-122"/>
              </a:rPr>
              <a:t>1. Aspect</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An aspect is the kind of functionality that needs to be added additionally.</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For example: logging, permission checking, transaction management, and performance statistics.</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These functions are not the core business logic, but they are needed in many places, so we separate them out. </a:t>
            </a:r>
            <a:r>
              <a:rPr lang="en-US" dirty="0">
                <a:solidFill>
                  <a:srgbClr val="595959"/>
                </a:solidFill>
                <a:latin typeface="微软雅黑" panose="020B0503020204020204" pitchFamily="34" charset="-122"/>
                <a:ea typeface="微软雅黑" panose="020B0503020204020204" pitchFamily="34" charset="-122"/>
              </a:rPr>
              <a:t>That is what an aspect is.</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You can understand it as:</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a public helper module</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For example: a logging aspect is specifically responsible for printing logs before and after a method is executed.</a:t>
            </a:r>
          </a:p>
        </p:txBody>
      </p:sp>
    </p:spTree>
    <p:extLst>
      <p:ext uri="{BB962C8B-B14F-4D97-AF65-F5344CB8AC3E}">
        <p14:creationId xmlns:p14="http://schemas.microsoft.com/office/powerpoint/2010/main" val="16225126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38D1-BEFA-1AF0-81FF-7E4F66DE9F28}"/>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78E87398-194A-114D-5AFA-EA7191383A9A}"/>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A82AD057-7E09-2EFC-EED1-7FBDE7D70012}"/>
              </a:ext>
            </a:extLst>
          </p:cNvPr>
          <p:cNvSpPr/>
          <p:nvPr>
            <p:custDataLst>
              <p:tags r:id="rId2"/>
            </p:custDataLst>
          </p:nvPr>
        </p:nvSpPr>
        <p:spPr>
          <a:xfrm>
            <a:off x="298562" y="1125537"/>
            <a:ext cx="11593288" cy="5380709"/>
          </a:xfrm>
          <a:prstGeom prst="rect">
            <a:avLst/>
          </a:prstGeom>
        </p:spPr>
        <p:txBody>
          <a:bodyPr wrap="square">
            <a:noAutofit/>
          </a:bodyPr>
          <a:lstStyle/>
          <a:p>
            <a:pPr>
              <a:lnSpc>
                <a:spcPct val="150000"/>
              </a:lnSpc>
            </a:pPr>
            <a:r>
              <a:rPr lang="en-US" dirty="0">
                <a:solidFill>
                  <a:srgbClr val="595959"/>
                </a:solidFill>
                <a:latin typeface="微软雅黑" panose="020B0503020204020204" pitchFamily="34" charset="-122"/>
                <a:ea typeface="微软雅黑" panose="020B0503020204020204" pitchFamily="34" charset="-122"/>
              </a:rPr>
              <a:t>2. </a:t>
            </a:r>
            <a:r>
              <a:rPr lang="en-US" dirty="0" err="1">
                <a:solidFill>
                  <a:srgbClr val="595959"/>
                </a:solidFill>
                <a:latin typeface="微软雅黑" panose="020B0503020204020204" pitchFamily="34" charset="-122"/>
                <a:ea typeface="微软雅黑" panose="020B0503020204020204" pitchFamily="34" charset="-122"/>
              </a:rPr>
              <a:t>Joinpoint</a:t>
            </a:r>
            <a:endParaRPr lang="en-US"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dirty="0">
                <a:solidFill>
                  <a:srgbClr val="0070C0"/>
                </a:solidFill>
                <a:latin typeface="微软雅黑" panose="020B0503020204020204" pitchFamily="34" charset="-122"/>
                <a:ea typeface="微软雅黑" panose="020B0503020204020204" pitchFamily="34" charset="-122"/>
              </a:rPr>
              <a:t>A </a:t>
            </a:r>
            <a:r>
              <a:rPr lang="en-US" dirty="0" err="1">
                <a:solidFill>
                  <a:srgbClr val="0070C0"/>
                </a:solidFill>
                <a:latin typeface="微软雅黑" panose="020B0503020204020204" pitchFamily="34" charset="-122"/>
                <a:ea typeface="微软雅黑" panose="020B0503020204020204" pitchFamily="34" charset="-122"/>
              </a:rPr>
              <a:t>joinpoint</a:t>
            </a:r>
            <a:r>
              <a:rPr lang="en-US" dirty="0">
                <a:solidFill>
                  <a:srgbClr val="0070C0"/>
                </a:solidFill>
                <a:latin typeface="微软雅黑" panose="020B0503020204020204" pitchFamily="34" charset="-122"/>
                <a:ea typeface="微软雅黑" panose="020B0503020204020204" pitchFamily="34" charset="-122"/>
              </a:rPr>
              <a:t> is a place in the program where extra functionality can be inserted.</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In Spring AOP, this usually refers to when a method is being executed.</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For example, consider these methods: </a:t>
            </a:r>
            <a:r>
              <a:rPr lang="en-US" dirty="0" err="1">
                <a:solidFill>
                  <a:srgbClr val="595959"/>
                </a:solidFill>
                <a:latin typeface="微软雅黑" panose="020B0503020204020204" pitchFamily="34" charset="-122"/>
                <a:ea typeface="微软雅黑" panose="020B0503020204020204" pitchFamily="34" charset="-122"/>
              </a:rPr>
              <a:t>addUser</a:t>
            </a:r>
            <a:r>
              <a:rPr lang="en-US" dirty="0">
                <a:solidFill>
                  <a:srgbClr val="595959"/>
                </a:solidFill>
                <a:latin typeface="微软雅黑" panose="020B0503020204020204" pitchFamily="34" charset="-122"/>
                <a:ea typeface="微软雅黑" panose="020B0503020204020204" pitchFamily="34" charset="-122"/>
              </a:rPr>
              <a:t>(), </a:t>
            </a:r>
            <a:r>
              <a:rPr lang="en-US" dirty="0" err="1">
                <a:solidFill>
                  <a:srgbClr val="595959"/>
                </a:solidFill>
                <a:latin typeface="微软雅黑" panose="020B0503020204020204" pitchFamily="34" charset="-122"/>
                <a:ea typeface="微软雅黑" panose="020B0503020204020204" pitchFamily="34" charset="-122"/>
              </a:rPr>
              <a:t>deleteUser</a:t>
            </a:r>
            <a:r>
              <a:rPr lang="en-US" dirty="0">
                <a:solidFill>
                  <a:srgbClr val="595959"/>
                </a:solidFill>
                <a:latin typeface="微软雅黑" panose="020B0503020204020204" pitchFamily="34" charset="-122"/>
                <a:ea typeface="微软雅黑" panose="020B0503020204020204" pitchFamily="34" charset="-122"/>
              </a:rPr>
              <a:t>(), and </a:t>
            </a:r>
            <a:r>
              <a:rPr lang="en-US" dirty="0" err="1">
                <a:solidFill>
                  <a:srgbClr val="595959"/>
                </a:solidFill>
                <a:latin typeface="微软雅黑" panose="020B0503020204020204" pitchFamily="34" charset="-122"/>
                <a:ea typeface="微软雅黑" panose="020B0503020204020204" pitchFamily="34" charset="-122"/>
              </a:rPr>
              <a:t>updateUser</a:t>
            </a:r>
            <a:r>
              <a:rPr lang="en-US" dirty="0">
                <a:solidFill>
                  <a:srgbClr val="595959"/>
                </a:solidFill>
                <a:latin typeface="微软雅黑" panose="020B0503020204020204" pitchFamily="34" charset="-122"/>
                <a:ea typeface="微软雅黑" panose="020B0503020204020204" pitchFamily="34" charset="-122"/>
              </a:rPr>
              <a:t>().</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When these methods are executed, they can all be regarded as </a:t>
            </a:r>
            <a:r>
              <a:rPr lang="en-US" dirty="0" err="1">
                <a:solidFill>
                  <a:srgbClr val="0070C0"/>
                </a:solidFill>
                <a:latin typeface="微软雅黑" panose="020B0503020204020204" pitchFamily="34" charset="-122"/>
                <a:ea typeface="微软雅黑" panose="020B0503020204020204" pitchFamily="34" charset="-122"/>
              </a:rPr>
              <a:t>joinpoints</a:t>
            </a:r>
            <a:r>
              <a:rPr lang="en-US" dirty="0">
                <a:solidFill>
                  <a:srgbClr val="0070C0"/>
                </a:solidFill>
                <a:latin typeface="微软雅黑" panose="020B0503020204020204" pitchFamily="34" charset="-122"/>
                <a:ea typeface="微软雅黑" panose="020B0503020204020204" pitchFamily="34" charset="-122"/>
              </a:rPr>
              <a:t>.</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You can understand it as:</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“the timing or location where intervention can be made.”</a:t>
            </a:r>
          </a:p>
          <a:p>
            <a:pPr>
              <a:lnSpc>
                <a:spcPct val="150000"/>
              </a:lnSpc>
            </a:pPr>
            <a:endParaRPr lang="en-US"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53315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DDAF3-D471-4CF4-4C22-B078DE974FA7}"/>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9AD864A3-943F-C137-43D2-EAC91E389AE7}"/>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67A8146E-BDE9-DF0C-5820-7CB1570C77EB}"/>
              </a:ext>
            </a:extLst>
          </p:cNvPr>
          <p:cNvSpPr/>
          <p:nvPr>
            <p:custDataLst>
              <p:tags r:id="rId2"/>
            </p:custDataLst>
          </p:nvPr>
        </p:nvSpPr>
        <p:spPr>
          <a:xfrm>
            <a:off x="298562" y="832248"/>
            <a:ext cx="11593288" cy="5760640"/>
          </a:xfrm>
          <a:prstGeom prst="rect">
            <a:avLst/>
          </a:prstGeom>
        </p:spPr>
        <p:txBody>
          <a:bodyPr wrap="square">
            <a:noAutofit/>
          </a:bodyPr>
          <a:lstStyle/>
          <a:p>
            <a:pPr>
              <a:lnSpc>
                <a:spcPct val="150000"/>
              </a:lnSpc>
            </a:pPr>
            <a:r>
              <a:rPr lang="en-US" dirty="0">
                <a:solidFill>
                  <a:srgbClr val="595959"/>
                </a:solidFill>
                <a:latin typeface="微软雅黑" panose="020B0503020204020204" pitchFamily="34" charset="-122"/>
                <a:ea typeface="微软雅黑" panose="020B0503020204020204" pitchFamily="34" charset="-122"/>
              </a:rPr>
              <a:t>3. Pointcut</a:t>
            </a:r>
          </a:p>
          <a:p>
            <a:pPr>
              <a:lnSpc>
                <a:spcPct val="150000"/>
              </a:lnSpc>
            </a:pPr>
            <a:r>
              <a:rPr lang="en-US" dirty="0">
                <a:solidFill>
                  <a:srgbClr val="0070C0"/>
                </a:solidFill>
                <a:latin typeface="微软雅黑" panose="020B0503020204020204" pitchFamily="34" charset="-122"/>
                <a:ea typeface="微软雅黑" panose="020B0503020204020204" pitchFamily="34" charset="-122"/>
              </a:rPr>
              <a:t>A pointcut means selecting the </a:t>
            </a:r>
            <a:r>
              <a:rPr lang="en-US" dirty="0" err="1">
                <a:solidFill>
                  <a:srgbClr val="0070C0"/>
                </a:solidFill>
                <a:latin typeface="微软雅黑" panose="020B0503020204020204" pitchFamily="34" charset="-122"/>
                <a:ea typeface="微软雅黑" panose="020B0503020204020204" pitchFamily="34" charset="-122"/>
              </a:rPr>
              <a:t>joinpoints</a:t>
            </a:r>
            <a:r>
              <a:rPr lang="en-US" dirty="0">
                <a:solidFill>
                  <a:srgbClr val="0070C0"/>
                </a:solidFill>
                <a:latin typeface="微软雅黑" panose="020B0503020204020204" pitchFamily="34" charset="-122"/>
                <a:ea typeface="微软雅黑" panose="020B0503020204020204" pitchFamily="34" charset="-122"/>
              </a:rPr>
              <a:t> that you really want to intercept from among many </a:t>
            </a:r>
            <a:r>
              <a:rPr lang="en-US" dirty="0" err="1">
                <a:solidFill>
                  <a:srgbClr val="0070C0"/>
                </a:solidFill>
                <a:latin typeface="微软雅黑" panose="020B0503020204020204" pitchFamily="34" charset="-122"/>
                <a:ea typeface="微软雅黑" panose="020B0503020204020204" pitchFamily="34" charset="-122"/>
              </a:rPr>
              <a:t>joinpoints</a:t>
            </a:r>
            <a:r>
              <a:rPr lang="en-US" dirty="0">
                <a:solidFill>
                  <a:srgbClr val="0070C0"/>
                </a:solidFill>
                <a:latin typeface="微软雅黑" panose="020B0503020204020204" pitchFamily="34" charset="-122"/>
                <a:ea typeface="微软雅黑" panose="020B0503020204020204" pitchFamily="34" charset="-122"/>
              </a:rPr>
              <a:t>. </a:t>
            </a:r>
            <a:r>
              <a:rPr lang="en-US" dirty="0">
                <a:solidFill>
                  <a:srgbClr val="595959"/>
                </a:solidFill>
                <a:latin typeface="微软雅黑" panose="020B0503020204020204" pitchFamily="34" charset="-122"/>
                <a:ea typeface="微软雅黑" panose="020B0503020204020204" pitchFamily="34" charset="-122"/>
              </a:rPr>
              <a:t>Not every method needs logging or permission checking.</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For example, you may want to intercept only the methods in </a:t>
            </a:r>
            <a:r>
              <a:rPr lang="en-US" dirty="0" err="1">
                <a:solidFill>
                  <a:srgbClr val="595959"/>
                </a:solidFill>
                <a:latin typeface="微软雅黑" panose="020B0503020204020204" pitchFamily="34" charset="-122"/>
                <a:ea typeface="微软雅黑" panose="020B0503020204020204" pitchFamily="34" charset="-122"/>
              </a:rPr>
              <a:t>UserService</a:t>
            </a:r>
            <a:r>
              <a:rPr lang="en-US" dirty="0">
                <a:solidFill>
                  <a:srgbClr val="595959"/>
                </a:solidFill>
                <a:latin typeface="微软雅黑" panose="020B0503020204020204" pitchFamily="34" charset="-122"/>
                <a:ea typeface="微软雅黑" panose="020B0503020204020204" pitchFamily="34" charset="-122"/>
              </a:rPr>
              <a:t>, or only the methods whose names start with add. In this case, you need a pointcut. </a:t>
            </a:r>
            <a:r>
              <a:rPr lang="en-US" dirty="0">
                <a:solidFill>
                  <a:srgbClr val="0070C0"/>
                </a:solidFill>
                <a:latin typeface="微软雅黑" panose="020B0503020204020204" pitchFamily="34" charset="-122"/>
                <a:ea typeface="微软雅黑" panose="020B0503020204020204" pitchFamily="34" charset="-122"/>
              </a:rPr>
              <a:t>You can understand it </a:t>
            </a:r>
            <a:r>
              <a:rPr lang="en-US" dirty="0" err="1">
                <a:solidFill>
                  <a:srgbClr val="0070C0"/>
                </a:solidFill>
                <a:latin typeface="微软雅黑" panose="020B0503020204020204" pitchFamily="34" charset="-122"/>
                <a:ea typeface="微软雅黑" panose="020B0503020204020204" pitchFamily="34" charset="-122"/>
              </a:rPr>
              <a:t>as:“a</a:t>
            </a:r>
            <a:r>
              <a:rPr lang="en-US" dirty="0">
                <a:solidFill>
                  <a:srgbClr val="0070C0"/>
                </a:solidFill>
                <a:latin typeface="微软雅黑" panose="020B0503020204020204" pitchFamily="34" charset="-122"/>
                <a:ea typeface="微软雅黑" panose="020B0503020204020204" pitchFamily="34" charset="-122"/>
              </a:rPr>
              <a:t> filtering rule.”</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For example:</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intercept all methods in the service layer, intercept all login() methods, </a:t>
            </a:r>
          </a:p>
          <a:p>
            <a:pPr>
              <a:lnSpc>
                <a:spcPct val="150000"/>
              </a:lnSpc>
            </a:pPr>
            <a:r>
              <a:rPr lang="en-US" dirty="0">
                <a:solidFill>
                  <a:srgbClr val="595959"/>
                </a:solidFill>
                <a:latin typeface="微软雅黑" panose="020B0503020204020204" pitchFamily="34" charset="-122"/>
                <a:ea typeface="微软雅黑" panose="020B0503020204020204" pitchFamily="34" charset="-122"/>
              </a:rPr>
              <a:t>intercept all add*() methods. </a:t>
            </a:r>
          </a:p>
          <a:p>
            <a:pPr>
              <a:lnSpc>
                <a:spcPct val="150000"/>
              </a:lnSpc>
            </a:pPr>
            <a:endParaRPr lang="en-US"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25352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948E-34E9-DA4C-261E-DEC21665D12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4D470B90-9D20-110D-4995-FED05AF7F487}"/>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63B7D703-C13E-89BB-D0D9-189F8F3AE2F9}"/>
              </a:ext>
            </a:extLst>
          </p:cNvPr>
          <p:cNvSpPr/>
          <p:nvPr>
            <p:custDataLst>
              <p:tags r:id="rId2"/>
            </p:custDataLst>
          </p:nvPr>
        </p:nvSpPr>
        <p:spPr>
          <a:xfrm>
            <a:off x="298562" y="832248"/>
            <a:ext cx="11593288" cy="5760640"/>
          </a:xfrm>
          <a:prstGeom prst="rect">
            <a:avLst/>
          </a:prstGeom>
        </p:spPr>
        <p:txBody>
          <a:bodyPr wrap="square">
            <a:noAutofit/>
          </a:bodyPr>
          <a:lstStyle/>
          <a:p>
            <a:r>
              <a:rPr lang="en-US" dirty="0">
                <a:solidFill>
                  <a:srgbClr val="595959"/>
                </a:solidFill>
                <a:latin typeface="微软雅黑" panose="020B0503020204020204" pitchFamily="34" charset="-122"/>
                <a:ea typeface="微软雅黑" panose="020B0503020204020204" pitchFamily="34" charset="-122"/>
              </a:rPr>
              <a:t>4. Advice</a:t>
            </a:r>
          </a:p>
          <a:p>
            <a:r>
              <a:rPr lang="en-US" dirty="0">
                <a:solidFill>
                  <a:srgbClr val="0070C0"/>
                </a:solidFill>
                <a:latin typeface="微软雅黑" panose="020B0503020204020204" pitchFamily="34" charset="-122"/>
                <a:ea typeface="微软雅黑" panose="020B0503020204020204" pitchFamily="34" charset="-122"/>
              </a:rPr>
              <a:t>Advice is the additional action that is actually executed.</a:t>
            </a:r>
          </a:p>
          <a:p>
            <a:r>
              <a:rPr lang="en-US" dirty="0">
                <a:solidFill>
                  <a:srgbClr val="595959"/>
                </a:solidFill>
                <a:latin typeface="微软雅黑" panose="020B0503020204020204" pitchFamily="34" charset="-122"/>
                <a:ea typeface="微软雅黑" panose="020B0503020204020204" pitchFamily="34" charset="-122"/>
              </a:rPr>
              <a:t>For example, you may:</a:t>
            </a:r>
          </a:p>
          <a:p>
            <a:r>
              <a:rPr lang="en-US" dirty="0">
                <a:solidFill>
                  <a:srgbClr val="595959"/>
                </a:solidFill>
                <a:latin typeface="微软雅黑" panose="020B0503020204020204" pitchFamily="34" charset="-122"/>
                <a:ea typeface="微软雅黑" panose="020B0503020204020204" pitchFamily="34" charset="-122"/>
              </a:rPr>
              <a:t>print “Start execution” before a method runs, </a:t>
            </a:r>
          </a:p>
          <a:p>
            <a:r>
              <a:rPr lang="en-US" dirty="0">
                <a:solidFill>
                  <a:srgbClr val="595959"/>
                </a:solidFill>
                <a:latin typeface="微软雅黑" panose="020B0503020204020204" pitchFamily="34" charset="-122"/>
                <a:ea typeface="微软雅黑" panose="020B0503020204020204" pitchFamily="34" charset="-122"/>
              </a:rPr>
              <a:t>print “Execution finished” after a method runs, </a:t>
            </a:r>
          </a:p>
          <a:p>
            <a:r>
              <a:rPr lang="en-US" dirty="0">
                <a:solidFill>
                  <a:srgbClr val="595959"/>
                </a:solidFill>
                <a:latin typeface="微软雅黑" panose="020B0503020204020204" pitchFamily="34" charset="-122"/>
                <a:ea typeface="微软雅黑" panose="020B0503020204020204" pitchFamily="34" charset="-122"/>
              </a:rPr>
              <a:t>record exception information when an error occurs. </a:t>
            </a:r>
          </a:p>
          <a:p>
            <a:r>
              <a:rPr lang="en-US" dirty="0">
                <a:solidFill>
                  <a:srgbClr val="595959"/>
                </a:solidFill>
                <a:latin typeface="微软雅黑" panose="020B0503020204020204" pitchFamily="34" charset="-122"/>
                <a:ea typeface="微软雅黑" panose="020B0503020204020204" pitchFamily="34" charset="-122"/>
              </a:rPr>
              <a:t>These specific actions are called advice.</a:t>
            </a:r>
          </a:p>
          <a:p>
            <a:r>
              <a:rPr lang="en-US" dirty="0">
                <a:solidFill>
                  <a:srgbClr val="595959"/>
                </a:solidFill>
                <a:latin typeface="微软雅黑" panose="020B0503020204020204" pitchFamily="34" charset="-122"/>
                <a:ea typeface="微软雅黑" panose="020B0503020204020204" pitchFamily="34" charset="-122"/>
              </a:rPr>
              <a:t>You can understand it as:</a:t>
            </a:r>
          </a:p>
          <a:p>
            <a:r>
              <a:rPr lang="en-US" dirty="0">
                <a:solidFill>
                  <a:srgbClr val="595959"/>
                </a:solidFill>
                <a:latin typeface="微软雅黑" panose="020B0503020204020204" pitchFamily="34" charset="-122"/>
                <a:ea typeface="微软雅黑" panose="020B0503020204020204" pitchFamily="34" charset="-122"/>
              </a:rPr>
              <a:t>“the actual work to be done.”</a:t>
            </a:r>
          </a:p>
          <a:p>
            <a:r>
              <a:rPr lang="en-US" dirty="0">
                <a:solidFill>
                  <a:srgbClr val="595959"/>
                </a:solidFill>
                <a:latin typeface="微软雅黑" panose="020B0503020204020204" pitchFamily="34" charset="-122"/>
                <a:ea typeface="微软雅黑" panose="020B0503020204020204" pitchFamily="34" charset="-122"/>
              </a:rPr>
              <a:t>Common types of advice can be simply remembered as:</a:t>
            </a:r>
          </a:p>
          <a:p>
            <a:r>
              <a:rPr lang="en-US" dirty="0">
                <a:solidFill>
                  <a:srgbClr val="595959"/>
                </a:solidFill>
                <a:latin typeface="微软雅黑" panose="020B0503020204020204" pitchFamily="34" charset="-122"/>
                <a:ea typeface="微软雅黑" panose="020B0503020204020204" pitchFamily="34" charset="-122"/>
              </a:rPr>
              <a:t>Before advice: what to do before a method executes </a:t>
            </a:r>
          </a:p>
          <a:p>
            <a:r>
              <a:rPr lang="en-US" dirty="0">
                <a:solidFill>
                  <a:srgbClr val="595959"/>
                </a:solidFill>
                <a:latin typeface="微软雅黑" panose="020B0503020204020204" pitchFamily="34" charset="-122"/>
                <a:ea typeface="微软雅黑" panose="020B0503020204020204" pitchFamily="34" charset="-122"/>
              </a:rPr>
              <a:t>After advice: what to do after a method executes </a:t>
            </a:r>
          </a:p>
          <a:p>
            <a:r>
              <a:rPr lang="en-US" dirty="0">
                <a:solidFill>
                  <a:srgbClr val="595959"/>
                </a:solidFill>
                <a:latin typeface="微软雅黑" panose="020B0503020204020204" pitchFamily="34" charset="-122"/>
                <a:ea typeface="微软雅黑" panose="020B0503020204020204" pitchFamily="34" charset="-122"/>
              </a:rPr>
              <a:t>Exception advice: what to do when an error occurs </a:t>
            </a:r>
          </a:p>
          <a:p>
            <a:r>
              <a:rPr lang="en-US" dirty="0">
                <a:solidFill>
                  <a:srgbClr val="595959"/>
                </a:solidFill>
                <a:latin typeface="微软雅黑" panose="020B0503020204020204" pitchFamily="34" charset="-122"/>
                <a:ea typeface="微软雅黑" panose="020B0503020204020204" pitchFamily="34" charset="-122"/>
              </a:rPr>
              <a:t>Around advice: can control both before and after the method, and is the most powerful</a:t>
            </a:r>
          </a:p>
          <a:p>
            <a:pPr>
              <a:lnSpc>
                <a:spcPct val="150000"/>
              </a:lnSpc>
            </a:pPr>
            <a:endParaRPr lang="en-US"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69565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F22EC-FA8A-BF6D-0F10-5AEAE406B018}"/>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0231E8A1-43F1-97F3-08AE-6FA4548BD315}"/>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38C2F997-062D-C5F4-6C39-309061356CA3}"/>
              </a:ext>
            </a:extLst>
          </p:cNvPr>
          <p:cNvSpPr/>
          <p:nvPr>
            <p:custDataLst>
              <p:tags r:id="rId2"/>
            </p:custDataLst>
          </p:nvPr>
        </p:nvSpPr>
        <p:spPr>
          <a:xfrm>
            <a:off x="298562" y="832248"/>
            <a:ext cx="11593288" cy="5760640"/>
          </a:xfrm>
          <a:prstGeom prst="rect">
            <a:avLst/>
          </a:prstGeom>
        </p:spPr>
        <p:txBody>
          <a:bodyPr wrap="square">
            <a:noAutofit/>
          </a:bodyPr>
          <a:lstStyle/>
          <a:p>
            <a:r>
              <a:rPr lang="en-US" sz="2000" dirty="0">
                <a:solidFill>
                  <a:srgbClr val="595959"/>
                </a:solidFill>
                <a:latin typeface="微软雅黑" panose="020B0503020204020204" pitchFamily="34" charset="-122"/>
                <a:ea typeface="微软雅黑" panose="020B0503020204020204" pitchFamily="34" charset="-122"/>
              </a:rPr>
              <a:t>5. Target Object</a:t>
            </a:r>
          </a:p>
          <a:p>
            <a:r>
              <a:rPr lang="en-US" sz="2000" dirty="0">
                <a:solidFill>
                  <a:srgbClr val="0070C0"/>
                </a:solidFill>
                <a:latin typeface="微软雅黑" panose="020B0503020204020204" pitchFamily="34" charset="-122"/>
                <a:ea typeface="微软雅黑" panose="020B0503020204020204" pitchFamily="34" charset="-122"/>
              </a:rPr>
              <a:t>The target object is the original object that actually performs the business logic.</a:t>
            </a:r>
          </a:p>
          <a:p>
            <a:r>
              <a:rPr lang="en-US" sz="2000" dirty="0">
                <a:solidFill>
                  <a:srgbClr val="595959"/>
                </a:solidFill>
                <a:latin typeface="微软雅黑" panose="020B0503020204020204" pitchFamily="34" charset="-122"/>
                <a:ea typeface="微软雅黑" panose="020B0503020204020204" pitchFamily="34" charset="-122"/>
              </a:rPr>
              <a:t>For example:</a:t>
            </a:r>
          </a:p>
          <a:p>
            <a:r>
              <a:rPr lang="en-US" sz="2000" dirty="0" err="1">
                <a:solidFill>
                  <a:srgbClr val="595959"/>
                </a:solidFill>
                <a:latin typeface="微软雅黑" panose="020B0503020204020204" pitchFamily="34" charset="-122"/>
                <a:ea typeface="微软雅黑" panose="020B0503020204020204" pitchFamily="34" charset="-122"/>
              </a:rPr>
              <a:t>UserService</a:t>
            </a:r>
            <a:r>
              <a:rPr lang="en-US" sz="2000" dirty="0">
                <a:solidFill>
                  <a:srgbClr val="595959"/>
                </a:solidFill>
                <a:latin typeface="微软雅黑" panose="020B0503020204020204" pitchFamily="34" charset="-122"/>
                <a:ea typeface="微软雅黑" panose="020B0503020204020204" pitchFamily="34" charset="-122"/>
              </a:rPr>
              <a:t> </a:t>
            </a:r>
            <a:r>
              <a:rPr lang="en-US" sz="2000" dirty="0" err="1">
                <a:solidFill>
                  <a:srgbClr val="595959"/>
                </a:solidFill>
                <a:latin typeface="微软雅黑" panose="020B0503020204020204" pitchFamily="34" charset="-122"/>
                <a:ea typeface="微软雅黑" panose="020B0503020204020204" pitchFamily="34" charset="-122"/>
              </a:rPr>
              <a:t>userService</a:t>
            </a:r>
            <a:r>
              <a:rPr lang="en-US" sz="2000" dirty="0">
                <a:solidFill>
                  <a:srgbClr val="595959"/>
                </a:solidFill>
                <a:latin typeface="微软雅黑" panose="020B0503020204020204" pitchFamily="34" charset="-122"/>
                <a:ea typeface="微软雅黑" panose="020B0503020204020204" pitchFamily="34" charset="-122"/>
              </a:rPr>
              <a:t> = new </a:t>
            </a:r>
            <a:r>
              <a:rPr lang="en-US" sz="2000" dirty="0" err="1">
                <a:solidFill>
                  <a:srgbClr val="595959"/>
                </a:solidFill>
                <a:latin typeface="微软雅黑" panose="020B0503020204020204" pitchFamily="34" charset="-122"/>
                <a:ea typeface="微软雅黑" panose="020B0503020204020204" pitchFamily="34" charset="-122"/>
              </a:rPr>
              <a:t>UserService</a:t>
            </a:r>
            <a:r>
              <a:rPr lang="en-US" sz="2000" dirty="0">
                <a:solidFill>
                  <a:srgbClr val="595959"/>
                </a:solidFill>
                <a:latin typeface="微软雅黑" panose="020B0503020204020204" pitchFamily="34" charset="-122"/>
                <a:ea typeface="微软雅黑" panose="020B0503020204020204" pitchFamily="34" charset="-122"/>
              </a:rPr>
              <a:t>();</a:t>
            </a:r>
          </a:p>
          <a:p>
            <a:r>
              <a:rPr lang="en-US" sz="2000" dirty="0">
                <a:solidFill>
                  <a:srgbClr val="595959"/>
                </a:solidFill>
                <a:latin typeface="微软雅黑" panose="020B0503020204020204" pitchFamily="34" charset="-122"/>
                <a:ea typeface="微软雅黑" panose="020B0503020204020204" pitchFamily="34" charset="-122"/>
              </a:rPr>
              <a:t>This </a:t>
            </a:r>
            <a:r>
              <a:rPr lang="en-US" sz="2000" dirty="0" err="1">
                <a:solidFill>
                  <a:srgbClr val="595959"/>
                </a:solidFill>
                <a:latin typeface="微软雅黑" panose="020B0503020204020204" pitchFamily="34" charset="-122"/>
                <a:ea typeface="微软雅黑" panose="020B0503020204020204" pitchFamily="34" charset="-122"/>
              </a:rPr>
              <a:t>userService</a:t>
            </a:r>
            <a:r>
              <a:rPr lang="en-US" sz="2000" dirty="0">
                <a:solidFill>
                  <a:srgbClr val="595959"/>
                </a:solidFill>
                <a:latin typeface="微软雅黑" panose="020B0503020204020204" pitchFamily="34" charset="-122"/>
                <a:ea typeface="微软雅黑" panose="020B0503020204020204" pitchFamily="34" charset="-122"/>
              </a:rPr>
              <a:t> is originally responsible for things like adding users, deleting users, and updating users. It is the one that is actually doing the work, so this original object is called the target object.</a:t>
            </a:r>
          </a:p>
          <a:p>
            <a:r>
              <a:rPr lang="en-US" sz="2000" dirty="0">
                <a:solidFill>
                  <a:srgbClr val="595959"/>
                </a:solidFill>
                <a:latin typeface="微软雅黑" panose="020B0503020204020204" pitchFamily="34" charset="-122"/>
                <a:ea typeface="微软雅黑" panose="020B0503020204020204" pitchFamily="34" charset="-122"/>
              </a:rPr>
              <a:t>You can understand it as:</a:t>
            </a:r>
          </a:p>
          <a:p>
            <a:r>
              <a:rPr lang="en-US" sz="2000" dirty="0">
                <a:solidFill>
                  <a:srgbClr val="595959"/>
                </a:solidFill>
                <a:latin typeface="微软雅黑" panose="020B0503020204020204" pitchFamily="34" charset="-122"/>
                <a:ea typeface="微软雅黑" panose="020B0503020204020204" pitchFamily="34" charset="-122"/>
              </a:rPr>
              <a:t>“the main actor.”</a:t>
            </a:r>
          </a:p>
          <a:p>
            <a:endParaRPr lang="en-US" sz="2000" dirty="0">
              <a:solidFill>
                <a:srgbClr val="595959"/>
              </a:solidFill>
              <a:latin typeface="微软雅黑" panose="020B0503020204020204" pitchFamily="34" charset="-122"/>
              <a:ea typeface="微软雅黑" panose="020B0503020204020204" pitchFamily="34" charset="-122"/>
            </a:endParaRPr>
          </a:p>
          <a:p>
            <a:r>
              <a:rPr lang="en-US" sz="2000" dirty="0">
                <a:solidFill>
                  <a:srgbClr val="595959"/>
                </a:solidFill>
                <a:latin typeface="微软雅黑" panose="020B0503020204020204" pitchFamily="34" charset="-122"/>
                <a:ea typeface="微软雅黑" panose="020B0503020204020204" pitchFamily="34" charset="-122"/>
              </a:rPr>
              <a:t>6. Weaving</a:t>
            </a:r>
          </a:p>
          <a:p>
            <a:r>
              <a:rPr lang="en-US" sz="2000" dirty="0">
                <a:solidFill>
                  <a:srgbClr val="0070C0"/>
                </a:solidFill>
                <a:latin typeface="微软雅黑" panose="020B0503020204020204" pitchFamily="34" charset="-122"/>
                <a:ea typeface="微软雅黑" panose="020B0503020204020204" pitchFamily="34" charset="-122"/>
              </a:rPr>
              <a:t>Weaving is the process of adding aspect functionality to the target object.</a:t>
            </a:r>
          </a:p>
          <a:p>
            <a:r>
              <a:rPr lang="en-US" sz="2000" dirty="0">
                <a:solidFill>
                  <a:srgbClr val="595959"/>
                </a:solidFill>
                <a:latin typeface="微软雅黑" panose="020B0503020204020204" pitchFamily="34" charset="-122"/>
                <a:ea typeface="微软雅黑" panose="020B0503020204020204" pitchFamily="34" charset="-122"/>
              </a:rPr>
              <a:t>In other words, it means combining functions such as logging, permission checking, and transaction management with the original business object.</a:t>
            </a:r>
          </a:p>
          <a:p>
            <a:r>
              <a:rPr lang="en-US" sz="2000" dirty="0">
                <a:solidFill>
                  <a:srgbClr val="595959"/>
                </a:solidFill>
                <a:latin typeface="微软雅黑" panose="020B0503020204020204" pitchFamily="34" charset="-122"/>
                <a:ea typeface="微软雅黑" panose="020B0503020204020204" pitchFamily="34" charset="-122"/>
              </a:rPr>
              <a:t>You can understand it as:</a:t>
            </a:r>
          </a:p>
          <a:p>
            <a:r>
              <a:rPr lang="en-US" sz="2000" dirty="0">
                <a:solidFill>
                  <a:srgbClr val="595959"/>
                </a:solidFill>
                <a:latin typeface="微软雅黑" panose="020B0503020204020204" pitchFamily="34" charset="-122"/>
                <a:ea typeface="微软雅黑" panose="020B0503020204020204" pitchFamily="34" charset="-122"/>
              </a:rPr>
              <a:t>“the process of installing add-on features.”</a:t>
            </a:r>
          </a:p>
          <a:p>
            <a:r>
              <a:rPr lang="en-US" sz="2000" dirty="0">
                <a:solidFill>
                  <a:srgbClr val="595959"/>
                </a:solidFill>
                <a:latin typeface="微软雅黑" panose="020B0503020204020204" pitchFamily="34" charset="-122"/>
                <a:ea typeface="微软雅黑" panose="020B0503020204020204" pitchFamily="34" charset="-122"/>
              </a:rPr>
              <a:t>Originally, the object only had business functions. After weaving, it becomes:</a:t>
            </a:r>
          </a:p>
          <a:p>
            <a:r>
              <a:rPr lang="en-US" sz="2000" dirty="0">
                <a:solidFill>
                  <a:srgbClr val="595959"/>
                </a:solidFill>
                <a:latin typeface="微软雅黑" panose="020B0503020204020204" pitchFamily="34" charset="-122"/>
                <a:ea typeface="微软雅黑" panose="020B0503020204020204" pitchFamily="34" charset="-122"/>
              </a:rPr>
              <a:t>business functions + additional supporting functions</a:t>
            </a:r>
          </a:p>
          <a:p>
            <a:endParaRPr lang="en-US"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848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68542-E6C9-5452-5B28-5D993B7F3BB0}"/>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F2F7F80E-A2BA-590C-F2FE-8F34D0BEB41E}"/>
              </a:ext>
            </a:extLst>
          </p:cNvPr>
          <p:cNvSpPr txBox="1"/>
          <p:nvPr>
            <p:custDataLst>
              <p:tags r:id="rId1"/>
            </p:custDataLst>
          </p:nvPr>
        </p:nvSpPr>
        <p:spPr>
          <a:xfrm>
            <a:off x="1143635" y="266700"/>
            <a:ext cx="6576695" cy="506095"/>
          </a:xfrm>
          <a:prstGeom prst="rect">
            <a:avLst/>
          </a:prstGeom>
        </p:spPr>
        <p:txBody>
          <a:bodyPr lIns="0" tIns="60958" rIns="0" bIns="60958" anchor="ctr">
            <a:normAutofit fontScale="97332"/>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3.1 Overview of AOP</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原创设计师QQ598969553          _4">
            <a:extLst>
              <a:ext uri="{FF2B5EF4-FFF2-40B4-BE49-F238E27FC236}">
                <a16:creationId xmlns:a16="http://schemas.microsoft.com/office/drawing/2014/main" id="{DA668B99-3558-6062-7DE8-2E5D55365168}"/>
              </a:ext>
            </a:extLst>
          </p:cNvPr>
          <p:cNvSpPr/>
          <p:nvPr>
            <p:custDataLst>
              <p:tags r:id="rId2"/>
            </p:custDataLst>
          </p:nvPr>
        </p:nvSpPr>
        <p:spPr>
          <a:xfrm>
            <a:off x="118541" y="832248"/>
            <a:ext cx="12071871" cy="5981922"/>
          </a:xfrm>
          <a:prstGeom prst="rect">
            <a:avLst/>
          </a:prstGeom>
        </p:spPr>
        <p:txBody>
          <a:bodyPr wrap="square">
            <a:noAutofit/>
          </a:bodyPr>
          <a:lstStyle/>
          <a:p>
            <a:r>
              <a:rPr lang="en-US" sz="2000" dirty="0">
                <a:solidFill>
                  <a:srgbClr val="595959"/>
                </a:solidFill>
                <a:latin typeface="微软雅黑" panose="020B0503020204020204" pitchFamily="34" charset="-122"/>
                <a:ea typeface="微软雅黑" panose="020B0503020204020204" pitchFamily="34" charset="-122"/>
              </a:rPr>
              <a:t>7. Proxy Object</a:t>
            </a:r>
          </a:p>
          <a:p>
            <a:r>
              <a:rPr lang="en-US" sz="2000" dirty="0">
                <a:solidFill>
                  <a:srgbClr val="0070C0"/>
                </a:solidFill>
                <a:latin typeface="微软雅黑" panose="020B0503020204020204" pitchFamily="34" charset="-122"/>
                <a:ea typeface="微软雅黑" panose="020B0503020204020204" pitchFamily="34" charset="-122"/>
              </a:rPr>
              <a:t>A proxy object is the enhanced object that Spring finally gives you to use.</a:t>
            </a:r>
          </a:p>
          <a:p>
            <a:r>
              <a:rPr lang="en-US" sz="2000" dirty="0">
                <a:solidFill>
                  <a:srgbClr val="595959"/>
                </a:solidFill>
                <a:latin typeface="微软雅黑" panose="020B0503020204020204" pitchFamily="34" charset="-122"/>
                <a:ea typeface="微软雅黑" panose="020B0503020204020204" pitchFamily="34" charset="-122"/>
              </a:rPr>
              <a:t>On the surface, you may think you are calling </a:t>
            </a:r>
            <a:r>
              <a:rPr lang="en-US" sz="2000" dirty="0" err="1">
                <a:solidFill>
                  <a:srgbClr val="595959"/>
                </a:solidFill>
                <a:latin typeface="微软雅黑" panose="020B0503020204020204" pitchFamily="34" charset="-122"/>
                <a:ea typeface="微软雅黑" panose="020B0503020204020204" pitchFamily="34" charset="-122"/>
              </a:rPr>
              <a:t>userService.addUser</a:t>
            </a:r>
            <a:r>
              <a:rPr lang="en-US" sz="2000" dirty="0">
                <a:solidFill>
                  <a:srgbClr val="595959"/>
                </a:solidFill>
                <a:latin typeface="微软雅黑" panose="020B0503020204020204" pitchFamily="34" charset="-122"/>
                <a:ea typeface="微软雅黑" panose="020B0503020204020204" pitchFamily="34" charset="-122"/>
              </a:rPr>
              <a:t>(), but in many cases, what you actually get is not the original object, but a proxy object created by Spring.</a:t>
            </a:r>
          </a:p>
          <a:p>
            <a:r>
              <a:rPr lang="en-US" sz="2000" dirty="0">
                <a:solidFill>
                  <a:srgbClr val="595959"/>
                </a:solidFill>
                <a:latin typeface="微软雅黑" panose="020B0503020204020204" pitchFamily="34" charset="-122"/>
                <a:ea typeface="微软雅黑" panose="020B0503020204020204" pitchFamily="34" charset="-122"/>
              </a:rPr>
              <a:t>This proxy object will:</a:t>
            </a:r>
          </a:p>
          <a:p>
            <a:r>
              <a:rPr lang="en-US" sz="2000" dirty="0">
                <a:solidFill>
                  <a:srgbClr val="595959"/>
                </a:solidFill>
                <a:latin typeface="微软雅黑" panose="020B0503020204020204" pitchFamily="34" charset="-122"/>
                <a:ea typeface="微软雅黑" panose="020B0503020204020204" pitchFamily="34" charset="-122"/>
              </a:rPr>
              <a:t>first execute the additional functions (such as logging), </a:t>
            </a:r>
          </a:p>
          <a:p>
            <a:r>
              <a:rPr lang="en-US" sz="2000" dirty="0">
                <a:solidFill>
                  <a:srgbClr val="595959"/>
                </a:solidFill>
                <a:latin typeface="微软雅黑" panose="020B0503020204020204" pitchFamily="34" charset="-122"/>
                <a:ea typeface="微软雅黑" panose="020B0503020204020204" pitchFamily="34" charset="-122"/>
              </a:rPr>
              <a:t>then call the original business method, </a:t>
            </a:r>
          </a:p>
          <a:p>
            <a:r>
              <a:rPr lang="en-US" sz="2000" dirty="0">
                <a:solidFill>
                  <a:srgbClr val="595959"/>
                </a:solidFill>
                <a:latin typeface="微软雅黑" panose="020B0503020204020204" pitchFamily="34" charset="-122"/>
                <a:ea typeface="微软雅黑" panose="020B0503020204020204" pitchFamily="34" charset="-122"/>
              </a:rPr>
              <a:t>and finally perform the finishing work. You can understand it as:</a:t>
            </a:r>
          </a:p>
          <a:p>
            <a:r>
              <a:rPr lang="en-US" sz="2000" dirty="0">
                <a:solidFill>
                  <a:srgbClr val="595959"/>
                </a:solidFill>
                <a:latin typeface="微软雅黑" panose="020B0503020204020204" pitchFamily="34" charset="-122"/>
                <a:ea typeface="微软雅黑" panose="020B0503020204020204" pitchFamily="34" charset="-122"/>
              </a:rPr>
              <a:t>“an agent / middleman / enhanced </a:t>
            </a:r>
            <a:r>
              <a:rPr lang="en-US" sz="2000" dirty="0" err="1">
                <a:solidFill>
                  <a:srgbClr val="595959"/>
                </a:solidFill>
                <a:latin typeface="微软雅黑" panose="020B0503020204020204" pitchFamily="34" charset="-122"/>
                <a:ea typeface="微软雅黑" panose="020B0503020204020204" pitchFamily="34" charset="-122"/>
              </a:rPr>
              <a:t>substitute.”It</a:t>
            </a:r>
            <a:r>
              <a:rPr lang="en-US" sz="2000" dirty="0">
                <a:solidFill>
                  <a:srgbClr val="595959"/>
                </a:solidFill>
                <a:latin typeface="微软雅黑" panose="020B0503020204020204" pitchFamily="34" charset="-122"/>
                <a:ea typeface="微软雅黑" panose="020B0503020204020204" pitchFamily="34" charset="-122"/>
              </a:rPr>
              <a:t> automatically arranges those extra functions for you.</a:t>
            </a:r>
          </a:p>
          <a:p>
            <a:endParaRPr lang="en-US" sz="2000" dirty="0">
              <a:solidFill>
                <a:srgbClr val="595959"/>
              </a:solidFill>
              <a:latin typeface="微软雅黑" panose="020B0503020204020204" pitchFamily="34" charset="-122"/>
              <a:ea typeface="微软雅黑" panose="020B0503020204020204" pitchFamily="34" charset="-122"/>
            </a:endParaRPr>
          </a:p>
          <a:p>
            <a:r>
              <a:rPr lang="en-US" sz="2000" dirty="0">
                <a:solidFill>
                  <a:srgbClr val="595959"/>
                </a:solidFill>
                <a:latin typeface="微软雅黑" panose="020B0503020204020204" pitchFamily="34" charset="-122"/>
                <a:ea typeface="微软雅黑" panose="020B0503020204020204" pitchFamily="34" charset="-122"/>
              </a:rPr>
              <a:t>8. Introduction</a:t>
            </a:r>
          </a:p>
          <a:p>
            <a:r>
              <a:rPr lang="en-US" sz="2000" dirty="0">
                <a:solidFill>
                  <a:srgbClr val="0070C0"/>
                </a:solidFill>
                <a:latin typeface="微软雅黑" panose="020B0503020204020204" pitchFamily="34" charset="-122"/>
                <a:ea typeface="微软雅黑" panose="020B0503020204020204" pitchFamily="34" charset="-122"/>
              </a:rPr>
              <a:t>Introduction means adding some new abilities to an object without modifying the original class code.</a:t>
            </a:r>
          </a:p>
          <a:p>
            <a:r>
              <a:rPr lang="en-US" sz="2000" dirty="0">
                <a:solidFill>
                  <a:srgbClr val="595959"/>
                </a:solidFill>
                <a:latin typeface="微软雅黑" panose="020B0503020204020204" pitchFamily="34" charset="-122"/>
                <a:ea typeface="微软雅黑" panose="020B0503020204020204" pitchFamily="34" charset="-122"/>
              </a:rPr>
              <a:t>For example, suppose the original </a:t>
            </a:r>
            <a:r>
              <a:rPr lang="en-US" sz="2000" dirty="0" err="1">
                <a:solidFill>
                  <a:srgbClr val="595959"/>
                </a:solidFill>
                <a:latin typeface="微软雅黑" panose="020B0503020204020204" pitchFamily="34" charset="-122"/>
                <a:ea typeface="微软雅黑" panose="020B0503020204020204" pitchFamily="34" charset="-122"/>
              </a:rPr>
              <a:t>UserService</a:t>
            </a:r>
            <a:r>
              <a:rPr lang="en-US" sz="2000" dirty="0">
                <a:solidFill>
                  <a:srgbClr val="595959"/>
                </a:solidFill>
                <a:latin typeface="微软雅黑" panose="020B0503020204020204" pitchFamily="34" charset="-122"/>
                <a:ea typeface="微软雅黑" panose="020B0503020204020204" pitchFamily="34" charset="-122"/>
              </a:rPr>
              <a:t> does not have a </a:t>
            </a:r>
            <a:r>
              <a:rPr lang="en-US" sz="2000" dirty="0" err="1">
                <a:solidFill>
                  <a:srgbClr val="595959"/>
                </a:solidFill>
                <a:latin typeface="微软雅黑" panose="020B0503020204020204" pitchFamily="34" charset="-122"/>
                <a:ea typeface="微软雅黑" panose="020B0503020204020204" pitchFamily="34" charset="-122"/>
              </a:rPr>
              <a:t>sayHello</a:t>
            </a:r>
            <a:r>
              <a:rPr lang="en-US" sz="2000" dirty="0">
                <a:solidFill>
                  <a:srgbClr val="595959"/>
                </a:solidFill>
                <a:latin typeface="微软雅黑" panose="020B0503020204020204" pitchFamily="34" charset="-122"/>
                <a:ea typeface="微软雅黑" panose="020B0503020204020204" pitchFamily="34" charset="-122"/>
              </a:rPr>
              <a:t>() method. Through introduction, it can be made to seem as if it has gained a new method.</a:t>
            </a:r>
          </a:p>
          <a:p>
            <a:r>
              <a:rPr lang="en-US" sz="2000" dirty="0">
                <a:solidFill>
                  <a:srgbClr val="595959"/>
                </a:solidFill>
                <a:latin typeface="微软雅黑" panose="020B0503020204020204" pitchFamily="34" charset="-122"/>
                <a:ea typeface="微软雅黑" panose="020B0503020204020204" pitchFamily="34" charset="-122"/>
              </a:rPr>
              <a:t>You can understand it as:</a:t>
            </a:r>
          </a:p>
          <a:p>
            <a:r>
              <a:rPr lang="en-US" sz="2000" dirty="0">
                <a:solidFill>
                  <a:srgbClr val="595959"/>
                </a:solidFill>
                <a:latin typeface="微软雅黑" panose="020B0503020204020204" pitchFamily="34" charset="-122"/>
                <a:ea typeface="微软雅黑" panose="020B0503020204020204" pitchFamily="34" charset="-122"/>
              </a:rPr>
              <a:t>“temporarily extending the object with new capabilities.”</a:t>
            </a:r>
          </a:p>
          <a:p>
            <a:r>
              <a:rPr lang="en-US" sz="2000" dirty="0">
                <a:solidFill>
                  <a:srgbClr val="595959"/>
                </a:solidFill>
                <a:latin typeface="微软雅黑" panose="020B0503020204020204" pitchFamily="34" charset="-122"/>
                <a:ea typeface="微软雅黑" panose="020B0503020204020204" pitchFamily="34" charset="-122"/>
              </a:rPr>
              <a:t>However, in actual development, this concept is used less often than the previous one</a:t>
            </a:r>
          </a:p>
          <a:p>
            <a:pPr>
              <a:lnSpc>
                <a:spcPct val="150000"/>
              </a:lnSpc>
            </a:pPr>
            <a:endParaRPr lang="en-US"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8660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15086" y="2826025"/>
            <a:ext cx="6273800" cy="1207537"/>
          </a:xfrm>
          <a:prstGeom prst="rect">
            <a:avLst/>
          </a:prstGeom>
          <a:noFill/>
        </p:spPr>
        <p:txBody>
          <a:bodyPr wrap="square" lIns="91443" tIns="45720" rIns="91443" bIns="45720" rtlCol="0">
            <a:noAutofit/>
          </a:bodyPr>
          <a:lstStyle/>
          <a:p>
            <a:r>
              <a:rPr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implementation mechanism of Spring AOP</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3.2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91209"/>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 Spring AOP Implementation Mechanism</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9200" y="1950402"/>
            <a:ext cx="1033589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a:solidFill>
                  <a:schemeClr val="accent4">
                    <a:lumMod val="75000"/>
                  </a:schemeClr>
                </a:solidFill>
                <a:latin typeface="微软雅黑" panose="020B0503020204020204" pitchFamily="34" charset="-122"/>
                <a:ea typeface="微软雅黑" panose="020B0503020204020204" pitchFamily="34" charset="-122"/>
                <a:cs typeface="+mn-ea"/>
              </a:rPr>
              <a:t>When implementing AOP in the Spring framework, the application generates a </a:t>
            </a:r>
            <a:r>
              <a:rPr lang="zh-CN" altLang="en-US" sz="2000" dirty="0">
                <a:solidFill>
                  <a:srgbClr val="1369B2"/>
                </a:solidFill>
                <a:latin typeface="微软雅黑" panose="020B0503020204020204" pitchFamily="34" charset="-122"/>
                <a:ea typeface="微软雅黑" panose="020B0503020204020204" pitchFamily="34" charset="-122"/>
                <a:cs typeface="+mn-ea"/>
              </a:rPr>
              <a:t>dynamic proxy object for the target object at runtime and implements enhancements to the target object within the proxy object. </a:t>
            </a:r>
            <a:r>
              <a:rPr lang="zh-CN" altLang="en-US" sz="2000" dirty="0">
                <a:solidFill>
                  <a:schemeClr val="accent4">
                    <a:lumMod val="75000"/>
                  </a:schemeClr>
                </a:solidFill>
                <a:latin typeface="微软雅黑" panose="020B0503020204020204" pitchFamily="34" charset="-122"/>
                <a:ea typeface="微软雅黑" panose="020B0503020204020204" pitchFamily="34" charset="-122"/>
                <a:cs typeface="+mn-ea"/>
              </a:rPr>
              <a:t>Depending on how the proxy object is created, the AOP implementation mechanism can be divided into JDK dynamic proxy and CG LIB dynamic proxy, which will be explained in this section.</a:t>
            </a:r>
            <a:endParaRPr lang="zh-CN" altLang="zh-CN" sz="2000" dirty="0">
              <a:solidFill>
                <a:schemeClr val="accent4">
                  <a:lumMod val="75000"/>
                </a:schemeClr>
              </a:solidFill>
              <a:latin typeface="微软雅黑" panose="020B0503020204020204" pitchFamily="34" charset="-122"/>
              <a:ea typeface="微软雅黑" panose="020B0503020204020204" pitchFamily="34" charset="-122"/>
            </a:endParaRPr>
          </a:p>
        </p:txBody>
      </p:sp>
      <p:sp>
        <p:nvSpPr>
          <p:cNvPr id="2" name="圆角矩形 1"/>
          <p:cNvSpPr/>
          <p:nvPr>
            <p:custDataLst>
              <p:tags r:id="rId2"/>
            </p:custDataLst>
          </p:nvPr>
        </p:nvSpPr>
        <p:spPr>
          <a:xfrm>
            <a:off x="910631" y="1557586"/>
            <a:ext cx="10633034" cy="3528392"/>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3"/>
            </p:custDataLst>
          </p:nvPr>
        </p:nvSpPr>
        <p:spPr>
          <a:xfrm>
            <a:off x="855047" y="15210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1190942" y="4598054"/>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Dynamic Proxy of JDK</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447134" y="2866926"/>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Get familiar with JDK dynamic proxy and implement cases of JDK dynamic proxy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406574" y="1027960"/>
            <a:ext cx="11089232" cy="5831628"/>
          </a:xfrm>
          <a:prstGeom prst="rect">
            <a:avLst/>
          </a:prstGeom>
          <a:noFill/>
        </p:spPr>
        <p:txBody>
          <a:bodyPr wrap="square" lIns="0" tIns="0" rIns="0" bIns="0" rtlCol="0">
            <a:noAutofit/>
          </a:bodyPr>
          <a:lstStyle/>
          <a:p>
            <a:pPr>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JDK dynamic proxy in AOP is </a:t>
            </a:r>
            <a:r>
              <a:rPr lang="en-US" altLang="zh-CN" sz="2000" dirty="0" err="1">
                <a:solidFill>
                  <a:srgbClr val="0070C0"/>
                </a:solidFill>
                <a:highlight>
                  <a:srgbClr val="FFFF00"/>
                </a:highlight>
                <a:latin typeface="微软雅黑" panose="020B0503020204020204" pitchFamily="34" charset="-122"/>
                <a:ea typeface="微软雅黑" panose="020B0503020204020204" pitchFamily="34" charset="-122"/>
                <a:sym typeface="+mn-lt"/>
              </a:rPr>
              <a:t>an interface-based proxy approach</a:t>
            </a:r>
            <a:r>
              <a:rPr lang="en-US" altLang="zh-CN" sz="2000" dirty="0" err="1">
                <a:solidFill>
                  <a:srgbClr val="595959"/>
                </a:solidFill>
                <a:latin typeface="微软雅黑" panose="020B0503020204020204" pitchFamily="34" charset="-122"/>
                <a:ea typeface="微软雅黑" panose="020B0503020204020204" pitchFamily="34" charset="-122"/>
                <a:sym typeface="+mn-lt"/>
              </a:rPr>
              <a:t>, that is, </a:t>
            </a:r>
            <a:r>
              <a:rPr lang="en-US" altLang="zh-CN" sz="2000" dirty="0" err="1">
                <a:solidFill>
                  <a:srgbClr val="0070C0"/>
                </a:solidFill>
                <a:latin typeface="微软雅黑" panose="020B0503020204020204" pitchFamily="34" charset="-122"/>
                <a:ea typeface="微软雅黑" panose="020B0503020204020204" pitchFamily="34" charset="-122"/>
                <a:sym typeface="+mn-lt"/>
              </a:rPr>
              <a:t>proxy instances can only be created for interfaces.</a:t>
            </a:r>
            <a:r>
              <a:rPr lang="en-US" altLang="zh-CN" sz="2000" dirty="0" err="1">
                <a:solidFill>
                  <a:srgbClr val="595959"/>
                </a:solidFill>
                <a:latin typeface="微软雅黑" panose="020B0503020204020204" pitchFamily="34" charset="-122"/>
                <a:ea typeface="微软雅黑" panose="020B0503020204020204" pitchFamily="34" charset="-122"/>
                <a:sym typeface="+mn-lt"/>
              </a:rPr>
              <a:t> </a:t>
            </a:r>
            <a:r>
              <a:rPr lang="en-US" altLang="zh-CN" sz="2000" dirty="0" err="1">
                <a:solidFill>
                  <a:srgbClr val="0070C0"/>
                </a:solidFill>
                <a:latin typeface="微软雅黑" panose="020B0503020204020204" pitchFamily="34" charset="-122"/>
                <a:ea typeface="微软雅黑" panose="020B0503020204020204" pitchFamily="34" charset="-122"/>
                <a:sym typeface="+mn-lt"/>
              </a:rPr>
              <a:t>JDK Dynamic proxy is the default dynamic proxy mechanism of Spring AOP,</a:t>
            </a:r>
            <a:r>
              <a:rPr lang="en-US" altLang="zh-CN" sz="2000" dirty="0" err="1">
                <a:solidFill>
                  <a:srgbClr val="595959"/>
                </a:solidFill>
                <a:latin typeface="微软雅黑" panose="020B0503020204020204" pitchFamily="34" charset="-122"/>
                <a:ea typeface="微软雅黑" panose="020B0503020204020204" pitchFamily="34" charset="-122"/>
                <a:sym typeface="+mn-lt"/>
              </a:rPr>
              <a:t> which uses the </a:t>
            </a:r>
            <a:r>
              <a:rPr lang="en-US" altLang="zh-CN" sz="2000" dirty="0" err="1">
                <a:solidFill>
                  <a:srgbClr val="0070C0"/>
                </a:solidFill>
                <a:latin typeface="微软雅黑" panose="020B0503020204020204" pitchFamily="34" charset="-122"/>
                <a:ea typeface="微软雅黑" panose="020B0503020204020204" pitchFamily="34" charset="-122"/>
                <a:sym typeface="+mn-lt"/>
              </a:rPr>
              <a:t>Java reflection mechanism to dynamically create proxy objects of the target object at runtime and associate notifications with the proxy objects, thereby enhancing the target object.</a:t>
            </a:r>
          </a:p>
          <a:p>
            <a:pPr>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JDK Dynamic Proxy uses the </a:t>
            </a:r>
            <a:r>
              <a:rPr lang="en-US" altLang="zh-CN" sz="2000" dirty="0" err="1">
                <a:solidFill>
                  <a:srgbClr val="0070C0"/>
                </a:solidFill>
                <a:latin typeface="微软雅黑" panose="020B0503020204020204" pitchFamily="34" charset="-122"/>
                <a:ea typeface="微软雅黑" panose="020B0503020204020204" pitchFamily="34" charset="-122"/>
                <a:sym typeface="+mn-lt"/>
              </a:rPr>
              <a:t>java.lang.reflect.proxy class and the java.lang.reflect.invocationHandler</a:t>
            </a:r>
            <a:r>
              <a:rPr lang="en-US" altLang="zh-CN" sz="2000" dirty="0" err="1">
                <a:solidFill>
                  <a:srgbClr val="595959"/>
                </a:solidFill>
                <a:latin typeface="微软雅黑" panose="020B0503020204020204" pitchFamily="34" charset="-122"/>
                <a:ea typeface="微软雅黑" panose="020B0503020204020204" pitchFamily="34" charset="-122"/>
                <a:sym typeface="+mn-lt"/>
              </a:rPr>
              <a:t> interface in java to create proxy objects. </a:t>
            </a:r>
            <a:r>
              <a:rPr lang="en-US" altLang="zh-CN" sz="2000" dirty="0" err="1">
                <a:solidFill>
                  <a:srgbClr val="0070C0"/>
                </a:solidFill>
                <a:latin typeface="微软雅黑" panose="020B0503020204020204" pitchFamily="34" charset="-122"/>
                <a:ea typeface="微软雅黑" panose="020B0503020204020204" pitchFamily="34" charset="-122"/>
                <a:sym typeface="+mn-lt"/>
              </a:rPr>
              <a:t>First, you need to define an InvocationHandler implementation class that contains an invoke() method in which the enhanced logic is defined. Then create the Proxy object through the newProxyInstance() method of the Proxy class, which generates the proxy object by receiving the class loader, the interface of the proxy implementation, and the InvocationHandler object.</a:t>
            </a: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1293-06FF-6084-DE33-BC1A6F6EB101}"/>
            </a:ext>
          </a:extLst>
        </p:cNvPr>
        <p:cNvGrpSpPr/>
        <p:nvPr/>
      </p:nvGrpSpPr>
      <p:grpSpPr>
        <a:xfrm>
          <a:off x="0" y="0"/>
          <a:ext cx="0" cy="0"/>
          <a:chOff x="0" y="0"/>
          <a:chExt cx="0" cy="0"/>
        </a:xfrm>
      </p:grpSpPr>
      <p:sp>
        <p:nvSpPr>
          <p:cNvPr id="39" name="TextBox 38">
            <a:extLst>
              <a:ext uri="{FF2B5EF4-FFF2-40B4-BE49-F238E27FC236}">
                <a16:creationId xmlns:a16="http://schemas.microsoft.com/office/drawing/2014/main" id="{DE30B0FF-D91A-9E8A-92BE-C1563A1693CE}"/>
              </a:ext>
            </a:extLst>
          </p:cNvPr>
          <p:cNvSpPr txBox="1"/>
          <p:nvPr>
            <p:custDataLst>
              <p:tags r:id="rId1"/>
            </p:custDataLst>
          </p:nvPr>
        </p:nvSpPr>
        <p:spPr>
          <a:xfrm>
            <a:off x="946634" y="1197546"/>
            <a:ext cx="10297144" cy="4994122"/>
          </a:xfrm>
          <a:prstGeom prst="rect">
            <a:avLst/>
          </a:prstGeom>
          <a:noFill/>
        </p:spPr>
        <p:txBody>
          <a:bodyPr wrap="square" lIns="0" tIns="0" rIns="0" bIns="0" rtlCol="0">
            <a:noAutofit/>
          </a:bodyPr>
          <a:lstStyle/>
          <a:p>
            <a:pPr>
              <a:lnSpc>
                <a:spcPct val="150000"/>
              </a:lnSpc>
            </a:pPr>
            <a:r>
              <a:rPr lang="en-US" sz="2000" dirty="0">
                <a:solidFill>
                  <a:srgbClr val="595959"/>
                </a:solidFill>
                <a:latin typeface="微软雅黑" panose="020B0503020204020204" pitchFamily="34" charset="-122"/>
                <a:ea typeface="微软雅黑" panose="020B0503020204020204" pitchFamily="34" charset="-122"/>
              </a:rPr>
              <a:t>JDK dynamic proxy means that Spring </a:t>
            </a:r>
            <a:r>
              <a:rPr lang="en-US" sz="2000" dirty="0">
                <a:solidFill>
                  <a:srgbClr val="0070C0"/>
                </a:solidFill>
                <a:latin typeface="微软雅黑" panose="020B0503020204020204" pitchFamily="34" charset="-122"/>
                <a:ea typeface="微软雅黑" panose="020B0503020204020204" pitchFamily="34" charset="-122"/>
              </a:rPr>
              <a:t>finds a proxy for an object that implements an interface, and this proxy helps you do some extra things before and after the method call.</a:t>
            </a:r>
          </a:p>
          <a:p>
            <a:pPr>
              <a:lnSpc>
                <a:spcPct val="150000"/>
              </a:lnSpc>
            </a:pPr>
            <a:r>
              <a:rPr lang="en-US" sz="2000" dirty="0">
                <a:solidFill>
                  <a:srgbClr val="595959"/>
                </a:solidFill>
                <a:latin typeface="微软雅黑" panose="020B0503020204020204" pitchFamily="34" charset="-122"/>
                <a:ea typeface="微软雅黑" panose="020B0503020204020204" pitchFamily="34" charset="-122"/>
              </a:rPr>
              <a:t>Originally, you want to call a method like this:</a:t>
            </a:r>
          </a:p>
          <a:p>
            <a:pPr>
              <a:lnSpc>
                <a:spcPct val="150000"/>
              </a:lnSpc>
            </a:pPr>
            <a:r>
              <a:rPr lang="en-US" sz="2000" dirty="0" err="1">
                <a:solidFill>
                  <a:srgbClr val="595959"/>
                </a:solidFill>
                <a:latin typeface="微软雅黑" panose="020B0503020204020204" pitchFamily="34" charset="-122"/>
                <a:ea typeface="微软雅黑" panose="020B0503020204020204" pitchFamily="34" charset="-122"/>
              </a:rPr>
              <a:t>userService.addUser</a:t>
            </a:r>
            <a:r>
              <a:rPr lang="en-US" sz="2000" dirty="0">
                <a:solidFill>
                  <a:srgbClr val="595959"/>
                </a:solidFill>
                <a:latin typeface="微软雅黑" panose="020B0503020204020204" pitchFamily="34" charset="-122"/>
                <a:ea typeface="微软雅黑" panose="020B0503020204020204" pitchFamily="34" charset="-122"/>
              </a:rPr>
              <a:t>();</a:t>
            </a:r>
          </a:p>
          <a:p>
            <a:pPr>
              <a:lnSpc>
                <a:spcPct val="150000"/>
              </a:lnSpc>
            </a:pPr>
            <a:r>
              <a:rPr lang="en-US" sz="2000" dirty="0">
                <a:solidFill>
                  <a:srgbClr val="595959"/>
                </a:solidFill>
                <a:latin typeface="微软雅黑" panose="020B0503020204020204" pitchFamily="34" charset="-122"/>
                <a:ea typeface="微软雅黑" panose="020B0503020204020204" pitchFamily="34" charset="-122"/>
              </a:rPr>
              <a:t>After using a JDK dynamic proxy, the actual process becomes:</a:t>
            </a:r>
          </a:p>
          <a:p>
            <a:pPr marL="342900" indent="-342900">
              <a:lnSpc>
                <a:spcPct val="150000"/>
              </a:lnSpc>
              <a:buFont typeface="Arial" panose="020B0604020202020204" pitchFamily="34" charset="0"/>
              <a:buChar char="•"/>
            </a:pPr>
            <a:r>
              <a:rPr lang="en-US" sz="2000" dirty="0">
                <a:solidFill>
                  <a:srgbClr val="595959"/>
                </a:solidFill>
                <a:latin typeface="微软雅黑" panose="020B0503020204020204" pitchFamily="34" charset="-122"/>
                <a:ea typeface="微软雅黑" panose="020B0503020204020204" pitchFamily="34" charset="-122"/>
              </a:rPr>
              <a:t>first, the call goes to the proxy object, </a:t>
            </a:r>
          </a:p>
          <a:p>
            <a:pPr marL="342900" indent="-342900">
              <a:lnSpc>
                <a:spcPct val="150000"/>
              </a:lnSpc>
              <a:buFont typeface="Arial" panose="020B0604020202020204" pitchFamily="34" charset="0"/>
              <a:buChar char="•"/>
            </a:pPr>
            <a:r>
              <a:rPr lang="en-US" sz="2000" dirty="0">
                <a:solidFill>
                  <a:srgbClr val="595959"/>
                </a:solidFill>
                <a:latin typeface="微软雅黑" panose="020B0503020204020204" pitchFamily="34" charset="-122"/>
                <a:ea typeface="微软雅黑" panose="020B0503020204020204" pitchFamily="34" charset="-122"/>
              </a:rPr>
              <a:t>the proxy object first performs the enhancement functions, such as printing logs, </a:t>
            </a:r>
          </a:p>
          <a:p>
            <a:pPr marL="342900" indent="-342900">
              <a:lnSpc>
                <a:spcPct val="150000"/>
              </a:lnSpc>
              <a:buFont typeface="Arial" panose="020B0604020202020204" pitchFamily="34" charset="0"/>
              <a:buChar char="•"/>
            </a:pPr>
            <a:r>
              <a:rPr lang="en-US" sz="2000" dirty="0">
                <a:solidFill>
                  <a:srgbClr val="595959"/>
                </a:solidFill>
                <a:latin typeface="微软雅黑" panose="020B0503020204020204" pitchFamily="34" charset="-122"/>
                <a:ea typeface="微软雅黑" panose="020B0503020204020204" pitchFamily="34" charset="-122"/>
              </a:rPr>
              <a:t>then it calls the real </a:t>
            </a:r>
            <a:r>
              <a:rPr lang="en-US" sz="2000" dirty="0" err="1">
                <a:solidFill>
                  <a:srgbClr val="595959"/>
                </a:solidFill>
                <a:latin typeface="微软雅黑" panose="020B0503020204020204" pitchFamily="34" charset="-122"/>
                <a:ea typeface="微软雅黑" panose="020B0503020204020204" pitchFamily="34" charset="-122"/>
              </a:rPr>
              <a:t>addUser</a:t>
            </a:r>
            <a:r>
              <a:rPr lang="en-US" sz="2000" dirty="0">
                <a:solidFill>
                  <a:srgbClr val="595959"/>
                </a:solidFill>
                <a:latin typeface="微软雅黑" panose="020B0503020204020204" pitchFamily="34" charset="-122"/>
                <a:ea typeface="微软雅黑" panose="020B0503020204020204" pitchFamily="34" charset="-122"/>
              </a:rPr>
              <a:t>() method, </a:t>
            </a:r>
          </a:p>
          <a:p>
            <a:pPr marL="342900" indent="-342900">
              <a:lnSpc>
                <a:spcPct val="150000"/>
              </a:lnSpc>
              <a:buFont typeface="Arial" panose="020B0604020202020204" pitchFamily="34" charset="0"/>
              <a:buChar char="•"/>
            </a:pPr>
            <a:r>
              <a:rPr lang="en-US" sz="2000" dirty="0">
                <a:solidFill>
                  <a:srgbClr val="595959"/>
                </a:solidFill>
                <a:latin typeface="微软雅黑" panose="020B0503020204020204" pitchFamily="34" charset="-122"/>
                <a:ea typeface="微软雅黑" panose="020B0503020204020204" pitchFamily="34" charset="-122"/>
              </a:rPr>
              <a:t>after the call is finished, it does some follow-up work.</a:t>
            </a:r>
          </a:p>
        </p:txBody>
      </p:sp>
      <p:sp>
        <p:nvSpPr>
          <p:cNvPr id="31" name="Title 1">
            <a:extLst>
              <a:ext uri="{FF2B5EF4-FFF2-40B4-BE49-F238E27FC236}">
                <a16:creationId xmlns:a16="http://schemas.microsoft.com/office/drawing/2014/main" id="{B63FE2DD-5B3D-739B-EF1C-A3D9B896CA33}"/>
              </a:ext>
            </a:extLst>
          </p:cNvPr>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8054433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 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914" y="2469239"/>
            <a:ext cx="6092388" cy="476905"/>
            <a:chOff x="852276" y="1797999"/>
            <a:chExt cx="2780020" cy="476905"/>
          </a:xfrm>
        </p:grpSpPr>
        <p:sp>
          <p:nvSpPr>
            <p:cNvPr id="8"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the project and dependencies</a:t>
              </a:r>
            </a:p>
          </p:txBody>
        </p:sp>
      </p:grpSp>
      <p:sp>
        <p:nvSpPr>
          <p:cNvPr id="5" name="文本框 4"/>
          <p:cNvSpPr txBox="1"/>
          <p:nvPr>
            <p:custDataLst>
              <p:tags r:id="rId2"/>
            </p:custDataLst>
          </p:nvPr>
        </p:nvSpPr>
        <p:spPr>
          <a:xfrm>
            <a:off x="993775" y="3246755"/>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Maven project named chapter03 in IDEA, and then introduce Spring's core dependencies in the project's pom.xml file.</a:t>
            </a:r>
          </a:p>
        </p:txBody>
      </p:sp>
      <p:sp>
        <p:nvSpPr>
          <p:cNvPr id="7" name="文本框 6"/>
          <p:cNvSpPr txBox="1"/>
          <p:nvPr>
            <p:custDataLst>
              <p:tags r:id="rId3"/>
            </p:custDataLst>
          </p:nvPr>
        </p:nvSpPr>
        <p:spPr>
          <a:xfrm>
            <a:off x="982980" y="1125220"/>
            <a:ext cx="1029589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implementation process of JDK dynamic proxy in Spring through a case.</a:t>
            </a:r>
            <a:endPar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6956484"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 Create the interface and the implementation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422798" y="3904619"/>
            <a:ext cx="2232248" cy="2232248"/>
          </a:xfrm>
          <a:prstGeom prst="rect">
            <a:avLst/>
          </a:prstGeom>
        </p:spPr>
      </p:pic>
      <p:grpSp>
        <p:nvGrpSpPr>
          <p:cNvPr id="10" name="组合 9"/>
          <p:cNvGrpSpPr/>
          <p:nvPr/>
        </p:nvGrpSpPr>
        <p:grpSpPr>
          <a:xfrm>
            <a:off x="6527254" y="397315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3-1 UserDao.java</a:t>
                </a:r>
              </a:p>
              <a:p>
                <a:pPr algn="ctr"/>
                <a:r>
                  <a:rPr sz="1800" dirty="0">
                    <a:sym typeface="+mn-ea"/>
                  </a:rPr>
                  <a:t>File 3-2 UserDaoImpl.java</a:t>
                </a: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866914" y="1573365"/>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com.itheima.dao package under chapter03 project, create the UserDao interface under this package, and write the methods for adding and removing in this interface. Create the UserDao interface implementation class UserDaoImpl under the com.itheima.dao package, and add an output statement in the method overriding the interface, as shown in files 3-1 and 3-2.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522064"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Create the aspect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3-3</a:t>
                </a:r>
              </a:p>
              <a:p>
                <a:pPr algn="ctr"/>
                <a:r>
                  <a:rPr sz="1800">
                    <a:sym typeface="+mn-ea"/>
                    <a:hlinkClick r:id="rId13"/>
                  </a:rPr>
                  <a:t>MyAspect.java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47260" y="1606519"/>
            <a:ext cx="10476537" cy="2019808"/>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com.itheima.aspect package under chapter03 project and create the aspect class MyAspect under that package, defining a method to simulate permission checking and a method to simulate logging as notifications in the aspect, as shown in file 3-3.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3788132"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Create the agent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422798" y="3521446"/>
            <a:ext cx="2232248" cy="2232248"/>
          </a:xfrm>
          <a:prstGeom prst="rect">
            <a:avLst/>
          </a:prstGeom>
        </p:spPr>
      </p:pic>
      <p:grpSp>
        <p:nvGrpSpPr>
          <p:cNvPr id="10" name="组合 9"/>
          <p:cNvGrpSpPr/>
          <p:nvPr/>
        </p:nvGrpSpPr>
        <p:grpSpPr>
          <a:xfrm>
            <a:off x="5885388" y="3623975"/>
            <a:ext cx="4098250" cy="2542123"/>
            <a:chOff x="5974998" y="3749070"/>
            <a:chExt cx="4098250" cy="2542123"/>
          </a:xfrm>
        </p:grpSpPr>
        <p:grpSp>
          <p:nvGrpSpPr>
            <p:cNvPr id="14" name="组合 13"/>
            <p:cNvGrpSpPr/>
            <p:nvPr/>
          </p:nvGrpSpPr>
          <p:grpSpPr>
            <a:xfrm>
              <a:off x="5974998" y="3749070"/>
              <a:ext cx="4073003" cy="2163715"/>
              <a:chOff x="5974998" y="3749070"/>
              <a:chExt cx="4073003" cy="2163715"/>
            </a:xfrm>
          </p:grpSpPr>
          <p:sp>
            <p:nvSpPr>
              <p:cNvPr id="16" name="文本框 15"/>
              <p:cNvSpPr txBox="1"/>
              <p:nvPr>
                <p:custDataLst>
                  <p:tags r:id="rId5"/>
                </p:custDataLst>
              </p:nvPr>
            </p:nvSpPr>
            <p:spPr>
              <a:xfrm>
                <a:off x="6323613" y="4496465"/>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3-4</a:t>
                </a:r>
              </a:p>
              <a:p>
                <a:pPr algn="ctr"/>
                <a:r>
                  <a:rPr sz="1800">
                    <a:sym typeface="+mn-ea"/>
                    <a:hlinkClick r:id="rId13"/>
                  </a:rPr>
                  <a:t>JdkProxy.java</a:t>
                </a:r>
                <a:endParaRPr sz="1800">
                  <a:sym typeface="+mn-ea"/>
                </a:endParaRPr>
              </a:p>
            </p:txBody>
          </p:sp>
          <p:sp>
            <p:nvSpPr>
              <p:cNvPr id="17" name="圆角矩形 16"/>
              <p:cNvSpPr/>
              <p:nvPr>
                <p:custDataLst>
                  <p:tags r:id="rId6"/>
                </p:custDataLst>
              </p:nvPr>
            </p:nvSpPr>
            <p:spPr>
              <a:xfrm>
                <a:off x="5974999" y="3755029"/>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974998" y="3749070"/>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58848" y="5376793"/>
              <a:ext cx="914400" cy="914400"/>
            </a:xfrm>
            <a:prstGeom prst="rect">
              <a:avLst/>
            </a:prstGeom>
          </p:spPr>
        </p:pic>
      </p:grpSp>
      <p:sp>
        <p:nvSpPr>
          <p:cNvPr id="11" name="文本框 10"/>
          <p:cNvSpPr txBox="1"/>
          <p:nvPr>
            <p:custDataLst>
              <p:tags r:id="rId3"/>
            </p:custDataLst>
          </p:nvPr>
        </p:nvSpPr>
        <p:spPr>
          <a:xfrm>
            <a:off x="866914" y="1509982"/>
            <a:ext cx="10628892"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com.itheima.proxy package under chapter03 project, create the Proxy class JdkProxy that implements the InvocationHandler interface under this package, write proxy methods within the proxy class, and implement dynamic proxy through the proxy class within the proxy methods As shown in File 3-4.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076164"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(5) Create the test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714165" y="3636913"/>
            <a:ext cx="2232248" cy="2232248"/>
          </a:xfrm>
          <a:prstGeom prst="rect">
            <a:avLst/>
          </a:prstGeom>
        </p:spPr>
      </p:pic>
      <p:grpSp>
        <p:nvGrpSpPr>
          <p:cNvPr id="10" name="组合 9"/>
          <p:cNvGrpSpPr/>
          <p:nvPr/>
        </p:nvGrpSpPr>
        <p:grpSpPr>
          <a:xfrm>
            <a:off x="5741372" y="3717826"/>
            <a:ext cx="4098250" cy="2542123"/>
            <a:chOff x="5830982" y="3842921"/>
            <a:chExt cx="4098250" cy="2542123"/>
          </a:xfrm>
        </p:grpSpPr>
        <p:grpSp>
          <p:nvGrpSpPr>
            <p:cNvPr id="14" name="组合 13"/>
            <p:cNvGrpSpPr/>
            <p:nvPr/>
          </p:nvGrpSpPr>
          <p:grpSpPr>
            <a:xfrm>
              <a:off x="5830982" y="3842921"/>
              <a:ext cx="4073003" cy="2163715"/>
              <a:chOff x="5830982" y="3842921"/>
              <a:chExt cx="4073003" cy="2163715"/>
            </a:xfrm>
          </p:grpSpPr>
          <p:sp>
            <p:nvSpPr>
              <p:cNvPr id="16" name="文本框 15"/>
              <p:cNvSpPr txBox="1"/>
              <p:nvPr>
                <p:custDataLst>
                  <p:tags r:id="rId5"/>
                </p:custDataLst>
              </p:nvPr>
            </p:nvSpPr>
            <p:spPr>
              <a:xfrm>
                <a:off x="6179597" y="4590316"/>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3-5</a:t>
                </a:r>
              </a:p>
              <a:p>
                <a:pPr algn="ctr"/>
                <a:r>
                  <a:rPr sz="1800">
                    <a:sym typeface="+mn-ea"/>
                    <a:hlinkClick r:id="rId13"/>
                  </a:rPr>
                  <a:t>JdkTest.java</a:t>
                </a:r>
                <a:endParaRPr sz="1800">
                  <a:sym typeface="+mn-ea"/>
                </a:endParaRPr>
              </a:p>
            </p:txBody>
          </p:sp>
          <p:sp>
            <p:nvSpPr>
              <p:cNvPr id="17" name="圆角矩形 16"/>
              <p:cNvSpPr/>
              <p:nvPr>
                <p:custDataLst>
                  <p:tags r:id="rId6"/>
                </p:custDataLst>
              </p:nvPr>
            </p:nvSpPr>
            <p:spPr>
              <a:xfrm>
                <a:off x="5830983" y="3848880"/>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830982" y="3842921"/>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14832" y="5470644"/>
              <a:ext cx="914400" cy="914400"/>
            </a:xfrm>
            <a:prstGeom prst="rect">
              <a:avLst/>
            </a:prstGeom>
          </p:spPr>
        </p:pic>
      </p:grpSp>
      <p:sp>
        <p:nvSpPr>
          <p:cNvPr id="11" name="文本框 10"/>
          <p:cNvSpPr txBox="1"/>
          <p:nvPr>
            <p:custDataLst>
              <p:tags r:id="rId3"/>
            </p:custDataLst>
          </p:nvPr>
        </p:nvSpPr>
        <p:spPr>
          <a:xfrm>
            <a:off x="947260" y="1595123"/>
            <a:ext cx="10332521"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JdkTest in the com.itheima package of the project. Create the proxy class object and the target object in the main() method of this class, then obtain the proxy object enhanced to the target object userDao, and finally call the add user and remove user methods in that object, as shown in file 3-5.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JDK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3644116"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(6) Test results</a:t>
              </a:r>
            </a:p>
          </p:txBody>
        </p:sp>
      </p:grpSp>
      <p:sp>
        <p:nvSpPr>
          <p:cNvPr id="5" name="文本框 4"/>
          <p:cNvSpPr txBox="1"/>
          <p:nvPr>
            <p:custDataLst>
              <p:tags r:id="rId2"/>
            </p:custDataLst>
          </p:nvPr>
        </p:nvSpPr>
        <p:spPr>
          <a:xfrm>
            <a:off x="947261" y="1769695"/>
            <a:ext cx="10295890" cy="506730"/>
          </a:xfrm>
          <a:prstGeom prst="rect">
            <a:avLst/>
          </a:prstGeom>
          <a:noFill/>
          <a:ln w="9525">
            <a:noFill/>
          </a:ln>
        </p:spPr>
        <p:txBody>
          <a:bodyPr wrap="square">
            <a:normAutofit fontScale="97500"/>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file 3-5, and the results are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2147482614"/>
          <p:cNvPicPr>
            <a:picLocks noChangeAspect="1"/>
          </p:cNvPicPr>
          <p:nvPr>
            <p:custDataLst>
              <p:tags r:id="rId3"/>
            </p:custDataLst>
          </p:nvPr>
        </p:nvPicPr>
        <p:blipFill>
          <a:blip r:embed="rId8"/>
          <a:stretch>
            <a:fillRect/>
          </a:stretch>
        </p:blipFill>
        <p:spPr>
          <a:xfrm>
            <a:off x="3862958" y="2463322"/>
            <a:ext cx="4464496" cy="4107336"/>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 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067567" y="2866926"/>
            <a:ext cx="6194158" cy="1869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Familiarize yourself with CGLIB dynamic proxy and implement cases of CGLIB dynamic proxy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745797" y="1410970"/>
            <a:ext cx="10698817" cy="4675823"/>
          </a:xfrm>
          <a:prstGeom prst="rect">
            <a:avLst/>
          </a:prstGeom>
          <a:noFill/>
        </p:spPr>
        <p:txBody>
          <a:bodyPr wrap="square" lIns="0" tIns="0" rIns="0" bIns="0" rtlCol="0">
            <a:noAutofit/>
          </a:bodyPr>
          <a:lstStyle/>
          <a:p>
            <a:pPr algn="just">
              <a:lnSpc>
                <a:spcPct val="150000"/>
              </a:lnSpc>
              <a:buClrTx/>
              <a:buSzTx/>
              <a:buFontTx/>
            </a:pPr>
            <a:r>
              <a:rPr sz="2000" dirty="0">
                <a:solidFill>
                  <a:schemeClr val="accent4">
                    <a:lumMod val="50000"/>
                  </a:schemeClr>
                </a:solidFill>
                <a:latin typeface="微软雅黑" panose="020B0503020204020204" pitchFamily="34" charset="-122"/>
                <a:ea typeface="微软雅黑" panose="020B0503020204020204" pitchFamily="34" charset="-122"/>
                <a:cs typeface="+mn-ea"/>
                <a:sym typeface="+mn-lt"/>
              </a:rPr>
              <a:t>The use of JDK dynamic proxy is very simple, </a:t>
            </a:r>
            <a:r>
              <a:rPr sz="2000" dirty="0">
                <a:solidFill>
                  <a:srgbClr val="0070C0"/>
                </a:solidFill>
                <a:latin typeface="微软雅黑" panose="020B0503020204020204" pitchFamily="34" charset="-122"/>
                <a:ea typeface="微软雅黑" panose="020B0503020204020204" pitchFamily="34" charset="-122"/>
                <a:cs typeface="+mn-ea"/>
                <a:sym typeface="+mn-lt"/>
              </a:rPr>
              <a:t>but it has certain limitations - objects using dynamic proxy must implement one or more interfaces. </a:t>
            </a:r>
            <a:r>
              <a:rPr sz="2000" dirty="0">
                <a:solidFill>
                  <a:schemeClr val="accent4">
                    <a:lumMod val="50000"/>
                  </a:schemeClr>
                </a:solidFill>
                <a:latin typeface="微软雅黑" panose="020B0503020204020204" pitchFamily="34" charset="-122"/>
                <a:ea typeface="微软雅黑" panose="020B0503020204020204" pitchFamily="34" charset="-122"/>
                <a:cs typeface="+mn-ea"/>
                <a:sym typeface="+mn-lt"/>
              </a:rPr>
              <a:t>If you want to proxy a class that doesn't implement an interface, you can use a </a:t>
            </a:r>
            <a:r>
              <a:rPr sz="2000" dirty="0">
                <a:solidFill>
                  <a:srgbClr val="0070C0"/>
                </a:solidFill>
                <a:latin typeface="微软雅黑" panose="020B0503020204020204" pitchFamily="34" charset="-122"/>
                <a:ea typeface="微软雅黑" panose="020B0503020204020204" pitchFamily="34" charset="-122"/>
                <a:cs typeface="+mn-ea"/>
                <a:sym typeface="+mn-lt"/>
              </a:rPr>
              <a:t>CGLIB dynamic proxy.</a:t>
            </a:r>
            <a:endParaRPr lang="en-US" altLang="zh-CN" sz="2000" dirty="0" err="1">
              <a:solidFill>
                <a:srgbClr val="0070C0"/>
              </a:solidFill>
              <a:latin typeface="微软雅黑" panose="020B0503020204020204" pitchFamily="34" charset="-122"/>
              <a:ea typeface="微软雅黑" panose="020B0503020204020204" pitchFamily="34" charset="-122"/>
              <a:cs typeface="+mn-ea"/>
              <a:sym typeface="+mn-lt"/>
            </a:endParaRPr>
          </a:p>
          <a:p>
            <a:pPr algn="just">
              <a:lnSpc>
                <a:spcPct val="150000"/>
              </a:lnSpc>
              <a:buClrTx/>
              <a:buSzTx/>
              <a:buFontTx/>
            </a:pPr>
            <a:r>
              <a:rPr sz="2000" dirty="0">
                <a:solidFill>
                  <a:srgbClr val="0070C0"/>
                </a:solidFill>
                <a:latin typeface="微软雅黑" panose="020B0503020204020204" pitchFamily="34" charset="-122"/>
                <a:ea typeface="微软雅黑" panose="020B0503020204020204" pitchFamily="34" charset="-122"/>
                <a:cs typeface="+mn-ea"/>
                <a:sym typeface="+mn-lt"/>
              </a:rPr>
              <a:t>CGLIB (Code Generation Library, code generation library) is a high-performance open-source code generation package that extends Java classes and implements interfaces at runtime.</a:t>
            </a:r>
            <a:r>
              <a:rPr sz="2000" dirty="0">
                <a:solidFill>
                  <a:schemeClr val="accent4">
                    <a:lumMod val="50000"/>
                  </a:schemeClr>
                </a:solidFill>
                <a:latin typeface="微软雅黑" panose="020B0503020204020204" pitchFamily="34" charset="-122"/>
                <a:ea typeface="微软雅黑" panose="020B0503020204020204" pitchFamily="34" charset="-122"/>
                <a:cs typeface="+mn-ea"/>
                <a:sym typeface="+mn-lt"/>
              </a:rPr>
              <a:t> The principle of CGLIB dynamic proxy is to </a:t>
            </a:r>
            <a:r>
              <a:rPr sz="2000" dirty="0">
                <a:solidFill>
                  <a:srgbClr val="0070C0"/>
                </a:solidFill>
                <a:latin typeface="微软雅黑" panose="020B0503020204020204" pitchFamily="34" charset="-122"/>
                <a:ea typeface="微软雅黑" panose="020B0503020204020204" pitchFamily="34" charset="-122"/>
                <a:cs typeface="+mn-ea"/>
                <a:sym typeface="+mn-lt"/>
              </a:rPr>
              <a:t>create a subclass of the target object through inheritance and override its methods, thereby enabling interceptors to enhance the target methods. </a:t>
            </a:r>
            <a:r>
              <a:rPr sz="2000" dirty="0">
                <a:solidFill>
                  <a:srgbClr val="0070C0"/>
                </a:solidFill>
                <a:highlight>
                  <a:srgbClr val="FFFF00"/>
                </a:highlight>
                <a:latin typeface="微软雅黑" panose="020B0503020204020204" pitchFamily="34" charset="-122"/>
                <a:ea typeface="微软雅黑" panose="020B0503020204020204" pitchFamily="34" charset="-122"/>
                <a:cs typeface="+mn-ea"/>
                <a:sym typeface="+mn-lt"/>
              </a:rPr>
              <a:t>CGLIB proxy classes are created relatively slowly compared to JDK dynamic proxies, but they execute faster at runtime than JDK dynamic proxies and do not require the target object to implement the interface.</a:t>
            </a:r>
            <a:endParaRPr lang="en-US" altLang="zh-CN" sz="2000" dirty="0" err="1">
              <a:solidFill>
                <a:srgbClr val="0070C0"/>
              </a:solidFill>
              <a:highlight>
                <a:srgbClr val="FFFF00"/>
              </a:highlight>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942181" y="1701602"/>
            <a:ext cx="10306050" cy="3672408"/>
          </a:xfrm>
          <a:prstGeom prst="rect">
            <a:avLst/>
          </a:prstGeom>
          <a:noFill/>
        </p:spPr>
        <p:txBody>
          <a:bodyPr wrap="square" lIns="0" tIns="0" rIns="0" bIns="0" rtlCol="0">
            <a:noAutofit/>
          </a:bodyPr>
          <a:lstStyle/>
          <a:p>
            <a:pPr algn="just">
              <a:lnSpc>
                <a:spcPct val="150000"/>
              </a:lnSpc>
              <a:buClrTx/>
              <a:buSzTx/>
              <a:buFontTx/>
            </a:pPr>
            <a:r>
              <a:rPr dirty="0">
                <a:solidFill>
                  <a:schemeClr val="accent4">
                    <a:lumMod val="75000"/>
                  </a:schemeClr>
                </a:solidFill>
                <a:latin typeface="微软雅黑" panose="020B0503020204020204" pitchFamily="34" charset="-122"/>
                <a:ea typeface="微软雅黑" panose="020B0503020204020204" pitchFamily="34" charset="-122"/>
                <a:cs typeface="+mn-ea"/>
                <a:sym typeface="+mn-lt"/>
              </a:rPr>
              <a:t>CGLIB provides an interceptor interface called </a:t>
            </a:r>
            <a:r>
              <a:rPr dirty="0">
                <a:solidFill>
                  <a:srgbClr val="0070C0"/>
                </a:solidFill>
                <a:latin typeface="微软雅黑" panose="020B0503020204020204" pitchFamily="34" charset="-122"/>
                <a:ea typeface="微软雅黑" panose="020B0503020204020204" pitchFamily="34" charset="-122"/>
                <a:cs typeface="+mn-ea"/>
                <a:sym typeface="+mn-lt"/>
              </a:rPr>
              <a:t>MethodInterceptor,</a:t>
            </a:r>
            <a:r>
              <a:rPr dirty="0">
                <a:solidFill>
                  <a:schemeClr val="accent4">
                    <a:lumMod val="75000"/>
                  </a:schemeClr>
                </a:solidFill>
                <a:latin typeface="微软雅黑" panose="020B0503020204020204" pitchFamily="34" charset="-122"/>
                <a:ea typeface="微软雅黑" panose="020B0503020204020204" pitchFamily="34" charset="-122"/>
                <a:cs typeface="+mn-ea"/>
                <a:sym typeface="+mn-lt"/>
              </a:rPr>
              <a:t> in which an </a:t>
            </a:r>
            <a:r>
              <a:rPr dirty="0">
                <a:solidFill>
                  <a:srgbClr val="0070C0"/>
                </a:solidFill>
                <a:latin typeface="微软雅黑" panose="020B0503020204020204" pitchFamily="34" charset="-122"/>
                <a:ea typeface="微软雅黑" panose="020B0503020204020204" pitchFamily="34" charset="-122"/>
                <a:cs typeface="+mn-ea"/>
                <a:sym typeface="+mn-lt"/>
              </a:rPr>
              <a:t>intercept() </a:t>
            </a:r>
            <a:r>
              <a:rPr dirty="0">
                <a:solidFill>
                  <a:schemeClr val="accent4">
                    <a:lumMod val="75000"/>
                  </a:schemeClr>
                </a:solidFill>
                <a:latin typeface="微软雅黑" panose="020B0503020204020204" pitchFamily="34" charset="-122"/>
                <a:ea typeface="微软雅黑" panose="020B0503020204020204" pitchFamily="34" charset="-122"/>
                <a:cs typeface="+mn-ea"/>
                <a:sym typeface="+mn-lt"/>
              </a:rPr>
              <a:t>method is defined to intercept calls to target object methods. When using CGLIB dynamic proxy, the proxy class needs to implement the MethodInterceptor interface and write </a:t>
            </a:r>
            <a:r>
              <a:rPr dirty="0">
                <a:solidFill>
                  <a:srgbClr val="0070C0"/>
                </a:solidFill>
                <a:latin typeface="微软雅黑" panose="020B0503020204020204" pitchFamily="34" charset="-122"/>
                <a:ea typeface="微软雅黑" panose="020B0503020204020204" pitchFamily="34" charset="-122"/>
                <a:cs typeface="+mn-ea"/>
                <a:sym typeface="+mn-lt"/>
              </a:rPr>
              <a:t>custom logic in the overridden intercept () method to implement enhanced or interception handling of the target method.</a:t>
            </a:r>
            <a:endParaRPr lang="en-US" altLang="zh-CN" dirty="0" err="1">
              <a:solidFill>
                <a:srgbClr val="0070C0"/>
              </a:solidFill>
              <a:latin typeface="微软雅黑" panose="020B0503020204020204" pitchFamily="34" charset="-122"/>
              <a:ea typeface="微软雅黑" panose="020B0503020204020204" pitchFamily="34" charset="-122"/>
              <a:cs typeface="+mn-ea"/>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 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 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866913" y="815911"/>
            <a:ext cx="10422751"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implementation process of a CGLIB dynamic proxy through a case as follows.</a:t>
            </a:r>
          </a:p>
        </p:txBody>
      </p:sp>
      <p:grpSp>
        <p:nvGrpSpPr>
          <p:cNvPr id="2" name="组合 1"/>
          <p:cNvGrpSpPr/>
          <p:nvPr/>
        </p:nvGrpSpPr>
        <p:grpSpPr>
          <a:xfrm>
            <a:off x="861699" y="1837035"/>
            <a:ext cx="4292188" cy="476905"/>
            <a:chOff x="852276" y="1797999"/>
            <a:chExt cx="2780020" cy="476905"/>
          </a:xfrm>
        </p:grpSpPr>
        <p:sp>
          <p:nvSpPr>
            <p:cNvPr id="3" name="矩形: 圆角 6"/>
            <p:cNvSpPr/>
            <p:nvPr>
              <p:custDataLst>
                <p:tags r:id="rId9"/>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10"/>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the target class</a:t>
              </a:r>
            </a:p>
          </p:txBody>
        </p:sp>
      </p:grpSp>
      <p:pic>
        <p:nvPicPr>
          <p:cNvPr id="12" name="图片 11" descr="图片包含 形状  描述已自动生成"/>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501461" y="3839558"/>
            <a:ext cx="2232248" cy="2232248"/>
          </a:xfrm>
          <a:prstGeom prst="rect">
            <a:avLst/>
          </a:prstGeom>
        </p:spPr>
      </p:pic>
      <p:grpSp>
        <p:nvGrpSpPr>
          <p:cNvPr id="10" name="组合 9"/>
          <p:cNvGrpSpPr/>
          <p:nvPr/>
        </p:nvGrpSpPr>
        <p:grpSpPr>
          <a:xfrm>
            <a:off x="5671205" y="3826228"/>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Files 3-6</a:t>
                </a:r>
              </a:p>
              <a:p>
                <a:pPr algn="ctr"/>
                <a:r>
                  <a:rPr sz="1800">
                    <a:sym typeface="+mn-ea"/>
                    <a:hlinkClick r:id="rId14"/>
                  </a:rPr>
                  <a:t>OrderDao.java</a:t>
                </a:r>
                <a:endParaRPr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1" name="文本框 10"/>
          <p:cNvSpPr txBox="1"/>
          <p:nvPr>
            <p:custDataLst>
              <p:tags r:id="rId4"/>
            </p:custDataLst>
          </p:nvPr>
        </p:nvSpPr>
        <p:spPr>
          <a:xfrm>
            <a:off x="993775" y="2313940"/>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target class OrderDao in the com.itheima.dao package of the project, and define a method to add an order and a method to remove an order in this class, as shown in File 3-6.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652228"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Create the proxy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3-7</a:t>
                </a:r>
              </a:p>
              <a:p>
                <a:pPr algn="ctr"/>
                <a:r>
                  <a:rPr sz="1800">
                    <a:sym typeface="+mn-ea"/>
                    <a:hlinkClick r:id="rId13"/>
                  </a:rPr>
                  <a:t>CglibProxy.java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47261" y="1675660"/>
            <a:ext cx="10295890" cy="1394093"/>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com.itheima.proxy package, create the proxy class CglibProxy, which implements the MethodInterceptor interface, and write enhanced logic code in the intercept() method that overwrites the interface, as shown in file 3-7.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4364196" cy="476905"/>
            <a:chOff x="852276" y="1797999"/>
            <a:chExt cx="2780020" cy="476905"/>
          </a:xfrm>
        </p:grpSpPr>
        <p:sp>
          <p:nvSpPr>
            <p:cNvPr id="3"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Create the test class</a:t>
              </a:r>
            </a:p>
          </p:txBody>
        </p:sp>
      </p:grpSp>
      <p:pic>
        <p:nvPicPr>
          <p:cNvPr id="12" name="图片 11"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548504" y="3551771"/>
            <a:ext cx="2232248" cy="2232248"/>
          </a:xfrm>
          <a:prstGeom prst="rect">
            <a:avLst/>
          </a:prstGeom>
        </p:spPr>
      </p:pic>
      <p:grpSp>
        <p:nvGrpSpPr>
          <p:cNvPr id="10" name="组合 9"/>
          <p:cNvGrpSpPr/>
          <p:nvPr/>
        </p:nvGrpSpPr>
        <p:grpSpPr>
          <a:xfrm>
            <a:off x="6024061" y="3789834"/>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3-8</a:t>
                </a:r>
              </a:p>
              <a:p>
                <a:pPr algn="ctr"/>
                <a:r>
                  <a:rPr sz="1800">
                    <a:sym typeface="+mn-ea"/>
                    <a:hlinkClick r:id="rId13"/>
                  </a:rPr>
                  <a:t>CglibTest.java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1" name="文本框 10"/>
          <p:cNvSpPr txBox="1"/>
          <p:nvPr>
            <p:custDataLst>
              <p:tags r:id="rId3"/>
            </p:custDataLst>
          </p:nvPr>
        </p:nvSpPr>
        <p:spPr>
          <a:xfrm>
            <a:off x="947261" y="1573365"/>
            <a:ext cx="10295890" cy="1856429"/>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CglibTest in the com.itheima package. In the main() method of this class, first create the proxy class object and the target object, then obtain the proxy object enhanced with the target object, and finally call the add order and remove order methods of the proxy object, as shown in file 3-8.</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CGLIB Dynamic proxy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05894"/>
            <a:ext cx="3125014" cy="476905"/>
            <a:chOff x="852276" y="1797999"/>
            <a:chExt cx="2780020" cy="476905"/>
          </a:xfrm>
        </p:grpSpPr>
        <p:sp>
          <p:nvSpPr>
            <p:cNvPr id="3"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5"/>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Test the results</a:t>
              </a:r>
            </a:p>
          </p:txBody>
        </p:sp>
      </p:grpSp>
      <p:sp>
        <p:nvSpPr>
          <p:cNvPr id="11" name="文本框 10"/>
          <p:cNvSpPr txBox="1"/>
          <p:nvPr>
            <p:custDataLst>
              <p:tags r:id="rId2"/>
            </p:custDataLst>
          </p:nvPr>
        </p:nvSpPr>
        <p:spPr>
          <a:xfrm>
            <a:off x="946842" y="1677773"/>
            <a:ext cx="10295890" cy="506730"/>
          </a:xfrm>
          <a:prstGeom prst="rect">
            <a:avLst/>
          </a:prstGeom>
          <a:noFill/>
          <a:ln w="9525">
            <a:noFill/>
          </a:ln>
        </p:spPr>
        <p:txBody>
          <a:bodyPr wrap="square">
            <a:normAutofit fontScale="96920"/>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files 3-8, and the results are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147482613"/>
          <p:cNvPicPr>
            <a:picLocks noChangeAspect="1"/>
          </p:cNvPicPr>
          <p:nvPr>
            <p:custDataLst>
              <p:tags r:id="rId3"/>
            </p:custDataLst>
          </p:nvPr>
        </p:nvPicPr>
        <p:blipFill>
          <a:blip r:embed="rId8"/>
          <a:stretch>
            <a:fillRect/>
          </a:stretch>
        </p:blipFill>
        <p:spPr>
          <a:xfrm>
            <a:off x="3754527" y="2312238"/>
            <a:ext cx="4680520" cy="4126611"/>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740" y="2727325"/>
            <a:ext cx="6625590" cy="1445260"/>
          </a:xfrm>
          <a:prstGeom prst="rect">
            <a:avLst/>
          </a:prstGeom>
          <a:noFill/>
        </p:spPr>
        <p:txBody>
          <a:bodyPr wrap="square" lIns="91443" tIns="45720" rIns="91443" bIns="45720" rtlCol="0">
            <a:normAutofit fontScale="85384"/>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AOP integrates the implementation of AspectJ</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3.3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94880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 Spring AOP integrates implementations of AspectJ</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701602"/>
            <a:ext cx="10335895" cy="3903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a:solidFill>
                  <a:schemeClr val="accent5">
                    <a:lumMod val="50000"/>
                  </a:schemeClr>
                </a:solidFill>
                <a:latin typeface="微软雅黑" panose="020B0503020204020204" pitchFamily="34" charset="-122"/>
                <a:ea typeface="微软雅黑" panose="020B0503020204020204" pitchFamily="34" charset="-122"/>
                <a:cs typeface="+mn-ea"/>
              </a:rPr>
              <a:t>Spring AOP is a simplified version of the AOP component provided by the Spring framework that offers the basic AOP functionality but may have some limitations in some complex cases. To make up for these limitations, developers often combine </a:t>
            </a:r>
            <a:r>
              <a:rPr lang="zh-CN" altLang="en-US" sz="2000" dirty="0">
                <a:solidFill>
                  <a:srgbClr val="0070C0"/>
                </a:solidFill>
                <a:latin typeface="微软雅黑" panose="020B0503020204020204" pitchFamily="34" charset="-122"/>
                <a:ea typeface="微软雅黑" panose="020B0503020204020204" pitchFamily="34" charset="-122"/>
                <a:cs typeface="+mn-ea"/>
              </a:rPr>
              <a:t>Spring AOP with other AOP implementations, such as AspectJ</a:t>
            </a:r>
            <a:r>
              <a:rPr lang="zh-CN" altLang="en-US" sz="2000" dirty="0">
                <a:solidFill>
                  <a:schemeClr val="accent5">
                    <a:lumMod val="50000"/>
                  </a:schemeClr>
                </a:solidFill>
                <a:latin typeface="微软雅黑" panose="020B0503020204020204" pitchFamily="34" charset="-122"/>
                <a:ea typeface="微软雅黑" panose="020B0503020204020204" pitchFamily="34" charset="-122"/>
                <a:cs typeface="+mn-ea"/>
              </a:rPr>
              <a:t>, to meet higher-level AOP functionality requirements. In this case, the most common combination is Spring AOP integrated with AspectJ for use. When Spring AOP integrates AspectJ to implement AOP, it can be based on </a:t>
            </a:r>
            <a:r>
              <a:rPr lang="zh-CN" altLang="en-US" sz="2000" dirty="0">
                <a:solidFill>
                  <a:srgbClr val="0070C0"/>
                </a:solidFill>
                <a:latin typeface="微软雅黑" panose="020B0503020204020204" pitchFamily="34" charset="-122"/>
                <a:ea typeface="微软雅黑" panose="020B0503020204020204" pitchFamily="34" charset="-122"/>
                <a:cs typeface="+mn-ea"/>
              </a:rPr>
              <a:t>both XML and annotations. </a:t>
            </a:r>
            <a:r>
              <a:rPr lang="zh-CN" altLang="en-US" sz="2000" dirty="0">
                <a:solidFill>
                  <a:schemeClr val="accent5">
                    <a:lumMod val="50000"/>
                  </a:schemeClr>
                </a:solidFill>
                <a:latin typeface="微软雅黑" panose="020B0503020204020204" pitchFamily="34" charset="-122"/>
                <a:ea typeface="微软雅黑" panose="020B0503020204020204" pitchFamily="34" charset="-122"/>
                <a:cs typeface="+mn-ea"/>
              </a:rPr>
              <a:t>The following explains the implementation of these two types of AOP.</a:t>
            </a:r>
            <a:endParaRPr lang="zh-CN" altLang="zh-CN" sz="2000"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2" name="圆角矩形 1"/>
          <p:cNvSpPr/>
          <p:nvPr>
            <p:custDataLst>
              <p:tags r:id="rId2"/>
            </p:custDataLst>
          </p:nvPr>
        </p:nvSpPr>
        <p:spPr>
          <a:xfrm>
            <a:off x="1031240" y="1341562"/>
            <a:ext cx="10427335" cy="4392488"/>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3"/>
            </p:custDataLst>
          </p:nvPr>
        </p:nvSpPr>
        <p:spPr>
          <a:xfrm>
            <a:off x="946150" y="125426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1135678" y="5316718"/>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286119" y="2866926"/>
            <a:ext cx="5445760" cy="122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an XML-based AOP implementation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766614" y="981522"/>
            <a:ext cx="10657184" cy="1102360"/>
          </a:xfrm>
          <a:prstGeom prst="rect">
            <a:avLst/>
          </a:prstGeom>
          <a:noFill/>
        </p:spPr>
        <p:txBody>
          <a:bodyPr wrap="square" lIns="0" tIns="0" rIns="0" bIns="0" rtlCol="0">
            <a:normAutofit fontScale="89253" lnSpcReduction="20000"/>
          </a:bodyPr>
          <a:lstStyle/>
          <a:p>
            <a:pPr algn="just">
              <a:lnSpc>
                <a:spcPct val="150000"/>
              </a:lnSpc>
              <a:buClrTx/>
              <a:buSzTx/>
              <a:buFontTx/>
            </a:pPr>
            <a:r>
              <a:rPr sz="2000" dirty="0">
                <a:solidFill>
                  <a:srgbClr val="0070C0"/>
                </a:solidFill>
                <a:latin typeface="微软雅黑" panose="020B0503020204020204" pitchFamily="34" charset="-122"/>
                <a:ea typeface="微软雅黑" panose="020B0503020204020204" pitchFamily="34" charset="-122"/>
                <a:cs typeface="+mn-ea"/>
                <a:sym typeface="+mn-lt"/>
              </a:rPr>
              <a:t>When Spring AOP integrates AspectJ, an XML-based AOP implementation requires defining aspects, points, and notifications in an XML file. </a:t>
            </a:r>
            <a:r>
              <a:rPr sz="2000" dirty="0">
                <a:solidFill>
                  <a:schemeClr val="accent3">
                    <a:lumMod val="75000"/>
                  </a:schemeClr>
                </a:solidFill>
                <a:latin typeface="微软雅黑" panose="020B0503020204020204" pitchFamily="34" charset="-122"/>
                <a:ea typeface="微软雅黑" panose="020B0503020204020204" pitchFamily="34" charset="-122"/>
                <a:cs typeface="+mn-ea"/>
                <a:sym typeface="+mn-lt"/>
              </a:rPr>
              <a:t>Spring provides a series of tags for configuring aspects, points, and notifications in an XML file.</a:t>
            </a:r>
            <a:endParaRPr lang="zh-CN" altLang="en-US" sz="2000" dirty="0" err="1">
              <a:solidFill>
                <a:schemeClr val="accent3">
                  <a:lumMod val="75000"/>
                </a:schemeClr>
              </a:solidFill>
              <a:latin typeface="微软雅黑" panose="020B0503020204020204" pitchFamily="34" charset="-122"/>
              <a:ea typeface="微软雅黑" panose="020B0503020204020204" pitchFamily="34" charset="-122"/>
              <a:sym typeface="+mn-lt"/>
            </a:endParaRP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3"/>
            </p:custDataLst>
            <p:extLst>
              <p:ext uri="{D42A27DB-BD31-4B8C-83A1-F6EECF244321}">
                <p14:modId xmlns:p14="http://schemas.microsoft.com/office/powerpoint/2010/main" val="3363801684"/>
              </p:ext>
            </p:extLst>
          </p:nvPr>
        </p:nvGraphicFramePr>
        <p:xfrm>
          <a:off x="763195" y="2309778"/>
          <a:ext cx="10660603" cy="4216361"/>
        </p:xfrm>
        <a:graphic>
          <a:graphicData uri="http://schemas.openxmlformats.org/drawingml/2006/table">
            <a:tbl>
              <a:tblPr/>
              <a:tblGrid>
                <a:gridCol w="2786507">
                  <a:extLst>
                    <a:ext uri="{9D8B030D-6E8A-4147-A177-3AD203B41FA5}">
                      <a16:colId xmlns:a16="http://schemas.microsoft.com/office/drawing/2014/main" val="20000"/>
                    </a:ext>
                  </a:extLst>
                </a:gridCol>
                <a:gridCol w="7874096">
                  <a:extLst>
                    <a:ext uri="{9D8B030D-6E8A-4147-A177-3AD203B41FA5}">
                      <a16:colId xmlns:a16="http://schemas.microsoft.com/office/drawing/2014/main" val="20001"/>
                    </a:ext>
                  </a:extLst>
                </a:gridCol>
              </a:tblGrid>
              <a:tr h="549889">
                <a:tc>
                  <a:txBody>
                    <a:bodyPr/>
                    <a:lstStyle/>
                    <a:p>
                      <a:pPr indent="0" algn="ctr">
                        <a:buNone/>
                      </a:pPr>
                      <a:r>
                        <a:rPr lang="en-US" sz="2000" b="1">
                          <a:latin typeface="微软雅黑" panose="020B0503020204020204" pitchFamily="34" charset="-122"/>
                          <a:ea typeface="微软雅黑" panose="020B0503020204020204" pitchFamily="34" charset="-122"/>
                          <a:cs typeface="宋体" panose="02010600030101010101" pitchFamily="2" charset="-122"/>
                        </a:rPr>
                        <a:t>Tags</a:t>
                      </a:r>
                      <a:endParaRPr lang="en-US" altLang="en-US" sz="20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916618">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&lt;aop:config&gt;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The root tag for Spring AOP configuration, used to include other AOP-related configurations</a:t>
                      </a: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916618">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&lt;aop:aspect&gt;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the aspect, you can define the aspect class and the aspect-related notification types</a:t>
                      </a: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916618">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&lt;aop:advisor&gt;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the notificator to combine facets and points and apply them to the target object</a:t>
                      </a: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916618">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&lt;aop:pointcut&gt;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For configuring cuts, you can specify where the cuts work, that is, define the cut expression</a:t>
                      </a: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2"/>
            </p:custDataLst>
            <p:extLst>
              <p:ext uri="{D42A27DB-BD31-4B8C-83A1-F6EECF244321}">
                <p14:modId xmlns:p14="http://schemas.microsoft.com/office/powerpoint/2010/main" val="1052986691"/>
              </p:ext>
            </p:extLst>
          </p:nvPr>
        </p:nvGraphicFramePr>
        <p:xfrm>
          <a:off x="131278" y="177681"/>
          <a:ext cx="11927855" cy="6647180"/>
        </p:xfrm>
        <a:graphic>
          <a:graphicData uri="http://schemas.openxmlformats.org/drawingml/2006/table">
            <a:tbl>
              <a:tblPr/>
              <a:tblGrid>
                <a:gridCol w="1571440">
                  <a:extLst>
                    <a:ext uri="{9D8B030D-6E8A-4147-A177-3AD203B41FA5}">
                      <a16:colId xmlns:a16="http://schemas.microsoft.com/office/drawing/2014/main" val="20000"/>
                    </a:ext>
                  </a:extLst>
                </a:gridCol>
                <a:gridCol w="10356415">
                  <a:extLst>
                    <a:ext uri="{9D8B030D-6E8A-4147-A177-3AD203B41FA5}">
                      <a16:colId xmlns:a16="http://schemas.microsoft.com/office/drawing/2014/main" val="20001"/>
                    </a:ext>
                  </a:extLst>
                </a:gridCol>
              </a:tblGrid>
              <a:tr h="515620">
                <a:tc>
                  <a:txBody>
                    <a:bodyPr/>
                    <a:lstStyle/>
                    <a:p>
                      <a:pPr algn="ctr">
                        <a:buClrTx/>
                        <a:buSzTx/>
                        <a:buFontTx/>
                        <a:buNone/>
                      </a:pPr>
                      <a:r>
                        <a:rPr lang="en-US" sz="2000" b="1">
                          <a:latin typeface="微软雅黑" panose="020B0503020204020204" pitchFamily="34" charset="-122"/>
                          <a:ea typeface="微软雅黑" panose="020B0503020204020204" pitchFamily="34" charset="-122"/>
                          <a:cs typeface="宋体" panose="02010600030101010101" pitchFamily="2" charset="-122"/>
                        </a:rPr>
                        <a:t>Tags</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ctr">
                        <a:buClrTx/>
                        <a:buSzTx/>
                        <a:buFontTx/>
                        <a:buNone/>
                      </a:pPr>
                      <a:r>
                        <a:rPr lang="en-US" sz="2000" b="1">
                          <a:latin typeface="微软雅黑" panose="020B0503020204020204" pitchFamily="34" charset="-122"/>
                          <a:ea typeface="微软雅黑" panose="020B0503020204020204" pitchFamily="34" charset="-122"/>
                          <a:cs typeface="宋体" panose="02010600030101010101" pitchFamily="2" charset="-122"/>
                        </a:rPr>
                        <a:t>Description</a:t>
                      </a: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&lt;aop:before&gt;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pre-notifications to implement enhancements before the target method is executed, typically applied to permission management functionality</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&lt;aop:after&gt;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post-notifications to implement enhancements after the target method is executed, typically applied to functions such as closing streams, uploading files, deleting temporary files, etc</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&lt;aop:around&gt;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the wraparound mode to implement enhancements before and after the target method is executed, typically applied to logging, transaction management, and other functions</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&lt;aop:after-returning&gt;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the return notification, to invoke the notification after the target method has been successfully executed, typically applied to handle return values, logging, and other functions</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&lt;aop:after-throwing&gt;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configure exception throwing notifications, to implement enhancements after a method throws an exception, typically applied to features such as handling exception logging</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原创设计师QQ598969553          _3"/>
          <p:cNvSpPr/>
          <p:nvPr>
            <p:custDataLst>
              <p:tags r:id="rId2"/>
            </p:custDataLst>
          </p:nvPr>
        </p:nvSpPr>
        <p:spPr>
          <a:xfrm>
            <a:off x="766614" y="1519555"/>
            <a:ext cx="10729192" cy="4718551"/>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6"/>
          <p:cNvSpPr/>
          <p:nvPr>
            <p:custDataLst>
              <p:tags r:id="rId3"/>
            </p:custDataLst>
          </p:nvPr>
        </p:nvSpPr>
        <p:spPr>
          <a:xfrm>
            <a:off x="3927316" y="1288415"/>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custDataLst>
              <p:tags r:id="rId4"/>
            </p:custDataLst>
          </p:nvPr>
        </p:nvSpPr>
        <p:spPr>
          <a:xfrm>
            <a:off x="3927316" y="1302822"/>
            <a:ext cx="4098925" cy="398780"/>
          </a:xfrm>
          <a:prstGeom prst="rect">
            <a:avLst/>
          </a:prstGeom>
          <a:noFill/>
        </p:spPr>
        <p:txBody>
          <a:bodyPr wrap="square" rtlCol="0">
            <a:normAutofit fontScale="96666"/>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1. Configure the sectioning</a:t>
            </a:r>
          </a:p>
        </p:txBody>
      </p:sp>
      <p:sp>
        <p:nvSpPr>
          <p:cNvPr id="2" name="原创设计师QQ598969553          _4"/>
          <p:cNvSpPr/>
          <p:nvPr>
            <p:custDataLst>
              <p:tags r:id="rId5"/>
            </p:custDataLst>
          </p:nvPr>
        </p:nvSpPr>
        <p:spPr>
          <a:xfrm>
            <a:off x="1013301" y="1646582"/>
            <a:ext cx="10163809" cy="4464496"/>
          </a:xfrm>
          <a:prstGeom prst="rect">
            <a:avLst/>
          </a:prstGeom>
        </p:spPr>
        <p:txBody>
          <a:bodyPr wrap="square">
            <a:noAutofit/>
          </a:bodyPr>
          <a:lstStyle/>
          <a:p>
            <a:pPr algn="just">
              <a:lnSpc>
                <a:spcPct val="150000"/>
              </a:lnSpc>
              <a:buClrTx/>
              <a:buSzTx/>
              <a:buFontTx/>
            </a:pPr>
            <a:r>
              <a:rPr lang="en-US" altLang="zh-CN" dirty="0" err="1">
                <a:solidFill>
                  <a:srgbClr val="595959"/>
                </a:solidFill>
                <a:latin typeface="微软雅黑" panose="020B0503020204020204" pitchFamily="34" charset="-122"/>
                <a:ea typeface="微软雅黑" panose="020B0503020204020204" pitchFamily="34" charset="-122"/>
                <a:sym typeface="+mn-lt"/>
              </a:rPr>
              <a:t>In the Spring configuration file, if you want to define an aspect, you can use the </a:t>
            </a:r>
            <a:r>
              <a:rPr lang="en-US" altLang="zh-CN" dirty="0" err="1">
                <a:solidFill>
                  <a:srgbClr val="0070C0"/>
                </a:solidFill>
                <a:latin typeface="微软雅黑" panose="020B0503020204020204" pitchFamily="34" charset="-122"/>
                <a:ea typeface="微软雅黑" panose="020B0503020204020204" pitchFamily="34" charset="-122"/>
                <a:sym typeface="+mn-lt"/>
              </a:rPr>
              <a:t>&lt;aop:aspect&gt; </a:t>
            </a:r>
            <a:r>
              <a:rPr lang="en-US" altLang="zh-CN" dirty="0" err="1">
                <a:solidFill>
                  <a:srgbClr val="595959"/>
                </a:solidFill>
                <a:latin typeface="微软雅黑" panose="020B0503020204020204" pitchFamily="34" charset="-122"/>
                <a:ea typeface="微软雅黑" panose="020B0503020204020204" pitchFamily="34" charset="-122"/>
                <a:sym typeface="+mn-lt"/>
              </a:rPr>
              <a:t>tag, which converts a defined Spring Bean into an </a:t>
            </a:r>
            <a:r>
              <a:rPr lang="en-US" altLang="zh-CN" dirty="0" err="1">
                <a:solidFill>
                  <a:srgbClr val="0070C0"/>
                </a:solidFill>
                <a:latin typeface="微软雅黑" panose="020B0503020204020204" pitchFamily="34" charset="-122"/>
                <a:ea typeface="微软雅黑" panose="020B0503020204020204" pitchFamily="34" charset="-122"/>
                <a:sym typeface="+mn-lt"/>
              </a:rPr>
              <a:t>aspect Bean </a:t>
            </a:r>
            <a:r>
              <a:rPr lang="en-US" altLang="zh-CN" dirty="0" err="1">
                <a:solidFill>
                  <a:srgbClr val="595959"/>
                </a:solidFill>
                <a:latin typeface="微软雅黑" panose="020B0503020204020204" pitchFamily="34" charset="-122"/>
                <a:ea typeface="微软雅黑" panose="020B0503020204020204" pitchFamily="34" charset="-122"/>
                <a:sym typeface="+mn-lt"/>
              </a:rPr>
              <a:t>and </a:t>
            </a:r>
            <a:r>
              <a:rPr lang="en-US" altLang="zh-CN" dirty="0" err="1">
                <a:solidFill>
                  <a:srgbClr val="0070C0"/>
                </a:solidFill>
                <a:latin typeface="微软雅黑" panose="020B0503020204020204" pitchFamily="34" charset="-122"/>
                <a:ea typeface="微软雅黑" panose="020B0503020204020204" pitchFamily="34" charset="-122"/>
                <a:sym typeface="+mn-lt"/>
              </a:rPr>
              <a:t>weaves it onto the methods of the target object. </a:t>
            </a:r>
            <a:r>
              <a:rPr lang="en-US" altLang="zh-CN" dirty="0" err="1">
                <a:solidFill>
                  <a:srgbClr val="595959"/>
                </a:solidFill>
                <a:latin typeface="微软雅黑" panose="020B0503020204020204" pitchFamily="34" charset="-122"/>
                <a:ea typeface="微软雅黑" panose="020B0503020204020204" pitchFamily="34" charset="-122"/>
                <a:sym typeface="+mn-lt"/>
              </a:rPr>
              <a:t>Therefore, before using the &lt;aop:aspect&gt; tag, you need to define a regular Spring Bean in the configuration file first.</a:t>
            </a:r>
          </a:p>
          <a:p>
            <a:pPr algn="just">
              <a:lnSpc>
                <a:spcPct val="150000"/>
              </a:lnSpc>
              <a:buClrTx/>
              <a:buSzTx/>
              <a:buFontTx/>
            </a:pPr>
            <a:r>
              <a:rPr lang="en-US" altLang="zh-CN" dirty="0" err="1">
                <a:solidFill>
                  <a:srgbClr val="595959"/>
                </a:solidFill>
                <a:latin typeface="微软雅黑" panose="020B0503020204020204" pitchFamily="34" charset="-122"/>
                <a:ea typeface="微软雅黑" panose="020B0503020204020204" pitchFamily="34" charset="-122"/>
                <a:sym typeface="+mn-lt"/>
              </a:rPr>
              <a:t>The &lt;aop:aspect&gt; tag provides the </a:t>
            </a:r>
            <a:r>
              <a:rPr lang="en-US" altLang="zh-CN" dirty="0" err="1">
                <a:solidFill>
                  <a:srgbClr val="0070C0"/>
                </a:solidFill>
                <a:latin typeface="微软雅黑" panose="020B0503020204020204" pitchFamily="34" charset="-122"/>
                <a:ea typeface="微软雅黑" panose="020B0503020204020204" pitchFamily="34" charset="-122"/>
                <a:sym typeface="+mn-lt"/>
              </a:rPr>
              <a:t>id attribute and the ref attribute</a:t>
            </a:r>
            <a:r>
              <a:rPr lang="en-US" altLang="zh-CN" dirty="0" err="1">
                <a:solidFill>
                  <a:srgbClr val="595959"/>
                </a:solidFill>
                <a:latin typeface="微软雅黑" panose="020B0503020204020204" pitchFamily="34" charset="-122"/>
                <a:ea typeface="微软雅黑" panose="020B0503020204020204" pitchFamily="34" charset="-122"/>
                <a:sym typeface="+mn-lt"/>
              </a:rPr>
              <a:t>, which are used to specify a unique ID for the aspect in the Spring application context, and to reference an existing aspect Bean.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原创设计师QQ598969553          _3"/>
          <p:cNvSpPr/>
          <p:nvPr>
            <p:custDataLst>
              <p:tags r:id="rId2"/>
            </p:custDataLst>
          </p:nvPr>
        </p:nvSpPr>
        <p:spPr>
          <a:xfrm>
            <a:off x="1002665" y="1359218"/>
            <a:ext cx="10163810" cy="464882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6"/>
          <p:cNvSpPr/>
          <p:nvPr>
            <p:custDataLst>
              <p:tags r:id="rId3"/>
            </p:custDataLst>
          </p:nvPr>
        </p:nvSpPr>
        <p:spPr>
          <a:xfrm>
            <a:off x="3984625" y="1125538"/>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custDataLst>
              <p:tags r:id="rId4"/>
            </p:custDataLst>
          </p:nvPr>
        </p:nvSpPr>
        <p:spPr>
          <a:xfrm>
            <a:off x="3984625" y="1175068"/>
            <a:ext cx="4098925" cy="398780"/>
          </a:xfrm>
          <a:prstGeom prst="rect">
            <a:avLst/>
          </a:prstGeom>
          <a:noFill/>
        </p:spPr>
        <p:txBody>
          <a:bodyPr wrap="square" rtlCol="0">
            <a:normAutofit fontScale="97936"/>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2. Configure the cut point</a:t>
            </a:r>
          </a:p>
        </p:txBody>
      </p:sp>
      <p:sp>
        <p:nvSpPr>
          <p:cNvPr id="2" name="原创设计师QQ598969553          _4"/>
          <p:cNvSpPr/>
          <p:nvPr>
            <p:custDataLst>
              <p:tags r:id="rId5"/>
            </p:custDataLst>
          </p:nvPr>
        </p:nvSpPr>
        <p:spPr>
          <a:xfrm>
            <a:off x="1352073" y="1806471"/>
            <a:ext cx="9486265" cy="3927580"/>
          </a:xfrm>
          <a:prstGeom prst="rect">
            <a:avLst/>
          </a:prstGeom>
        </p:spPr>
        <p:txBody>
          <a:bodyPr wrap="square">
            <a:noAutofit/>
          </a:bodyPr>
          <a:lstStyle/>
          <a:p>
            <a:pPr algn="just">
              <a:lnSpc>
                <a:spcPct val="150000"/>
              </a:lnSpc>
              <a:buClrTx/>
              <a:buSzTx/>
              <a:buFontTx/>
            </a:pPr>
            <a:r>
              <a:rPr lang="en-US" altLang="zh-CN" dirty="0" err="1">
                <a:solidFill>
                  <a:srgbClr val="595959"/>
                </a:solidFill>
                <a:latin typeface="微软雅黑" panose="020B0503020204020204" pitchFamily="34" charset="-122"/>
                <a:ea typeface="微软雅黑" panose="020B0503020204020204" pitchFamily="34" charset="-122"/>
                <a:sym typeface="+mn-lt"/>
              </a:rPr>
              <a:t>In Spring's configuration file, the cuts are defined by the &lt;aop:pointcut&gt; tag. </a:t>
            </a:r>
            <a:r>
              <a:rPr lang="en-US" altLang="zh-CN" dirty="0">
                <a:solidFill>
                  <a:srgbClr val="0070C0"/>
                </a:solidFill>
                <a:latin typeface="微软雅黑" panose="020B0503020204020204" pitchFamily="34" charset="-122"/>
                <a:ea typeface="微软雅黑" panose="020B0503020204020204" pitchFamily="34" charset="-122"/>
                <a:sym typeface="+mn-lt"/>
              </a:rPr>
              <a:t>When the &lt;</a:t>
            </a:r>
            <a:r>
              <a:rPr lang="en-US" altLang="zh-CN" dirty="0" err="1">
                <a:solidFill>
                  <a:srgbClr val="0070C0"/>
                </a:solidFill>
                <a:latin typeface="微软雅黑" panose="020B0503020204020204" pitchFamily="34" charset="-122"/>
                <a:ea typeface="微软雅黑" panose="020B0503020204020204" pitchFamily="34" charset="-122"/>
                <a:sym typeface="+mn-lt"/>
              </a:rPr>
              <a:t>aop:pointcut</a:t>
            </a:r>
            <a:r>
              <a:rPr lang="en-US" altLang="zh-CN" dirty="0">
                <a:solidFill>
                  <a:srgbClr val="0070C0"/>
                </a:solidFill>
                <a:latin typeface="微软雅黑" panose="020B0503020204020204" pitchFamily="34" charset="-122"/>
                <a:ea typeface="微软雅黑" panose="020B0503020204020204" pitchFamily="34" charset="-122"/>
                <a:sym typeface="+mn-lt"/>
              </a:rPr>
              <a:t>&gt; tag is defined as a </a:t>
            </a:r>
            <a:r>
              <a:rPr lang="en-US" altLang="zh-CN" dirty="0" err="1">
                <a:solidFill>
                  <a:srgbClr val="0070C0"/>
                </a:solidFill>
                <a:latin typeface="微软雅黑" panose="020B0503020204020204" pitchFamily="34" charset="-122"/>
                <a:ea typeface="微软雅黑" panose="020B0503020204020204" pitchFamily="34" charset="-122"/>
                <a:sym typeface="+mn-lt"/>
              </a:rPr>
              <a:t>subtag</a:t>
            </a:r>
            <a:r>
              <a:rPr lang="en-US" altLang="zh-CN" dirty="0">
                <a:solidFill>
                  <a:srgbClr val="0070C0"/>
                </a:solidFill>
                <a:latin typeface="微软雅黑" panose="020B0503020204020204" pitchFamily="34" charset="-122"/>
                <a:ea typeface="微软雅黑" panose="020B0503020204020204" pitchFamily="34" charset="-122"/>
                <a:sym typeface="+mn-lt"/>
              </a:rPr>
              <a:t> of the &lt;</a:t>
            </a:r>
            <a:r>
              <a:rPr lang="en-US" altLang="zh-CN" dirty="0" err="1">
                <a:solidFill>
                  <a:srgbClr val="0070C0"/>
                </a:solidFill>
                <a:latin typeface="微软雅黑" panose="020B0503020204020204" pitchFamily="34" charset="-122"/>
                <a:ea typeface="微软雅黑" panose="020B0503020204020204" pitchFamily="34" charset="-122"/>
                <a:sym typeface="+mn-lt"/>
              </a:rPr>
              <a:t>aop:config</a:t>
            </a:r>
            <a:r>
              <a:rPr lang="en-US" altLang="zh-CN" dirty="0">
                <a:solidFill>
                  <a:srgbClr val="0070C0"/>
                </a:solidFill>
                <a:latin typeface="微软雅黑" panose="020B0503020204020204" pitchFamily="34" charset="-122"/>
                <a:ea typeface="微软雅黑" panose="020B0503020204020204" pitchFamily="34" charset="-122"/>
                <a:sym typeface="+mn-lt"/>
              </a:rPr>
              <a:t>&gt; tag, the defined cut can be shared by multiple facets and thus become a global cut; When the &lt;</a:t>
            </a:r>
            <a:r>
              <a:rPr lang="en-US" altLang="zh-CN" dirty="0" err="1">
                <a:solidFill>
                  <a:srgbClr val="0070C0"/>
                </a:solidFill>
                <a:latin typeface="微软雅黑" panose="020B0503020204020204" pitchFamily="34" charset="-122"/>
                <a:ea typeface="微软雅黑" panose="020B0503020204020204" pitchFamily="34" charset="-122"/>
                <a:sym typeface="+mn-lt"/>
              </a:rPr>
              <a:t>aop:pointcut</a:t>
            </a:r>
            <a:r>
              <a:rPr lang="en-US" altLang="zh-CN" dirty="0">
                <a:solidFill>
                  <a:srgbClr val="0070C0"/>
                </a:solidFill>
                <a:latin typeface="微软雅黑" panose="020B0503020204020204" pitchFamily="34" charset="-122"/>
                <a:ea typeface="微软雅黑" panose="020B0503020204020204" pitchFamily="34" charset="-122"/>
                <a:sym typeface="+mn-lt"/>
              </a:rPr>
              <a:t>&gt; tag is a sub-tag of the &lt;</a:t>
            </a:r>
            <a:r>
              <a:rPr lang="en-US" altLang="zh-CN" dirty="0" err="1">
                <a:solidFill>
                  <a:srgbClr val="0070C0"/>
                </a:solidFill>
                <a:latin typeface="微软雅黑" panose="020B0503020204020204" pitchFamily="34" charset="-122"/>
                <a:ea typeface="微软雅黑" panose="020B0503020204020204" pitchFamily="34" charset="-122"/>
                <a:sym typeface="+mn-lt"/>
              </a:rPr>
              <a:t>aop:aspect</a:t>
            </a:r>
            <a:r>
              <a:rPr lang="en-US" altLang="zh-CN" dirty="0">
                <a:solidFill>
                  <a:srgbClr val="0070C0"/>
                </a:solidFill>
                <a:latin typeface="微软雅黑" panose="020B0503020204020204" pitchFamily="34" charset="-122"/>
                <a:ea typeface="微软雅黑" panose="020B0503020204020204" pitchFamily="34" charset="-122"/>
                <a:sym typeface="+mn-lt"/>
              </a:rPr>
              <a:t>&gt; tag, the cut is only valid for the current aspect and does not become a global cut.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custDataLst>
              <p:tags r:id="rId2"/>
            </p:custDataLst>
          </p:nvPr>
        </p:nvSpPr>
        <p:spPr>
          <a:xfrm>
            <a:off x="406574" y="841692"/>
            <a:ext cx="11377264" cy="1710690"/>
          </a:xfrm>
          <a:prstGeom prst="rect">
            <a:avLst/>
          </a:prstGeom>
          <a:noFill/>
          <a:ln w="9525">
            <a:noFill/>
          </a:ln>
        </p:spPr>
        <p:txBody>
          <a:bodyPr wrap="square">
            <a:noAutofit/>
          </a:bodyPr>
          <a:lstStyle/>
          <a:p>
            <a:pPr algn="just">
              <a:lnSpc>
                <a:spcPct val="150000"/>
              </a:lnSpc>
              <a:buClrTx/>
              <a:buSzTx/>
              <a:buFontTx/>
            </a:pPr>
            <a:r>
              <a:rPr lang="zh-CN" altLang="en-US" sz="2000" b="0" dirty="0" err="1">
                <a:solidFill>
                  <a:srgbClr val="595959"/>
                </a:solidFill>
                <a:latin typeface="微软雅黑" panose="020B0503020204020204" pitchFamily="34" charset="-122"/>
                <a:ea typeface="微软雅黑" panose="020B0503020204020204" pitchFamily="34" charset="-122"/>
              </a:rPr>
              <a:t>When defining the &lt;aop:pointcut&gt; tag, two properties, id and expression, are typically specified. Among them, </a:t>
            </a:r>
            <a:r>
              <a:rPr lang="zh-CN" altLang="en-US" sz="2000" b="0" dirty="0" err="1">
                <a:solidFill>
                  <a:srgbClr val="0070C0"/>
                </a:solidFill>
                <a:latin typeface="微软雅黑" panose="020B0503020204020204" pitchFamily="34" charset="-122"/>
                <a:ea typeface="微软雅黑" panose="020B0503020204020204" pitchFamily="34" charset="-122"/>
              </a:rPr>
              <a:t>the id property is used to specify a unique identifier in the configuration file for the cut point, and the expression property is used to define the expression of the cut point. The basic format of the pointcut expression is as follows.</a:t>
            </a:r>
          </a:p>
        </p:txBody>
      </p:sp>
      <p:sp>
        <p:nvSpPr>
          <p:cNvPr id="3" name="矩形 2"/>
          <p:cNvSpPr/>
          <p:nvPr>
            <p:custDataLst>
              <p:tags r:id="rId3"/>
            </p:custDataLst>
          </p:nvPr>
        </p:nvSpPr>
        <p:spPr>
          <a:xfrm>
            <a:off x="967740" y="2704490"/>
            <a:ext cx="10337800" cy="11049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4"/>
            </p:custDataLst>
          </p:nvPr>
        </p:nvSpPr>
        <p:spPr>
          <a:xfrm>
            <a:off x="977900" y="2736875"/>
            <a:ext cx="10318750" cy="1196975"/>
          </a:xfrm>
          <a:prstGeom prst="rect">
            <a:avLst/>
          </a:prstGeom>
        </p:spPr>
        <p:txBody>
          <a:bodyPr wrap="square">
            <a:noAutofit/>
          </a:bodyPr>
          <a:lstStyle/>
          <a:p>
            <a:pPr algn="l">
              <a:lnSpc>
                <a:spcPct val="150000"/>
              </a:lnSpc>
              <a:defRPr/>
            </a:pPr>
            <a:r>
              <a:rPr lang="en-US" sz="1800" dirty="0">
                <a:latin typeface="Courier New" panose="02070309020205020404" pitchFamily="49" charset="0"/>
                <a:sym typeface="+mn-ea"/>
              </a:rPr>
              <a:t>execution(modifiers-pattern? return-type-pattern declaring-type-pattern?</a:t>
            </a:r>
          </a:p>
          <a:p>
            <a:pPr algn="l">
              <a:lnSpc>
                <a:spcPct val="150000"/>
              </a:lnSpc>
              <a:defRPr/>
            </a:pPr>
            <a:r>
              <a:rPr lang="en-US" sz="1800" dirty="0">
                <a:latin typeface="Courier New" panose="02070309020205020404" pitchFamily="49" charset="0"/>
                <a:sym typeface="+mn-ea"/>
              </a:rPr>
              <a:t>    name-pattern(param-pattern) throws-pattern?)</a:t>
            </a:r>
          </a:p>
        </p:txBody>
      </p:sp>
      <p:sp>
        <p:nvSpPr>
          <p:cNvPr id="2" name="文本框 1"/>
          <p:cNvSpPr txBox="1"/>
          <p:nvPr/>
        </p:nvSpPr>
        <p:spPr>
          <a:xfrm>
            <a:off x="334566" y="3745865"/>
            <a:ext cx="11593288" cy="2861310"/>
          </a:xfrm>
          <a:prstGeom prst="rect">
            <a:avLst/>
          </a:prstGeom>
          <a:noFill/>
          <a:ln w="9525">
            <a:noFill/>
          </a:ln>
        </p:spPr>
        <p:txBody>
          <a:bodyPr wrap="square">
            <a:noAutofit/>
          </a:bodyPr>
          <a:lstStyle/>
          <a:p>
            <a:pPr algn="just" fontAlgn="auto">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 </a:t>
            </a:r>
            <a:r>
              <a:rPr lang="zh-CN" altLang="en-US" sz="2000" b="0" dirty="0">
                <a:solidFill>
                  <a:srgbClr val="595959"/>
                </a:solidFill>
                <a:latin typeface="微软雅黑" panose="020B0503020204020204" pitchFamily="34" charset="-122"/>
                <a:ea typeface="微软雅黑" panose="020B0503020204020204" pitchFamily="34" charset="-122"/>
              </a:rPr>
              <a:t>modifiers pattern: </a:t>
            </a:r>
            <a:r>
              <a:rPr lang="zh-CN" altLang="en-US" sz="2000" dirty="0">
                <a:solidFill>
                  <a:srgbClr val="0070C0"/>
                </a:solidFill>
                <a:latin typeface="微软雅黑" panose="020B0503020204020204" pitchFamily="34" charset="-122"/>
                <a:ea typeface="微软雅黑" panose="020B0503020204020204" pitchFamily="34" charset="-122"/>
              </a:rPr>
              <a:t>A pattern used to specify how a method accesses a modifier. </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fontAlgn="auto">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rPr>
              <a:t>(2) the return - type - the pattern: </a:t>
            </a:r>
            <a:r>
              <a:rPr lang="zh-CN" altLang="en-US" sz="2000" dirty="0">
                <a:solidFill>
                  <a:srgbClr val="0070C0"/>
                </a:solidFill>
                <a:latin typeface="微软雅黑" panose="020B0503020204020204" pitchFamily="34" charset="-122"/>
                <a:ea typeface="微软雅黑" panose="020B0503020204020204" pitchFamily="34" charset="-122"/>
              </a:rPr>
              <a:t>model method is used to specify the return value type. </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fontAlgn="auto">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rPr>
              <a:t>(3) declaring -type - the pattern: </a:t>
            </a:r>
            <a:r>
              <a:rPr lang="zh-CN" altLang="en-US" sz="2000" dirty="0">
                <a:solidFill>
                  <a:srgbClr val="0070C0"/>
                </a:solidFill>
                <a:latin typeface="微软雅黑" panose="020B0503020204020204" pitchFamily="34" charset="-122"/>
                <a:ea typeface="微软雅黑" panose="020B0503020204020204" pitchFamily="34" charset="-122"/>
              </a:rPr>
              <a:t>method of a class model is used to specify the statement. </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a:lnSpc>
                <a:spcPct val="150000"/>
              </a:lnSpc>
            </a:pPr>
            <a:r>
              <a:rPr lang="zh-CN" altLang="en-US" sz="2000" b="0" dirty="0">
                <a:solidFill>
                  <a:srgbClr val="595959"/>
                </a:solidFill>
                <a:latin typeface="微软雅黑" panose="020B0503020204020204" pitchFamily="34" charset="-122"/>
                <a:ea typeface="微软雅黑" panose="020B0503020204020204" pitchFamily="34" charset="-122"/>
              </a:rPr>
              <a:t>(4) the name - the pattern: </a:t>
            </a:r>
            <a:r>
              <a:rPr lang="zh-CN" altLang="en-US" sz="2000" dirty="0">
                <a:solidFill>
                  <a:srgbClr val="0070C0"/>
                </a:solidFill>
                <a:latin typeface="微软雅黑" panose="020B0503020204020204" pitchFamily="34" charset="-122"/>
                <a:ea typeface="微软雅黑" panose="020B0503020204020204" pitchFamily="34" charset="-122"/>
              </a:rPr>
              <a:t>the name of the method is used to specify the model. </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fontAlgn="auto">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rPr>
              <a:t>(5) the parameter - the pattern: </a:t>
            </a:r>
            <a:r>
              <a:rPr lang="zh-CN" altLang="en-US" sz="2000" dirty="0">
                <a:solidFill>
                  <a:srgbClr val="0070C0"/>
                </a:solidFill>
                <a:latin typeface="微软雅黑" panose="020B0503020204020204" pitchFamily="34" charset="-122"/>
                <a:ea typeface="微软雅黑" panose="020B0503020204020204" pitchFamily="34" charset="-122"/>
              </a:rPr>
              <a:t>model is used to specify the method parameter list. </a:t>
            </a:r>
            <a:endParaRPr lang="en-US" altLang="zh-CN" sz="2000" dirty="0">
              <a:solidFill>
                <a:srgbClr val="0070C0"/>
              </a:solidFill>
              <a:latin typeface="微软雅黑" panose="020B0503020204020204" pitchFamily="34" charset="-122"/>
              <a:ea typeface="微软雅黑" panose="020B0503020204020204" pitchFamily="34" charset="-122"/>
            </a:endParaRPr>
          </a:p>
          <a:p>
            <a:pPr algn="just" fontAlgn="auto">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6</a:t>
            </a:r>
            <a:r>
              <a:rPr lang="zh-CN" altLang="en-US" sz="2000" dirty="0">
                <a:solidFill>
                  <a:srgbClr val="595959"/>
                </a:solidFill>
                <a:latin typeface="微软雅黑" panose="020B0503020204020204" pitchFamily="34" charset="-122"/>
                <a:ea typeface="微软雅黑" panose="020B0503020204020204" pitchFamily="34" charset="-122"/>
              </a:rPr>
              <a:t>) </a:t>
            </a:r>
            <a:r>
              <a:rPr lang="zh-CN" altLang="en-US" sz="2000" b="0" dirty="0">
                <a:solidFill>
                  <a:srgbClr val="595959"/>
                </a:solidFill>
                <a:latin typeface="微软雅黑" panose="020B0503020204020204" pitchFamily="34" charset="-122"/>
                <a:ea typeface="微软雅黑" panose="020B0503020204020204" pitchFamily="34" charset="-122"/>
              </a:rPr>
              <a:t>Those throws - the pattern: </a:t>
            </a:r>
            <a:r>
              <a:rPr lang="zh-CN" altLang="en-US" sz="2000" dirty="0">
                <a:solidFill>
                  <a:srgbClr val="0070C0"/>
                </a:solidFill>
                <a:latin typeface="微软雅黑" panose="020B0503020204020204" pitchFamily="34" charset="-122"/>
                <a:ea typeface="微软雅黑" panose="020B0503020204020204" pitchFamily="34" charset="-122"/>
              </a:rPr>
              <a:t>the method is used to specify an exception type model.</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custDataLst>
              <p:tags r:id="rId2"/>
            </p:custDataLst>
          </p:nvPr>
        </p:nvSpPr>
        <p:spPr>
          <a:xfrm>
            <a:off x="1006475" y="984250"/>
            <a:ext cx="10241915" cy="4246245"/>
          </a:xfrm>
          <a:prstGeom prst="rect">
            <a:avLst/>
          </a:prstGeom>
          <a:noFill/>
          <a:ln w="9525">
            <a:noFill/>
          </a:ln>
        </p:spPr>
        <p:txBody>
          <a:bodyPr wrap="square">
            <a:spAutoFit/>
          </a:bodyPr>
          <a:lstStyle/>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b="0" dirty="0" err="1">
              <a:solidFill>
                <a:srgbClr val="595959"/>
              </a:solidFill>
              <a:latin typeface="微软雅黑" panose="020B0503020204020204" pitchFamily="34" charset="-122"/>
              <a:ea typeface="微软雅黑" panose="020B0503020204020204" pitchFamily="34" charset="-122"/>
            </a:endParaRPr>
          </a:p>
        </p:txBody>
      </p:sp>
      <p:sp>
        <p:nvSpPr>
          <p:cNvPr id="2" name="矩形 1"/>
          <p:cNvSpPr/>
          <p:nvPr>
            <p:custDataLst>
              <p:tags r:id="rId3"/>
            </p:custDataLst>
          </p:nvPr>
        </p:nvSpPr>
        <p:spPr>
          <a:xfrm>
            <a:off x="1061085" y="1113155"/>
            <a:ext cx="10337800" cy="555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4" name="矩形 3"/>
          <p:cNvSpPr/>
          <p:nvPr>
            <p:custDataLst>
              <p:tags r:id="rId4"/>
            </p:custDataLst>
          </p:nvPr>
        </p:nvSpPr>
        <p:spPr>
          <a:xfrm>
            <a:off x="1071245" y="1145540"/>
            <a:ext cx="10318750" cy="577215"/>
          </a:xfrm>
          <a:prstGeom prst="rect">
            <a:avLst/>
          </a:prstGeom>
        </p:spPr>
        <p:txBody>
          <a:bodyPr wrap="square">
            <a:noAutofit/>
          </a:bodyPr>
          <a:lstStyle/>
          <a:p>
            <a:pPr algn="just">
              <a:lnSpc>
                <a:spcPct val="150000"/>
              </a:lnSpc>
              <a:buClrTx/>
              <a:buSzTx/>
              <a:buFontTx/>
            </a:pPr>
            <a:r>
              <a:rPr lang="zh-CN" altLang="en-US" sz="1800" dirty="0" err="1">
                <a:solidFill>
                  <a:srgbClr val="595959"/>
                </a:solidFill>
                <a:latin typeface="微软雅黑" panose="020B0503020204020204" pitchFamily="34" charset="-122"/>
                <a:ea typeface="微软雅黑" panose="020B0503020204020204" pitchFamily="34" charset="-122"/>
                <a:sym typeface="+mn-ea"/>
              </a:rPr>
              <a:t>execution(* com.example.myapp.MyClass.myMethod(..) )</a:t>
            </a:r>
            <a:endParaRPr lang="en-US" sz="1800" dirty="0">
              <a:latin typeface="Courier New" panose="02070309020205020404" pitchFamily="49" charset="0"/>
              <a:sym typeface="+mn-ea"/>
            </a:endParaRPr>
          </a:p>
        </p:txBody>
      </p:sp>
      <p:sp>
        <p:nvSpPr>
          <p:cNvPr id="7" name="矩形 6"/>
          <p:cNvSpPr/>
          <p:nvPr>
            <p:custDataLst>
              <p:tags r:id="rId5"/>
            </p:custDataLst>
          </p:nvPr>
        </p:nvSpPr>
        <p:spPr>
          <a:xfrm>
            <a:off x="1050925" y="2824480"/>
            <a:ext cx="10337800" cy="555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矩形 8"/>
          <p:cNvSpPr/>
          <p:nvPr>
            <p:custDataLst>
              <p:tags r:id="rId6"/>
            </p:custDataLst>
          </p:nvPr>
        </p:nvSpPr>
        <p:spPr>
          <a:xfrm>
            <a:off x="1061085" y="2785110"/>
            <a:ext cx="10318750" cy="577215"/>
          </a:xfrm>
          <a:prstGeom prst="rect">
            <a:avLst/>
          </a:prstGeom>
        </p:spPr>
        <p:txBody>
          <a:bodyPr wrap="square">
            <a:noAutofit/>
          </a:bodyPr>
          <a:lstStyle/>
          <a:p>
            <a:pPr algn="just">
              <a:lnSpc>
                <a:spcPct val="150000"/>
              </a:lnSpc>
              <a:buClrTx/>
              <a:buSzTx/>
              <a:buFontTx/>
            </a:pPr>
            <a:r>
              <a:rPr lang="zh-CN" altLang="en-US" sz="1800" dirty="0" err="1">
                <a:solidFill>
                  <a:srgbClr val="595959"/>
                </a:solidFill>
                <a:latin typeface="微软雅黑" panose="020B0503020204020204" pitchFamily="34" charset="-122"/>
                <a:ea typeface="微软雅黑" panose="020B0503020204020204" pitchFamily="34" charset="-122"/>
                <a:sym typeface="+mn-ea"/>
              </a:rPr>
              <a:t>execution(public * *(..) )</a:t>
            </a:r>
            <a:endParaRPr lang="en-US" sz="1800">
              <a:latin typeface="Courier New" panose="02070309020205020404" pitchFamily="49" charset="0"/>
              <a:sym typeface="+mn-ea"/>
            </a:endParaRPr>
          </a:p>
        </p:txBody>
      </p:sp>
      <p:sp>
        <p:nvSpPr>
          <p:cNvPr id="10" name="矩形 9"/>
          <p:cNvSpPr/>
          <p:nvPr>
            <p:custDataLst>
              <p:tags r:id="rId7"/>
            </p:custDataLst>
          </p:nvPr>
        </p:nvSpPr>
        <p:spPr>
          <a:xfrm>
            <a:off x="1071245" y="3983355"/>
            <a:ext cx="10337800" cy="555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1" name="矩形 10"/>
          <p:cNvSpPr/>
          <p:nvPr>
            <p:custDataLst>
              <p:tags r:id="rId8"/>
            </p:custDataLst>
          </p:nvPr>
        </p:nvSpPr>
        <p:spPr>
          <a:xfrm>
            <a:off x="1081405" y="4015740"/>
            <a:ext cx="10318750" cy="577215"/>
          </a:xfrm>
          <a:prstGeom prst="rect">
            <a:avLst/>
          </a:prstGeom>
        </p:spPr>
        <p:txBody>
          <a:bodyPr wrap="square">
            <a:noAutofit/>
          </a:bodyPr>
          <a:lstStyle/>
          <a:p>
            <a:pPr algn="just">
              <a:lnSpc>
                <a:spcPct val="150000"/>
              </a:lnSpc>
              <a:buClrTx/>
              <a:buSzTx/>
              <a:buFontTx/>
            </a:pPr>
            <a:r>
              <a:rPr lang="zh-CN" altLang="en-US" sz="1800" dirty="0" err="1">
                <a:solidFill>
                  <a:srgbClr val="595959"/>
                </a:solidFill>
                <a:latin typeface="微软雅黑" panose="020B0503020204020204" pitchFamily="34" charset="-122"/>
                <a:ea typeface="微软雅黑" panose="020B0503020204020204" pitchFamily="34" charset="-122"/>
                <a:sym typeface="+mn-ea"/>
              </a:rPr>
              <a:t>execution(* set*(..) )</a:t>
            </a:r>
            <a:endParaRPr lang="en-US" sz="1800">
              <a:latin typeface="Courier New" panose="02070309020205020404" pitchFamily="49" charset="0"/>
              <a:sym typeface="+mn-ea"/>
            </a:endParaRPr>
          </a:p>
        </p:txBody>
      </p:sp>
      <p:sp>
        <p:nvSpPr>
          <p:cNvPr id="13" name="矩形 12"/>
          <p:cNvSpPr/>
          <p:nvPr>
            <p:custDataLst>
              <p:tags r:id="rId9"/>
            </p:custDataLst>
          </p:nvPr>
        </p:nvSpPr>
        <p:spPr>
          <a:xfrm>
            <a:off x="1081405" y="5213985"/>
            <a:ext cx="10337800" cy="555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10"/>
            </p:custDataLst>
          </p:nvPr>
        </p:nvSpPr>
        <p:spPr>
          <a:xfrm>
            <a:off x="1091565" y="5246370"/>
            <a:ext cx="10318750" cy="577215"/>
          </a:xfrm>
          <a:prstGeom prst="rect">
            <a:avLst/>
          </a:prstGeom>
        </p:spPr>
        <p:txBody>
          <a:bodyPr wrap="square">
            <a:noAutofit/>
          </a:bodyPr>
          <a:lstStyle/>
          <a:p>
            <a:pPr algn="just">
              <a:lnSpc>
                <a:spcPct val="150000"/>
              </a:lnSpc>
              <a:buClrTx/>
              <a:buSzTx/>
              <a:buFontTx/>
            </a:pPr>
            <a:r>
              <a:rPr lang="zh-CN" altLang="en-US" sz="1800" dirty="0" err="1">
                <a:solidFill>
                  <a:srgbClr val="595959"/>
                </a:solidFill>
                <a:latin typeface="微软雅黑" panose="020B0503020204020204" pitchFamily="34" charset="-122"/>
                <a:ea typeface="微软雅黑" panose="020B0503020204020204" pitchFamily="34" charset="-122"/>
                <a:sym typeface="+mn-ea"/>
              </a:rPr>
              <a:t>execution(* com.example.. *. * (..) )</a:t>
            </a:r>
            <a:endParaRPr lang="en-US" sz="1800">
              <a:latin typeface="Courier New" panose="02070309020205020404" pitchFamily="49" charset="0"/>
              <a:sym typeface="+mn-ea"/>
            </a:endParaRPr>
          </a:p>
        </p:txBody>
      </p:sp>
      <p:sp>
        <p:nvSpPr>
          <p:cNvPr id="15" name="文本框 14"/>
          <p:cNvSpPr txBox="1"/>
          <p:nvPr>
            <p:custDataLst>
              <p:tags r:id="rId11"/>
            </p:custDataLst>
          </p:nvPr>
        </p:nvSpPr>
        <p:spPr>
          <a:xfrm>
            <a:off x="1054735" y="1719580"/>
            <a:ext cx="10241915" cy="553085"/>
          </a:xfrm>
          <a:prstGeom prst="rect">
            <a:avLst/>
          </a:prstGeom>
          <a:noFill/>
          <a:ln w="9525">
            <a:noFill/>
          </a:ln>
        </p:spPr>
        <p:txBody>
          <a:bodyPr wrap="square">
            <a:spAutoFit/>
          </a:bodyPr>
          <a:lstStyle/>
          <a:p>
            <a:pPr algn="just">
              <a:lnSpc>
                <a:spcPct val="150000"/>
              </a:lnSpc>
              <a:buClrTx/>
              <a:buSzTx/>
              <a:buFontTx/>
            </a:pPr>
            <a:r>
              <a:rPr lang="zh-CN" altLang="en-US" sz="2000" dirty="0" err="1">
                <a:solidFill>
                  <a:srgbClr val="595959"/>
                </a:solidFill>
                <a:latin typeface="微软雅黑" panose="020B0503020204020204" pitchFamily="34" charset="-122"/>
                <a:ea typeface="微软雅黑" panose="020B0503020204020204" pitchFamily="34" charset="-122"/>
                <a:sym typeface="+mn-ea"/>
              </a:rPr>
              <a:t>Match com. Example. Myapp. All myMethod (int x) in the MyClass class () method of execution.</a:t>
            </a:r>
            <a:endParaRPr lang="zh-CN" altLang="en-US" sz="2000" b="0" dirty="0" err="1">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custDataLst>
              <p:tags r:id="rId12"/>
            </p:custDataLst>
          </p:nvPr>
        </p:nvSpPr>
        <p:spPr>
          <a:xfrm>
            <a:off x="1053646" y="3291840"/>
            <a:ext cx="10241915" cy="553085"/>
          </a:xfrm>
          <a:prstGeom prst="rect">
            <a:avLst/>
          </a:prstGeom>
          <a:noFill/>
          <a:ln w="9525">
            <a:noFill/>
          </a:ln>
        </p:spPr>
        <p:txBody>
          <a:bodyPr wrap="square">
            <a:noAutofit/>
          </a:bodyPr>
          <a:lstStyle/>
          <a:p>
            <a:pPr algn="just">
              <a:lnSpc>
                <a:spcPct val="150000"/>
              </a:lnSpc>
              <a:buClrTx/>
              <a:buSzTx/>
              <a:buFontTx/>
            </a:pPr>
            <a:r>
              <a:rPr lang="zh-CN" altLang="en-US" sz="1800" dirty="0" err="1">
                <a:solidFill>
                  <a:srgbClr val="595959"/>
                </a:solidFill>
                <a:latin typeface="微软雅黑" panose="020B0503020204020204" pitchFamily="34" charset="-122"/>
                <a:ea typeface="微软雅黑" panose="020B0503020204020204" pitchFamily="34" charset="-122"/>
                <a:sym typeface="+mn-ea"/>
              </a:rPr>
              <a:t>Match the execution of all public methods, regardless of the return type, class name, and method name.</a:t>
            </a:r>
            <a:endParaRPr lang="zh-CN" altLang="en-US" sz="1800" b="0" dirty="0" err="1">
              <a:solidFill>
                <a:srgbClr val="595959"/>
              </a:solidFill>
              <a:latin typeface="微软雅黑" panose="020B0503020204020204" pitchFamily="34" charset="-122"/>
              <a:ea typeface="微软雅黑" panose="020B0503020204020204" pitchFamily="34" charset="-122"/>
            </a:endParaRPr>
          </a:p>
        </p:txBody>
      </p:sp>
      <p:sp>
        <p:nvSpPr>
          <p:cNvPr id="18" name="文本框 17"/>
          <p:cNvSpPr txBox="1"/>
          <p:nvPr>
            <p:custDataLst>
              <p:tags r:id="rId13"/>
            </p:custDataLst>
          </p:nvPr>
        </p:nvSpPr>
        <p:spPr>
          <a:xfrm>
            <a:off x="1091565" y="4594225"/>
            <a:ext cx="10241915" cy="553085"/>
          </a:xfrm>
          <a:prstGeom prst="rect">
            <a:avLst/>
          </a:prstGeom>
          <a:noFill/>
          <a:ln w="9525">
            <a:noFill/>
          </a:ln>
        </p:spPr>
        <p:txBody>
          <a:bodyPr wrap="square">
            <a:normAutofit fontScale="92702"/>
          </a:bodyPr>
          <a:lstStyle/>
          <a:p>
            <a:pPr algn="just">
              <a:lnSpc>
                <a:spcPct val="150000"/>
              </a:lnSpc>
              <a:buClrTx/>
              <a:buSzTx/>
              <a:buFontTx/>
            </a:pPr>
            <a:r>
              <a:rPr lang="zh-CN" altLang="en-US" sz="2000" dirty="0" err="1">
                <a:solidFill>
                  <a:srgbClr val="595959"/>
                </a:solidFill>
                <a:latin typeface="微软雅黑" panose="020B0503020204020204" pitchFamily="34" charset="-122"/>
                <a:ea typeface="微软雅黑" panose="020B0503020204020204" pitchFamily="34" charset="-122"/>
                <a:sym typeface="+mn-ea"/>
              </a:rPr>
              <a:t>Match the execution of all methods starting with set.</a:t>
            </a:r>
            <a:endParaRPr lang="zh-CN" altLang="en-US" sz="2000" b="0" dirty="0" err="1">
              <a:solidFill>
                <a:srgbClr val="595959"/>
              </a:solidFill>
              <a:latin typeface="微软雅黑" panose="020B0503020204020204" pitchFamily="34" charset="-122"/>
              <a:ea typeface="微软雅黑" panose="020B0503020204020204" pitchFamily="34" charset="-122"/>
            </a:endParaRPr>
          </a:p>
        </p:txBody>
      </p:sp>
      <p:sp>
        <p:nvSpPr>
          <p:cNvPr id="20" name="文本框 19"/>
          <p:cNvSpPr txBox="1"/>
          <p:nvPr>
            <p:custDataLst>
              <p:tags r:id="rId14"/>
            </p:custDataLst>
          </p:nvPr>
        </p:nvSpPr>
        <p:spPr>
          <a:xfrm>
            <a:off x="1091565" y="5862320"/>
            <a:ext cx="10241915" cy="553085"/>
          </a:xfrm>
          <a:prstGeom prst="rect">
            <a:avLst/>
          </a:prstGeom>
          <a:noFill/>
          <a:ln w="9525">
            <a:noFill/>
          </a:ln>
        </p:spPr>
        <p:txBody>
          <a:bodyPr wrap="square">
            <a:noAutofit/>
          </a:bodyPr>
          <a:lstStyle/>
          <a:p>
            <a:pPr algn="just">
              <a:lnSpc>
                <a:spcPct val="150000"/>
              </a:lnSpc>
              <a:buClrTx/>
              <a:buSzTx/>
              <a:buFontTx/>
            </a:pPr>
            <a:r>
              <a:rPr lang="zh-CN" altLang="en-US" sz="1800" dirty="0" err="1">
                <a:solidFill>
                  <a:srgbClr val="595959"/>
                </a:solidFill>
                <a:latin typeface="微软雅黑" panose="020B0503020204020204" pitchFamily="34" charset="-122"/>
                <a:ea typeface="微软雅黑" panose="020B0503020204020204" pitchFamily="34" charset="-122"/>
                <a:sym typeface="+mn-ea"/>
              </a:rPr>
              <a:t>Match the execution of all methods of all classes in the com.example package and its subpackages.</a:t>
            </a:r>
            <a:endParaRPr lang="zh-CN" altLang="en-US" sz="1800" b="0" dirty="0" err="1">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原创设计师QQ598969553          _3"/>
          <p:cNvSpPr/>
          <p:nvPr>
            <p:custDataLst>
              <p:tags r:id="rId2"/>
            </p:custDataLst>
          </p:nvPr>
        </p:nvSpPr>
        <p:spPr>
          <a:xfrm>
            <a:off x="1002665" y="1373257"/>
            <a:ext cx="10163810" cy="472083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原创设计师QQ598969553          _6"/>
          <p:cNvSpPr/>
          <p:nvPr>
            <p:custDataLst>
              <p:tags r:id="rId3"/>
            </p:custDataLst>
          </p:nvPr>
        </p:nvSpPr>
        <p:spPr>
          <a:xfrm>
            <a:off x="3984625" y="1139577"/>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custDataLst>
              <p:tags r:id="rId4"/>
            </p:custDataLst>
          </p:nvPr>
        </p:nvSpPr>
        <p:spPr>
          <a:xfrm>
            <a:off x="3984625" y="1189107"/>
            <a:ext cx="4098925" cy="398780"/>
          </a:xfrm>
          <a:prstGeom prst="rect">
            <a:avLst/>
          </a:prstGeom>
          <a:noFill/>
        </p:spPr>
        <p:txBody>
          <a:bodyPr wrap="square" rtlCol="0">
            <a:normAutofit fontScale="93245"/>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3. Configuration notifications</a:t>
            </a:r>
          </a:p>
        </p:txBody>
      </p:sp>
      <p:sp>
        <p:nvSpPr>
          <p:cNvPr id="2" name="原创设计师QQ598969553          _4"/>
          <p:cNvSpPr/>
          <p:nvPr>
            <p:custDataLst>
              <p:tags r:id="rId5"/>
            </p:custDataLst>
          </p:nvPr>
        </p:nvSpPr>
        <p:spPr>
          <a:xfrm>
            <a:off x="1302117" y="1622216"/>
            <a:ext cx="9700796" cy="4471874"/>
          </a:xfrm>
          <a:prstGeom prst="rect">
            <a:avLst/>
          </a:prstGeom>
        </p:spPr>
        <p:txBody>
          <a:bodyPr wrap="square">
            <a:noAutofit/>
          </a:bodyPr>
          <a:lstStyle/>
          <a:p>
            <a:pPr algn="just">
              <a:lnSpc>
                <a:spcPct val="150000"/>
              </a:lnSpc>
              <a:buClrTx/>
              <a:buSzTx/>
              <a:buFontTx/>
            </a:pPr>
            <a:r>
              <a:rPr lang="en-US" altLang="zh-CN" dirty="0" err="1">
                <a:solidFill>
                  <a:srgbClr val="595959"/>
                </a:solidFill>
                <a:latin typeface="微软雅黑" panose="020B0503020204020204" pitchFamily="34" charset="-122"/>
                <a:ea typeface="微软雅黑" panose="020B0503020204020204" pitchFamily="34" charset="-122"/>
                <a:sym typeface="+mn-lt"/>
              </a:rPr>
              <a:t>Notifications in Spring AOP are defined using "</a:t>
            </a:r>
            <a:r>
              <a:rPr lang="en-US" altLang="zh-CN" dirty="0" err="1">
                <a:solidFill>
                  <a:srgbClr val="0070C0"/>
                </a:solidFill>
                <a:latin typeface="微软雅黑" panose="020B0503020204020204" pitchFamily="34" charset="-122"/>
                <a:ea typeface="微软雅黑" panose="020B0503020204020204" pitchFamily="34" charset="-122"/>
                <a:sym typeface="+mn-lt"/>
              </a:rPr>
              <a:t>facets + join points.</a:t>
            </a:r>
            <a:r>
              <a:rPr lang="en-US" altLang="zh-CN" dirty="0" err="1">
                <a:solidFill>
                  <a:srgbClr val="595959"/>
                </a:solidFill>
                <a:latin typeface="微软雅黑" panose="020B0503020204020204" pitchFamily="34" charset="-122"/>
                <a:ea typeface="微软雅黑" panose="020B0503020204020204" pitchFamily="34" charset="-122"/>
                <a:sym typeface="+mn-lt"/>
              </a:rPr>
              <a:t>" A join point is a specific point during the execution of a program, and an aspect defines which join points notifications are woven into. </a:t>
            </a:r>
            <a:r>
              <a:rPr lang="en-US" altLang="zh-CN" dirty="0" err="1">
                <a:solidFill>
                  <a:srgbClr val="0070C0"/>
                </a:solidFill>
                <a:latin typeface="微软雅黑" panose="020B0503020204020204" pitchFamily="34" charset="-122"/>
                <a:ea typeface="微软雅黑" panose="020B0503020204020204" pitchFamily="34" charset="-122"/>
                <a:sym typeface="+mn-lt"/>
              </a:rPr>
              <a:t>Spring AOP provides five types of notifications, These notifications are classified by the point in time they are woven in as pre-notifications, post-notifications, post-returning notifications, post-throwing notifications, and surround notifications.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2"/>
            </p:custDataLst>
            <p:extLst>
              <p:ext uri="{D42A27DB-BD31-4B8C-83A1-F6EECF244321}">
                <p14:modId xmlns:p14="http://schemas.microsoft.com/office/powerpoint/2010/main" val="3916208332"/>
              </p:ext>
            </p:extLst>
          </p:nvPr>
        </p:nvGraphicFramePr>
        <p:xfrm>
          <a:off x="226554" y="1401128"/>
          <a:ext cx="11737304" cy="5191760"/>
        </p:xfrm>
        <a:graphic>
          <a:graphicData uri="http://schemas.openxmlformats.org/drawingml/2006/table">
            <a:tbl>
              <a:tblPr/>
              <a:tblGrid>
                <a:gridCol w="2376264">
                  <a:extLst>
                    <a:ext uri="{9D8B030D-6E8A-4147-A177-3AD203B41FA5}">
                      <a16:colId xmlns:a16="http://schemas.microsoft.com/office/drawing/2014/main" val="20000"/>
                    </a:ext>
                  </a:extLst>
                </a:gridCol>
                <a:gridCol w="9361040">
                  <a:extLst>
                    <a:ext uri="{9D8B030D-6E8A-4147-A177-3AD203B41FA5}">
                      <a16:colId xmlns:a16="http://schemas.microsoft.com/office/drawing/2014/main" val="20001"/>
                    </a:ext>
                  </a:extLst>
                </a:gridCol>
              </a:tblGrid>
              <a:tr h="431800">
                <a:tc>
                  <a:txBody>
                    <a:bodyPr/>
                    <a:lstStyle/>
                    <a:p>
                      <a:pPr algn="ctr">
                        <a:buClrTx/>
                        <a:buSzTx/>
                        <a:buFontTx/>
                        <a:buNone/>
                      </a:pPr>
                      <a:r>
                        <a:rPr lang="en-US" sz="2000" b="1">
                          <a:latin typeface="微软雅黑" panose="020B0503020204020204" pitchFamily="34" charset="-122"/>
                          <a:ea typeface="微软雅黑" panose="020B0503020204020204" pitchFamily="34" charset="-122"/>
                          <a:cs typeface="宋体" panose="02010600030101010101" pitchFamily="2" charset="-122"/>
                        </a:rPr>
                        <a:t>Properties</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ctr">
                        <a:buClrTx/>
                        <a:buSzTx/>
                        <a:buFontTx/>
                        <a:buNone/>
                      </a:pPr>
                      <a:r>
                        <a:rPr lang="en-US" sz="2000" b="1">
                          <a:latin typeface="微软雅黑" panose="020B0503020204020204" pitchFamily="34" charset="-122"/>
                          <a:ea typeface="微软雅黑" panose="020B0503020204020204" pitchFamily="34" charset="-122"/>
                          <a:cs typeface="宋体" panose="02010600030101010101" pitchFamily="2" charset="-122"/>
                        </a:rPr>
                        <a:t>Description</a:t>
                      </a:r>
                    </a:p>
                  </a:txBody>
                  <a:tcPr marL="68580" marR="68580" marT="0" marB="0" anchor="ctr">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7780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pointcut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define a cut point expression within a cut, Spring will weave the notification when the join points match that expression</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7780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pointcut-ref</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specify an existing cut point name, typically only one of the pointcut and pointcut-ref attributes needs to be used</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17780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method</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err="1">
                          <a:solidFill>
                            <a:srgbClr val="595959"/>
                          </a:solidFill>
                          <a:latin typeface="微软雅黑" panose="020B0503020204020204" pitchFamily="34" charset="-122"/>
                          <a:ea typeface="微软雅黑" panose="020B0503020204020204" pitchFamily="34" charset="-122"/>
                        </a:rPr>
                        <a:t>Used to specify the specific notification method</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17780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throwing</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This attribute works only for the &lt;after-throwing&gt; tag and is used to specify a formal parameter name through which the exception notification method can access the exception thrown by the target method</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returning</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This attribute works only for the &lt;after-returning&gt; tag and is used to specify a formal parameter name through which the return notification method can access the return value of the target method</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
        <p:nvSpPr>
          <p:cNvPr id="18" name="文本框 17"/>
          <p:cNvSpPr txBox="1"/>
          <p:nvPr>
            <p:custDataLst>
              <p:tags r:id="rId3"/>
            </p:custDataLst>
          </p:nvPr>
        </p:nvSpPr>
        <p:spPr>
          <a:xfrm>
            <a:off x="3862958" y="808071"/>
            <a:ext cx="5029536" cy="553085"/>
          </a:xfrm>
          <a:prstGeom prst="rect">
            <a:avLst/>
          </a:prstGeom>
          <a:noFill/>
          <a:ln w="9525">
            <a:noFill/>
          </a:ln>
        </p:spPr>
        <p:txBody>
          <a:bodyPr wrap="square">
            <a:normAutofit fontScale="96258"/>
          </a:bodyPr>
          <a:lstStyle/>
          <a:p>
            <a:pPr algn="just">
              <a:lnSpc>
                <a:spcPct val="150000"/>
              </a:lnSpc>
              <a:buClrTx/>
              <a:buSzTx/>
              <a:buFontTx/>
            </a:pPr>
            <a:r>
              <a:rPr lang="zh-CN" altLang="en-US" sz="2000" dirty="0" err="1">
                <a:solidFill>
                  <a:srgbClr val="595959"/>
                </a:solidFill>
                <a:latin typeface="微软雅黑" panose="020B0503020204020204" pitchFamily="34" charset="-122"/>
                <a:ea typeface="微软雅黑" panose="020B0503020204020204" pitchFamily="34" charset="-122"/>
                <a:sym typeface="+mn-ea"/>
              </a:rPr>
              <a:t>Notification of common attributes of tags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An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993774" y="864813"/>
            <a:ext cx="10574039" cy="853836"/>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how to implement AOP based on XML in Spring through a case.</a:t>
            </a:r>
            <a:endParaRPr lang="zh-CN" altLang="it-IT"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grpSp>
        <p:nvGrpSpPr>
          <p:cNvPr id="4" name="组合 3"/>
          <p:cNvGrpSpPr/>
          <p:nvPr/>
        </p:nvGrpSpPr>
        <p:grpSpPr>
          <a:xfrm>
            <a:off x="766614" y="1870939"/>
            <a:ext cx="5156284" cy="476905"/>
            <a:chOff x="852276" y="1797999"/>
            <a:chExt cx="2780020" cy="476905"/>
          </a:xfrm>
        </p:grpSpPr>
        <p:sp>
          <p:nvSpPr>
            <p:cNvPr id="5" name="矩形: 圆角 6"/>
            <p:cNvSpPr/>
            <p:nvPr>
              <p:custDataLst>
                <p:tags r:id="rId9"/>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10"/>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Introduce dependencies</a:t>
              </a:r>
            </a:p>
          </p:txBody>
        </p:sp>
      </p:grpSp>
      <p:pic>
        <p:nvPicPr>
          <p:cNvPr id="9" name="图片 8" descr="图片包含 形状  描述已自动生成"/>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446205" y="3471016"/>
            <a:ext cx="2232248" cy="2232248"/>
          </a:xfrm>
          <a:prstGeom prst="rect">
            <a:avLst/>
          </a:prstGeom>
        </p:spPr>
      </p:pic>
      <p:grpSp>
        <p:nvGrpSpPr>
          <p:cNvPr id="10" name="组合 9"/>
          <p:cNvGrpSpPr/>
          <p:nvPr/>
        </p:nvGrpSpPr>
        <p:grpSpPr>
          <a:xfrm>
            <a:off x="5671205" y="3539549"/>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245722"/>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en-US" sz="1800">
                    <a:sym typeface="+mn-ea"/>
                    <a:hlinkClick r:id="rId14"/>
                  </a:rPr>
                  <a:t>pom . xml</a:t>
                </a:r>
                <a:endParaRPr lang="en-US"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3" name="文本框 12"/>
          <p:cNvSpPr txBox="1"/>
          <p:nvPr>
            <p:custDataLst>
              <p:tags r:id="rId4"/>
            </p:custDataLst>
          </p:nvPr>
        </p:nvSpPr>
        <p:spPr>
          <a:xfrm>
            <a:off x="993774" y="2375734"/>
            <a:ext cx="1029589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relevant dependencies of the AspectJ framework in the pom.xml file of the chapter03 project, the code added in the pom.xml is as follows.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19006" y="1065025"/>
            <a:ext cx="4364196" cy="476905"/>
            <a:chOff x="852276" y="1797999"/>
            <a:chExt cx="2780020" cy="476905"/>
          </a:xfrm>
        </p:grpSpPr>
        <p:sp>
          <p:nvSpPr>
            <p:cNvPr id="5"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Create the facet class</a:t>
              </a:r>
            </a:p>
          </p:txBody>
        </p:sp>
      </p:grpSp>
      <p:pic>
        <p:nvPicPr>
          <p:cNvPr id="9" name="图片 8"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422798" y="3225907"/>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3-9</a:t>
                </a:r>
              </a:p>
              <a:p>
                <a:pPr algn="ctr"/>
                <a:r>
                  <a:rPr sz="1800">
                    <a:sym typeface="+mn-ea"/>
                    <a:hlinkClick r:id="rId13"/>
                  </a:rPr>
                  <a:t>XmlAdvice.java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3" name="文本框 12"/>
          <p:cNvSpPr txBox="1"/>
          <p:nvPr>
            <p:custDataLst>
              <p:tags r:id="rId3"/>
            </p:custDataLst>
          </p:nvPr>
        </p:nvSpPr>
        <p:spPr>
          <a:xfrm>
            <a:off x="947261" y="1601896"/>
            <a:ext cx="10295890" cy="1392928"/>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com.itheima.advice package in the project and create the aspect class XmlAdvice under that package, and define different methods in this class as notifications in the aspect, as shown in File 3-9.</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766614" y="996427"/>
            <a:ext cx="9044716" cy="476885"/>
            <a:chOff x="852276" y="1797999"/>
            <a:chExt cx="3712210" cy="476885"/>
          </a:xfrm>
        </p:grpSpPr>
        <p:sp>
          <p:nvSpPr>
            <p:cNvPr id="5" name="矩形: 圆角 6"/>
            <p:cNvSpPr/>
            <p:nvPr>
              <p:custDataLst>
                <p:tags r:id="rId8"/>
              </p:custDataLst>
            </p:nvPr>
          </p:nvSpPr>
          <p:spPr>
            <a:xfrm>
              <a:off x="979276" y="1813239"/>
              <a:ext cx="358521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9"/>
              </p:custDataLst>
            </p:nvPr>
          </p:nvSpPr>
          <p:spPr>
            <a:xfrm>
              <a:off x="852276" y="1797999"/>
              <a:ext cx="371221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Create the configuration file and configure the AOP information</a:t>
              </a:r>
            </a:p>
          </p:txBody>
        </p:sp>
      </p:grpSp>
      <p:pic>
        <p:nvPicPr>
          <p:cNvPr id="9" name="图片 8"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3-10</a:t>
                </a:r>
              </a:p>
              <a:p>
                <a:pPr algn="ctr"/>
                <a:r>
                  <a:rPr sz="1800">
                    <a:sym typeface="+mn-ea"/>
                    <a:hlinkClick r:id="rId13"/>
                  </a:rPr>
                  <a:t>aplicationContext.xml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3" name="文本框 12"/>
          <p:cNvSpPr txBox="1"/>
          <p:nvPr>
            <p:custDataLst>
              <p:tags r:id="rId3"/>
            </p:custDataLst>
          </p:nvPr>
        </p:nvSpPr>
        <p:spPr>
          <a:xfrm>
            <a:off x="1076047" y="1510114"/>
            <a:ext cx="10295890" cy="1422954"/>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applicationContext.xml file under the resource folder of the chapter03 project and define two beans in that configuration file: userDao and xmlAdvice set userDao as the cut and xmlAdvice as the cut, as shown in File 3-10.</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54940" y="1027414"/>
            <a:ext cx="4292327" cy="476885"/>
            <a:chOff x="852276" y="1797999"/>
            <a:chExt cx="3712210" cy="476885"/>
          </a:xfrm>
        </p:grpSpPr>
        <p:sp>
          <p:nvSpPr>
            <p:cNvPr id="5" name="矩形: 圆角 6"/>
            <p:cNvSpPr/>
            <p:nvPr>
              <p:custDataLst>
                <p:tags r:id="rId8"/>
              </p:custDataLst>
            </p:nvPr>
          </p:nvSpPr>
          <p:spPr>
            <a:xfrm>
              <a:off x="979276" y="1813239"/>
              <a:ext cx="358521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9"/>
              </p:custDataLst>
            </p:nvPr>
          </p:nvSpPr>
          <p:spPr>
            <a:xfrm>
              <a:off x="852276" y="1797999"/>
              <a:ext cx="371221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Create the test class</a:t>
              </a:r>
            </a:p>
          </p:txBody>
        </p:sp>
      </p:grpSp>
      <p:pic>
        <p:nvPicPr>
          <p:cNvPr id="9" name="图片 8"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3-11</a:t>
                </a:r>
              </a:p>
              <a:p>
                <a:pPr algn="ctr"/>
                <a:r>
                  <a:rPr sz="1800">
                    <a:sym typeface="+mn-ea"/>
                    <a:hlinkClick r:id="rId13"/>
                  </a:rPr>
                  <a:t>XmlAOPTest.java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3" name="文本框 12"/>
          <p:cNvSpPr txBox="1"/>
          <p:nvPr>
            <p:custDataLst>
              <p:tags r:id="rId3"/>
            </p:custDataLst>
          </p:nvPr>
        </p:nvSpPr>
        <p:spPr>
          <a:xfrm>
            <a:off x="988730" y="1610834"/>
            <a:ext cx="10295890" cy="1620504"/>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XmlAOPTest in the com.itheima package, obtain the Bean named userDao in the test class, and execute its methods for adding and removing users, as shown in file 3-11.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9586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AOP Implementation Based on XML</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38622" y="981522"/>
            <a:ext cx="4220319" cy="476885"/>
            <a:chOff x="852276" y="1797999"/>
            <a:chExt cx="3712210" cy="476885"/>
          </a:xfrm>
        </p:grpSpPr>
        <p:sp>
          <p:nvSpPr>
            <p:cNvPr id="5" name="矩形: 圆角 6"/>
            <p:cNvSpPr/>
            <p:nvPr>
              <p:custDataLst>
                <p:tags r:id="rId4"/>
              </p:custDataLst>
            </p:nvPr>
          </p:nvSpPr>
          <p:spPr>
            <a:xfrm>
              <a:off x="979276" y="1813239"/>
              <a:ext cx="358521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5"/>
              </p:custDataLst>
            </p:nvPr>
          </p:nvSpPr>
          <p:spPr>
            <a:xfrm>
              <a:off x="852276" y="1797999"/>
              <a:ext cx="371221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(5) Test the results</a:t>
              </a:r>
            </a:p>
          </p:txBody>
        </p:sp>
      </p:grpSp>
      <p:sp>
        <p:nvSpPr>
          <p:cNvPr id="13" name="文本框 12"/>
          <p:cNvSpPr txBox="1"/>
          <p:nvPr>
            <p:custDataLst>
              <p:tags r:id="rId2"/>
            </p:custDataLst>
          </p:nvPr>
        </p:nvSpPr>
        <p:spPr>
          <a:xfrm>
            <a:off x="987239" y="1634114"/>
            <a:ext cx="10295890" cy="506730"/>
          </a:xfrm>
          <a:prstGeom prst="rect">
            <a:avLst/>
          </a:prstGeom>
          <a:noFill/>
          <a:ln w="9525">
            <a:noFill/>
          </a:ln>
        </p:spPr>
        <p:txBody>
          <a:bodyPr wrap="square">
            <a:normAutofit fontScale="97760"/>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3-11 in IDEA, and the results are shown in the following figure.</a:t>
            </a:r>
          </a:p>
        </p:txBody>
      </p:sp>
      <p:pic>
        <p:nvPicPr>
          <p:cNvPr id="2" name="图片 -2147482611"/>
          <p:cNvPicPr>
            <a:picLocks noChangeAspect="1"/>
          </p:cNvPicPr>
          <p:nvPr>
            <p:custDataLst>
              <p:tags r:id="rId3"/>
            </p:custDataLst>
          </p:nvPr>
        </p:nvPicPr>
        <p:blipFill>
          <a:blip r:embed="rId8"/>
          <a:stretch>
            <a:fillRect/>
          </a:stretch>
        </p:blipFill>
        <p:spPr>
          <a:xfrm>
            <a:off x="1709658" y="2316551"/>
            <a:ext cx="8771095" cy="4169599"/>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3.3.1 XML-based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38622" y="964406"/>
            <a:ext cx="3212208" cy="476885"/>
            <a:chOff x="852276" y="1797999"/>
            <a:chExt cx="3712210" cy="476885"/>
          </a:xfrm>
        </p:grpSpPr>
        <p:sp>
          <p:nvSpPr>
            <p:cNvPr id="5" name="矩形: 圆角 6"/>
            <p:cNvSpPr/>
            <p:nvPr>
              <p:custDataLst>
                <p:tags r:id="rId4"/>
              </p:custDataLst>
            </p:nvPr>
          </p:nvSpPr>
          <p:spPr>
            <a:xfrm>
              <a:off x="979276" y="1813239"/>
              <a:ext cx="358521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5"/>
              </p:custDataLst>
            </p:nvPr>
          </p:nvSpPr>
          <p:spPr>
            <a:xfrm>
              <a:off x="852276" y="1797999"/>
              <a:ext cx="371221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(5) Test results</a:t>
              </a:r>
            </a:p>
          </p:txBody>
        </p:sp>
      </p:grpSp>
      <p:sp>
        <p:nvSpPr>
          <p:cNvPr id="13" name="文本框 12"/>
          <p:cNvSpPr txBox="1"/>
          <p:nvPr>
            <p:custDataLst>
              <p:tags r:id="rId2"/>
            </p:custDataLst>
          </p:nvPr>
        </p:nvSpPr>
        <p:spPr>
          <a:xfrm>
            <a:off x="920458" y="1377022"/>
            <a:ext cx="10719361" cy="1839724"/>
          </a:xfrm>
          <a:prstGeom prst="rect">
            <a:avLst/>
          </a:prstGeom>
          <a:noFill/>
          <a:ln w="9525">
            <a:noFill/>
          </a:ln>
        </p:spPr>
        <p:txBody>
          <a:bodyPr wrap="square">
            <a:noAutofit/>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you want to see how </a:t>
            </a:r>
            <a:r>
              <a:rPr lang="zh-CN" altLang="en-US" sz="2000" dirty="0">
                <a:solidFill>
                  <a:srgbClr val="595959"/>
                </a:solidFill>
                <a:latin typeface="微软雅黑" panose="020B0503020204020204" pitchFamily="34" charset="-122"/>
                <a:ea typeface="微软雅黑" panose="020B0503020204020204" pitchFamily="34" charset="-122"/>
              </a:rPr>
              <a:t>the exception notification works</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you can add error code such as "int i = 10/0;" in the addUser() method of the UserDaoImpl class. Re-run the test class and you will see the execution of the exception notification, with the console output as shown in the following figure.</a:t>
            </a:r>
          </a:p>
        </p:txBody>
      </p:sp>
      <p:pic>
        <p:nvPicPr>
          <p:cNvPr id="2" name="图片 -2147482609"/>
          <p:cNvPicPr>
            <a:picLocks noChangeAspect="1"/>
          </p:cNvPicPr>
          <p:nvPr>
            <p:custDataLst>
              <p:tags r:id="rId3"/>
            </p:custDataLst>
          </p:nvPr>
        </p:nvPicPr>
        <p:blipFill>
          <a:blip r:embed="rId8"/>
          <a:stretch>
            <a:fillRect/>
          </a:stretch>
        </p:blipFill>
        <p:spPr>
          <a:xfrm>
            <a:off x="2078423" y="3216746"/>
            <a:ext cx="8403429" cy="3276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AOP implementation based on annotations</a:t>
            </a:r>
          </a:p>
        </p:txBody>
      </p:sp>
      <p:pic>
        <p:nvPicPr>
          <p:cNvPr id="6" name="图片 5"/>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4997450" y="2926861"/>
            <a:ext cx="5445760" cy="1005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an annotation-based AOP implementation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1018941" y="837506"/>
            <a:ext cx="10306050" cy="1656184"/>
          </a:xfrm>
          <a:prstGeom prst="rect">
            <a:avLst/>
          </a:prstGeom>
          <a:noFill/>
        </p:spPr>
        <p:txBody>
          <a:bodyPr wrap="square" lIns="0" tIns="0" rIns="0" bIns="0" rtlCol="0">
            <a:noAutofit/>
          </a:bodyPr>
          <a:lstStyle/>
          <a:p>
            <a:pPr algn="just">
              <a:lnSpc>
                <a:spcPct val="150000"/>
              </a:lnSpc>
              <a:buClrTx/>
              <a:buSzTx/>
              <a:buFontTx/>
            </a:pPr>
            <a:r>
              <a:rPr lang="zh-CN" altLang="en-US" dirty="0" err="1">
                <a:solidFill>
                  <a:srgbClr val="595959"/>
                </a:solidFill>
                <a:latin typeface="微软雅黑" panose="020B0503020204020204" pitchFamily="34" charset="-122"/>
                <a:ea typeface="微软雅黑" panose="020B0503020204020204" pitchFamily="34" charset="-122"/>
                <a:sym typeface="+mn-lt"/>
              </a:rPr>
              <a:t>AspectJ provides an </a:t>
            </a:r>
            <a:r>
              <a:rPr lang="zh-CN" altLang="en-US" dirty="0" err="1">
                <a:solidFill>
                  <a:srgbClr val="0070C0"/>
                </a:solidFill>
                <a:latin typeface="微软雅黑" panose="020B0503020204020204" pitchFamily="34" charset="-122"/>
                <a:ea typeface="微软雅黑" panose="020B0503020204020204" pitchFamily="34" charset="-122"/>
                <a:sym typeface="+mn-lt"/>
              </a:rPr>
              <a:t>annotation-based way to implement AOP</a:t>
            </a:r>
            <a:r>
              <a:rPr lang="zh-CN" altLang="en-US" dirty="0" err="1">
                <a:solidFill>
                  <a:srgbClr val="595959"/>
                </a:solidFill>
                <a:latin typeface="微软雅黑" panose="020B0503020204020204" pitchFamily="34" charset="-122"/>
                <a:ea typeface="微软雅黑" panose="020B0503020204020204" pitchFamily="34" charset="-122"/>
                <a:sym typeface="+mn-lt"/>
              </a:rPr>
              <a:t>, which avoids a lot of XML configuration, makes the code more concise, more readable, and easier to maintain.</a:t>
            </a:r>
          </a:p>
        </p:txBody>
      </p:sp>
      <p:sp>
        <p:nvSpPr>
          <p:cNvPr id="31" name="Title 1"/>
          <p:cNvSpPr txBox="1"/>
          <p:nvPr>
            <p:custDataLst>
              <p:tags r:id="rId2"/>
            </p:custDataLst>
          </p:nvPr>
        </p:nvSpPr>
        <p:spPr>
          <a:xfrm>
            <a:off x="1143635" y="266700"/>
            <a:ext cx="6576695" cy="506095"/>
          </a:xfrm>
          <a:prstGeom prst="rect">
            <a:avLst/>
          </a:prstGeom>
        </p:spPr>
        <p:txBody>
          <a:bodyPr lIns="0" tIns="60958" rIns="0" bIns="60958" anchor="ctr">
            <a:normAutofit fontScale="88345"/>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Annotation-based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3"/>
            </p:custDataLst>
            <p:extLst>
              <p:ext uri="{D42A27DB-BD31-4B8C-83A1-F6EECF244321}">
                <p14:modId xmlns:p14="http://schemas.microsoft.com/office/powerpoint/2010/main" val="1803838687"/>
              </p:ext>
            </p:extLst>
          </p:nvPr>
        </p:nvGraphicFramePr>
        <p:xfrm>
          <a:off x="1018940" y="2535278"/>
          <a:ext cx="10306051" cy="4128198"/>
        </p:xfrm>
        <a:graphic>
          <a:graphicData uri="http://schemas.openxmlformats.org/drawingml/2006/table">
            <a:tbl>
              <a:tblPr/>
              <a:tblGrid>
                <a:gridCol w="3060043">
                  <a:extLst>
                    <a:ext uri="{9D8B030D-6E8A-4147-A177-3AD203B41FA5}">
                      <a16:colId xmlns:a16="http://schemas.microsoft.com/office/drawing/2014/main" val="20000"/>
                    </a:ext>
                  </a:extLst>
                </a:gridCol>
                <a:gridCol w="7246008">
                  <a:extLst>
                    <a:ext uri="{9D8B030D-6E8A-4147-A177-3AD203B41FA5}">
                      <a16:colId xmlns:a16="http://schemas.microsoft.com/office/drawing/2014/main" val="20001"/>
                    </a:ext>
                  </a:extLst>
                </a:gridCol>
              </a:tblGrid>
              <a:tr h="953228">
                <a:tc>
                  <a:txBody>
                    <a:bodyPr/>
                    <a:lstStyle/>
                    <a:p>
                      <a:pPr algn="ctr">
                        <a:lnSpc>
                          <a:spcPct val="150000"/>
                        </a:lnSpc>
                        <a:buClrTx/>
                        <a:buSzTx/>
                        <a:buFontTx/>
                        <a:buNone/>
                      </a:pPr>
                      <a:r>
                        <a:rPr lang="en-US" sz="2000" b="1" dirty="0">
                          <a:latin typeface="微软雅黑" panose="020B0503020204020204" pitchFamily="34" charset="-122"/>
                          <a:ea typeface="微软雅黑" panose="020B0503020204020204" pitchFamily="34" charset="-122"/>
                          <a:cs typeface="Times New Roman" panose="02020603050405020304" charset="0"/>
                        </a:rPr>
                        <a:t>Annotation Name</a:t>
                      </a:r>
                    </a:p>
                  </a:txBody>
                  <a:tcPr marL="68580" marR="68580" marT="0" marB="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ctr">
                        <a:lnSpc>
                          <a:spcPct val="150000"/>
                        </a:lnSpc>
                        <a:buClrTx/>
                        <a:buSzTx/>
                        <a:buFontTx/>
                        <a:buNone/>
                      </a:pPr>
                      <a:r>
                        <a:rPr lang="en-US" sz="2000" b="1">
                          <a:latin typeface="微软雅黑" panose="020B0503020204020204" pitchFamily="34" charset="-122"/>
                          <a:ea typeface="微软雅黑" panose="020B0503020204020204" pitchFamily="34" charset="-122"/>
                          <a:cs typeface="Times New Roman" panose="02020603050405020304" charset="0"/>
                        </a:rPr>
                        <a:t>Description</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446790">
                <a:tc>
                  <a:txBody>
                    <a:bodyPr/>
                    <a:lstStyle/>
                    <a:p>
                      <a:pPr algn="ctr">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@AspectJ</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mark a class as a facet</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953228">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@Pointcut</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define the pointcut expression, the pointcut name can be represented by a method signature</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1459666">
                <a:tc>
                  <a:txBody>
                    <a:bodyPr/>
                    <a:lstStyle/>
                    <a:p>
                      <a:pPr algn="ctr">
                        <a:lnSpc>
                          <a:spcPct val="150000"/>
                        </a:lnSpc>
                        <a:buClrTx/>
                        <a:buSzTx/>
                        <a:buFontTx/>
                        <a:buNone/>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@Before</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define a pre-notification, when in use, use the value attribute to specify a point of cut, which can be an existing point of cut or a point of cut expression defined directly</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AOP Implementation Based on annotations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extLst>
              <p:ext uri="{D42A27DB-BD31-4B8C-83A1-F6EECF244321}">
                <p14:modId xmlns:p14="http://schemas.microsoft.com/office/powerpoint/2010/main" val="1196913085"/>
              </p:ext>
            </p:extLst>
          </p:nvPr>
        </p:nvGraphicFramePr>
        <p:xfrm>
          <a:off x="262558" y="837506"/>
          <a:ext cx="11665295" cy="5829048"/>
        </p:xfrm>
        <a:graphic>
          <a:graphicData uri="http://schemas.openxmlformats.org/drawingml/2006/table">
            <a:tbl>
              <a:tblPr/>
              <a:tblGrid>
                <a:gridCol w="2545604">
                  <a:extLst>
                    <a:ext uri="{9D8B030D-6E8A-4147-A177-3AD203B41FA5}">
                      <a16:colId xmlns:a16="http://schemas.microsoft.com/office/drawing/2014/main" val="20000"/>
                    </a:ext>
                  </a:extLst>
                </a:gridCol>
                <a:gridCol w="9119691">
                  <a:extLst>
                    <a:ext uri="{9D8B030D-6E8A-4147-A177-3AD203B41FA5}">
                      <a16:colId xmlns:a16="http://schemas.microsoft.com/office/drawing/2014/main" val="20001"/>
                    </a:ext>
                  </a:extLst>
                </a:gridCol>
              </a:tblGrid>
              <a:tr h="571500">
                <a:tc>
                  <a:txBody>
                    <a:bodyPr/>
                    <a:lstStyle/>
                    <a:p>
                      <a:pPr algn="ctr">
                        <a:lnSpc>
                          <a:spcPct val="150000"/>
                        </a:lnSpc>
                        <a:buClrTx/>
                        <a:buSzTx/>
                        <a:buFontTx/>
                        <a:buNone/>
                      </a:pPr>
                      <a:r>
                        <a:rPr lang="en-US" sz="1700" b="1">
                          <a:latin typeface="微软雅黑" panose="020B0503020204020204" pitchFamily="34" charset="-122"/>
                          <a:ea typeface="微软雅黑" panose="020B0503020204020204" pitchFamily="34" charset="-122"/>
                          <a:cs typeface="Times New Roman" panose="02020603050405020304" charset="0"/>
                        </a:rPr>
                        <a:t>Annotation Name</a:t>
                      </a:r>
                    </a:p>
                  </a:txBody>
                  <a:tcPr marL="68580" marR="68580" marT="0" marB="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ctr">
                        <a:lnSpc>
                          <a:spcPct val="150000"/>
                        </a:lnSpc>
                        <a:buClrTx/>
                        <a:buSzTx/>
                        <a:buFontTx/>
                        <a:buNone/>
                      </a:pPr>
                      <a:r>
                        <a:rPr lang="en-US" sz="1700" b="1">
                          <a:latin typeface="微软雅黑" panose="020B0503020204020204" pitchFamily="34" charset="-122"/>
                          <a:ea typeface="微软雅黑" panose="020B0503020204020204" pitchFamily="34" charset="-122"/>
                          <a:cs typeface="Times New Roman" panose="02020603050405020304" charset="0"/>
                        </a:rPr>
                        <a:t>Description</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@AfterReturning</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define postnotifications, you can specify the pointcut/value and returning attributes when in use, where both pointcut/value are used to specify the cut point. The returning attribute value is used to indicate that a parameter with the same name can be defined in the Advice method, which can be used to access the return value of the target method</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@Around</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define surround notifications, specifying a cut point through the value attribute when in use</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@AfterThrowing</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define exception notifications, you can specify pointcut/value and throwing attributes when in use. Where pointcut/value is used to specify the cut expression, the throwing property is used to specify a parameter name that represents a parameter with the same name that can be defined in the Advice method, which can be used to access the exception thrown by the target method</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@After</a:t>
                      </a:r>
                    </a:p>
                  </a:txBody>
                  <a:tcPr marL="68580" marR="68580" marT="0" marB="0" anchor="ctr">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define post-notification that is executed regardless of whether the application throws an exception or not. When used, specify a cut point through the value attribute</a:t>
                      </a:r>
                    </a:p>
                  </a:txBody>
                  <a:tcPr marL="68580" marR="68580" marT="0" marB="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88345"/>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Annotation-based AOP implementation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2"/>
            </p:custDataLst>
          </p:nvPr>
        </p:nvSpPr>
        <p:spPr>
          <a:xfrm>
            <a:off x="889514" y="891181"/>
            <a:ext cx="10836577"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an annotation-based AOP implementation through a case.</a:t>
            </a:r>
            <a:endParaRPr lang="zh-CN" altLang="it-IT"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grpSp>
        <p:nvGrpSpPr>
          <p:cNvPr id="4" name="组合 3"/>
          <p:cNvGrpSpPr/>
          <p:nvPr/>
        </p:nvGrpSpPr>
        <p:grpSpPr>
          <a:xfrm>
            <a:off x="740071" y="1416840"/>
            <a:ext cx="4522065" cy="476905"/>
            <a:chOff x="852276" y="1797999"/>
            <a:chExt cx="2780020" cy="476905"/>
          </a:xfrm>
        </p:grpSpPr>
        <p:sp>
          <p:nvSpPr>
            <p:cNvPr id="5" name="矩形: 圆角 6"/>
            <p:cNvSpPr/>
            <p:nvPr>
              <p:custDataLst>
                <p:tags r:id="rId9"/>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10"/>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the facet class</a:t>
              </a:r>
            </a:p>
          </p:txBody>
        </p:sp>
      </p:grpSp>
      <p:pic>
        <p:nvPicPr>
          <p:cNvPr id="9" name="图片 8" descr="图片包含 形状  描述已自动生成"/>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991299" y="3509927"/>
            <a:ext cx="2232248" cy="2232248"/>
          </a:xfrm>
          <a:prstGeom prst="rect">
            <a:avLst/>
          </a:prstGeom>
        </p:spPr>
      </p:pic>
      <p:grpSp>
        <p:nvGrpSpPr>
          <p:cNvPr id="10" name="组合 9"/>
          <p:cNvGrpSpPr/>
          <p:nvPr/>
        </p:nvGrpSpPr>
        <p:grpSpPr>
          <a:xfrm>
            <a:off x="6095206" y="3645818"/>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3-12</a:t>
                </a:r>
              </a:p>
              <a:p>
                <a:pPr algn="ctr"/>
                <a:r>
                  <a:rPr sz="1800">
                    <a:sym typeface="+mn-ea"/>
                    <a:hlinkClick r:id="rId14"/>
                  </a:rPr>
                  <a:t>AnnoAdvice.java</a:t>
                </a:r>
                <a:endParaRPr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62438" y="5126050"/>
              <a:ext cx="914400" cy="914400"/>
            </a:xfrm>
            <a:prstGeom prst="rect">
              <a:avLst/>
            </a:prstGeom>
          </p:spPr>
        </p:pic>
      </p:grpSp>
      <p:sp>
        <p:nvSpPr>
          <p:cNvPr id="13" name="文本框 12"/>
          <p:cNvSpPr txBox="1"/>
          <p:nvPr>
            <p:custDataLst>
              <p:tags r:id="rId4"/>
            </p:custDataLst>
          </p:nvPr>
        </p:nvSpPr>
        <p:spPr>
          <a:xfrm>
            <a:off x="889514" y="1866664"/>
            <a:ext cx="10606292"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aspect class AnnoAdvice under the com.itheima.advice package of the project, label the current class as an aspect with the @AspectJ annotation on this class, and use the relevant annotation to define notifications. The specific code of the AnnoAdvice class is shown in file 3-12.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AOP Implementation Based on annotations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618174" y="977088"/>
            <a:ext cx="8540799" cy="796290"/>
            <a:chOff x="852276" y="1797999"/>
            <a:chExt cx="2780020" cy="796290"/>
          </a:xfrm>
        </p:grpSpPr>
        <p:sp>
          <p:nvSpPr>
            <p:cNvPr id="5"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9"/>
              </p:custDataLst>
            </p:nvPr>
          </p:nvSpPr>
          <p:spPr>
            <a:xfrm>
              <a:off x="852276" y="1797999"/>
              <a:ext cx="2767965" cy="796290"/>
            </a:xfrm>
            <a:prstGeom prst="rect">
              <a:avLst/>
            </a:prstGeom>
            <a:noFill/>
          </p:spPr>
          <p:txBody>
            <a:bodyPr wrap="square" rtlCol="0">
              <a:normAutofit fontScale="95491"/>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 Create the configuration file and enable AspectJ annotation support</a:t>
              </a:r>
            </a:p>
          </p:txBody>
        </p:sp>
      </p:grpSp>
      <p:pic>
        <p:nvPicPr>
          <p:cNvPr id="9" name="图片 8"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637808" y="2910137"/>
            <a:ext cx="2232248" cy="2232248"/>
          </a:xfrm>
          <a:prstGeom prst="rect">
            <a:avLst/>
          </a:prstGeom>
        </p:spPr>
      </p:pic>
      <p:grpSp>
        <p:nvGrpSpPr>
          <p:cNvPr id="10" name="组合 9"/>
          <p:cNvGrpSpPr/>
          <p:nvPr/>
        </p:nvGrpSpPr>
        <p:grpSpPr>
          <a:xfrm>
            <a:off x="5671205" y="291013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3-13</a:t>
                </a:r>
              </a:p>
              <a:p>
                <a:pPr algn="ctr"/>
                <a:r>
                  <a:rPr sz="1800">
                    <a:sym typeface="+mn-ea"/>
                    <a:hlinkClick r:id="rId13"/>
                  </a:rPr>
                  <a:t>applicationContext-Anno.xml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2438" y="5126050"/>
              <a:ext cx="914400" cy="914400"/>
            </a:xfrm>
            <a:prstGeom prst="rect">
              <a:avLst/>
            </a:prstGeom>
          </p:spPr>
        </p:pic>
      </p:grpSp>
      <p:sp>
        <p:nvSpPr>
          <p:cNvPr id="13" name="文本框 12"/>
          <p:cNvSpPr txBox="1"/>
          <p:nvPr>
            <p:custDataLst>
              <p:tags r:id="rId3"/>
            </p:custDataLst>
          </p:nvPr>
        </p:nvSpPr>
        <p:spPr>
          <a:xfrm>
            <a:off x="1008344" y="1487183"/>
            <a:ext cx="10295890" cy="1422954"/>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an applicationContext-Anno.xml file in the project's resource folder and add Spring AOP configuration information using the &lt;bean&gt; tag in this file, as shown in file 3-1.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AOP Implementation Based on annotations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38622" y="961796"/>
            <a:ext cx="4004295" cy="476885"/>
            <a:chOff x="852276" y="1797999"/>
            <a:chExt cx="2780020" cy="476905"/>
          </a:xfrm>
        </p:grpSpPr>
        <p:sp>
          <p:nvSpPr>
            <p:cNvPr id="5"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9"/>
              </p:custDataLst>
            </p:nvPr>
          </p:nvSpPr>
          <p:spPr>
            <a:xfrm>
              <a:off x="852276" y="1797999"/>
              <a:ext cx="2767965" cy="443884"/>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Create the test class</a:t>
              </a:r>
            </a:p>
          </p:txBody>
        </p:sp>
      </p:grpSp>
      <p:pic>
        <p:nvPicPr>
          <p:cNvPr id="9" name="图片 8" descr="图片包含 形状  描述已自动生成"/>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grpSp>
        <p:nvGrpSpPr>
          <p:cNvPr id="10" name="组合 9"/>
          <p:cNvGrpSpPr/>
          <p:nvPr/>
        </p:nvGrpSpPr>
        <p:grpSpPr>
          <a:xfrm>
            <a:off x="5388978" y="337323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3-14</a:t>
                </a:r>
              </a:p>
              <a:p>
                <a:pPr algn="ctr"/>
                <a:r>
                  <a:rPr sz="1800">
                    <a:sym typeface="+mn-ea"/>
                  </a:rPr>
                  <a:t>AnnoAOPTest .java</a:t>
                </a: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pic>
          <p:nvPicPr>
            <p:cNvPr id="15" name="图形 14" descr="触控屏 纯色填充"/>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13" name="文本框 12"/>
          <p:cNvSpPr txBox="1"/>
          <p:nvPr>
            <p:custDataLst>
              <p:tags r:id="rId3"/>
            </p:custDataLst>
          </p:nvPr>
        </p:nvSpPr>
        <p:spPr>
          <a:xfrm>
            <a:off x="1021551" y="1581411"/>
            <a:ext cx="10295890" cy="1422954"/>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AnnoAOPTest in the com.itheima.demo04 package and load the applicationContext-Anno.xml file in this class to initialize the container, as shown in file 3-14.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rmAutofit fontScale="84327"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3.3.2 AOP Implementation Based on annotations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38622" y="945782"/>
            <a:ext cx="2996183" cy="476885"/>
            <a:chOff x="852276" y="1797999"/>
            <a:chExt cx="2780020" cy="476905"/>
          </a:xfrm>
        </p:grpSpPr>
        <p:sp>
          <p:nvSpPr>
            <p:cNvPr id="5"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6" name="文本框 5"/>
            <p:cNvSpPr txBox="1"/>
            <p:nvPr>
              <p:custDataLst>
                <p:tags r:id="rId5"/>
              </p:custDataLst>
            </p:nvPr>
          </p:nvSpPr>
          <p:spPr>
            <a:xfrm>
              <a:off x="852276" y="1797999"/>
              <a:ext cx="2767965" cy="443884"/>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Test results</a:t>
              </a:r>
            </a:p>
          </p:txBody>
        </p:sp>
      </p:grpSp>
      <p:sp>
        <p:nvSpPr>
          <p:cNvPr id="13" name="文本框 12"/>
          <p:cNvSpPr txBox="1"/>
          <p:nvPr>
            <p:custDataLst>
              <p:tags r:id="rId2"/>
            </p:custDataLst>
          </p:nvPr>
        </p:nvSpPr>
        <p:spPr>
          <a:xfrm>
            <a:off x="1060550" y="1518653"/>
            <a:ext cx="10295890" cy="506730"/>
          </a:xfrm>
          <a:prstGeom prst="rect">
            <a:avLst/>
          </a:prstGeom>
          <a:noFill/>
          <a:ln w="9525">
            <a:noFill/>
          </a:ln>
        </p:spPr>
        <p:txBody>
          <a:bodyPr wrap="square">
            <a:normAutofit fontScale="98960"/>
          </a:bodyPr>
          <a:lstStyle/>
          <a:p>
            <a:pPr>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Run file 3-14, and the results are shown in the following figure.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2147482608"/>
          <p:cNvPicPr>
            <a:picLocks noChangeAspect="1"/>
          </p:cNvPicPr>
          <p:nvPr>
            <p:custDataLst>
              <p:tags r:id="rId3"/>
            </p:custDataLst>
          </p:nvPr>
        </p:nvPicPr>
        <p:blipFill>
          <a:blip r:embed="rId8"/>
          <a:stretch>
            <a:fillRect/>
          </a:stretch>
        </p:blipFill>
        <p:spPr>
          <a:xfrm>
            <a:off x="1553002" y="2168525"/>
            <a:ext cx="9084408" cy="445382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rmAutofit fontScale="9647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Summary of this chapter</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43690" y="2128619"/>
            <a:ext cx="9793605" cy="264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sz="18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This chapter mainly explains AOP in Spring. An overview of AOP is introduced first; Then the implementation mechanism of Spring AOP is explained, including JDK dynamic proxy and CGLIB dynamic proxy; Finally, the implementation of Spring AOP integration with AspectJ was explained. Through the study of this chapter, readers can have a basic understanding of Spring AOP and lay the foundation for framework development.</a:t>
            </a:r>
          </a:p>
        </p:txBody>
      </p:sp>
      <p:sp>
        <p:nvSpPr>
          <p:cNvPr id="27" name="圆角矩形 26"/>
          <p:cNvSpPr/>
          <p:nvPr/>
        </p:nvSpPr>
        <p:spPr>
          <a:xfrm>
            <a:off x="839470" y="1910038"/>
            <a:ext cx="10511790" cy="286131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UNIT_TABLE_BEAUTIFY" val="smartTable{38920c35-4936-43c8-947e-2b2f41bb17e5}"/>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UNIT_TABLE_BEAUTIFY" val="smartTable{f6ef103d-2003-4e10-8de5-c016b477f37c}"/>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UNIT_TABLE_BEAUTIFY" val="smartTable{124caea1-67d8-4f93-9d90-2600837c274a}"/>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UNIT_TABLE_BEAUTIFY" val="smartTable{13353447-ded9-40fb-b1c7-211407512d6d}"/>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UNIT_TABLE_BEAUTIFY" val="smartTable{fbc9bc39-df0c-4297-9a98-fad083e49536}"/>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1884</TotalTime>
  <Words>5004</Words>
  <Application>Microsoft Office PowerPoint</Application>
  <PresentationFormat>自定义</PresentationFormat>
  <Paragraphs>425</Paragraphs>
  <Slides>60</Slides>
  <Notes>60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60</vt:i4>
      </vt:variant>
    </vt:vector>
  </HeadingPairs>
  <TitlesOfParts>
    <vt:vector size="68" baseType="lpstr">
      <vt:lpstr>Source Han Sans K Bold</vt:lpstr>
      <vt:lpstr>宋体</vt:lpstr>
      <vt:lpstr>微软雅黑</vt:lpstr>
      <vt:lpstr>Arial</vt:lpstr>
      <vt:lpstr>Calibri</vt:lpstr>
      <vt:lpstr>Courier New</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 QinRu</cp:lastModifiedBy>
  <cp:revision>1184</cp:revision>
  <dcterms:created xsi:type="dcterms:W3CDTF">2020-11-11T09:29:00Z</dcterms:created>
  <dcterms:modified xsi:type="dcterms:W3CDTF">2026-04-01T08:39:42Z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2052-12.1.0.22215</vt:lpwstr>
  </property>
  <property fmtid="{D5CDD505-2E9C-101B-9397-08002B2CF9AE}" pid="3" name="ICV">
    <vt:lpwstr>69DB4B6826B6494390E926BE37E6C64D</vt:lpwstr>
  </property>
</Properties>
</file>